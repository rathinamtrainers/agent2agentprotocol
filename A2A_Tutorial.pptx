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5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4082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the A2A Protocol tutorial. We build a complete Travel Planning system with 4 specialist agents connected via the A2A protocol. All code shown is real, runnable Python.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 sections covering every aspect of A2A protocol from fundamentals to production deployment.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Architecture overview. The Travel Orchestrator is an ADK LlmAgent that uses A2AClient as a tool. It discovers capabilities from each agent's Agent Card, fans out parallel requests, and aggregates results.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A2A solves the agent interoperability problem by defining a standard protocol. Before A2A, every system needed custom integration code. After A2A, any compliant agent can communicate with any other regardless of the underlying framework.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A2A uses standard JSON-RPC 2.0 over HTTP POST to /. The agent.json endpoint serves the Agent Card for discovery. All task operations use the tasks/* method namespace. SSE streaming is triggered by tasks/sendSubscribe.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A2A agent MUST serve its Agent Card at /.well-known/agent.json. Clients fetch this before sending any requests to discover capabilities, required auth, input/output modes, and available skills. This enables auto-discovery in orchestrators.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Different agents declare different capabilities. Hotel Agent uses API Key auth and accepts PDF input. Booking Agent has no auth but supports push notifications. Orchestrators read these cards to know how to call each agent correctly.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A2A interaction is a Task. The client generates a UUID task ID. SessionId groups multiple tasks in a conversation. Parts carry the actual content as text, files (inline bytes or hosted URI), or structured data. Artifacts are the outputs from the agent.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A2A Python SDK provides an async client. You create a Message with Parts, wrap it in TaskSendParams, and call send_task(). The SDK handles JSON-RPC framing. The client can also auto-fetch the Agent Card to validate you are sending the right content types.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Task states: submitted (immediately after tasks/send), working (agent processing), completed (success), failed (error), canceled (client called tasks/cancel), input-required (agent needs more info from user). The client can poll with tasks/get or use tasks/sendSubscribe for streaming updates.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synchronous tasks use tasks/get to poll. Check status.state and loop until you hit a terminal state. Always handle input-required separately (Section 7). For long-running tasks consider push notifications (Section 8) instead of tight polling.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SSE streaming uses tasks/sendSubscribe. The server sends a stream of Server-Sent Events. Two event types: TaskStatusUpdateEvent (state changes) and TaskArtifactUpdateEvent (content chunks). The lastChunk flag on artifacts signals end of stream. Agent must advertise streaming:true in its Agent Card.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server side, your AgentExecutor receives an EventQueue. Call enqueue_event() with either TaskStatusUpdateEvent or TaskArtifactUpdateEvent. The A2A framework handles all SSE formatting, HTTP headers, and streaming. Set final=True on the last status event to close the stream.</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A2A supports three Part types: TextPart for plain text, FilePart for binary content (inline base64 bytes or hosted URI), and DataPart for structured JSON. The Hotel Agent advertises application/pdf as an accepted input mode in its Agent Card skill definition, so the orchestrator knows it can send PDF files.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an agent needs more information it returns state=input-required. The agent's question is in status.message. The client MUST reuse the same task_id when resuming — this continues the same task. SessionId groups the conversation. This pattern enables human-in-the-loop or multi-step clarification flows.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Push notifications are for long-running tasks where polling is impractical. The client registers a webhook URL via tasks/pushNotification/set BEFORE sending the task. The agent POSTs the full task JSON to the webhook when the task completes. Always validate the token header to prevent spoofed notifications.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Security pattern: clients fetch the Agent Card to discover required auth scheme, then inject the right credentials into every request. Use Bearer tokens for user-scoped auth and API Keys for service-to-service. Always handle A2AClientHTTPError and retry on 401 with refreshed tokens.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A2A uses standard JSON-RPC 2.0 error codes (-32700 to -32603) plus A2A-specific codes starting at -32001. Always check the error code in catch blocks to decide whether to retry, surface to user, or gracefully degrade.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resilience patterns: (1) exponential backoff for transient server errors — do NOT retry 401/403 or task failures; (2) timeout + cancel to prevent stuck clients; (3) graceful degradation so one agent failure doesn't block the whole orchestration. Never retry auth errors.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orchestrator is itself an ADK LlmAgent. It fetches Agent Cards at startup, then uses asyncio.gather() to fan out to flight, hotel, and weather agents in parallel. Booking must be sequential because it depends on flight+hotel results. The orchestrator aggregates all results into a unified itinerary.</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orchestrator checks each agent's streaming capability before calling it. For streaming agents it uses sendSubscribe; for others it uses send. After parallel fan-out it aggregates DataParts from all artifacts into a single unified itinerary response.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complete system runs via docker-compose up. Six services total: 4 specialist agents, 1 orchestrator, 1 webhook receiver. Each agent is a separate FastAPI app. The client sends a natural language query and receives a fully planned itinerary.</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agent is a standalone FastAPI app built with A2AStarletteApplication. The framework automatically serves the Agent Card at /.well-known/agent.json and routes JSON-RPC requests to your AgentExecutor. Docker Compose orchestrates startup order with depends_on.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End-to-end trace: query enters at client, orchestrator routes to 4 agents in parallel/sequential mix, results aggregated into final itinerary. Steps 4-7 run concurrently via asyncio.gather(). Step 8 is sequential and may loop 3 times for input-required.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Complete feature coverage matrix. Every A2A protocol feature from the specification is demonstrated in this tutorial: all Part types, all task states, both streaming and sync patterns, both auth schemes, push notifications, and multi-agent orchestration patterns.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Sample run shows the full flow: agent card discovery, parallel fan-out with streaming output, hotel multimodal response, the 3-step booking input-required loop, and the final aggregated itinerary with booking confirmation reference.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AgentExecutor is the core pattern for building A2A agents. Implement the async execute() method. Always emit a working status first, then one or more artifact events, then a final completed or failed status. The framework handles all protocol details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Server-side input-required is a state machine keyed by session_id. On each call check what information you already have and ask for what is missing. Set final=True on input-required status events since each call ends the current stream. The client resumes by sending to the same task_id.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SessionId groups related tasks together. It's client-generated and passed on every request. When you call tasks/get with historyLength &gt; 0 you get the conversation history. This requires the agent to advertise stateTransitionHistory:true in its capabilities. Flight Agent enables this for debugging.</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slide covering all 6 major areas: A2A protocol fundamentals, task lifecycle, content types, advanced features (streaming/input-required/push), security, and orchestration patterns. You now have everything needed to build production A2A multi-agent systems.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Resources: the official A2A specification is on GitHub at google/A2A. Google ADK documentation and samples are also on GitHub. Install the Python SDK with: pip install google-a2a. The tutorial code is self-contained and runnable with Docker Compose.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2" name="Rectangle 1"/>
          <p:cNvSpPr/>
          <p:nvPr/>
        </p:nvSpPr>
        <p:spPr>
          <a:xfrm>
            <a:off x="0" y="0"/>
            <a:ext cx="457200" cy="685800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914400"/>
            <a:ext cx="10789920" cy="1005840"/>
          </a:xfrm>
          <a:prstGeom prst="rect">
            <a:avLst/>
          </a:prstGeom>
          <a:noFill/>
        </p:spPr>
        <p:txBody>
          <a:bodyPr wrap="square">
            <a:spAutoFit/>
          </a:bodyPr>
          <a:lstStyle/>
          <a:p>
            <a:pPr algn="l"/>
            <a:r>
              <a:rPr sz="4000" b="1">
                <a:solidFill>
                  <a:srgbClr val="FFFFFF"/>
                </a:solidFill>
                <a:latin typeface="Calibri"/>
              </a:rPr>
              <a:t>Agent-to-Agent (A2A) Protocol</a:t>
            </a:r>
          </a:p>
        </p:txBody>
      </p:sp>
      <p:sp>
        <p:nvSpPr>
          <p:cNvPr id="4" name="TextBox 3"/>
          <p:cNvSpPr txBox="1"/>
          <p:nvPr/>
        </p:nvSpPr>
        <p:spPr>
          <a:xfrm>
            <a:off x="914400" y="1938528"/>
            <a:ext cx="10789920" cy="594360"/>
          </a:xfrm>
          <a:prstGeom prst="rect">
            <a:avLst/>
          </a:prstGeom>
          <a:noFill/>
        </p:spPr>
        <p:txBody>
          <a:bodyPr wrap="square">
            <a:spAutoFit/>
          </a:bodyPr>
          <a:lstStyle/>
          <a:p>
            <a:pPr algn="l"/>
            <a:r>
              <a:rPr sz="2600" b="0">
                <a:solidFill>
                  <a:srgbClr val="F0A500"/>
                </a:solidFill>
                <a:latin typeface="Calibri"/>
              </a:rPr>
              <a:t>Complete Tutorial with Google ADK</a:t>
            </a:r>
          </a:p>
        </p:txBody>
      </p:sp>
      <p:sp>
        <p:nvSpPr>
          <p:cNvPr id="5" name="Rectangle 4"/>
          <p:cNvSpPr/>
          <p:nvPr/>
        </p:nvSpPr>
        <p:spPr>
          <a:xfrm>
            <a:off x="914400" y="2606040"/>
            <a:ext cx="9875520"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743200"/>
            <a:ext cx="10789920" cy="502920"/>
          </a:xfrm>
          <a:prstGeom prst="rect">
            <a:avLst/>
          </a:prstGeom>
          <a:noFill/>
        </p:spPr>
        <p:txBody>
          <a:bodyPr wrap="square">
            <a:spAutoFit/>
          </a:bodyPr>
          <a:lstStyle/>
          <a:p>
            <a:pPr algn="l"/>
            <a:r>
              <a:rPr sz="2000" b="0">
                <a:solidFill>
                  <a:srgbClr val="FFFFFF"/>
                </a:solidFill>
                <a:latin typeface="Calibri"/>
              </a:rPr>
              <a:t>Building a Travel Planning Multi-Agent System</a:t>
            </a:r>
          </a:p>
        </p:txBody>
      </p:sp>
      <p:sp>
        <p:nvSpPr>
          <p:cNvPr id="7" name="TextBox 6"/>
          <p:cNvSpPr txBox="1"/>
          <p:nvPr/>
        </p:nvSpPr>
        <p:spPr>
          <a:xfrm>
            <a:off x="914400" y="3401568"/>
            <a:ext cx="10515600" cy="411480"/>
          </a:xfrm>
          <a:prstGeom prst="rect">
            <a:avLst/>
          </a:prstGeom>
          <a:noFill/>
        </p:spPr>
        <p:txBody>
          <a:bodyPr wrap="square">
            <a:spAutoFit/>
          </a:bodyPr>
          <a:lstStyle/>
          <a:p>
            <a:pPr algn="l"/>
            <a:r>
              <a:rPr sz="1500" b="0">
                <a:solidFill>
                  <a:srgbClr val="CCDDFF"/>
                </a:solidFill>
                <a:latin typeface="Calibri"/>
              </a:rPr>
              <a:t>• Open HTTP-based standard (JSON-RPC 2.0) — works with any HTTP client</a:t>
            </a:r>
          </a:p>
        </p:txBody>
      </p:sp>
      <p:sp>
        <p:nvSpPr>
          <p:cNvPr id="8" name="TextBox 7"/>
          <p:cNvSpPr txBox="1"/>
          <p:nvPr/>
        </p:nvSpPr>
        <p:spPr>
          <a:xfrm>
            <a:off x="914400" y="3840480"/>
            <a:ext cx="10515600" cy="411480"/>
          </a:xfrm>
          <a:prstGeom prst="rect">
            <a:avLst/>
          </a:prstGeom>
          <a:noFill/>
        </p:spPr>
        <p:txBody>
          <a:bodyPr wrap="square">
            <a:spAutoFit/>
          </a:bodyPr>
          <a:lstStyle/>
          <a:p>
            <a:pPr algn="l"/>
            <a:r>
              <a:rPr sz="1500" b="0">
                <a:solidFill>
                  <a:srgbClr val="CCDDFF"/>
                </a:solidFill>
                <a:latin typeface="Calibri"/>
              </a:rPr>
              <a:t>• Framework-agnostic: ADK, LangChain, CrewAI, AutoGen all interoperate</a:t>
            </a:r>
          </a:p>
        </p:txBody>
      </p:sp>
      <p:sp>
        <p:nvSpPr>
          <p:cNvPr id="9" name="TextBox 8"/>
          <p:cNvSpPr txBox="1"/>
          <p:nvPr/>
        </p:nvSpPr>
        <p:spPr>
          <a:xfrm>
            <a:off x="914400" y="4279392"/>
            <a:ext cx="10515600" cy="411480"/>
          </a:xfrm>
          <a:prstGeom prst="rect">
            <a:avLst/>
          </a:prstGeom>
          <a:noFill/>
        </p:spPr>
        <p:txBody>
          <a:bodyPr wrap="square">
            <a:spAutoFit/>
          </a:bodyPr>
          <a:lstStyle/>
          <a:p>
            <a:pPr algn="l"/>
            <a:r>
              <a:rPr sz="1500" b="0">
                <a:solidFill>
                  <a:srgbClr val="CCDDFF"/>
                </a:solidFill>
                <a:latin typeface="Calibri"/>
              </a:rPr>
              <a:t>• Full protocol coverage: streaming, multimodal, auth, push notifications</a:t>
            </a:r>
          </a:p>
        </p:txBody>
      </p:sp>
      <p:sp>
        <p:nvSpPr>
          <p:cNvPr id="10" name="Rectangle 9"/>
          <p:cNvSpPr/>
          <p:nvPr/>
        </p:nvSpPr>
        <p:spPr>
          <a:xfrm>
            <a:off x="457200" y="6144768"/>
            <a:ext cx="11731752" cy="713232"/>
          </a:xfrm>
          <a:prstGeom prst="rect">
            <a:avLst/>
          </a:prstGeom>
          <a:solidFill>
            <a:srgbClr val="0F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6217920"/>
            <a:ext cx="10515600" cy="411480"/>
          </a:xfrm>
          <a:prstGeom prst="rect">
            <a:avLst/>
          </a:prstGeom>
          <a:noFill/>
        </p:spPr>
        <p:txBody>
          <a:bodyPr wrap="square">
            <a:spAutoFit/>
          </a:bodyPr>
          <a:lstStyle/>
          <a:p>
            <a:pPr algn="l"/>
            <a:r>
              <a:rPr sz="1300" b="0">
                <a:solidFill>
                  <a:srgbClr val="F0A500"/>
                </a:solidFill>
                <a:latin typeface="Calibri"/>
              </a:rPr>
              <a:t>12 Sections  •  30+ Slides  •  Hands-on Code  •  Complete Working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Table of Contents</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12 Sections — Full A2A Protocol Coverage</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88720"/>
            <a:ext cx="530352" cy="5943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1280160"/>
            <a:ext cx="530352" cy="411480"/>
          </a:xfrm>
          <a:prstGeom prst="rect">
            <a:avLst/>
          </a:prstGeom>
          <a:noFill/>
        </p:spPr>
        <p:txBody>
          <a:bodyPr wrap="square">
            <a:spAutoFit/>
          </a:bodyPr>
          <a:lstStyle/>
          <a:p>
            <a:pPr algn="ctr"/>
            <a:r>
              <a:rPr sz="1500" b="1">
                <a:solidFill>
                  <a:srgbClr val="F0A500"/>
                </a:solidFill>
                <a:latin typeface="Calibri"/>
              </a:rPr>
              <a:t>01</a:t>
            </a:r>
          </a:p>
        </p:txBody>
      </p:sp>
      <p:sp>
        <p:nvSpPr>
          <p:cNvPr id="8" name="Rectangle 7"/>
          <p:cNvSpPr/>
          <p:nvPr/>
        </p:nvSpPr>
        <p:spPr>
          <a:xfrm>
            <a:off x="822959" y="1188720"/>
            <a:ext cx="5321808" cy="59436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316736"/>
            <a:ext cx="5120640" cy="384048"/>
          </a:xfrm>
          <a:prstGeom prst="rect">
            <a:avLst/>
          </a:prstGeom>
          <a:noFill/>
        </p:spPr>
        <p:txBody>
          <a:bodyPr wrap="square">
            <a:spAutoFit/>
          </a:bodyPr>
          <a:lstStyle/>
          <a:p>
            <a:pPr algn="l"/>
            <a:r>
              <a:rPr sz="1200" b="0">
                <a:solidFill>
                  <a:srgbClr val="222244"/>
                </a:solidFill>
                <a:latin typeface="Calibri"/>
              </a:rPr>
              <a:t>What Is A2A and Why Does It Matter</a:t>
            </a:r>
          </a:p>
        </p:txBody>
      </p:sp>
      <p:sp>
        <p:nvSpPr>
          <p:cNvPr id="10" name="Rectangle 9"/>
          <p:cNvSpPr/>
          <p:nvPr/>
        </p:nvSpPr>
        <p:spPr>
          <a:xfrm>
            <a:off x="274320" y="2057400"/>
            <a:ext cx="530352" cy="5943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2148840"/>
            <a:ext cx="530352" cy="411480"/>
          </a:xfrm>
          <a:prstGeom prst="rect">
            <a:avLst/>
          </a:prstGeom>
          <a:noFill/>
        </p:spPr>
        <p:txBody>
          <a:bodyPr wrap="square">
            <a:spAutoFit/>
          </a:bodyPr>
          <a:lstStyle/>
          <a:p>
            <a:pPr algn="ctr"/>
            <a:r>
              <a:rPr sz="1500" b="1">
                <a:solidFill>
                  <a:srgbClr val="F0A500"/>
                </a:solidFill>
                <a:latin typeface="Calibri"/>
              </a:rPr>
              <a:t>02</a:t>
            </a:r>
          </a:p>
        </p:txBody>
      </p:sp>
      <p:sp>
        <p:nvSpPr>
          <p:cNvPr id="12" name="Rectangle 11"/>
          <p:cNvSpPr/>
          <p:nvPr/>
        </p:nvSpPr>
        <p:spPr>
          <a:xfrm>
            <a:off x="822959" y="2057400"/>
            <a:ext cx="5321808" cy="59436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32688" y="2185416"/>
            <a:ext cx="5120640" cy="384048"/>
          </a:xfrm>
          <a:prstGeom prst="rect">
            <a:avLst/>
          </a:prstGeom>
          <a:noFill/>
        </p:spPr>
        <p:txBody>
          <a:bodyPr wrap="square">
            <a:spAutoFit/>
          </a:bodyPr>
          <a:lstStyle/>
          <a:p>
            <a:pPr algn="l"/>
            <a:r>
              <a:rPr sz="1200" b="0">
                <a:solidFill>
                  <a:srgbClr val="222244"/>
                </a:solidFill>
                <a:latin typeface="Calibri"/>
              </a:rPr>
              <a:t>Agent Cards: How Agents Advertise Themselves</a:t>
            </a:r>
          </a:p>
        </p:txBody>
      </p:sp>
      <p:sp>
        <p:nvSpPr>
          <p:cNvPr id="14" name="Rectangle 13"/>
          <p:cNvSpPr/>
          <p:nvPr/>
        </p:nvSpPr>
        <p:spPr>
          <a:xfrm>
            <a:off x="274320" y="2926080"/>
            <a:ext cx="530352" cy="5943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4320" y="3017520"/>
            <a:ext cx="530352" cy="411480"/>
          </a:xfrm>
          <a:prstGeom prst="rect">
            <a:avLst/>
          </a:prstGeom>
          <a:noFill/>
        </p:spPr>
        <p:txBody>
          <a:bodyPr wrap="square">
            <a:spAutoFit/>
          </a:bodyPr>
          <a:lstStyle/>
          <a:p>
            <a:pPr algn="ctr"/>
            <a:r>
              <a:rPr sz="1500" b="1">
                <a:solidFill>
                  <a:srgbClr val="F0A500"/>
                </a:solidFill>
                <a:latin typeface="Calibri"/>
              </a:rPr>
              <a:t>03</a:t>
            </a:r>
          </a:p>
        </p:txBody>
      </p:sp>
      <p:sp>
        <p:nvSpPr>
          <p:cNvPr id="16" name="Rectangle 15"/>
          <p:cNvSpPr/>
          <p:nvPr/>
        </p:nvSpPr>
        <p:spPr>
          <a:xfrm>
            <a:off x="822959" y="2926080"/>
            <a:ext cx="5321808" cy="59436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 y="3054096"/>
            <a:ext cx="5120640" cy="384048"/>
          </a:xfrm>
          <a:prstGeom prst="rect">
            <a:avLst/>
          </a:prstGeom>
          <a:noFill/>
        </p:spPr>
        <p:txBody>
          <a:bodyPr wrap="square">
            <a:spAutoFit/>
          </a:bodyPr>
          <a:lstStyle/>
          <a:p>
            <a:pPr algn="l"/>
            <a:r>
              <a:rPr sz="1200" b="0">
                <a:solidFill>
                  <a:srgbClr val="222244"/>
                </a:solidFill>
                <a:latin typeface="Calibri"/>
              </a:rPr>
              <a:t>Tasks: The Core Unit of Work</a:t>
            </a:r>
          </a:p>
        </p:txBody>
      </p:sp>
      <p:sp>
        <p:nvSpPr>
          <p:cNvPr id="18" name="Rectangle 17"/>
          <p:cNvSpPr/>
          <p:nvPr/>
        </p:nvSpPr>
        <p:spPr>
          <a:xfrm>
            <a:off x="274320" y="3794759"/>
            <a:ext cx="530352" cy="5943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4320" y="3886199"/>
            <a:ext cx="530352" cy="411480"/>
          </a:xfrm>
          <a:prstGeom prst="rect">
            <a:avLst/>
          </a:prstGeom>
          <a:noFill/>
        </p:spPr>
        <p:txBody>
          <a:bodyPr wrap="square">
            <a:spAutoFit/>
          </a:bodyPr>
          <a:lstStyle/>
          <a:p>
            <a:pPr algn="ctr"/>
            <a:r>
              <a:rPr sz="1500" b="1">
                <a:solidFill>
                  <a:srgbClr val="F0A500"/>
                </a:solidFill>
                <a:latin typeface="Calibri"/>
              </a:rPr>
              <a:t>04</a:t>
            </a:r>
          </a:p>
        </p:txBody>
      </p:sp>
      <p:sp>
        <p:nvSpPr>
          <p:cNvPr id="20" name="Rectangle 19"/>
          <p:cNvSpPr/>
          <p:nvPr/>
        </p:nvSpPr>
        <p:spPr>
          <a:xfrm>
            <a:off x="822959" y="3794759"/>
            <a:ext cx="5321808" cy="59436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2688" y="3922775"/>
            <a:ext cx="5120640" cy="384048"/>
          </a:xfrm>
          <a:prstGeom prst="rect">
            <a:avLst/>
          </a:prstGeom>
          <a:noFill/>
        </p:spPr>
        <p:txBody>
          <a:bodyPr wrap="square">
            <a:spAutoFit/>
          </a:bodyPr>
          <a:lstStyle/>
          <a:p>
            <a:pPr algn="l"/>
            <a:r>
              <a:rPr sz="1200" b="0">
                <a:solidFill>
                  <a:srgbClr val="222244"/>
                </a:solidFill>
                <a:latin typeface="Calibri"/>
              </a:rPr>
              <a:t>Task Lifecycle: States and Transitions</a:t>
            </a:r>
          </a:p>
        </p:txBody>
      </p:sp>
      <p:sp>
        <p:nvSpPr>
          <p:cNvPr id="22" name="Rectangle 21"/>
          <p:cNvSpPr/>
          <p:nvPr/>
        </p:nvSpPr>
        <p:spPr>
          <a:xfrm>
            <a:off x="274320" y="4663440"/>
            <a:ext cx="530352" cy="5943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74320" y="4754879"/>
            <a:ext cx="530352" cy="411480"/>
          </a:xfrm>
          <a:prstGeom prst="rect">
            <a:avLst/>
          </a:prstGeom>
          <a:noFill/>
        </p:spPr>
        <p:txBody>
          <a:bodyPr wrap="square">
            <a:spAutoFit/>
          </a:bodyPr>
          <a:lstStyle/>
          <a:p>
            <a:pPr algn="ctr"/>
            <a:r>
              <a:rPr sz="1500" b="1">
                <a:solidFill>
                  <a:srgbClr val="F0A500"/>
                </a:solidFill>
                <a:latin typeface="Calibri"/>
              </a:rPr>
              <a:t>05</a:t>
            </a:r>
          </a:p>
        </p:txBody>
      </p:sp>
      <p:sp>
        <p:nvSpPr>
          <p:cNvPr id="24" name="Rectangle 23"/>
          <p:cNvSpPr/>
          <p:nvPr/>
        </p:nvSpPr>
        <p:spPr>
          <a:xfrm>
            <a:off x="822959" y="4663440"/>
            <a:ext cx="5321808" cy="59436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2688" y="4791455"/>
            <a:ext cx="5120640" cy="384048"/>
          </a:xfrm>
          <a:prstGeom prst="rect">
            <a:avLst/>
          </a:prstGeom>
          <a:noFill/>
        </p:spPr>
        <p:txBody>
          <a:bodyPr wrap="square">
            <a:spAutoFit/>
          </a:bodyPr>
          <a:lstStyle/>
          <a:p>
            <a:pPr algn="l"/>
            <a:r>
              <a:rPr sz="1200" b="0">
                <a:solidFill>
                  <a:srgbClr val="222244"/>
                </a:solidFill>
                <a:latin typeface="Calibri"/>
              </a:rPr>
              <a:t>Streaming with Server-Sent Events (SSE)</a:t>
            </a:r>
          </a:p>
        </p:txBody>
      </p:sp>
      <p:sp>
        <p:nvSpPr>
          <p:cNvPr id="26" name="Rectangle 25"/>
          <p:cNvSpPr/>
          <p:nvPr/>
        </p:nvSpPr>
        <p:spPr>
          <a:xfrm>
            <a:off x="274320" y="5532120"/>
            <a:ext cx="530352" cy="5943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74320" y="5623559"/>
            <a:ext cx="530352" cy="411480"/>
          </a:xfrm>
          <a:prstGeom prst="rect">
            <a:avLst/>
          </a:prstGeom>
          <a:noFill/>
        </p:spPr>
        <p:txBody>
          <a:bodyPr wrap="square">
            <a:spAutoFit/>
          </a:bodyPr>
          <a:lstStyle/>
          <a:p>
            <a:pPr algn="ctr"/>
            <a:r>
              <a:rPr sz="1500" b="1">
                <a:solidFill>
                  <a:srgbClr val="F0A500"/>
                </a:solidFill>
                <a:latin typeface="Calibri"/>
              </a:rPr>
              <a:t>06</a:t>
            </a:r>
          </a:p>
        </p:txBody>
      </p:sp>
      <p:sp>
        <p:nvSpPr>
          <p:cNvPr id="28" name="Rectangle 27"/>
          <p:cNvSpPr/>
          <p:nvPr/>
        </p:nvSpPr>
        <p:spPr>
          <a:xfrm>
            <a:off x="822959" y="5532120"/>
            <a:ext cx="5321808" cy="59436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32688" y="5660136"/>
            <a:ext cx="5120640" cy="384048"/>
          </a:xfrm>
          <a:prstGeom prst="rect">
            <a:avLst/>
          </a:prstGeom>
          <a:noFill/>
        </p:spPr>
        <p:txBody>
          <a:bodyPr wrap="square">
            <a:spAutoFit/>
          </a:bodyPr>
          <a:lstStyle/>
          <a:p>
            <a:pPr algn="l"/>
            <a:r>
              <a:rPr sz="1200" b="0">
                <a:solidFill>
                  <a:srgbClr val="222244"/>
                </a:solidFill>
                <a:latin typeface="Calibri"/>
              </a:rPr>
              <a:t>Multimodal Content: Files and Structured Data</a:t>
            </a:r>
          </a:p>
        </p:txBody>
      </p:sp>
      <p:sp>
        <p:nvSpPr>
          <p:cNvPr id="30" name="Rectangle 29"/>
          <p:cNvSpPr/>
          <p:nvPr/>
        </p:nvSpPr>
        <p:spPr>
          <a:xfrm>
            <a:off x="6217920" y="1188720"/>
            <a:ext cx="530352" cy="5943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17920" y="1280160"/>
            <a:ext cx="530352" cy="411480"/>
          </a:xfrm>
          <a:prstGeom prst="rect">
            <a:avLst/>
          </a:prstGeom>
          <a:noFill/>
        </p:spPr>
        <p:txBody>
          <a:bodyPr wrap="square">
            <a:spAutoFit/>
          </a:bodyPr>
          <a:lstStyle/>
          <a:p>
            <a:pPr algn="ctr"/>
            <a:r>
              <a:rPr sz="1500" b="1">
                <a:solidFill>
                  <a:srgbClr val="F0A500"/>
                </a:solidFill>
                <a:latin typeface="Calibri"/>
              </a:rPr>
              <a:t>07</a:t>
            </a:r>
          </a:p>
        </p:txBody>
      </p:sp>
      <p:sp>
        <p:nvSpPr>
          <p:cNvPr id="32" name="Rectangle 31"/>
          <p:cNvSpPr/>
          <p:nvPr/>
        </p:nvSpPr>
        <p:spPr>
          <a:xfrm>
            <a:off x="6766559" y="1188720"/>
            <a:ext cx="5321808" cy="59436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876288" y="1316736"/>
            <a:ext cx="5120640" cy="384048"/>
          </a:xfrm>
          <a:prstGeom prst="rect">
            <a:avLst/>
          </a:prstGeom>
          <a:noFill/>
        </p:spPr>
        <p:txBody>
          <a:bodyPr wrap="square">
            <a:spAutoFit/>
          </a:bodyPr>
          <a:lstStyle/>
          <a:p>
            <a:pPr algn="l"/>
            <a:r>
              <a:rPr sz="1200" b="0">
                <a:solidFill>
                  <a:srgbClr val="222244"/>
                </a:solidFill>
                <a:latin typeface="Calibri"/>
              </a:rPr>
              <a:t>Input Required: Human-in-the-Loop</a:t>
            </a:r>
          </a:p>
        </p:txBody>
      </p:sp>
      <p:sp>
        <p:nvSpPr>
          <p:cNvPr id="34" name="Rectangle 33"/>
          <p:cNvSpPr/>
          <p:nvPr/>
        </p:nvSpPr>
        <p:spPr>
          <a:xfrm>
            <a:off x="6217920" y="2057400"/>
            <a:ext cx="530352" cy="5943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17920" y="2148840"/>
            <a:ext cx="530352" cy="411480"/>
          </a:xfrm>
          <a:prstGeom prst="rect">
            <a:avLst/>
          </a:prstGeom>
          <a:noFill/>
        </p:spPr>
        <p:txBody>
          <a:bodyPr wrap="square">
            <a:spAutoFit/>
          </a:bodyPr>
          <a:lstStyle/>
          <a:p>
            <a:pPr algn="ctr"/>
            <a:r>
              <a:rPr sz="1500" b="1">
                <a:solidFill>
                  <a:srgbClr val="F0A500"/>
                </a:solidFill>
                <a:latin typeface="Calibri"/>
              </a:rPr>
              <a:t>08</a:t>
            </a:r>
          </a:p>
        </p:txBody>
      </p:sp>
      <p:sp>
        <p:nvSpPr>
          <p:cNvPr id="36" name="Rectangle 35"/>
          <p:cNvSpPr/>
          <p:nvPr/>
        </p:nvSpPr>
        <p:spPr>
          <a:xfrm>
            <a:off x="6766559" y="2057400"/>
            <a:ext cx="5321808" cy="59436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876288" y="2185416"/>
            <a:ext cx="5120640" cy="384048"/>
          </a:xfrm>
          <a:prstGeom prst="rect">
            <a:avLst/>
          </a:prstGeom>
          <a:noFill/>
        </p:spPr>
        <p:txBody>
          <a:bodyPr wrap="square">
            <a:spAutoFit/>
          </a:bodyPr>
          <a:lstStyle/>
          <a:p>
            <a:pPr algn="l"/>
            <a:r>
              <a:rPr sz="1200" b="0">
                <a:solidFill>
                  <a:srgbClr val="222244"/>
                </a:solidFill>
                <a:latin typeface="Calibri"/>
              </a:rPr>
              <a:t>Push Notifications: Fire-and-Forget Async</a:t>
            </a:r>
          </a:p>
        </p:txBody>
      </p:sp>
      <p:sp>
        <p:nvSpPr>
          <p:cNvPr id="38" name="Rectangle 37"/>
          <p:cNvSpPr/>
          <p:nvPr/>
        </p:nvSpPr>
        <p:spPr>
          <a:xfrm>
            <a:off x="6217920" y="2926080"/>
            <a:ext cx="530352" cy="5943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17920" y="3017520"/>
            <a:ext cx="530352" cy="411480"/>
          </a:xfrm>
          <a:prstGeom prst="rect">
            <a:avLst/>
          </a:prstGeom>
          <a:noFill/>
        </p:spPr>
        <p:txBody>
          <a:bodyPr wrap="square">
            <a:spAutoFit/>
          </a:bodyPr>
          <a:lstStyle/>
          <a:p>
            <a:pPr algn="ctr"/>
            <a:r>
              <a:rPr sz="1500" b="1">
                <a:solidFill>
                  <a:srgbClr val="F0A500"/>
                </a:solidFill>
                <a:latin typeface="Calibri"/>
              </a:rPr>
              <a:t>09</a:t>
            </a:r>
          </a:p>
        </p:txBody>
      </p:sp>
      <p:sp>
        <p:nvSpPr>
          <p:cNvPr id="40" name="Rectangle 39"/>
          <p:cNvSpPr/>
          <p:nvPr/>
        </p:nvSpPr>
        <p:spPr>
          <a:xfrm>
            <a:off x="6766559" y="2926080"/>
            <a:ext cx="5321808" cy="59436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876288" y="3054096"/>
            <a:ext cx="5120640" cy="384048"/>
          </a:xfrm>
          <a:prstGeom prst="rect">
            <a:avLst/>
          </a:prstGeom>
          <a:noFill/>
        </p:spPr>
        <p:txBody>
          <a:bodyPr wrap="square">
            <a:spAutoFit/>
          </a:bodyPr>
          <a:lstStyle/>
          <a:p>
            <a:pPr algn="l"/>
            <a:r>
              <a:rPr sz="1200" b="0">
                <a:solidFill>
                  <a:srgbClr val="222244"/>
                </a:solidFill>
                <a:latin typeface="Calibri"/>
              </a:rPr>
              <a:t>Authentication and Security</a:t>
            </a:r>
          </a:p>
        </p:txBody>
      </p:sp>
      <p:sp>
        <p:nvSpPr>
          <p:cNvPr id="42" name="Rectangle 41"/>
          <p:cNvSpPr/>
          <p:nvPr/>
        </p:nvSpPr>
        <p:spPr>
          <a:xfrm>
            <a:off x="6217920" y="3794759"/>
            <a:ext cx="530352" cy="5943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17920" y="3886199"/>
            <a:ext cx="530352" cy="411480"/>
          </a:xfrm>
          <a:prstGeom prst="rect">
            <a:avLst/>
          </a:prstGeom>
          <a:noFill/>
        </p:spPr>
        <p:txBody>
          <a:bodyPr wrap="square">
            <a:spAutoFit/>
          </a:bodyPr>
          <a:lstStyle/>
          <a:p>
            <a:pPr algn="ctr"/>
            <a:r>
              <a:rPr sz="1500" b="1">
                <a:solidFill>
                  <a:srgbClr val="F0A500"/>
                </a:solidFill>
                <a:latin typeface="Calibri"/>
              </a:rPr>
              <a:t>10</a:t>
            </a:r>
          </a:p>
        </p:txBody>
      </p:sp>
      <p:sp>
        <p:nvSpPr>
          <p:cNvPr id="44" name="Rectangle 43"/>
          <p:cNvSpPr/>
          <p:nvPr/>
        </p:nvSpPr>
        <p:spPr>
          <a:xfrm>
            <a:off x="6766559" y="3794759"/>
            <a:ext cx="5321808" cy="59436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876288" y="3922775"/>
            <a:ext cx="5120640" cy="384048"/>
          </a:xfrm>
          <a:prstGeom prst="rect">
            <a:avLst/>
          </a:prstGeom>
          <a:noFill/>
        </p:spPr>
        <p:txBody>
          <a:bodyPr wrap="square">
            <a:spAutoFit/>
          </a:bodyPr>
          <a:lstStyle/>
          <a:p>
            <a:pPr algn="l"/>
            <a:r>
              <a:rPr sz="1200" b="0">
                <a:solidFill>
                  <a:srgbClr val="222244"/>
                </a:solidFill>
                <a:latin typeface="Calibri"/>
              </a:rPr>
              <a:t>Error Handling and Resilience</a:t>
            </a:r>
          </a:p>
        </p:txBody>
      </p:sp>
      <p:sp>
        <p:nvSpPr>
          <p:cNvPr id="46" name="Rectangle 45"/>
          <p:cNvSpPr/>
          <p:nvPr/>
        </p:nvSpPr>
        <p:spPr>
          <a:xfrm>
            <a:off x="6217920" y="4663440"/>
            <a:ext cx="530352" cy="5943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17920" y="4754879"/>
            <a:ext cx="530352" cy="411480"/>
          </a:xfrm>
          <a:prstGeom prst="rect">
            <a:avLst/>
          </a:prstGeom>
          <a:noFill/>
        </p:spPr>
        <p:txBody>
          <a:bodyPr wrap="square">
            <a:spAutoFit/>
          </a:bodyPr>
          <a:lstStyle/>
          <a:p>
            <a:pPr algn="ctr"/>
            <a:r>
              <a:rPr sz="1500" b="1">
                <a:solidFill>
                  <a:srgbClr val="F0A500"/>
                </a:solidFill>
                <a:latin typeface="Calibri"/>
              </a:rPr>
              <a:t>11</a:t>
            </a:r>
          </a:p>
        </p:txBody>
      </p:sp>
      <p:sp>
        <p:nvSpPr>
          <p:cNvPr id="48" name="Rectangle 47"/>
          <p:cNvSpPr/>
          <p:nvPr/>
        </p:nvSpPr>
        <p:spPr>
          <a:xfrm>
            <a:off x="6766559" y="4663440"/>
            <a:ext cx="5321808" cy="59436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876288" y="4791455"/>
            <a:ext cx="5120640" cy="384048"/>
          </a:xfrm>
          <a:prstGeom prst="rect">
            <a:avLst/>
          </a:prstGeom>
          <a:noFill/>
        </p:spPr>
        <p:txBody>
          <a:bodyPr wrap="square">
            <a:spAutoFit/>
          </a:bodyPr>
          <a:lstStyle/>
          <a:p>
            <a:pPr algn="l"/>
            <a:r>
              <a:rPr sz="1200" b="0">
                <a:solidFill>
                  <a:srgbClr val="222244"/>
                </a:solidFill>
                <a:latin typeface="Calibri"/>
              </a:rPr>
              <a:t>Multi-Agent Orchestration</a:t>
            </a:r>
          </a:p>
        </p:txBody>
      </p:sp>
      <p:sp>
        <p:nvSpPr>
          <p:cNvPr id="50" name="Rectangle 49"/>
          <p:cNvSpPr/>
          <p:nvPr/>
        </p:nvSpPr>
        <p:spPr>
          <a:xfrm>
            <a:off x="6217920" y="5532120"/>
            <a:ext cx="530352" cy="5943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217920" y="5623559"/>
            <a:ext cx="530352" cy="411480"/>
          </a:xfrm>
          <a:prstGeom prst="rect">
            <a:avLst/>
          </a:prstGeom>
          <a:noFill/>
        </p:spPr>
        <p:txBody>
          <a:bodyPr wrap="square">
            <a:spAutoFit/>
          </a:bodyPr>
          <a:lstStyle/>
          <a:p>
            <a:pPr algn="ctr"/>
            <a:r>
              <a:rPr sz="1500" b="1">
                <a:solidFill>
                  <a:srgbClr val="F0A500"/>
                </a:solidFill>
                <a:latin typeface="Calibri"/>
              </a:rPr>
              <a:t>12</a:t>
            </a:r>
          </a:p>
        </p:txBody>
      </p:sp>
      <p:sp>
        <p:nvSpPr>
          <p:cNvPr id="52" name="Rectangle 51"/>
          <p:cNvSpPr/>
          <p:nvPr/>
        </p:nvSpPr>
        <p:spPr>
          <a:xfrm>
            <a:off x="6766559" y="5532120"/>
            <a:ext cx="5321808" cy="59436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876288" y="5660136"/>
            <a:ext cx="5120640" cy="384048"/>
          </a:xfrm>
          <a:prstGeom prst="rect">
            <a:avLst/>
          </a:prstGeom>
          <a:noFill/>
        </p:spPr>
        <p:txBody>
          <a:bodyPr wrap="square">
            <a:spAutoFit/>
          </a:bodyPr>
          <a:lstStyle/>
          <a:p>
            <a:pPr algn="l"/>
            <a:r>
              <a:rPr sz="1200" b="0">
                <a:solidFill>
                  <a:srgbClr val="222244"/>
                </a:solidFill>
                <a:latin typeface="Calibri"/>
              </a:rPr>
              <a:t>Running the Complete System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Project: Travel Planning Multi-Agent System</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Architecture Overview</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325880"/>
            <a:ext cx="1828800" cy="640080"/>
          </a:xfrm>
          <a:prstGeom prst="rect">
            <a:avLst/>
          </a:prstGeom>
          <a:solidFill>
            <a:srgbClr val="1B3A6B"/>
          </a:solidFill>
          <a:ln w="2540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1417320"/>
            <a:ext cx="1828800" cy="457200"/>
          </a:xfrm>
          <a:prstGeom prst="rect">
            <a:avLst/>
          </a:prstGeom>
          <a:noFill/>
        </p:spPr>
        <p:txBody>
          <a:bodyPr wrap="square">
            <a:spAutoFit/>
          </a:bodyPr>
          <a:lstStyle/>
          <a:p>
            <a:pPr algn="ctr"/>
            <a:r>
              <a:rPr sz="1300" b="1">
                <a:solidFill>
                  <a:srgbClr val="FFFFFF"/>
                </a:solidFill>
                <a:latin typeface="Calibri"/>
              </a:rPr>
              <a:t>User / Client</a:t>
            </a:r>
          </a:p>
        </p:txBody>
      </p:sp>
      <p:sp>
        <p:nvSpPr>
          <p:cNvPr id="8" name="TextBox 7"/>
          <p:cNvSpPr txBox="1"/>
          <p:nvPr/>
        </p:nvSpPr>
        <p:spPr>
          <a:xfrm>
            <a:off x="2148840" y="1417320"/>
            <a:ext cx="457200" cy="457200"/>
          </a:xfrm>
          <a:prstGeom prst="rect">
            <a:avLst/>
          </a:prstGeom>
          <a:noFill/>
        </p:spPr>
        <p:txBody>
          <a:bodyPr wrap="square">
            <a:spAutoFit/>
          </a:bodyPr>
          <a:lstStyle/>
          <a:p>
            <a:pPr algn="ctr"/>
            <a:r>
              <a:rPr sz="2600" b="1">
                <a:solidFill>
                  <a:srgbClr val="1B3A6B"/>
                </a:solidFill>
                <a:latin typeface="Calibri"/>
              </a:rPr>
              <a:t>→</a:t>
            </a:r>
          </a:p>
        </p:txBody>
      </p:sp>
      <p:sp>
        <p:nvSpPr>
          <p:cNvPr id="9" name="Rectangle 8"/>
          <p:cNvSpPr/>
          <p:nvPr/>
        </p:nvSpPr>
        <p:spPr>
          <a:xfrm>
            <a:off x="2633472" y="1188720"/>
            <a:ext cx="3017520" cy="960120"/>
          </a:xfrm>
          <a:prstGeom prst="rect">
            <a:avLst/>
          </a:prstGeom>
          <a:solidFill>
            <a:srgbClr val="1B3A6B"/>
          </a:solidFill>
          <a:ln w="2540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33472" y="1252728"/>
            <a:ext cx="3017520" cy="384048"/>
          </a:xfrm>
          <a:prstGeom prst="rect">
            <a:avLst/>
          </a:prstGeom>
          <a:noFill/>
        </p:spPr>
        <p:txBody>
          <a:bodyPr wrap="square">
            <a:spAutoFit/>
          </a:bodyPr>
          <a:lstStyle/>
          <a:p>
            <a:pPr algn="ctr"/>
            <a:r>
              <a:rPr sz="1400" b="1">
                <a:solidFill>
                  <a:srgbClr val="FFFFFF"/>
                </a:solidFill>
                <a:latin typeface="Calibri"/>
              </a:rPr>
              <a:t>Travel Orchestrator</a:t>
            </a:r>
          </a:p>
        </p:txBody>
      </p:sp>
      <p:sp>
        <p:nvSpPr>
          <p:cNvPr id="11" name="TextBox 10"/>
          <p:cNvSpPr txBox="1"/>
          <p:nvPr/>
        </p:nvSpPr>
        <p:spPr>
          <a:xfrm>
            <a:off x="2633472" y="1627632"/>
            <a:ext cx="3017520" cy="320040"/>
          </a:xfrm>
          <a:prstGeom prst="rect">
            <a:avLst/>
          </a:prstGeom>
          <a:noFill/>
        </p:spPr>
        <p:txBody>
          <a:bodyPr wrap="square">
            <a:spAutoFit/>
          </a:bodyPr>
          <a:lstStyle/>
          <a:p>
            <a:pPr algn="ctr"/>
            <a:r>
              <a:rPr sz="1100" b="0">
                <a:solidFill>
                  <a:srgbClr val="F0A500"/>
                </a:solidFill>
                <a:latin typeface="Calibri"/>
              </a:rPr>
              <a:t>ADK LlmAgent + A2A Client</a:t>
            </a:r>
          </a:p>
        </p:txBody>
      </p:sp>
      <p:sp>
        <p:nvSpPr>
          <p:cNvPr id="12" name="Rectangle 11"/>
          <p:cNvSpPr/>
          <p:nvPr/>
        </p:nvSpPr>
        <p:spPr>
          <a:xfrm>
            <a:off x="182880" y="2377440"/>
            <a:ext cx="11795760" cy="201168"/>
          </a:xfrm>
          <a:prstGeom prst="rect">
            <a:avLst/>
          </a:prstGeom>
          <a:solidFill>
            <a:srgbClr val="C8D5E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82880" y="2377440"/>
            <a:ext cx="11795760" cy="201168"/>
          </a:xfrm>
          <a:prstGeom prst="rect">
            <a:avLst/>
          </a:prstGeom>
          <a:noFill/>
        </p:spPr>
        <p:txBody>
          <a:bodyPr wrap="square">
            <a:spAutoFit/>
          </a:bodyPr>
          <a:lstStyle/>
          <a:p>
            <a:pPr algn="ctr"/>
            <a:r>
              <a:rPr sz="1100" b="0">
                <a:solidFill>
                  <a:srgbClr val="1B3A6B"/>
                </a:solidFill>
                <a:latin typeface="Calibri"/>
              </a:rPr>
              <a:t>A2A Protocol (HTTP / JSON-RPC 2.0) — all agent connections</a:t>
            </a:r>
          </a:p>
        </p:txBody>
      </p:sp>
      <p:sp>
        <p:nvSpPr>
          <p:cNvPr id="14" name="TextBox 13"/>
          <p:cNvSpPr txBox="1"/>
          <p:nvPr/>
        </p:nvSpPr>
        <p:spPr>
          <a:xfrm>
            <a:off x="960120" y="2606040"/>
            <a:ext cx="640080" cy="347472"/>
          </a:xfrm>
          <a:prstGeom prst="rect">
            <a:avLst/>
          </a:prstGeom>
          <a:noFill/>
        </p:spPr>
        <p:txBody>
          <a:bodyPr wrap="square">
            <a:spAutoFit/>
          </a:bodyPr>
          <a:lstStyle/>
          <a:p>
            <a:pPr algn="ctr"/>
            <a:r>
              <a:rPr sz="2000" b="1">
                <a:solidFill>
                  <a:srgbClr val="1B3A6B"/>
                </a:solidFill>
                <a:latin typeface="Calibri"/>
              </a:rPr>
              <a:t>↓</a:t>
            </a:r>
          </a:p>
        </p:txBody>
      </p:sp>
      <p:sp>
        <p:nvSpPr>
          <p:cNvPr id="15" name="Rectangle 14"/>
          <p:cNvSpPr/>
          <p:nvPr/>
        </p:nvSpPr>
        <p:spPr>
          <a:xfrm>
            <a:off x="228600" y="2999232"/>
            <a:ext cx="2697480" cy="1280160"/>
          </a:xfrm>
          <a:prstGeom prst="rect">
            <a:avLst/>
          </a:prstGeom>
          <a:solidFill>
            <a:srgbClr val="28A74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8600" y="3035808"/>
            <a:ext cx="2697480" cy="365760"/>
          </a:xfrm>
          <a:prstGeom prst="rect">
            <a:avLst/>
          </a:prstGeom>
          <a:noFill/>
        </p:spPr>
        <p:txBody>
          <a:bodyPr wrap="square">
            <a:spAutoFit/>
          </a:bodyPr>
          <a:lstStyle/>
          <a:p>
            <a:pPr algn="ctr"/>
            <a:r>
              <a:rPr sz="1300" b="1">
                <a:solidFill>
                  <a:srgbClr val="FFFFFF"/>
                </a:solidFill>
                <a:latin typeface="Calibri"/>
              </a:rPr>
              <a:t>Flight Agent</a:t>
            </a:r>
          </a:p>
        </p:txBody>
      </p:sp>
      <p:sp>
        <p:nvSpPr>
          <p:cNvPr id="17" name="Rectangle 16"/>
          <p:cNvSpPr/>
          <p:nvPr/>
        </p:nvSpPr>
        <p:spPr>
          <a:xfrm>
            <a:off x="228600" y="3401568"/>
            <a:ext cx="2697480" cy="201168"/>
          </a:xfrm>
          <a:prstGeom prst="rect">
            <a:avLst/>
          </a:prstGeom>
          <a:solidFill>
            <a:srgbClr val="0F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3401568"/>
            <a:ext cx="2697480" cy="201168"/>
          </a:xfrm>
          <a:prstGeom prst="rect">
            <a:avLst/>
          </a:prstGeom>
          <a:noFill/>
        </p:spPr>
        <p:txBody>
          <a:bodyPr wrap="square">
            <a:spAutoFit/>
          </a:bodyPr>
          <a:lstStyle/>
          <a:p>
            <a:pPr algn="ctr"/>
            <a:r>
              <a:rPr sz="1000" b="0">
                <a:solidFill>
                  <a:srgbClr val="F0A500"/>
                </a:solidFill>
                <a:latin typeface="Calibri"/>
              </a:rPr>
              <a:t>Port 8001</a:t>
            </a:r>
          </a:p>
        </p:txBody>
      </p:sp>
      <p:sp>
        <p:nvSpPr>
          <p:cNvPr id="19" name="TextBox 18"/>
          <p:cNvSpPr txBox="1"/>
          <p:nvPr/>
        </p:nvSpPr>
        <p:spPr>
          <a:xfrm>
            <a:off x="228600" y="3621024"/>
            <a:ext cx="2697480" cy="594360"/>
          </a:xfrm>
          <a:prstGeom prst="rect">
            <a:avLst/>
          </a:prstGeom>
          <a:noFill/>
        </p:spPr>
        <p:txBody>
          <a:bodyPr wrap="square">
            <a:spAutoFit/>
          </a:bodyPr>
          <a:lstStyle/>
          <a:p>
            <a:pPr algn="ctr"/>
            <a:r>
              <a:rPr sz="1100" b="0">
                <a:solidFill>
                  <a:srgbClr val="FFFFFF"/>
                </a:solidFill>
                <a:latin typeface="Calibri"/>
              </a:rPr>
              <a:t>Bearer Auth
Sync+Streaming</a:t>
            </a:r>
          </a:p>
        </p:txBody>
      </p:sp>
      <p:sp>
        <p:nvSpPr>
          <p:cNvPr id="20" name="TextBox 19"/>
          <p:cNvSpPr txBox="1"/>
          <p:nvPr/>
        </p:nvSpPr>
        <p:spPr>
          <a:xfrm>
            <a:off x="3886200" y="2606040"/>
            <a:ext cx="640080" cy="347472"/>
          </a:xfrm>
          <a:prstGeom prst="rect">
            <a:avLst/>
          </a:prstGeom>
          <a:noFill/>
        </p:spPr>
        <p:txBody>
          <a:bodyPr wrap="square">
            <a:spAutoFit/>
          </a:bodyPr>
          <a:lstStyle/>
          <a:p>
            <a:pPr algn="ctr"/>
            <a:r>
              <a:rPr sz="2000" b="1">
                <a:solidFill>
                  <a:srgbClr val="1B3A6B"/>
                </a:solidFill>
                <a:latin typeface="Calibri"/>
              </a:rPr>
              <a:t>↓</a:t>
            </a:r>
          </a:p>
        </p:txBody>
      </p:sp>
      <p:sp>
        <p:nvSpPr>
          <p:cNvPr id="21" name="Rectangle 20"/>
          <p:cNvSpPr/>
          <p:nvPr/>
        </p:nvSpPr>
        <p:spPr>
          <a:xfrm>
            <a:off x="3154680" y="2999232"/>
            <a:ext cx="2697480" cy="1280160"/>
          </a:xfrm>
          <a:prstGeom prst="rect">
            <a:avLst/>
          </a:prstGeom>
          <a:solidFill>
            <a:srgbClr val="176AA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154680" y="3035808"/>
            <a:ext cx="2697480" cy="365760"/>
          </a:xfrm>
          <a:prstGeom prst="rect">
            <a:avLst/>
          </a:prstGeom>
          <a:noFill/>
        </p:spPr>
        <p:txBody>
          <a:bodyPr wrap="square">
            <a:spAutoFit/>
          </a:bodyPr>
          <a:lstStyle/>
          <a:p>
            <a:pPr algn="ctr"/>
            <a:r>
              <a:rPr sz="1300" b="1">
                <a:solidFill>
                  <a:srgbClr val="FFFFFF"/>
                </a:solidFill>
                <a:latin typeface="Calibri"/>
              </a:rPr>
              <a:t>Hotel Agent</a:t>
            </a:r>
          </a:p>
        </p:txBody>
      </p:sp>
      <p:sp>
        <p:nvSpPr>
          <p:cNvPr id="23" name="Rectangle 22"/>
          <p:cNvSpPr/>
          <p:nvPr/>
        </p:nvSpPr>
        <p:spPr>
          <a:xfrm>
            <a:off x="3154680" y="3401568"/>
            <a:ext cx="2697480" cy="201168"/>
          </a:xfrm>
          <a:prstGeom prst="rect">
            <a:avLst/>
          </a:prstGeom>
          <a:solidFill>
            <a:srgbClr val="0F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154680" y="3401568"/>
            <a:ext cx="2697480" cy="201168"/>
          </a:xfrm>
          <a:prstGeom prst="rect">
            <a:avLst/>
          </a:prstGeom>
          <a:noFill/>
        </p:spPr>
        <p:txBody>
          <a:bodyPr wrap="square">
            <a:spAutoFit/>
          </a:bodyPr>
          <a:lstStyle/>
          <a:p>
            <a:pPr algn="ctr"/>
            <a:r>
              <a:rPr sz="1000" b="0">
                <a:solidFill>
                  <a:srgbClr val="F0A500"/>
                </a:solidFill>
                <a:latin typeface="Calibri"/>
              </a:rPr>
              <a:t>Port 8002</a:t>
            </a:r>
          </a:p>
        </p:txBody>
      </p:sp>
      <p:sp>
        <p:nvSpPr>
          <p:cNvPr id="25" name="TextBox 24"/>
          <p:cNvSpPr txBox="1"/>
          <p:nvPr/>
        </p:nvSpPr>
        <p:spPr>
          <a:xfrm>
            <a:off x="3154680" y="3621024"/>
            <a:ext cx="2697480" cy="594360"/>
          </a:xfrm>
          <a:prstGeom prst="rect">
            <a:avLst/>
          </a:prstGeom>
          <a:noFill/>
        </p:spPr>
        <p:txBody>
          <a:bodyPr wrap="square">
            <a:spAutoFit/>
          </a:bodyPr>
          <a:lstStyle/>
          <a:p>
            <a:pPr algn="ctr"/>
            <a:r>
              <a:rPr sz="1100" b="0">
                <a:solidFill>
                  <a:srgbClr val="FFFFFF"/>
                </a:solidFill>
                <a:latin typeface="Calibri"/>
              </a:rPr>
              <a:t>API Key Auth
Multimodal PDF</a:t>
            </a:r>
          </a:p>
        </p:txBody>
      </p:sp>
      <p:sp>
        <p:nvSpPr>
          <p:cNvPr id="26" name="TextBox 25"/>
          <p:cNvSpPr txBox="1"/>
          <p:nvPr/>
        </p:nvSpPr>
        <p:spPr>
          <a:xfrm>
            <a:off x="6812280" y="2606040"/>
            <a:ext cx="640080" cy="347472"/>
          </a:xfrm>
          <a:prstGeom prst="rect">
            <a:avLst/>
          </a:prstGeom>
          <a:noFill/>
        </p:spPr>
        <p:txBody>
          <a:bodyPr wrap="square">
            <a:spAutoFit/>
          </a:bodyPr>
          <a:lstStyle/>
          <a:p>
            <a:pPr algn="ctr"/>
            <a:r>
              <a:rPr sz="2000" b="1">
                <a:solidFill>
                  <a:srgbClr val="1B3A6B"/>
                </a:solidFill>
                <a:latin typeface="Calibri"/>
              </a:rPr>
              <a:t>↓</a:t>
            </a:r>
          </a:p>
        </p:txBody>
      </p:sp>
      <p:sp>
        <p:nvSpPr>
          <p:cNvPr id="27" name="Rectangle 26"/>
          <p:cNvSpPr/>
          <p:nvPr/>
        </p:nvSpPr>
        <p:spPr>
          <a:xfrm>
            <a:off x="6080760" y="2999232"/>
            <a:ext cx="2697480" cy="1280160"/>
          </a:xfrm>
          <a:prstGeom prst="rect">
            <a:avLst/>
          </a:prstGeom>
          <a:solidFill>
            <a:srgbClr val="7B2D8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080760" y="3035808"/>
            <a:ext cx="2697480" cy="365760"/>
          </a:xfrm>
          <a:prstGeom prst="rect">
            <a:avLst/>
          </a:prstGeom>
          <a:noFill/>
        </p:spPr>
        <p:txBody>
          <a:bodyPr wrap="square">
            <a:spAutoFit/>
          </a:bodyPr>
          <a:lstStyle/>
          <a:p>
            <a:pPr algn="ctr"/>
            <a:r>
              <a:rPr sz="1300" b="1">
                <a:solidFill>
                  <a:srgbClr val="FFFFFF"/>
                </a:solidFill>
                <a:latin typeface="Calibri"/>
              </a:rPr>
              <a:t>Booking Agent</a:t>
            </a:r>
          </a:p>
        </p:txBody>
      </p:sp>
      <p:sp>
        <p:nvSpPr>
          <p:cNvPr id="29" name="Rectangle 28"/>
          <p:cNvSpPr/>
          <p:nvPr/>
        </p:nvSpPr>
        <p:spPr>
          <a:xfrm>
            <a:off x="6080760" y="3401568"/>
            <a:ext cx="2697480" cy="201168"/>
          </a:xfrm>
          <a:prstGeom prst="rect">
            <a:avLst/>
          </a:prstGeom>
          <a:solidFill>
            <a:srgbClr val="0F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080760" y="3401568"/>
            <a:ext cx="2697480" cy="201168"/>
          </a:xfrm>
          <a:prstGeom prst="rect">
            <a:avLst/>
          </a:prstGeom>
          <a:noFill/>
        </p:spPr>
        <p:txBody>
          <a:bodyPr wrap="square">
            <a:spAutoFit/>
          </a:bodyPr>
          <a:lstStyle/>
          <a:p>
            <a:pPr algn="ctr"/>
            <a:r>
              <a:rPr sz="1000" b="0">
                <a:solidFill>
                  <a:srgbClr val="F0A500"/>
                </a:solidFill>
                <a:latin typeface="Calibri"/>
              </a:rPr>
              <a:t>Port 8003</a:t>
            </a:r>
          </a:p>
        </p:txBody>
      </p:sp>
      <p:sp>
        <p:nvSpPr>
          <p:cNvPr id="31" name="TextBox 30"/>
          <p:cNvSpPr txBox="1"/>
          <p:nvPr/>
        </p:nvSpPr>
        <p:spPr>
          <a:xfrm>
            <a:off x="6080760" y="3621024"/>
            <a:ext cx="2697480" cy="594360"/>
          </a:xfrm>
          <a:prstGeom prst="rect">
            <a:avLst/>
          </a:prstGeom>
          <a:noFill/>
        </p:spPr>
        <p:txBody>
          <a:bodyPr wrap="square">
            <a:spAutoFit/>
          </a:bodyPr>
          <a:lstStyle/>
          <a:p>
            <a:pPr algn="ctr"/>
            <a:r>
              <a:rPr sz="1100" b="0">
                <a:solidFill>
                  <a:srgbClr val="FFFFFF"/>
                </a:solidFill>
                <a:latin typeface="Calibri"/>
              </a:rPr>
              <a:t>Input-Required
Push Notif.</a:t>
            </a:r>
          </a:p>
        </p:txBody>
      </p:sp>
      <p:sp>
        <p:nvSpPr>
          <p:cNvPr id="32" name="TextBox 31"/>
          <p:cNvSpPr txBox="1"/>
          <p:nvPr/>
        </p:nvSpPr>
        <p:spPr>
          <a:xfrm>
            <a:off x="9738360" y="2606040"/>
            <a:ext cx="640080" cy="347472"/>
          </a:xfrm>
          <a:prstGeom prst="rect">
            <a:avLst/>
          </a:prstGeom>
          <a:noFill/>
        </p:spPr>
        <p:txBody>
          <a:bodyPr wrap="square">
            <a:spAutoFit/>
          </a:bodyPr>
          <a:lstStyle/>
          <a:p>
            <a:pPr algn="ctr"/>
            <a:r>
              <a:rPr sz="2000" b="1">
                <a:solidFill>
                  <a:srgbClr val="1B3A6B"/>
                </a:solidFill>
                <a:latin typeface="Calibri"/>
              </a:rPr>
              <a:t>↓</a:t>
            </a:r>
          </a:p>
        </p:txBody>
      </p:sp>
      <p:sp>
        <p:nvSpPr>
          <p:cNvPr id="33" name="Rectangle 32"/>
          <p:cNvSpPr/>
          <p:nvPr/>
        </p:nvSpPr>
        <p:spPr>
          <a:xfrm>
            <a:off x="9006840" y="2999232"/>
            <a:ext cx="2697480" cy="1280160"/>
          </a:xfrm>
          <a:prstGeom prst="rect">
            <a:avLst/>
          </a:prstGeom>
          <a:solidFill>
            <a:srgbClr val="C66B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006840" y="3035808"/>
            <a:ext cx="2697480" cy="365760"/>
          </a:xfrm>
          <a:prstGeom prst="rect">
            <a:avLst/>
          </a:prstGeom>
          <a:noFill/>
        </p:spPr>
        <p:txBody>
          <a:bodyPr wrap="square">
            <a:spAutoFit/>
          </a:bodyPr>
          <a:lstStyle/>
          <a:p>
            <a:pPr algn="ctr"/>
            <a:r>
              <a:rPr sz="1300" b="1">
                <a:solidFill>
                  <a:srgbClr val="FFFFFF"/>
                </a:solidFill>
                <a:latin typeface="Calibri"/>
              </a:rPr>
              <a:t>Weather Agent</a:t>
            </a:r>
          </a:p>
        </p:txBody>
      </p:sp>
      <p:sp>
        <p:nvSpPr>
          <p:cNvPr id="35" name="Rectangle 34"/>
          <p:cNvSpPr/>
          <p:nvPr/>
        </p:nvSpPr>
        <p:spPr>
          <a:xfrm>
            <a:off x="9006840" y="3401568"/>
            <a:ext cx="2697480" cy="201168"/>
          </a:xfrm>
          <a:prstGeom prst="rect">
            <a:avLst/>
          </a:prstGeom>
          <a:solidFill>
            <a:srgbClr val="0F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006840" y="3401568"/>
            <a:ext cx="2697480" cy="201168"/>
          </a:xfrm>
          <a:prstGeom prst="rect">
            <a:avLst/>
          </a:prstGeom>
          <a:noFill/>
        </p:spPr>
        <p:txBody>
          <a:bodyPr wrap="square">
            <a:spAutoFit/>
          </a:bodyPr>
          <a:lstStyle/>
          <a:p>
            <a:pPr algn="ctr"/>
            <a:r>
              <a:rPr sz="1000" b="0">
                <a:solidFill>
                  <a:srgbClr val="F0A500"/>
                </a:solidFill>
                <a:latin typeface="Calibri"/>
              </a:rPr>
              <a:t>Port 8004</a:t>
            </a:r>
          </a:p>
        </p:txBody>
      </p:sp>
      <p:sp>
        <p:nvSpPr>
          <p:cNvPr id="37" name="TextBox 36"/>
          <p:cNvSpPr txBox="1"/>
          <p:nvPr/>
        </p:nvSpPr>
        <p:spPr>
          <a:xfrm>
            <a:off x="9006840" y="3621024"/>
            <a:ext cx="2697480" cy="594360"/>
          </a:xfrm>
          <a:prstGeom prst="rect">
            <a:avLst/>
          </a:prstGeom>
          <a:noFill/>
        </p:spPr>
        <p:txBody>
          <a:bodyPr wrap="square">
            <a:spAutoFit/>
          </a:bodyPr>
          <a:lstStyle/>
          <a:p>
            <a:pPr algn="ctr"/>
            <a:r>
              <a:rPr sz="1100" b="0">
                <a:solidFill>
                  <a:srgbClr val="FFFFFF"/>
                </a:solidFill>
                <a:latin typeface="Calibri"/>
              </a:rPr>
              <a:t>SSE Streaming
No Auth</a:t>
            </a:r>
          </a:p>
        </p:txBody>
      </p:sp>
      <p:sp>
        <p:nvSpPr>
          <p:cNvPr id="38" name="Rectangle 37"/>
          <p:cNvSpPr/>
          <p:nvPr/>
        </p:nvSpPr>
        <p:spPr>
          <a:xfrm>
            <a:off x="182880" y="4590288"/>
            <a:ext cx="11795760" cy="54864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65760" y="4663440"/>
            <a:ext cx="11430000" cy="384048"/>
          </a:xfrm>
          <a:prstGeom prst="rect">
            <a:avLst/>
          </a:prstGeom>
          <a:noFill/>
        </p:spPr>
        <p:txBody>
          <a:bodyPr wrap="square">
            <a:spAutoFit/>
          </a:bodyPr>
          <a:lstStyle/>
          <a:p>
            <a:pPr algn="l"/>
            <a:r>
              <a:rPr sz="1200" b="0">
                <a:solidFill>
                  <a:srgbClr val="222244"/>
                </a:solidFill>
                <a:latin typeface="Calibri"/>
              </a:rPr>
              <a:t>Tech Stack:  HTTP/HTTPS  •  JSON-RPC 2.0  •  Server-Sent Events  •  Google ADK  •  FastAPI  •  Docker Compose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1: What Is A2A and Why Does It Matter</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The open standard for agent interoperability</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43000"/>
            <a:ext cx="5394960" cy="256032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43000"/>
            <a:ext cx="5394960" cy="347472"/>
          </a:xfrm>
          <a:prstGeom prst="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61288"/>
            <a:ext cx="5212080" cy="292608"/>
          </a:xfrm>
          <a:prstGeom prst="rect">
            <a:avLst/>
          </a:prstGeom>
          <a:noFill/>
        </p:spPr>
        <p:txBody>
          <a:bodyPr wrap="square">
            <a:spAutoFit/>
          </a:bodyPr>
          <a:lstStyle/>
          <a:p>
            <a:pPr algn="l"/>
            <a:r>
              <a:rPr sz="1300" b="1">
                <a:solidFill>
                  <a:srgbClr val="FFFFFF"/>
                </a:solidFill>
                <a:latin typeface="Calibri"/>
              </a:rPr>
              <a:t>Before A2A — The Problem</a:t>
            </a:r>
          </a:p>
        </p:txBody>
      </p:sp>
      <p:sp>
        <p:nvSpPr>
          <p:cNvPr id="9" name="TextBox 8"/>
          <p:cNvSpPr txBox="1"/>
          <p:nvPr/>
        </p:nvSpPr>
        <p:spPr>
          <a:xfrm>
            <a:off x="384048" y="1554480"/>
            <a:ext cx="5193792" cy="2103120"/>
          </a:xfrm>
          <a:prstGeom prst="rect">
            <a:avLst/>
          </a:prstGeom>
          <a:noFill/>
        </p:spPr>
        <p:txBody>
          <a:bodyPr wrap="square">
            <a:spAutoFit/>
          </a:bodyPr>
          <a:lstStyle/>
          <a:p>
            <a:pPr>
              <a:spcBef>
                <a:spcPts val="400"/>
              </a:spcBef>
            </a:pPr>
            <a:r>
              <a:rPr sz="1200">
                <a:solidFill>
                  <a:srgbClr val="222244"/>
                </a:solidFill>
                <a:latin typeface="Calibri"/>
              </a:rPr>
              <a:t>  •  Every multi-agent system needed custom glue code</a:t>
            </a:r>
          </a:p>
          <a:p>
            <a:pPr>
              <a:spcBef>
                <a:spcPts val="400"/>
              </a:spcBef>
            </a:pPr>
            <a:r>
              <a:rPr sz="1200">
                <a:solidFill>
                  <a:srgbClr val="222244"/>
                </a:solidFill>
                <a:latin typeface="Calibri"/>
              </a:rPr>
              <a:t>  •  Framework lock-in: ADK agents couldn't talk to LangChain agents</a:t>
            </a:r>
          </a:p>
          <a:p>
            <a:pPr>
              <a:spcBef>
                <a:spcPts val="400"/>
              </a:spcBef>
            </a:pPr>
            <a:r>
              <a:rPr sz="1200">
                <a:solidFill>
                  <a:srgbClr val="222244"/>
                </a:solidFill>
                <a:latin typeface="Calibri"/>
              </a:rPr>
              <a:t>  •  No standard for discovery, task lifecycle, or streaming</a:t>
            </a:r>
          </a:p>
          <a:p>
            <a:pPr>
              <a:spcBef>
                <a:spcPts val="400"/>
              </a:spcBef>
            </a:pPr>
            <a:r>
              <a:rPr sz="1200">
                <a:solidFill>
                  <a:srgbClr val="222244"/>
                </a:solidFill>
                <a:latin typeface="Calibri"/>
              </a:rPr>
              <a:t>  •  Bespoke auth, error codes, and message formats per project</a:t>
            </a:r>
          </a:p>
          <a:p>
            <a:pPr>
              <a:spcBef>
                <a:spcPts val="400"/>
              </a:spcBef>
            </a:pPr>
            <a:r>
              <a:rPr sz="1200">
                <a:solidFill>
                  <a:srgbClr val="222244"/>
                </a:solidFill>
                <a:latin typeface="Calibri"/>
              </a:rPr>
              <a:t>  •  Hard to test, hard to swap out individual agents</a:t>
            </a:r>
          </a:p>
          <a:p>
            <a:pPr>
              <a:spcBef>
                <a:spcPts val="400"/>
              </a:spcBef>
            </a:pPr>
            <a:r>
              <a:rPr sz="1200">
                <a:solidFill>
                  <a:srgbClr val="222244"/>
                </a:solidFill>
                <a:latin typeface="Calibri"/>
              </a:rPr>
              <a:t>  •  No ecosystem — every team reinvented the wheel</a:t>
            </a:r>
          </a:p>
        </p:txBody>
      </p:sp>
      <p:sp>
        <p:nvSpPr>
          <p:cNvPr id="10" name="Rectangle 9"/>
          <p:cNvSpPr/>
          <p:nvPr/>
        </p:nvSpPr>
        <p:spPr>
          <a:xfrm>
            <a:off x="5943600" y="1143000"/>
            <a:ext cx="5971032" cy="256032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0" y="1143000"/>
            <a:ext cx="5971032" cy="347472"/>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35040" y="1161288"/>
            <a:ext cx="5806440" cy="292608"/>
          </a:xfrm>
          <a:prstGeom prst="rect">
            <a:avLst/>
          </a:prstGeom>
          <a:noFill/>
        </p:spPr>
        <p:txBody>
          <a:bodyPr wrap="square">
            <a:spAutoFit/>
          </a:bodyPr>
          <a:lstStyle/>
          <a:p>
            <a:pPr algn="l"/>
            <a:r>
              <a:rPr sz="1300" b="1">
                <a:solidFill>
                  <a:srgbClr val="FFFFFF"/>
                </a:solidFill>
                <a:latin typeface="Calibri"/>
              </a:rPr>
              <a:t>After A2A — The Solution</a:t>
            </a:r>
          </a:p>
        </p:txBody>
      </p:sp>
      <p:sp>
        <p:nvSpPr>
          <p:cNvPr id="13" name="TextBox 12"/>
          <p:cNvSpPr txBox="1"/>
          <p:nvPr/>
        </p:nvSpPr>
        <p:spPr>
          <a:xfrm>
            <a:off x="6053328" y="1554480"/>
            <a:ext cx="5806440" cy="2103120"/>
          </a:xfrm>
          <a:prstGeom prst="rect">
            <a:avLst/>
          </a:prstGeom>
          <a:noFill/>
        </p:spPr>
        <p:txBody>
          <a:bodyPr wrap="square">
            <a:spAutoFit/>
          </a:bodyPr>
          <a:lstStyle/>
          <a:p>
            <a:pPr>
              <a:spcBef>
                <a:spcPts val="400"/>
              </a:spcBef>
            </a:pPr>
            <a:r>
              <a:rPr sz="1200">
                <a:solidFill>
                  <a:srgbClr val="222244"/>
                </a:solidFill>
                <a:latin typeface="Calibri"/>
              </a:rPr>
              <a:t>  •  Open HTTP-based protocol — any HTTP client works</a:t>
            </a:r>
          </a:p>
          <a:p>
            <a:pPr>
              <a:spcBef>
                <a:spcPts val="400"/>
              </a:spcBef>
            </a:pPr>
            <a:r>
              <a:rPr sz="1200">
                <a:solidFill>
                  <a:srgbClr val="222244"/>
                </a:solidFill>
                <a:latin typeface="Calibri"/>
              </a:rPr>
              <a:t>  •  JSON-RPC 2.0 as the message format</a:t>
            </a:r>
          </a:p>
          <a:p>
            <a:pPr>
              <a:spcBef>
                <a:spcPts val="400"/>
              </a:spcBef>
            </a:pPr>
            <a:r>
              <a:rPr sz="1200">
                <a:solidFill>
                  <a:srgbClr val="222244"/>
                </a:solidFill>
                <a:latin typeface="Calibri"/>
              </a:rPr>
              <a:t>  •  Any compliant agent talks to any other agent</a:t>
            </a:r>
          </a:p>
          <a:p>
            <a:pPr>
              <a:spcBef>
                <a:spcPts val="400"/>
              </a:spcBef>
            </a:pPr>
            <a:r>
              <a:rPr sz="1200">
                <a:solidFill>
                  <a:srgbClr val="222244"/>
                </a:solidFill>
                <a:latin typeface="Calibri"/>
              </a:rPr>
              <a:t>  •  Standard task lifecycle, streaming, and auth</a:t>
            </a:r>
          </a:p>
          <a:p>
            <a:pPr>
              <a:spcBef>
                <a:spcPts val="400"/>
              </a:spcBef>
            </a:pPr>
            <a:r>
              <a:rPr sz="1200">
                <a:solidFill>
                  <a:srgbClr val="222244"/>
                </a:solidFill>
                <a:latin typeface="Calibri"/>
              </a:rPr>
              <a:t>  •  Machine-readable Agent Cards for auto-discovery</a:t>
            </a:r>
          </a:p>
          <a:p>
            <a:pPr>
              <a:spcBef>
                <a:spcPts val="400"/>
              </a:spcBef>
            </a:pPr>
            <a:r>
              <a:rPr sz="1200">
                <a:solidFill>
                  <a:srgbClr val="222244"/>
                </a:solidFill>
                <a:latin typeface="Calibri"/>
              </a:rPr>
              <a:t>  •  Built on proven web standards (HTTP, SSE, JSON)</a:t>
            </a:r>
          </a:p>
        </p:txBody>
      </p:sp>
      <p:sp>
        <p:nvSpPr>
          <p:cNvPr id="14" name="Rectangle 13"/>
          <p:cNvSpPr/>
          <p:nvPr/>
        </p:nvSpPr>
        <p:spPr>
          <a:xfrm>
            <a:off x="274320" y="3931920"/>
            <a:ext cx="11640312" cy="34747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3959352"/>
            <a:ext cx="10972800" cy="274320"/>
          </a:xfrm>
          <a:prstGeom prst="rect">
            <a:avLst/>
          </a:prstGeom>
          <a:noFill/>
        </p:spPr>
        <p:txBody>
          <a:bodyPr wrap="square">
            <a:spAutoFit/>
          </a:bodyPr>
          <a:lstStyle/>
          <a:p>
            <a:pPr algn="l"/>
            <a:r>
              <a:rPr sz="1300" b="1">
                <a:solidFill>
                  <a:srgbClr val="FFFFFF"/>
                </a:solidFill>
                <a:latin typeface="Calibri"/>
              </a:rPr>
              <a:t>Key A2A Components</a:t>
            </a:r>
          </a:p>
        </p:txBody>
      </p:sp>
      <p:sp>
        <p:nvSpPr>
          <p:cNvPr id="16" name="Rectangle 15"/>
          <p:cNvSpPr/>
          <p:nvPr/>
        </p:nvSpPr>
        <p:spPr>
          <a:xfrm>
            <a:off x="274320" y="4297680"/>
            <a:ext cx="2212848" cy="1188720"/>
          </a:xfrm>
          <a:prstGeom prst="rect">
            <a:avLst/>
          </a:prstGeom>
          <a:solidFill>
            <a:srgbClr val="4A7AB5"/>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4320" y="4325112"/>
            <a:ext cx="2212848" cy="365760"/>
          </a:xfrm>
          <a:prstGeom prst="rect">
            <a:avLst/>
          </a:prstGeom>
          <a:noFill/>
        </p:spPr>
        <p:txBody>
          <a:bodyPr wrap="square">
            <a:spAutoFit/>
          </a:bodyPr>
          <a:lstStyle/>
          <a:p>
            <a:pPr algn="ctr"/>
            <a:r>
              <a:rPr sz="1300" b="1">
                <a:solidFill>
                  <a:srgbClr val="FFFFFF"/>
                </a:solidFill>
                <a:latin typeface="Calibri"/>
              </a:rPr>
              <a:t>Agent Cards</a:t>
            </a:r>
          </a:p>
        </p:txBody>
      </p:sp>
      <p:sp>
        <p:nvSpPr>
          <p:cNvPr id="18" name="TextBox 17"/>
          <p:cNvSpPr txBox="1"/>
          <p:nvPr/>
        </p:nvSpPr>
        <p:spPr>
          <a:xfrm>
            <a:off x="274320" y="4709160"/>
            <a:ext cx="2212848" cy="685800"/>
          </a:xfrm>
          <a:prstGeom prst="rect">
            <a:avLst/>
          </a:prstGeom>
          <a:noFill/>
        </p:spPr>
        <p:txBody>
          <a:bodyPr wrap="square">
            <a:spAutoFit/>
          </a:bodyPr>
          <a:lstStyle/>
          <a:p>
            <a:pPr algn="ctr"/>
            <a:r>
              <a:rPr sz="1100" b="0">
                <a:solidFill>
                  <a:srgbClr val="FFFFFF"/>
                </a:solidFill>
                <a:latin typeface="Calibri"/>
              </a:rPr>
              <a:t>Machine-readable
agent metadata</a:t>
            </a:r>
          </a:p>
        </p:txBody>
      </p:sp>
      <p:sp>
        <p:nvSpPr>
          <p:cNvPr id="19" name="Rectangle 18"/>
          <p:cNvSpPr/>
          <p:nvPr/>
        </p:nvSpPr>
        <p:spPr>
          <a:xfrm>
            <a:off x="2606039" y="4297680"/>
            <a:ext cx="2212848" cy="1188720"/>
          </a:xfrm>
          <a:prstGeom prst="rect">
            <a:avLst/>
          </a:prstGeom>
          <a:solidFill>
            <a:srgbClr val="4A7AB5"/>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06039" y="4325112"/>
            <a:ext cx="2212848" cy="365760"/>
          </a:xfrm>
          <a:prstGeom prst="rect">
            <a:avLst/>
          </a:prstGeom>
          <a:noFill/>
        </p:spPr>
        <p:txBody>
          <a:bodyPr wrap="square">
            <a:spAutoFit/>
          </a:bodyPr>
          <a:lstStyle/>
          <a:p>
            <a:pPr algn="ctr"/>
            <a:r>
              <a:rPr sz="1300" b="1">
                <a:solidFill>
                  <a:srgbClr val="FFFFFF"/>
                </a:solidFill>
                <a:latin typeface="Calibri"/>
              </a:rPr>
              <a:t>Tasks</a:t>
            </a:r>
          </a:p>
        </p:txBody>
      </p:sp>
      <p:sp>
        <p:nvSpPr>
          <p:cNvPr id="21" name="TextBox 20"/>
          <p:cNvSpPr txBox="1"/>
          <p:nvPr/>
        </p:nvSpPr>
        <p:spPr>
          <a:xfrm>
            <a:off x="2606039" y="4709160"/>
            <a:ext cx="2212848" cy="685800"/>
          </a:xfrm>
          <a:prstGeom prst="rect">
            <a:avLst/>
          </a:prstGeom>
          <a:noFill/>
        </p:spPr>
        <p:txBody>
          <a:bodyPr wrap="square">
            <a:spAutoFit/>
          </a:bodyPr>
          <a:lstStyle/>
          <a:p>
            <a:pPr algn="ctr"/>
            <a:r>
              <a:rPr sz="1100" b="0">
                <a:solidFill>
                  <a:srgbClr val="FFFFFF"/>
                </a:solidFill>
                <a:latin typeface="Calibri"/>
              </a:rPr>
              <a:t>Unit of work
with lifecycle</a:t>
            </a:r>
          </a:p>
        </p:txBody>
      </p:sp>
      <p:sp>
        <p:nvSpPr>
          <p:cNvPr id="22" name="Rectangle 21"/>
          <p:cNvSpPr/>
          <p:nvPr/>
        </p:nvSpPr>
        <p:spPr>
          <a:xfrm>
            <a:off x="4937759" y="4297680"/>
            <a:ext cx="2212848" cy="1188720"/>
          </a:xfrm>
          <a:prstGeom prst="rect">
            <a:avLst/>
          </a:prstGeom>
          <a:solidFill>
            <a:srgbClr val="4A7AB5"/>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937759" y="4325112"/>
            <a:ext cx="2212848" cy="365760"/>
          </a:xfrm>
          <a:prstGeom prst="rect">
            <a:avLst/>
          </a:prstGeom>
          <a:noFill/>
        </p:spPr>
        <p:txBody>
          <a:bodyPr wrap="square">
            <a:spAutoFit/>
          </a:bodyPr>
          <a:lstStyle/>
          <a:p>
            <a:pPr algn="ctr"/>
            <a:r>
              <a:rPr sz="1300" b="1">
                <a:solidFill>
                  <a:srgbClr val="FFFFFF"/>
                </a:solidFill>
                <a:latin typeface="Calibri"/>
              </a:rPr>
              <a:t>Messages</a:t>
            </a:r>
          </a:p>
        </p:txBody>
      </p:sp>
      <p:sp>
        <p:nvSpPr>
          <p:cNvPr id="24" name="TextBox 23"/>
          <p:cNvSpPr txBox="1"/>
          <p:nvPr/>
        </p:nvSpPr>
        <p:spPr>
          <a:xfrm>
            <a:off x="4937759" y="4709160"/>
            <a:ext cx="2212848" cy="685800"/>
          </a:xfrm>
          <a:prstGeom prst="rect">
            <a:avLst/>
          </a:prstGeom>
          <a:noFill/>
        </p:spPr>
        <p:txBody>
          <a:bodyPr wrap="square">
            <a:spAutoFit/>
          </a:bodyPr>
          <a:lstStyle/>
          <a:p>
            <a:pPr algn="ctr"/>
            <a:r>
              <a:rPr sz="1100" b="0">
                <a:solidFill>
                  <a:srgbClr val="FFFFFF"/>
                </a:solidFill>
                <a:latin typeface="Calibri"/>
              </a:rPr>
              <a:t>Structured
communication</a:t>
            </a:r>
          </a:p>
        </p:txBody>
      </p:sp>
      <p:sp>
        <p:nvSpPr>
          <p:cNvPr id="25" name="Rectangle 24"/>
          <p:cNvSpPr/>
          <p:nvPr/>
        </p:nvSpPr>
        <p:spPr>
          <a:xfrm>
            <a:off x="7269479" y="4297680"/>
            <a:ext cx="2212848" cy="1188720"/>
          </a:xfrm>
          <a:prstGeom prst="rect">
            <a:avLst/>
          </a:prstGeom>
          <a:solidFill>
            <a:srgbClr val="4A7AB5"/>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69479" y="4325112"/>
            <a:ext cx="2212848" cy="365760"/>
          </a:xfrm>
          <a:prstGeom prst="rect">
            <a:avLst/>
          </a:prstGeom>
          <a:noFill/>
        </p:spPr>
        <p:txBody>
          <a:bodyPr wrap="square">
            <a:spAutoFit/>
          </a:bodyPr>
          <a:lstStyle/>
          <a:p>
            <a:pPr algn="ctr"/>
            <a:r>
              <a:rPr sz="1300" b="1">
                <a:solidFill>
                  <a:srgbClr val="FFFFFF"/>
                </a:solidFill>
                <a:latin typeface="Calibri"/>
              </a:rPr>
              <a:t>Parts</a:t>
            </a:r>
          </a:p>
        </p:txBody>
      </p:sp>
      <p:sp>
        <p:nvSpPr>
          <p:cNvPr id="27" name="TextBox 26"/>
          <p:cNvSpPr txBox="1"/>
          <p:nvPr/>
        </p:nvSpPr>
        <p:spPr>
          <a:xfrm>
            <a:off x="7269479" y="4709160"/>
            <a:ext cx="2212848" cy="685800"/>
          </a:xfrm>
          <a:prstGeom prst="rect">
            <a:avLst/>
          </a:prstGeom>
          <a:noFill/>
        </p:spPr>
        <p:txBody>
          <a:bodyPr wrap="square">
            <a:spAutoFit/>
          </a:bodyPr>
          <a:lstStyle/>
          <a:p>
            <a:pPr algn="ctr"/>
            <a:r>
              <a:rPr sz="1100" b="0">
                <a:solidFill>
                  <a:srgbClr val="FFFFFF"/>
                </a:solidFill>
                <a:latin typeface="Calibri"/>
              </a:rPr>
              <a:t>Text, File,
or Data content</a:t>
            </a:r>
          </a:p>
        </p:txBody>
      </p:sp>
      <p:sp>
        <p:nvSpPr>
          <p:cNvPr id="28" name="Rectangle 27"/>
          <p:cNvSpPr/>
          <p:nvPr/>
        </p:nvSpPr>
        <p:spPr>
          <a:xfrm>
            <a:off x="9601200" y="4297680"/>
            <a:ext cx="2212848" cy="1188720"/>
          </a:xfrm>
          <a:prstGeom prst="rect">
            <a:avLst/>
          </a:prstGeom>
          <a:solidFill>
            <a:srgbClr val="4A7AB5"/>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01200" y="4325112"/>
            <a:ext cx="2212848" cy="365760"/>
          </a:xfrm>
          <a:prstGeom prst="rect">
            <a:avLst/>
          </a:prstGeom>
          <a:noFill/>
        </p:spPr>
        <p:txBody>
          <a:bodyPr wrap="square">
            <a:spAutoFit/>
          </a:bodyPr>
          <a:lstStyle/>
          <a:p>
            <a:pPr algn="ctr"/>
            <a:r>
              <a:rPr sz="1300" b="1">
                <a:solidFill>
                  <a:srgbClr val="FFFFFF"/>
                </a:solidFill>
                <a:latin typeface="Calibri"/>
              </a:rPr>
              <a:t>Artifacts</a:t>
            </a:r>
          </a:p>
        </p:txBody>
      </p:sp>
      <p:sp>
        <p:nvSpPr>
          <p:cNvPr id="30" name="TextBox 29"/>
          <p:cNvSpPr txBox="1"/>
          <p:nvPr/>
        </p:nvSpPr>
        <p:spPr>
          <a:xfrm>
            <a:off x="9601200" y="4709160"/>
            <a:ext cx="2212848" cy="685800"/>
          </a:xfrm>
          <a:prstGeom prst="rect">
            <a:avLst/>
          </a:prstGeom>
          <a:noFill/>
        </p:spPr>
        <p:txBody>
          <a:bodyPr wrap="square">
            <a:spAutoFit/>
          </a:bodyPr>
          <a:lstStyle/>
          <a:p>
            <a:pPr algn="ctr"/>
            <a:r>
              <a:rPr sz="1100" b="0">
                <a:solidFill>
                  <a:srgbClr val="FFFFFF"/>
                </a:solidFill>
                <a:latin typeface="Calibri"/>
              </a:rPr>
              <a:t>Task output
deliverables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1: A2A Core Architecture</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HTTP + JSON-RPC 2.0 + SSE</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43000"/>
            <a:ext cx="7498079" cy="429768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43000"/>
            <a:ext cx="7498079" cy="34747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61288"/>
            <a:ext cx="7315200" cy="292608"/>
          </a:xfrm>
          <a:prstGeom prst="rect">
            <a:avLst/>
          </a:prstGeom>
          <a:noFill/>
        </p:spPr>
        <p:txBody>
          <a:bodyPr wrap="square">
            <a:spAutoFit/>
          </a:bodyPr>
          <a:lstStyle/>
          <a:p>
            <a:pPr algn="l"/>
            <a:r>
              <a:rPr sz="1200" b="1">
                <a:solidFill>
                  <a:srgbClr val="FFFFFF"/>
                </a:solidFill>
                <a:latin typeface="Calibri"/>
              </a:rPr>
              <a:t>Wire Protocol — What Actually Goes Over the Network</a:t>
            </a:r>
          </a:p>
        </p:txBody>
      </p:sp>
      <p:sp>
        <p:nvSpPr>
          <p:cNvPr id="9" name="Rectangle 8"/>
          <p:cNvSpPr/>
          <p:nvPr/>
        </p:nvSpPr>
        <p:spPr>
          <a:xfrm>
            <a:off x="320040" y="1536192"/>
            <a:ext cx="7406640" cy="3858768"/>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79" y="1609344"/>
            <a:ext cx="7223759" cy="3749039"/>
          </a:xfrm>
          <a:prstGeom prst="rect">
            <a:avLst/>
          </a:prstGeom>
          <a:noFill/>
        </p:spPr>
        <p:txBody>
          <a:bodyPr wrap="none">
            <a:spAutoFit/>
          </a:bodyPr>
          <a:lstStyle/>
          <a:p>
            <a:r>
              <a:rPr sz="950">
                <a:solidFill>
                  <a:srgbClr val="CCCCCC"/>
                </a:solidFill>
                <a:latin typeface="Courier New"/>
              </a:rPr>
              <a:t># Standard JSON-RPC 2.0 request</a:t>
            </a:r>
          </a:p>
          <a:p>
            <a:r>
              <a:rPr sz="950">
                <a:solidFill>
                  <a:srgbClr val="CCCCCC"/>
                </a:solidFill>
                <a:latin typeface="Courier New"/>
              </a:rPr>
              <a:t>POST /  HTTP/1.1</a:t>
            </a:r>
          </a:p>
          <a:p>
            <a:r>
              <a:rPr sz="950">
                <a:solidFill>
                  <a:srgbClr val="CCCCCC"/>
                </a:solidFill>
                <a:latin typeface="Courier New"/>
              </a:rPr>
              <a:t>Content-Type: application/json</a:t>
            </a:r>
          </a:p>
          <a:p>
            <a:endParaRPr sz="950">
              <a:solidFill>
                <a:srgbClr val="CCCCCC"/>
              </a:solidFill>
              <a:latin typeface="Courier New"/>
            </a:endParaRPr>
          </a:p>
          <a:p>
            <a:r>
              <a:rPr sz="950">
                <a:solidFill>
                  <a:srgbClr val="CCCCCC"/>
                </a:solidFill>
                <a:latin typeface="Courier New"/>
              </a:rPr>
              <a:t>{</a:t>
            </a:r>
          </a:p>
          <a:p>
            <a:r>
              <a:rPr sz="950">
                <a:solidFill>
                  <a:srgbClr val="CCCCCC"/>
                </a:solidFill>
                <a:latin typeface="Courier New"/>
              </a:rPr>
              <a:t>  "jsonrpc": "2.0",</a:t>
            </a:r>
          </a:p>
          <a:p>
            <a:r>
              <a:rPr sz="950">
                <a:solidFill>
                  <a:srgbClr val="CCCCCC"/>
                </a:solidFill>
                <a:latin typeface="Courier New"/>
              </a:rPr>
              <a:t>  "id": "req-001",</a:t>
            </a:r>
          </a:p>
          <a:p>
            <a:r>
              <a:rPr sz="950">
                <a:solidFill>
                  <a:srgbClr val="CCCCCC"/>
                </a:solidFill>
                <a:latin typeface="Courier New"/>
              </a:rPr>
              <a:t>  "method": "tasks/send",</a:t>
            </a:r>
          </a:p>
          <a:p>
            <a:r>
              <a:rPr sz="950">
                <a:solidFill>
                  <a:srgbClr val="CCCCCC"/>
                </a:solidFill>
                <a:latin typeface="Courier New"/>
              </a:rPr>
              <a:t>  "params": {</a:t>
            </a:r>
          </a:p>
          <a:p>
            <a:r>
              <a:rPr sz="950">
                <a:solidFill>
                  <a:srgbClr val="CCCCCC"/>
                </a:solidFill>
                <a:latin typeface="Courier New"/>
              </a:rPr>
              <a:t>    "id": "task-uuid-1234",</a:t>
            </a:r>
          </a:p>
          <a:p>
            <a:r>
              <a:rPr sz="950">
                <a:solidFill>
                  <a:srgbClr val="CCCCCC"/>
                </a:solidFill>
                <a:latin typeface="Courier New"/>
              </a:rPr>
              <a:t>    "message": {</a:t>
            </a:r>
          </a:p>
          <a:p>
            <a:r>
              <a:rPr sz="950">
                <a:solidFill>
                  <a:srgbClr val="CCCCCC"/>
                </a:solidFill>
                <a:latin typeface="Courier New"/>
              </a:rPr>
              <a:t>      "role": "user",</a:t>
            </a:r>
          </a:p>
          <a:p>
            <a:r>
              <a:rPr sz="950">
                <a:solidFill>
                  <a:srgbClr val="CCCCCC"/>
                </a:solidFill>
                <a:latin typeface="Courier New"/>
              </a:rPr>
              <a:t>      "parts": [{"type": "text", "text": "Find flights to Paris"}]</a:t>
            </a:r>
          </a:p>
          <a:p>
            <a:r>
              <a:rPr sz="950">
                <a:solidFill>
                  <a:srgbClr val="CCCCCC"/>
                </a:solidFill>
                <a:latin typeface="Courier New"/>
              </a:rPr>
              <a:t>    }</a:t>
            </a:r>
          </a:p>
          <a:p>
            <a:r>
              <a:rPr sz="950">
                <a:solidFill>
                  <a:srgbClr val="CCCCCC"/>
                </a:solidFill>
                <a:latin typeface="Courier New"/>
              </a:rPr>
              <a:t>  }</a:t>
            </a:r>
          </a:p>
          <a:p>
            <a:r>
              <a:rPr sz="950">
                <a:solidFill>
                  <a:srgbClr val="CCCCCC"/>
                </a:solidFill>
                <a:latin typeface="Courier New"/>
              </a:rPr>
              <a:t>}</a:t>
            </a:r>
          </a:p>
          <a:p>
            <a:endParaRPr sz="950">
              <a:solidFill>
                <a:srgbClr val="CCCCCC"/>
              </a:solidFill>
              <a:latin typeface="Courier New"/>
            </a:endParaRPr>
          </a:p>
          <a:p>
            <a:r>
              <a:rPr sz="950">
                <a:solidFill>
                  <a:srgbClr val="CCCCCC"/>
                </a:solidFill>
                <a:latin typeface="Courier New"/>
              </a:rPr>
              <a:t># JSON-RPC 2.0 success response</a:t>
            </a:r>
          </a:p>
          <a:p>
            <a:r>
              <a:rPr sz="950">
                <a:solidFill>
                  <a:srgbClr val="CCCCCC"/>
                </a:solidFill>
                <a:latin typeface="Courier New"/>
              </a:rPr>
              <a:t>{"jsonrpc":"2.0","id":"req-001","result": {...}}</a:t>
            </a:r>
          </a:p>
          <a:p>
            <a:endParaRPr sz="950">
              <a:solidFill>
                <a:srgbClr val="CCCCCC"/>
              </a:solidFill>
              <a:latin typeface="Courier New"/>
            </a:endParaRPr>
          </a:p>
          <a:p>
            <a:r>
              <a:rPr sz="950">
                <a:solidFill>
                  <a:srgbClr val="CCCCCC"/>
                </a:solidFill>
                <a:latin typeface="Courier New"/>
              </a:rPr>
              <a:t># JSON-RPC 2.0 error response</a:t>
            </a:r>
          </a:p>
          <a:p>
            <a:r>
              <a:rPr sz="950">
                <a:solidFill>
                  <a:srgbClr val="CCCCCC"/>
                </a:solidFill>
                <a:latin typeface="Courier New"/>
              </a:rPr>
              <a:t>{"jsonrpc":"2.0","id":"req-001","error":{"code":-32602,"message":"Invalid params"}}</a:t>
            </a:r>
          </a:p>
        </p:txBody>
      </p:sp>
      <p:sp>
        <p:nvSpPr>
          <p:cNvPr id="11" name="Rectangle 10"/>
          <p:cNvSpPr/>
          <p:nvPr/>
        </p:nvSpPr>
        <p:spPr>
          <a:xfrm>
            <a:off x="7909560" y="1143000"/>
            <a:ext cx="4069080" cy="429768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909560" y="1143000"/>
            <a:ext cx="406908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01000" y="1179576"/>
            <a:ext cx="3886200" cy="274320"/>
          </a:xfrm>
          <a:prstGeom prst="rect">
            <a:avLst/>
          </a:prstGeom>
          <a:noFill/>
        </p:spPr>
        <p:txBody>
          <a:bodyPr wrap="square">
            <a:spAutoFit/>
          </a:bodyPr>
          <a:lstStyle/>
          <a:p>
            <a:pPr algn="l"/>
            <a:r>
              <a:rPr sz="1200" b="1">
                <a:solidFill>
                  <a:srgbClr val="FFFFFF"/>
                </a:solidFill>
                <a:latin typeface="Calibri"/>
              </a:rPr>
              <a:t>A2A Endpoints</a:t>
            </a:r>
          </a:p>
        </p:txBody>
      </p:sp>
      <p:sp>
        <p:nvSpPr>
          <p:cNvPr id="14" name="TextBox 13"/>
          <p:cNvSpPr txBox="1"/>
          <p:nvPr/>
        </p:nvSpPr>
        <p:spPr>
          <a:xfrm>
            <a:off x="8019288" y="1527048"/>
            <a:ext cx="3849624" cy="3840480"/>
          </a:xfrm>
          <a:prstGeom prst="rect">
            <a:avLst/>
          </a:prstGeom>
          <a:noFill/>
        </p:spPr>
        <p:txBody>
          <a:bodyPr wrap="square">
            <a:spAutoFit/>
          </a:bodyPr>
          <a:lstStyle/>
          <a:p>
            <a:pPr>
              <a:spcBef>
                <a:spcPts val="400"/>
              </a:spcBef>
            </a:pPr>
            <a:r>
              <a:rPr sz="1100">
                <a:solidFill>
                  <a:srgbClr val="222244"/>
                </a:solidFill>
                <a:latin typeface="Calibri"/>
              </a:rPr>
              <a:t>  •  POST /  →  JSON-RPC method dispatch</a:t>
            </a:r>
          </a:p>
          <a:p>
            <a:pPr>
              <a:spcBef>
                <a:spcPts val="400"/>
              </a:spcBef>
            </a:pPr>
            <a:r>
              <a:rPr sz="1100">
                <a:solidFill>
                  <a:srgbClr val="222244"/>
                </a:solidFill>
                <a:latin typeface="Calibri"/>
              </a:rPr>
              <a:t>  •  GET /.well-known/agent.json  →  Agent Card</a:t>
            </a:r>
          </a:p>
          <a:p>
            <a:pPr>
              <a:spcBef>
                <a:spcPts val="400"/>
              </a:spcBef>
            </a:pPr>
            <a:r>
              <a:rPr sz="1100">
                <a:solidFill>
                  <a:srgbClr val="222244"/>
                </a:solidFill>
                <a:latin typeface="Calibri"/>
              </a:rPr>
              <a:t>  •  tasks/send  →  send a task synchronously</a:t>
            </a:r>
          </a:p>
          <a:p>
            <a:pPr>
              <a:spcBef>
                <a:spcPts val="400"/>
              </a:spcBef>
            </a:pPr>
            <a:r>
              <a:rPr sz="1100">
                <a:solidFill>
                  <a:srgbClr val="222244"/>
                </a:solidFill>
                <a:latin typeface="Calibri"/>
              </a:rPr>
              <a:t>  •  tasks/sendSubscribe  →  send + stream SSE</a:t>
            </a:r>
          </a:p>
          <a:p>
            <a:pPr>
              <a:spcBef>
                <a:spcPts val="400"/>
              </a:spcBef>
            </a:pPr>
            <a:r>
              <a:rPr sz="1100">
                <a:solidFill>
                  <a:srgbClr val="222244"/>
                </a:solidFill>
                <a:latin typeface="Calibri"/>
              </a:rPr>
              <a:t>  •  tasks/get  →  poll task status</a:t>
            </a:r>
          </a:p>
          <a:p>
            <a:pPr>
              <a:spcBef>
                <a:spcPts val="400"/>
              </a:spcBef>
            </a:pPr>
            <a:r>
              <a:rPr sz="1100">
                <a:solidFill>
                  <a:srgbClr val="222244"/>
                </a:solidFill>
                <a:latin typeface="Calibri"/>
              </a:rPr>
              <a:t>  •  tasks/cancel  →  cancel a running task</a:t>
            </a:r>
          </a:p>
          <a:p>
            <a:pPr>
              <a:spcBef>
                <a:spcPts val="400"/>
              </a:spcBef>
            </a:pPr>
            <a:r>
              <a:rPr sz="1100">
                <a:solidFill>
                  <a:srgbClr val="222244"/>
                </a:solidFill>
                <a:latin typeface="Calibri"/>
              </a:rPr>
              <a:t>  •  tasks/pushNotification/set  →  register webhook</a:t>
            </a:r>
          </a:p>
          <a:p>
            <a:pPr>
              <a:spcBef>
                <a:spcPts val="400"/>
              </a:spcBef>
            </a:pPr>
            <a:r>
              <a:rPr sz="1100">
                <a:solidFill>
                  <a:srgbClr val="222244"/>
                </a:solidFill>
                <a:latin typeface="Calibri"/>
              </a:rPr>
              <a:t>  •  tasks/pushNotification/get  →  get webhook config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2: Agent Cards</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Machine-readable agent discovery at /.well-known/agent.json</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5989320" cy="548640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15568"/>
            <a:ext cx="598932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43000"/>
            <a:ext cx="5806440" cy="201168"/>
          </a:xfrm>
          <a:prstGeom prst="rect">
            <a:avLst/>
          </a:prstGeom>
          <a:noFill/>
        </p:spPr>
        <p:txBody>
          <a:bodyPr wrap="square">
            <a:spAutoFit/>
          </a:bodyPr>
          <a:lstStyle/>
          <a:p>
            <a:pPr algn="l"/>
            <a:r>
              <a:rPr sz="1000" b="0">
                <a:solidFill>
                  <a:srgbClr val="F0A500"/>
                </a:solidFill>
                <a:latin typeface="Calibri"/>
              </a:rPr>
              <a:t>Flight Agent Card (/.well-known/agent.json)</a:t>
            </a:r>
          </a:p>
        </p:txBody>
      </p:sp>
      <p:sp>
        <p:nvSpPr>
          <p:cNvPr id="9" name="TextBox 8"/>
          <p:cNvSpPr txBox="1"/>
          <p:nvPr/>
        </p:nvSpPr>
        <p:spPr>
          <a:xfrm>
            <a:off x="365760" y="1380744"/>
            <a:ext cx="5806440" cy="5175504"/>
          </a:xfrm>
          <a:prstGeom prst="rect">
            <a:avLst/>
          </a:prstGeom>
          <a:noFill/>
        </p:spPr>
        <p:txBody>
          <a:bodyPr wrap="none">
            <a:spAutoFit/>
          </a:bodyPr>
          <a:lstStyle/>
          <a:p>
            <a:r>
              <a:rPr sz="950">
                <a:solidFill>
                  <a:srgbClr val="CCCCCC"/>
                </a:solidFill>
                <a:latin typeface="Courier New"/>
              </a:rPr>
              <a:t># Flight Agent Card  — /.well-known/agent.json</a:t>
            </a:r>
          </a:p>
          <a:p>
            <a:r>
              <a:rPr sz="950">
                <a:solidFill>
                  <a:srgbClr val="CCCCCC"/>
                </a:solidFill>
                <a:latin typeface="Courier New"/>
              </a:rPr>
              <a:t>{</a:t>
            </a:r>
          </a:p>
          <a:p>
            <a:r>
              <a:rPr sz="950">
                <a:solidFill>
                  <a:srgbClr val="CCCCCC"/>
                </a:solidFill>
                <a:latin typeface="Courier New"/>
              </a:rPr>
              <a:t>  "name": "Flight Search Agent",</a:t>
            </a:r>
          </a:p>
          <a:p>
            <a:r>
              <a:rPr sz="950">
                <a:solidFill>
                  <a:srgbClr val="CCCCCC"/>
                </a:solidFill>
                <a:latin typeface="Courier New"/>
              </a:rPr>
              <a:t>  "description": "Searches and books flights globally",</a:t>
            </a:r>
          </a:p>
          <a:p>
            <a:r>
              <a:rPr sz="950">
                <a:solidFill>
                  <a:srgbClr val="CCCCCC"/>
                </a:solidFill>
                <a:latin typeface="Courier New"/>
              </a:rPr>
              <a:t>  "url": "http://localhost:8001/",</a:t>
            </a:r>
          </a:p>
          <a:p>
            <a:r>
              <a:rPr sz="950">
                <a:solidFill>
                  <a:srgbClr val="CCCCCC"/>
                </a:solidFill>
                <a:latin typeface="Courier New"/>
              </a:rPr>
              <a:t>  "version": "1.0.0",</a:t>
            </a:r>
          </a:p>
          <a:p>
            <a:r>
              <a:rPr sz="950">
                <a:solidFill>
                  <a:srgbClr val="CCCCCC"/>
                </a:solidFill>
                <a:latin typeface="Courier New"/>
              </a:rPr>
              <a:t>  "capabilities": {</a:t>
            </a:r>
          </a:p>
          <a:p>
            <a:r>
              <a:rPr sz="950">
                <a:solidFill>
                  <a:srgbClr val="CCCCCC"/>
                </a:solidFill>
                <a:latin typeface="Courier New"/>
              </a:rPr>
              <a:t>    "streaming": true,</a:t>
            </a:r>
          </a:p>
          <a:p>
            <a:r>
              <a:rPr sz="950">
                <a:solidFill>
                  <a:srgbClr val="CCCCCC"/>
                </a:solidFill>
                <a:latin typeface="Courier New"/>
              </a:rPr>
              <a:t>    "pushNotifications": false,</a:t>
            </a:r>
          </a:p>
          <a:p>
            <a:r>
              <a:rPr sz="950">
                <a:solidFill>
                  <a:srgbClr val="CCCCCC"/>
                </a:solidFill>
                <a:latin typeface="Courier New"/>
              </a:rPr>
              <a:t>    "stateTransitionHistory": true</a:t>
            </a:r>
          </a:p>
          <a:p>
            <a:r>
              <a:rPr sz="950">
                <a:solidFill>
                  <a:srgbClr val="CCCCCC"/>
                </a:solidFill>
                <a:latin typeface="Courier New"/>
              </a:rPr>
              <a:t>  },</a:t>
            </a:r>
          </a:p>
          <a:p>
            <a:r>
              <a:rPr sz="950">
                <a:solidFill>
                  <a:srgbClr val="CCCCCC"/>
                </a:solidFill>
                <a:latin typeface="Courier New"/>
              </a:rPr>
              <a:t>  "authentication": {</a:t>
            </a:r>
          </a:p>
          <a:p>
            <a:r>
              <a:rPr sz="950">
                <a:solidFill>
                  <a:srgbClr val="CCCCCC"/>
                </a:solidFill>
                <a:latin typeface="Courier New"/>
              </a:rPr>
              <a:t>    "schemes": ["Bearer"]</a:t>
            </a:r>
          </a:p>
          <a:p>
            <a:r>
              <a:rPr sz="950">
                <a:solidFill>
                  <a:srgbClr val="CCCCCC"/>
                </a:solidFill>
                <a:latin typeface="Courier New"/>
              </a:rPr>
              <a:t>  },</a:t>
            </a:r>
          </a:p>
          <a:p>
            <a:r>
              <a:rPr sz="950">
                <a:solidFill>
                  <a:srgbClr val="CCCCCC"/>
                </a:solidFill>
                <a:latin typeface="Courier New"/>
              </a:rPr>
              <a:t>  "defaultInputModes":  ["text/plain"],</a:t>
            </a:r>
          </a:p>
          <a:p>
            <a:r>
              <a:rPr sz="950">
                <a:solidFill>
                  <a:srgbClr val="CCCCCC"/>
                </a:solidFill>
                <a:latin typeface="Courier New"/>
              </a:rPr>
              <a:t>  "defaultOutputModes": ["application/json"],</a:t>
            </a:r>
          </a:p>
          <a:p>
            <a:r>
              <a:rPr sz="950">
                <a:solidFill>
                  <a:srgbClr val="CCCCCC"/>
                </a:solidFill>
                <a:latin typeface="Courier New"/>
              </a:rPr>
              <a:t>  "skills": [</a:t>
            </a:r>
          </a:p>
          <a:p>
            <a:r>
              <a:rPr sz="950">
                <a:solidFill>
                  <a:srgbClr val="CCCCCC"/>
                </a:solidFill>
                <a:latin typeface="Courier New"/>
              </a:rPr>
              <a:t>    {</a:t>
            </a:r>
          </a:p>
          <a:p>
            <a:r>
              <a:rPr sz="950">
                <a:solidFill>
                  <a:srgbClr val="CCCCCC"/>
                </a:solidFill>
                <a:latin typeface="Courier New"/>
              </a:rPr>
              <a:t>      "id": "search_flights",</a:t>
            </a:r>
          </a:p>
          <a:p>
            <a:r>
              <a:rPr sz="950">
                <a:solidFill>
                  <a:srgbClr val="CCCCCC"/>
                </a:solidFill>
                <a:latin typeface="Courier New"/>
              </a:rPr>
              <a:t>      "name": "Search Flights",</a:t>
            </a:r>
          </a:p>
          <a:p>
            <a:r>
              <a:rPr sz="950">
                <a:solidFill>
                  <a:srgbClr val="CCCCCC"/>
                </a:solidFill>
                <a:latin typeface="Courier New"/>
              </a:rPr>
              <a:t>      "description": "Find available flights between cities",</a:t>
            </a:r>
          </a:p>
          <a:p>
            <a:r>
              <a:rPr sz="950">
                <a:solidFill>
                  <a:srgbClr val="CCCCCC"/>
                </a:solidFill>
                <a:latin typeface="Courier New"/>
              </a:rPr>
              <a:t>      "inputModes":  ["text/plain"],</a:t>
            </a:r>
          </a:p>
          <a:p>
            <a:r>
              <a:rPr sz="950">
                <a:solidFill>
                  <a:srgbClr val="CCCCCC"/>
                </a:solidFill>
                <a:latin typeface="Courier New"/>
              </a:rPr>
              <a:t>      "outputModes": ["application/json"],</a:t>
            </a:r>
          </a:p>
          <a:p>
            <a:r>
              <a:rPr sz="950">
                <a:solidFill>
                  <a:srgbClr val="CCCCCC"/>
                </a:solidFill>
                <a:latin typeface="Courier New"/>
              </a:rPr>
              <a:t>      "tags": ["travel","flights","search"],</a:t>
            </a:r>
          </a:p>
          <a:p>
            <a:r>
              <a:rPr sz="950">
                <a:solidFill>
                  <a:srgbClr val="CCCCCC"/>
                </a:solidFill>
                <a:latin typeface="Courier New"/>
              </a:rPr>
              <a:t>      "examples": ["Find flights from NYC to Paris on Dec 15"]</a:t>
            </a:r>
          </a:p>
          <a:p>
            <a:r>
              <a:rPr sz="950">
                <a:solidFill>
                  <a:srgbClr val="CCCCCC"/>
                </a:solidFill>
                <a:latin typeface="Courier New"/>
              </a:rPr>
              <a:t>    }</a:t>
            </a:r>
          </a:p>
          <a:p>
            <a:r>
              <a:rPr sz="950">
                <a:solidFill>
                  <a:srgbClr val="CCCCCC"/>
                </a:solidFill>
                <a:latin typeface="Courier New"/>
              </a:rPr>
              <a:t>  ]</a:t>
            </a:r>
          </a:p>
          <a:p>
            <a:r>
              <a:rPr sz="950">
                <a:solidFill>
                  <a:srgbClr val="CCCCCC"/>
                </a:solidFill>
                <a:latin typeface="Courier New"/>
              </a:rPr>
              <a:t>}</a:t>
            </a:r>
          </a:p>
        </p:txBody>
      </p:sp>
      <p:sp>
        <p:nvSpPr>
          <p:cNvPr id="10" name="Rectangle 9"/>
          <p:cNvSpPr/>
          <p:nvPr/>
        </p:nvSpPr>
        <p:spPr>
          <a:xfrm>
            <a:off x="6492240" y="1115568"/>
            <a:ext cx="5175504" cy="260604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92240" y="1115568"/>
            <a:ext cx="539496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79" y="1152144"/>
            <a:ext cx="5212080" cy="274320"/>
          </a:xfrm>
          <a:prstGeom prst="rect">
            <a:avLst/>
          </a:prstGeom>
          <a:noFill/>
        </p:spPr>
        <p:txBody>
          <a:bodyPr wrap="square">
            <a:spAutoFit/>
          </a:bodyPr>
          <a:lstStyle/>
          <a:p>
            <a:pPr algn="l"/>
            <a:r>
              <a:rPr sz="1200" b="1">
                <a:solidFill>
                  <a:srgbClr val="FFFFFF"/>
                </a:solidFill>
                <a:latin typeface="Calibri"/>
              </a:rPr>
              <a:t>Agent Card Fields</a:t>
            </a:r>
          </a:p>
        </p:txBody>
      </p:sp>
      <p:sp>
        <p:nvSpPr>
          <p:cNvPr id="13" name="TextBox 12"/>
          <p:cNvSpPr txBox="1"/>
          <p:nvPr/>
        </p:nvSpPr>
        <p:spPr>
          <a:xfrm>
            <a:off x="6601968" y="1499616"/>
            <a:ext cx="5175504" cy="2651760"/>
          </a:xfrm>
          <a:prstGeom prst="rect">
            <a:avLst/>
          </a:prstGeom>
          <a:noFill/>
        </p:spPr>
        <p:txBody>
          <a:bodyPr wrap="square">
            <a:spAutoFit/>
          </a:bodyPr>
          <a:lstStyle/>
          <a:p>
            <a:pPr>
              <a:spcBef>
                <a:spcPts val="400"/>
              </a:spcBef>
            </a:pPr>
            <a:r>
              <a:rPr sz="1100" dirty="0">
                <a:solidFill>
                  <a:srgbClr val="222244"/>
                </a:solidFill>
                <a:latin typeface="Calibri"/>
              </a:rPr>
              <a:t>  •  name — human-readable agent name</a:t>
            </a:r>
          </a:p>
          <a:p>
            <a:pPr>
              <a:spcBef>
                <a:spcPts val="400"/>
              </a:spcBef>
            </a:pPr>
            <a:r>
              <a:rPr sz="1100" dirty="0">
                <a:solidFill>
                  <a:srgbClr val="222244"/>
                </a:solidFill>
                <a:latin typeface="Calibri"/>
              </a:rPr>
              <a:t>  •  description — what this agent does</a:t>
            </a:r>
          </a:p>
          <a:p>
            <a:pPr>
              <a:spcBef>
                <a:spcPts val="400"/>
              </a:spcBef>
            </a:pPr>
            <a:r>
              <a:rPr sz="1100" dirty="0">
                <a:solidFill>
                  <a:srgbClr val="222244"/>
                </a:solidFill>
                <a:latin typeface="Calibri"/>
              </a:rPr>
              <a:t>  •  </a:t>
            </a:r>
            <a:r>
              <a:rPr sz="1100" dirty="0" err="1">
                <a:solidFill>
                  <a:srgbClr val="222244"/>
                </a:solidFill>
                <a:latin typeface="Calibri"/>
              </a:rPr>
              <a:t>url</a:t>
            </a:r>
            <a:r>
              <a:rPr sz="1100" dirty="0">
                <a:solidFill>
                  <a:srgbClr val="222244"/>
                </a:solidFill>
                <a:latin typeface="Calibri"/>
              </a:rPr>
              <a:t> — base URL for all A2A requests</a:t>
            </a:r>
          </a:p>
          <a:p>
            <a:pPr>
              <a:spcBef>
                <a:spcPts val="400"/>
              </a:spcBef>
            </a:pPr>
            <a:r>
              <a:rPr sz="1100" dirty="0">
                <a:solidFill>
                  <a:srgbClr val="222244"/>
                </a:solidFill>
                <a:latin typeface="Calibri"/>
              </a:rPr>
              <a:t>  •  version — semantic version string</a:t>
            </a:r>
          </a:p>
          <a:p>
            <a:pPr>
              <a:spcBef>
                <a:spcPts val="400"/>
              </a:spcBef>
            </a:pPr>
            <a:r>
              <a:rPr sz="1100" dirty="0">
                <a:solidFill>
                  <a:srgbClr val="222244"/>
                </a:solidFill>
                <a:latin typeface="Calibri"/>
              </a:rPr>
              <a:t>  •  capabilities — feature flags</a:t>
            </a:r>
          </a:p>
          <a:p>
            <a:pPr>
              <a:spcBef>
                <a:spcPts val="400"/>
              </a:spcBef>
            </a:pPr>
            <a:r>
              <a:rPr sz="1100" dirty="0">
                <a:solidFill>
                  <a:srgbClr val="222244"/>
                </a:solidFill>
                <a:latin typeface="Calibri"/>
              </a:rPr>
              <a:t>  •  authentication — required auth schemes</a:t>
            </a:r>
          </a:p>
          <a:p>
            <a:pPr>
              <a:spcBef>
                <a:spcPts val="400"/>
              </a:spcBef>
            </a:pPr>
            <a:r>
              <a:rPr sz="1100" dirty="0">
                <a:solidFill>
                  <a:srgbClr val="222244"/>
                </a:solidFill>
                <a:latin typeface="Calibri"/>
              </a:rPr>
              <a:t>  •  </a:t>
            </a:r>
            <a:r>
              <a:rPr sz="1100" dirty="0" err="1">
                <a:solidFill>
                  <a:srgbClr val="222244"/>
                </a:solidFill>
                <a:latin typeface="Calibri"/>
              </a:rPr>
              <a:t>defaultInputModes</a:t>
            </a:r>
            <a:r>
              <a:rPr sz="1100" dirty="0">
                <a:solidFill>
                  <a:srgbClr val="222244"/>
                </a:solidFill>
                <a:latin typeface="Calibri"/>
              </a:rPr>
              <a:t> — accepted MIME types</a:t>
            </a:r>
          </a:p>
          <a:p>
            <a:pPr>
              <a:spcBef>
                <a:spcPts val="400"/>
              </a:spcBef>
            </a:pPr>
            <a:r>
              <a:rPr sz="1100" dirty="0">
                <a:solidFill>
                  <a:srgbClr val="222244"/>
                </a:solidFill>
                <a:latin typeface="Calibri"/>
              </a:rPr>
              <a:t>  •  </a:t>
            </a:r>
            <a:r>
              <a:rPr sz="1100" dirty="0" err="1">
                <a:solidFill>
                  <a:srgbClr val="222244"/>
                </a:solidFill>
                <a:latin typeface="Calibri"/>
              </a:rPr>
              <a:t>defaultOutputModes</a:t>
            </a:r>
            <a:r>
              <a:rPr sz="1100" dirty="0">
                <a:solidFill>
                  <a:srgbClr val="222244"/>
                </a:solidFill>
                <a:latin typeface="Calibri"/>
              </a:rPr>
              <a:t> — produced MIME types</a:t>
            </a:r>
          </a:p>
          <a:p>
            <a:pPr>
              <a:spcBef>
                <a:spcPts val="400"/>
              </a:spcBef>
            </a:pPr>
            <a:r>
              <a:rPr sz="1100" dirty="0">
                <a:solidFill>
                  <a:srgbClr val="222244"/>
                </a:solidFill>
                <a:latin typeface="Calibri"/>
              </a:rPr>
              <a:t>  •  skills[] — individual capabilities</a:t>
            </a:r>
          </a:p>
        </p:txBody>
      </p:sp>
      <p:sp>
        <p:nvSpPr>
          <p:cNvPr id="14" name="Rectangle 13"/>
          <p:cNvSpPr/>
          <p:nvPr/>
        </p:nvSpPr>
        <p:spPr>
          <a:xfrm>
            <a:off x="6492240" y="3877056"/>
            <a:ext cx="5330825" cy="114300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92240" y="3877056"/>
            <a:ext cx="539496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79" y="3913632"/>
            <a:ext cx="5212080" cy="274320"/>
          </a:xfrm>
          <a:prstGeom prst="rect">
            <a:avLst/>
          </a:prstGeom>
          <a:noFill/>
        </p:spPr>
        <p:txBody>
          <a:bodyPr wrap="square">
            <a:spAutoFit/>
          </a:bodyPr>
          <a:lstStyle/>
          <a:p>
            <a:pPr algn="l"/>
            <a:r>
              <a:rPr sz="1200" b="1">
                <a:solidFill>
                  <a:srgbClr val="FFFFFF"/>
                </a:solidFill>
                <a:latin typeface="Calibri"/>
              </a:rPr>
              <a:t>Capabilities Flags</a:t>
            </a:r>
          </a:p>
        </p:txBody>
      </p:sp>
      <p:sp>
        <p:nvSpPr>
          <p:cNvPr id="17" name="TextBox 16"/>
          <p:cNvSpPr txBox="1"/>
          <p:nvPr/>
        </p:nvSpPr>
        <p:spPr>
          <a:xfrm>
            <a:off x="6601968" y="4261104"/>
            <a:ext cx="5175504" cy="960120"/>
          </a:xfrm>
          <a:prstGeom prst="rect">
            <a:avLst/>
          </a:prstGeom>
          <a:noFill/>
        </p:spPr>
        <p:txBody>
          <a:bodyPr wrap="square">
            <a:spAutoFit/>
          </a:bodyPr>
          <a:lstStyle/>
          <a:p>
            <a:pPr>
              <a:spcBef>
                <a:spcPts val="400"/>
              </a:spcBef>
            </a:pPr>
            <a:r>
              <a:rPr sz="1100" dirty="0">
                <a:solidFill>
                  <a:srgbClr val="222244"/>
                </a:solidFill>
                <a:latin typeface="Calibri"/>
              </a:rPr>
              <a:t>  •  streaming: true → supports tasks/</a:t>
            </a:r>
            <a:r>
              <a:rPr sz="1100" dirty="0" err="1">
                <a:solidFill>
                  <a:srgbClr val="222244"/>
                </a:solidFill>
                <a:latin typeface="Calibri"/>
              </a:rPr>
              <a:t>sendSubscribe</a:t>
            </a:r>
            <a:endParaRPr sz="1100" dirty="0">
              <a:solidFill>
                <a:srgbClr val="222244"/>
              </a:solidFill>
              <a:latin typeface="Calibri"/>
            </a:endParaRPr>
          </a:p>
          <a:p>
            <a:pPr>
              <a:spcBef>
                <a:spcPts val="400"/>
              </a:spcBef>
            </a:pPr>
            <a:r>
              <a:rPr sz="1100" dirty="0">
                <a:solidFill>
                  <a:srgbClr val="222244"/>
                </a:solidFill>
                <a:latin typeface="Calibri"/>
              </a:rPr>
              <a:t>  •  </a:t>
            </a:r>
            <a:r>
              <a:rPr sz="1100" dirty="0" err="1">
                <a:solidFill>
                  <a:srgbClr val="222244"/>
                </a:solidFill>
                <a:latin typeface="Calibri"/>
              </a:rPr>
              <a:t>pushNotifications</a:t>
            </a:r>
            <a:r>
              <a:rPr sz="1100" dirty="0">
                <a:solidFill>
                  <a:srgbClr val="222244"/>
                </a:solidFill>
                <a:latin typeface="Calibri"/>
              </a:rPr>
              <a:t>: true → supports webhooks</a:t>
            </a:r>
          </a:p>
          <a:p>
            <a:pPr>
              <a:spcBef>
                <a:spcPts val="400"/>
              </a:spcBef>
            </a:pPr>
            <a:r>
              <a:rPr sz="1100" dirty="0">
                <a:solidFill>
                  <a:srgbClr val="222244"/>
                </a:solidFill>
                <a:latin typeface="Calibri"/>
              </a:rPr>
              <a:t>  •  </a:t>
            </a:r>
            <a:r>
              <a:rPr sz="1100" dirty="0" err="1">
                <a:solidFill>
                  <a:srgbClr val="222244"/>
                </a:solidFill>
                <a:latin typeface="Calibri"/>
              </a:rPr>
              <a:t>stateTransitionHistory</a:t>
            </a:r>
            <a:r>
              <a:rPr sz="1100" dirty="0">
                <a:solidFill>
                  <a:srgbClr val="222244"/>
                </a:solidFill>
                <a:latin typeface="Calibri"/>
              </a:rPr>
              <a:t>: true → full audit trail</a:t>
            </a:r>
          </a:p>
        </p:txBody>
      </p:sp>
      <p:sp>
        <p:nvSpPr>
          <p:cNvPr id="18" name="Rectangle 17"/>
          <p:cNvSpPr/>
          <p:nvPr/>
        </p:nvSpPr>
        <p:spPr>
          <a:xfrm>
            <a:off x="6446649" y="5084064"/>
            <a:ext cx="5394960" cy="164592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46649" y="5084064"/>
            <a:ext cx="539496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8088" y="5120640"/>
            <a:ext cx="5212080" cy="274320"/>
          </a:xfrm>
          <a:prstGeom prst="rect">
            <a:avLst/>
          </a:prstGeom>
          <a:noFill/>
        </p:spPr>
        <p:txBody>
          <a:bodyPr wrap="square">
            <a:spAutoFit/>
          </a:bodyPr>
          <a:lstStyle/>
          <a:p>
            <a:pPr algn="l"/>
            <a:r>
              <a:rPr sz="1200" b="1">
                <a:solidFill>
                  <a:srgbClr val="FFFFFF"/>
                </a:solidFill>
                <a:latin typeface="Calibri"/>
              </a:rPr>
              <a:t>Auth Schemes</a:t>
            </a:r>
          </a:p>
        </p:txBody>
      </p:sp>
      <p:sp>
        <p:nvSpPr>
          <p:cNvPr id="21" name="TextBox 20"/>
          <p:cNvSpPr txBox="1"/>
          <p:nvPr/>
        </p:nvSpPr>
        <p:spPr>
          <a:xfrm>
            <a:off x="6556377" y="5468112"/>
            <a:ext cx="5175504" cy="1188720"/>
          </a:xfrm>
          <a:prstGeom prst="rect">
            <a:avLst/>
          </a:prstGeom>
          <a:noFill/>
        </p:spPr>
        <p:txBody>
          <a:bodyPr wrap="square">
            <a:spAutoFit/>
          </a:bodyPr>
          <a:lstStyle/>
          <a:p>
            <a:pPr>
              <a:spcBef>
                <a:spcPts val="400"/>
              </a:spcBef>
            </a:pPr>
            <a:r>
              <a:rPr sz="1100">
                <a:solidFill>
                  <a:srgbClr val="222244"/>
                </a:solidFill>
                <a:latin typeface="Calibri"/>
              </a:rPr>
              <a:t>  •  Bearer — HTTP Authorization: Bearer &lt;token&gt;</a:t>
            </a:r>
          </a:p>
          <a:p>
            <a:pPr>
              <a:spcBef>
                <a:spcPts val="400"/>
              </a:spcBef>
            </a:pPr>
            <a:r>
              <a:rPr sz="1100">
                <a:solidFill>
                  <a:srgbClr val="222244"/>
                </a:solidFill>
                <a:latin typeface="Calibri"/>
              </a:rPr>
              <a:t>  •  ApiKey — custom header (e.g. X-API-Key)</a:t>
            </a:r>
          </a:p>
          <a:p>
            <a:pPr>
              <a:spcBef>
                <a:spcPts val="400"/>
              </a:spcBef>
            </a:pPr>
            <a:r>
              <a:rPr sz="1100">
                <a:solidFill>
                  <a:srgbClr val="222244"/>
                </a:solidFill>
                <a:latin typeface="Calibri"/>
              </a:rPr>
              <a:t>  •  OAuth2 — standard OAuth2 flows</a:t>
            </a:r>
          </a:p>
          <a:p>
            <a:pPr>
              <a:spcBef>
                <a:spcPts val="400"/>
              </a:spcBef>
            </a:pPr>
            <a:r>
              <a:rPr sz="1100">
                <a:solidFill>
                  <a:srgbClr val="222244"/>
                </a:solidFill>
                <a:latin typeface="Calibri"/>
              </a:rPr>
              <a:t>  •  None   — no auth required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2: Agent Cards — Hotel &amp; Booking Examples</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Showing different auth schemes and capabilities</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5760720" cy="411480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15568"/>
            <a:ext cx="576072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43000"/>
            <a:ext cx="5577840" cy="201168"/>
          </a:xfrm>
          <a:prstGeom prst="rect">
            <a:avLst/>
          </a:prstGeom>
          <a:noFill/>
        </p:spPr>
        <p:txBody>
          <a:bodyPr wrap="square">
            <a:spAutoFit/>
          </a:bodyPr>
          <a:lstStyle/>
          <a:p>
            <a:pPr algn="l"/>
            <a:r>
              <a:rPr sz="1000" b="0">
                <a:solidFill>
                  <a:srgbClr val="F0A500"/>
                </a:solidFill>
                <a:latin typeface="Calibri"/>
              </a:rPr>
              <a:t>Hotel Agent — API Key + PDF input</a:t>
            </a:r>
          </a:p>
        </p:txBody>
      </p:sp>
      <p:sp>
        <p:nvSpPr>
          <p:cNvPr id="9" name="TextBox 8"/>
          <p:cNvSpPr txBox="1"/>
          <p:nvPr/>
        </p:nvSpPr>
        <p:spPr>
          <a:xfrm>
            <a:off x="365760" y="1380744"/>
            <a:ext cx="5577840" cy="3803904"/>
          </a:xfrm>
          <a:prstGeom prst="rect">
            <a:avLst/>
          </a:prstGeom>
          <a:noFill/>
        </p:spPr>
        <p:txBody>
          <a:bodyPr wrap="none">
            <a:spAutoFit/>
          </a:bodyPr>
          <a:lstStyle/>
          <a:p>
            <a:r>
              <a:rPr sz="950">
                <a:solidFill>
                  <a:srgbClr val="CCCCCC"/>
                </a:solidFill>
                <a:latin typeface="Courier New"/>
              </a:rPr>
              <a:t># Hotel Agent Card</a:t>
            </a:r>
          </a:p>
          <a:p>
            <a:r>
              <a:rPr sz="950">
                <a:solidFill>
                  <a:srgbClr val="CCCCCC"/>
                </a:solidFill>
                <a:latin typeface="Courier New"/>
              </a:rPr>
              <a:t>{</a:t>
            </a:r>
          </a:p>
          <a:p>
            <a:r>
              <a:rPr sz="950">
                <a:solidFill>
                  <a:srgbClr val="CCCCCC"/>
                </a:solidFill>
                <a:latin typeface="Courier New"/>
              </a:rPr>
              <a:t>  "name": "Hotel Booking Agent",</a:t>
            </a:r>
          </a:p>
          <a:p>
            <a:r>
              <a:rPr sz="950">
                <a:solidFill>
                  <a:srgbClr val="CCCCCC"/>
                </a:solidFill>
                <a:latin typeface="Courier New"/>
              </a:rPr>
              <a:t>  "url": "http://localhost:8002/",</a:t>
            </a:r>
          </a:p>
          <a:p>
            <a:r>
              <a:rPr sz="950">
                <a:solidFill>
                  <a:srgbClr val="CCCCCC"/>
                </a:solidFill>
                <a:latin typeface="Courier New"/>
              </a:rPr>
              <a:t>  "capabilities": {</a:t>
            </a:r>
          </a:p>
          <a:p>
            <a:r>
              <a:rPr sz="950">
                <a:solidFill>
                  <a:srgbClr val="CCCCCC"/>
                </a:solidFill>
                <a:latin typeface="Courier New"/>
              </a:rPr>
              <a:t>    "streaming": false,</a:t>
            </a:r>
          </a:p>
          <a:p>
            <a:r>
              <a:rPr sz="950">
                <a:solidFill>
                  <a:srgbClr val="CCCCCC"/>
                </a:solidFill>
                <a:latin typeface="Courier New"/>
              </a:rPr>
              <a:t>    "pushNotifications": false</a:t>
            </a:r>
          </a:p>
          <a:p>
            <a:r>
              <a:rPr sz="950">
                <a:solidFill>
                  <a:srgbClr val="CCCCCC"/>
                </a:solidFill>
                <a:latin typeface="Courier New"/>
              </a:rPr>
              <a:t>  },</a:t>
            </a:r>
          </a:p>
          <a:p>
            <a:r>
              <a:rPr sz="950">
                <a:solidFill>
                  <a:srgbClr val="CCCCCC"/>
                </a:solidFill>
                <a:latin typeface="Courier New"/>
              </a:rPr>
              <a:t>  "authentication": {</a:t>
            </a:r>
          </a:p>
          <a:p>
            <a:r>
              <a:rPr sz="950">
                <a:solidFill>
                  <a:srgbClr val="CCCCCC"/>
                </a:solidFill>
                <a:latin typeface="Courier New"/>
              </a:rPr>
              <a:t>    "schemes": ["ApiKey"],</a:t>
            </a:r>
          </a:p>
          <a:p>
            <a:r>
              <a:rPr sz="950">
                <a:solidFill>
                  <a:srgbClr val="CCCCCC"/>
                </a:solidFill>
                <a:latin typeface="Courier New"/>
              </a:rPr>
              <a:t>    "credentials": {"header": "X-API-Key"}</a:t>
            </a:r>
          </a:p>
          <a:p>
            <a:r>
              <a:rPr sz="950">
                <a:solidFill>
                  <a:srgbClr val="CCCCCC"/>
                </a:solidFill>
                <a:latin typeface="Courier New"/>
              </a:rPr>
              <a:t>  },</a:t>
            </a:r>
          </a:p>
          <a:p>
            <a:r>
              <a:rPr sz="950">
                <a:solidFill>
                  <a:srgbClr val="CCCCCC"/>
                </a:solidFill>
                <a:latin typeface="Courier New"/>
              </a:rPr>
              <a:t>  "skills": [{</a:t>
            </a:r>
          </a:p>
          <a:p>
            <a:r>
              <a:rPr sz="950">
                <a:solidFill>
                  <a:srgbClr val="CCCCCC"/>
                </a:solidFill>
                <a:latin typeface="Courier New"/>
              </a:rPr>
              <a:t>    "id": "search_hotels",</a:t>
            </a:r>
          </a:p>
          <a:p>
            <a:r>
              <a:rPr sz="950">
                <a:solidFill>
                  <a:srgbClr val="CCCCCC"/>
                </a:solidFill>
                <a:latin typeface="Courier New"/>
              </a:rPr>
              <a:t>    "name": "Search Hotels",</a:t>
            </a:r>
          </a:p>
          <a:p>
            <a:r>
              <a:rPr sz="950">
                <a:solidFill>
                  <a:srgbClr val="CCCCCC"/>
                </a:solidFill>
                <a:latin typeface="Courier New"/>
              </a:rPr>
              <a:t>    "inputModes":  ["text/plain","application/pdf"],</a:t>
            </a:r>
          </a:p>
          <a:p>
            <a:r>
              <a:rPr sz="950">
                <a:solidFill>
                  <a:srgbClr val="CCCCCC"/>
                </a:solidFill>
                <a:latin typeface="Courier New"/>
              </a:rPr>
              <a:t>    "outputModes": ["application/json"],</a:t>
            </a:r>
          </a:p>
          <a:p>
            <a:r>
              <a:rPr sz="950">
                <a:solidFill>
                  <a:srgbClr val="CCCCCC"/>
                </a:solidFill>
                <a:latin typeface="Courier New"/>
              </a:rPr>
              <a:t>    "description": "Search hotels; accepts PDF brochures"</a:t>
            </a:r>
          </a:p>
          <a:p>
            <a:r>
              <a:rPr sz="950">
                <a:solidFill>
                  <a:srgbClr val="CCCCCC"/>
                </a:solidFill>
                <a:latin typeface="Courier New"/>
              </a:rPr>
              <a:t>  }]</a:t>
            </a:r>
          </a:p>
          <a:p>
            <a:r>
              <a:rPr sz="950">
                <a:solidFill>
                  <a:srgbClr val="CCCCCC"/>
                </a:solidFill>
                <a:latin typeface="Courier New"/>
              </a:rPr>
              <a:t>}</a:t>
            </a:r>
          </a:p>
        </p:txBody>
      </p:sp>
      <p:sp>
        <p:nvSpPr>
          <p:cNvPr id="10" name="Rectangle 9"/>
          <p:cNvSpPr/>
          <p:nvPr/>
        </p:nvSpPr>
        <p:spPr>
          <a:xfrm>
            <a:off x="274320" y="5321808"/>
            <a:ext cx="5760720" cy="164592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4320" y="5321808"/>
            <a:ext cx="576072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5349240"/>
            <a:ext cx="5577840" cy="201168"/>
          </a:xfrm>
          <a:prstGeom prst="rect">
            <a:avLst/>
          </a:prstGeom>
          <a:noFill/>
        </p:spPr>
        <p:txBody>
          <a:bodyPr wrap="square">
            <a:spAutoFit/>
          </a:bodyPr>
          <a:lstStyle/>
          <a:p>
            <a:pPr algn="l"/>
            <a:r>
              <a:rPr sz="1000" b="0">
                <a:solidFill>
                  <a:srgbClr val="F0A500"/>
                </a:solidFill>
                <a:latin typeface="Calibri"/>
              </a:rPr>
              <a:t>Booking Agent — push notifications</a:t>
            </a:r>
          </a:p>
        </p:txBody>
      </p:sp>
      <p:sp>
        <p:nvSpPr>
          <p:cNvPr id="13" name="TextBox 12"/>
          <p:cNvSpPr txBox="1"/>
          <p:nvPr/>
        </p:nvSpPr>
        <p:spPr>
          <a:xfrm>
            <a:off x="365760" y="5586984"/>
            <a:ext cx="5577840" cy="1335024"/>
          </a:xfrm>
          <a:prstGeom prst="rect">
            <a:avLst/>
          </a:prstGeom>
          <a:noFill/>
        </p:spPr>
        <p:txBody>
          <a:bodyPr wrap="none">
            <a:spAutoFit/>
          </a:bodyPr>
          <a:lstStyle/>
          <a:p>
            <a:r>
              <a:rPr sz="950">
                <a:solidFill>
                  <a:srgbClr val="CCCCCC"/>
                </a:solidFill>
                <a:latin typeface="Courier New"/>
              </a:rPr>
              <a:t># Booking Agent Card</a:t>
            </a:r>
          </a:p>
          <a:p>
            <a:r>
              <a:rPr sz="950">
                <a:solidFill>
                  <a:srgbClr val="CCCCCC"/>
                </a:solidFill>
                <a:latin typeface="Courier New"/>
              </a:rPr>
              <a:t>{</a:t>
            </a:r>
          </a:p>
          <a:p>
            <a:r>
              <a:rPr sz="950">
                <a:solidFill>
                  <a:srgbClr val="CCCCCC"/>
                </a:solidFill>
                <a:latin typeface="Courier New"/>
              </a:rPr>
              <a:t>  "name": "Booking Confirmation Agent",</a:t>
            </a:r>
          </a:p>
          <a:p>
            <a:r>
              <a:rPr sz="950">
                <a:solidFill>
                  <a:srgbClr val="CCCCCC"/>
                </a:solidFill>
                <a:latin typeface="Courier New"/>
              </a:rPr>
              <a:t>  "url": "http://localhost:8003/",</a:t>
            </a:r>
          </a:p>
          <a:p>
            <a:r>
              <a:rPr sz="950">
                <a:solidFill>
                  <a:srgbClr val="CCCCCC"/>
                </a:solidFill>
                <a:latin typeface="Courier New"/>
              </a:rPr>
              <a:t>  "capabilities": {</a:t>
            </a:r>
          </a:p>
          <a:p>
            <a:r>
              <a:rPr sz="950">
                <a:solidFill>
                  <a:srgbClr val="CCCCCC"/>
                </a:solidFill>
                <a:latin typeface="Courier New"/>
              </a:rPr>
              <a:t>    "streaming": false,</a:t>
            </a:r>
          </a:p>
          <a:p>
            <a:r>
              <a:rPr sz="950">
                <a:solidFill>
                  <a:srgbClr val="CCCCCC"/>
                </a:solidFill>
                <a:latin typeface="Courier New"/>
              </a:rPr>
              <a:t>    "pushNotifications": true</a:t>
            </a:r>
          </a:p>
          <a:p>
            <a:r>
              <a:rPr sz="950">
                <a:solidFill>
                  <a:srgbClr val="CCCCCC"/>
                </a:solidFill>
                <a:latin typeface="Courier New"/>
              </a:rPr>
              <a:t>  },</a:t>
            </a:r>
          </a:p>
          <a:p>
            <a:r>
              <a:rPr sz="950">
                <a:solidFill>
                  <a:srgbClr val="CCCCCC"/>
                </a:solidFill>
                <a:latin typeface="Courier New"/>
              </a:rPr>
              <a:t>  "authentication": {"schemes": []},</a:t>
            </a:r>
          </a:p>
          <a:p>
            <a:r>
              <a:rPr sz="950">
                <a:solidFill>
                  <a:srgbClr val="CCCCCC"/>
                </a:solidFill>
                <a:latin typeface="Courier New"/>
              </a:rPr>
              <a:t>  "skills": [{</a:t>
            </a:r>
          </a:p>
          <a:p>
            <a:r>
              <a:rPr sz="950">
                <a:solidFill>
                  <a:srgbClr val="CCCCCC"/>
                </a:solidFill>
                <a:latin typeface="Courier New"/>
              </a:rPr>
              <a:t>    "id": "confirm_booking",</a:t>
            </a:r>
          </a:p>
          <a:p>
            <a:r>
              <a:rPr sz="950">
                <a:solidFill>
                  <a:srgbClr val="CCCCCC"/>
                </a:solidFill>
                <a:latin typeface="Courier New"/>
              </a:rPr>
              <a:t>    "name": "Confirm Booking",</a:t>
            </a:r>
          </a:p>
          <a:p>
            <a:r>
              <a:rPr sz="950">
                <a:solidFill>
                  <a:srgbClr val="CCCCCC"/>
                </a:solidFill>
                <a:latin typeface="Courier New"/>
              </a:rPr>
              <a:t>    "description": "Confirms travel bookings; may require "</a:t>
            </a:r>
          </a:p>
          <a:p>
            <a:r>
              <a:rPr sz="950">
                <a:solidFill>
                  <a:srgbClr val="CCCCCC"/>
                </a:solidFill>
                <a:latin typeface="Courier New"/>
              </a:rPr>
              <a:t>                   "additional user input (seat, meal)",</a:t>
            </a:r>
          </a:p>
          <a:p>
            <a:r>
              <a:rPr sz="950">
                <a:solidFill>
                  <a:srgbClr val="CCCCCC"/>
                </a:solidFill>
                <a:latin typeface="Courier New"/>
              </a:rPr>
              <a:t>    "inputModes":  ["application/json"],</a:t>
            </a:r>
          </a:p>
          <a:p>
            <a:r>
              <a:rPr sz="950">
                <a:solidFill>
                  <a:srgbClr val="CCCCCC"/>
                </a:solidFill>
                <a:latin typeface="Courier New"/>
              </a:rPr>
              <a:t>    "outputModes": ["application/json"]</a:t>
            </a:r>
          </a:p>
          <a:p>
            <a:r>
              <a:rPr sz="950">
                <a:solidFill>
                  <a:srgbClr val="CCCCCC"/>
                </a:solidFill>
                <a:latin typeface="Courier New"/>
              </a:rPr>
              <a:t>  }]</a:t>
            </a:r>
          </a:p>
          <a:p>
            <a:r>
              <a:rPr sz="950">
                <a:solidFill>
                  <a:srgbClr val="CCCCCC"/>
                </a:solidFill>
                <a:latin typeface="Courier New"/>
              </a:rPr>
              <a:t>}</a:t>
            </a:r>
          </a:p>
        </p:txBody>
      </p:sp>
      <p:sp>
        <p:nvSpPr>
          <p:cNvPr id="14" name="Rectangle 13"/>
          <p:cNvSpPr/>
          <p:nvPr/>
        </p:nvSpPr>
        <p:spPr>
          <a:xfrm>
            <a:off x="6217920" y="1115568"/>
            <a:ext cx="5669280" cy="292608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1115568"/>
            <a:ext cx="566928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59" y="1152144"/>
            <a:ext cx="5486400" cy="274320"/>
          </a:xfrm>
          <a:prstGeom prst="rect">
            <a:avLst/>
          </a:prstGeom>
          <a:noFill/>
        </p:spPr>
        <p:txBody>
          <a:bodyPr wrap="square">
            <a:spAutoFit/>
          </a:bodyPr>
          <a:lstStyle/>
          <a:p>
            <a:pPr algn="l"/>
            <a:r>
              <a:rPr sz="1200" b="1">
                <a:solidFill>
                  <a:srgbClr val="FFFFFF"/>
                </a:solidFill>
                <a:latin typeface="Calibri"/>
              </a:rPr>
              <a:t>Skills Array — Key Fields</a:t>
            </a:r>
          </a:p>
        </p:txBody>
      </p:sp>
      <p:sp>
        <p:nvSpPr>
          <p:cNvPr id="17" name="TextBox 16"/>
          <p:cNvSpPr txBox="1"/>
          <p:nvPr/>
        </p:nvSpPr>
        <p:spPr>
          <a:xfrm>
            <a:off x="6327648" y="1499616"/>
            <a:ext cx="5449824" cy="2468880"/>
          </a:xfrm>
          <a:prstGeom prst="rect">
            <a:avLst/>
          </a:prstGeom>
          <a:noFill/>
        </p:spPr>
        <p:txBody>
          <a:bodyPr wrap="square">
            <a:spAutoFit/>
          </a:bodyPr>
          <a:lstStyle/>
          <a:p>
            <a:pPr>
              <a:spcBef>
                <a:spcPts val="400"/>
              </a:spcBef>
            </a:pPr>
            <a:r>
              <a:rPr sz="1100">
                <a:solidFill>
                  <a:srgbClr val="222244"/>
                </a:solidFill>
                <a:latin typeface="Calibri"/>
              </a:rPr>
              <a:t>  •  id          — unique identifier for routing</a:t>
            </a:r>
          </a:p>
          <a:p>
            <a:pPr>
              <a:spcBef>
                <a:spcPts val="400"/>
              </a:spcBef>
            </a:pPr>
            <a:r>
              <a:rPr sz="1100">
                <a:solidFill>
                  <a:srgbClr val="222244"/>
                </a:solidFill>
                <a:latin typeface="Calibri"/>
              </a:rPr>
              <a:t>  •  name        — human-readable skill name</a:t>
            </a:r>
          </a:p>
          <a:p>
            <a:pPr>
              <a:spcBef>
                <a:spcPts val="400"/>
              </a:spcBef>
            </a:pPr>
            <a:r>
              <a:rPr sz="1100">
                <a:solidFill>
                  <a:srgbClr val="222244"/>
                </a:solidFill>
                <a:latin typeface="Calibri"/>
              </a:rPr>
              <a:t>  •  description — what the skill does (LLM-readable)</a:t>
            </a:r>
          </a:p>
          <a:p>
            <a:pPr>
              <a:spcBef>
                <a:spcPts val="400"/>
              </a:spcBef>
            </a:pPr>
            <a:r>
              <a:rPr sz="1100">
                <a:solidFill>
                  <a:srgbClr val="222244"/>
                </a:solidFill>
                <a:latin typeface="Calibri"/>
              </a:rPr>
              <a:t>  •  inputModes  — list of accepted MIME types</a:t>
            </a:r>
          </a:p>
          <a:p>
            <a:pPr>
              <a:spcBef>
                <a:spcPts val="400"/>
              </a:spcBef>
            </a:pPr>
            <a:r>
              <a:rPr sz="1100">
                <a:solidFill>
                  <a:srgbClr val="222244"/>
                </a:solidFill>
                <a:latin typeface="Calibri"/>
              </a:rPr>
              <a:t>  •  outputModes — list of produced MIME types</a:t>
            </a:r>
          </a:p>
          <a:p>
            <a:pPr>
              <a:spcBef>
                <a:spcPts val="400"/>
              </a:spcBef>
            </a:pPr>
            <a:r>
              <a:rPr sz="1100">
                <a:solidFill>
                  <a:srgbClr val="222244"/>
                </a:solidFill>
                <a:latin typeface="Calibri"/>
              </a:rPr>
              <a:t>  •  tags        — for skill discovery/filtering</a:t>
            </a:r>
          </a:p>
          <a:p>
            <a:pPr>
              <a:spcBef>
                <a:spcPts val="400"/>
              </a:spcBef>
            </a:pPr>
            <a:r>
              <a:rPr sz="1100">
                <a:solidFill>
                  <a:srgbClr val="222244"/>
                </a:solidFill>
                <a:latin typeface="Calibri"/>
              </a:rPr>
              <a:t>  •  examples    — example prompts for LLM routing</a:t>
            </a:r>
          </a:p>
        </p:txBody>
      </p:sp>
      <p:sp>
        <p:nvSpPr>
          <p:cNvPr id="18" name="Rectangle 17"/>
          <p:cNvSpPr/>
          <p:nvPr/>
        </p:nvSpPr>
        <p:spPr>
          <a:xfrm>
            <a:off x="6217919" y="4133087"/>
            <a:ext cx="5669279" cy="1938529"/>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17920" y="4133087"/>
            <a:ext cx="566928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59" y="4169663"/>
            <a:ext cx="5486400" cy="274320"/>
          </a:xfrm>
          <a:prstGeom prst="rect">
            <a:avLst/>
          </a:prstGeom>
          <a:noFill/>
        </p:spPr>
        <p:txBody>
          <a:bodyPr wrap="square">
            <a:spAutoFit/>
          </a:bodyPr>
          <a:lstStyle/>
          <a:p>
            <a:pPr algn="l"/>
            <a:r>
              <a:rPr sz="1200" b="1">
                <a:solidFill>
                  <a:srgbClr val="FFFFFF"/>
                </a:solidFill>
                <a:latin typeface="Calibri"/>
              </a:rPr>
              <a:t>How Orchestrators Use Agent Cards</a:t>
            </a:r>
          </a:p>
        </p:txBody>
      </p:sp>
      <p:sp>
        <p:nvSpPr>
          <p:cNvPr id="21" name="TextBox 20"/>
          <p:cNvSpPr txBox="1"/>
          <p:nvPr/>
        </p:nvSpPr>
        <p:spPr>
          <a:xfrm>
            <a:off x="6327648" y="4517136"/>
            <a:ext cx="5449824" cy="2468880"/>
          </a:xfrm>
          <a:prstGeom prst="rect">
            <a:avLst/>
          </a:prstGeom>
          <a:noFill/>
        </p:spPr>
        <p:txBody>
          <a:bodyPr wrap="square">
            <a:spAutoFit/>
          </a:bodyPr>
          <a:lstStyle/>
          <a:p>
            <a:pPr>
              <a:spcBef>
                <a:spcPts val="400"/>
              </a:spcBef>
            </a:pPr>
            <a:r>
              <a:rPr sz="1100">
                <a:solidFill>
                  <a:srgbClr val="222244"/>
                </a:solidFill>
                <a:latin typeface="Calibri"/>
              </a:rPr>
              <a:t>  •  1. Fetch all agent cards at startup</a:t>
            </a:r>
          </a:p>
          <a:p>
            <a:pPr>
              <a:spcBef>
                <a:spcPts val="400"/>
              </a:spcBef>
            </a:pPr>
            <a:r>
              <a:rPr sz="1100">
                <a:solidFill>
                  <a:srgbClr val="222244"/>
                </a:solidFill>
                <a:latin typeface="Calibri"/>
              </a:rPr>
              <a:t>  •  2. Match user intent to skill descriptions</a:t>
            </a:r>
          </a:p>
          <a:p>
            <a:pPr>
              <a:spcBef>
                <a:spcPts val="400"/>
              </a:spcBef>
            </a:pPr>
            <a:r>
              <a:rPr sz="1100">
                <a:solidFill>
                  <a:srgbClr val="222244"/>
                </a:solidFill>
                <a:latin typeface="Calibri"/>
              </a:rPr>
              <a:t>  •  3. Check capability flags (streaming? push?)</a:t>
            </a:r>
          </a:p>
          <a:p>
            <a:pPr>
              <a:spcBef>
                <a:spcPts val="400"/>
              </a:spcBef>
            </a:pPr>
            <a:r>
              <a:rPr sz="1100">
                <a:solidFill>
                  <a:srgbClr val="222244"/>
                </a:solidFill>
                <a:latin typeface="Calibri"/>
              </a:rPr>
              <a:t>  •  4. Read auth scheme and inject credentials</a:t>
            </a:r>
          </a:p>
          <a:p>
            <a:pPr>
              <a:spcBef>
                <a:spcPts val="400"/>
              </a:spcBef>
            </a:pPr>
            <a:r>
              <a:rPr sz="1100">
                <a:solidFill>
                  <a:srgbClr val="222244"/>
                </a:solidFill>
                <a:latin typeface="Calibri"/>
              </a:rPr>
              <a:t>  •  5. Use inputModes to format the request</a:t>
            </a:r>
          </a:p>
          <a:p>
            <a:pPr>
              <a:spcBef>
                <a:spcPts val="400"/>
              </a:spcBef>
            </a:pPr>
            <a:r>
              <a:rPr sz="1100">
                <a:solidFill>
                  <a:srgbClr val="222244"/>
                </a:solidFill>
                <a:latin typeface="Calibri"/>
              </a:rPr>
              <a:t>  •  6. Route subtask to the best-matching agent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3: Tasks — The Core Unit of Work</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Every interaction is a Task sent via tasks/send</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5852160" cy="260604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15568"/>
            <a:ext cx="585216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43000"/>
            <a:ext cx="5669280" cy="201168"/>
          </a:xfrm>
          <a:prstGeom prst="rect">
            <a:avLst/>
          </a:prstGeom>
          <a:noFill/>
        </p:spPr>
        <p:txBody>
          <a:bodyPr wrap="square">
            <a:spAutoFit/>
          </a:bodyPr>
          <a:lstStyle/>
          <a:p>
            <a:pPr algn="l"/>
            <a:r>
              <a:rPr sz="1000" b="0">
                <a:solidFill>
                  <a:srgbClr val="F0A500"/>
                </a:solidFill>
                <a:latin typeface="Calibri"/>
              </a:rPr>
              <a:t>Sending a Task — POST tasks/send</a:t>
            </a:r>
          </a:p>
        </p:txBody>
      </p:sp>
      <p:sp>
        <p:nvSpPr>
          <p:cNvPr id="9" name="TextBox 8"/>
          <p:cNvSpPr txBox="1"/>
          <p:nvPr/>
        </p:nvSpPr>
        <p:spPr>
          <a:xfrm>
            <a:off x="365760" y="1380744"/>
            <a:ext cx="5669280" cy="2295144"/>
          </a:xfrm>
          <a:prstGeom prst="rect">
            <a:avLst/>
          </a:prstGeom>
          <a:noFill/>
        </p:spPr>
        <p:txBody>
          <a:bodyPr wrap="none">
            <a:spAutoFit/>
          </a:bodyPr>
          <a:lstStyle/>
          <a:p>
            <a:r>
              <a:rPr sz="950">
                <a:solidFill>
                  <a:srgbClr val="CCCCCC"/>
                </a:solidFill>
                <a:latin typeface="Courier New"/>
              </a:rPr>
              <a:t># TaskSendParams — what you send</a:t>
            </a:r>
          </a:p>
          <a:p>
            <a:r>
              <a:rPr sz="950">
                <a:solidFill>
                  <a:srgbClr val="CCCCCC"/>
                </a:solidFill>
                <a:latin typeface="Courier New"/>
              </a:rPr>
              <a:t>{</a:t>
            </a:r>
          </a:p>
          <a:p>
            <a:r>
              <a:rPr sz="950">
                <a:solidFill>
                  <a:srgbClr val="CCCCCC"/>
                </a:solidFill>
                <a:latin typeface="Courier New"/>
              </a:rPr>
              <a:t>  "id":        "550e8400-e29b-41d4-a716-446655440000",  # client-generated UUID</a:t>
            </a:r>
          </a:p>
          <a:p>
            <a:r>
              <a:rPr sz="950">
                <a:solidFill>
                  <a:srgbClr val="CCCCCC"/>
                </a:solidFill>
                <a:latin typeface="Courier New"/>
              </a:rPr>
              <a:t>  "sessionId": "session-travel-2024-001",               # groups related tasks</a:t>
            </a:r>
          </a:p>
          <a:p>
            <a:r>
              <a:rPr sz="950">
                <a:solidFill>
                  <a:srgbClr val="CCCCCC"/>
                </a:solidFill>
                <a:latin typeface="Courier New"/>
              </a:rPr>
              <a:t>  "message": {</a:t>
            </a:r>
          </a:p>
          <a:p>
            <a:r>
              <a:rPr sz="950">
                <a:solidFill>
                  <a:srgbClr val="CCCCCC"/>
                </a:solidFill>
                <a:latin typeface="Courier New"/>
              </a:rPr>
              <a:t>    "role": "user",                                       # "user" | "agent"</a:t>
            </a:r>
          </a:p>
          <a:p>
            <a:r>
              <a:rPr sz="950">
                <a:solidFill>
                  <a:srgbClr val="CCCCCC"/>
                </a:solidFill>
                <a:latin typeface="Courier New"/>
              </a:rPr>
              <a:t>    "parts": [</a:t>
            </a:r>
          </a:p>
          <a:p>
            <a:r>
              <a:rPr sz="950">
                <a:solidFill>
                  <a:srgbClr val="CCCCCC"/>
                </a:solidFill>
                <a:latin typeface="Courier New"/>
              </a:rPr>
              <a:t>      {"type": "text", "text": "Find me flights to Paris on Dec 15"}</a:t>
            </a:r>
          </a:p>
          <a:p>
            <a:r>
              <a:rPr sz="950">
                <a:solidFill>
                  <a:srgbClr val="CCCCCC"/>
                </a:solidFill>
                <a:latin typeface="Courier New"/>
              </a:rPr>
              <a:t>    ]</a:t>
            </a:r>
          </a:p>
          <a:p>
            <a:r>
              <a:rPr sz="950">
                <a:solidFill>
                  <a:srgbClr val="CCCCCC"/>
                </a:solidFill>
                <a:latin typeface="Courier New"/>
              </a:rPr>
              <a:t>  }</a:t>
            </a:r>
          </a:p>
          <a:p>
            <a:r>
              <a:rPr sz="950">
                <a:solidFill>
                  <a:srgbClr val="CCCCCC"/>
                </a:solidFill>
                <a:latin typeface="Courier New"/>
              </a:rPr>
              <a:t>}</a:t>
            </a:r>
          </a:p>
        </p:txBody>
      </p:sp>
      <p:sp>
        <p:nvSpPr>
          <p:cNvPr id="10" name="Rectangle 9"/>
          <p:cNvSpPr/>
          <p:nvPr/>
        </p:nvSpPr>
        <p:spPr>
          <a:xfrm>
            <a:off x="274320" y="3813048"/>
            <a:ext cx="5852160" cy="320040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4320" y="3813048"/>
            <a:ext cx="585216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3840480"/>
            <a:ext cx="5669280" cy="201168"/>
          </a:xfrm>
          <a:prstGeom prst="rect">
            <a:avLst/>
          </a:prstGeom>
          <a:noFill/>
        </p:spPr>
        <p:txBody>
          <a:bodyPr wrap="square">
            <a:spAutoFit/>
          </a:bodyPr>
          <a:lstStyle/>
          <a:p>
            <a:pPr algn="l"/>
            <a:r>
              <a:rPr sz="1000" b="0">
                <a:solidFill>
                  <a:srgbClr val="F0A500"/>
                </a:solidFill>
                <a:latin typeface="Calibri"/>
              </a:rPr>
              <a:t>Task Response</a:t>
            </a:r>
          </a:p>
        </p:txBody>
      </p:sp>
      <p:sp>
        <p:nvSpPr>
          <p:cNvPr id="13" name="TextBox 12"/>
          <p:cNvSpPr txBox="1"/>
          <p:nvPr/>
        </p:nvSpPr>
        <p:spPr>
          <a:xfrm>
            <a:off x="365760" y="4078224"/>
            <a:ext cx="5669280" cy="2889504"/>
          </a:xfrm>
          <a:prstGeom prst="rect">
            <a:avLst/>
          </a:prstGeom>
          <a:noFill/>
        </p:spPr>
        <p:txBody>
          <a:bodyPr wrap="none">
            <a:spAutoFit/>
          </a:bodyPr>
          <a:lstStyle/>
          <a:p>
            <a:r>
              <a:rPr sz="950">
                <a:solidFill>
                  <a:srgbClr val="CCCCCC"/>
                </a:solidFill>
                <a:latin typeface="Courier New"/>
              </a:rPr>
              <a:t># Task Response</a:t>
            </a:r>
          </a:p>
          <a:p>
            <a:r>
              <a:rPr sz="950">
                <a:solidFill>
                  <a:srgbClr val="CCCCCC"/>
                </a:solidFill>
                <a:latin typeface="Courier New"/>
              </a:rPr>
              <a:t>{</a:t>
            </a:r>
          </a:p>
          <a:p>
            <a:r>
              <a:rPr sz="950">
                <a:solidFill>
                  <a:srgbClr val="CCCCCC"/>
                </a:solidFill>
                <a:latin typeface="Courier New"/>
              </a:rPr>
              <a:t>  "id":        "550e8400-e29b-41d4-a716-446655440000",</a:t>
            </a:r>
          </a:p>
          <a:p>
            <a:r>
              <a:rPr sz="950">
                <a:solidFill>
                  <a:srgbClr val="CCCCCC"/>
                </a:solidFill>
                <a:latin typeface="Courier New"/>
              </a:rPr>
              <a:t>  "sessionId": "session-travel-2024-001",</a:t>
            </a:r>
          </a:p>
          <a:p>
            <a:r>
              <a:rPr sz="950">
                <a:solidFill>
                  <a:srgbClr val="CCCCCC"/>
                </a:solidFill>
                <a:latin typeface="Courier New"/>
              </a:rPr>
              <a:t>  "status": {</a:t>
            </a:r>
          </a:p>
          <a:p>
            <a:r>
              <a:rPr sz="950">
                <a:solidFill>
                  <a:srgbClr val="CCCCCC"/>
                </a:solidFill>
                <a:latin typeface="Courier New"/>
              </a:rPr>
              <a:t>    "state":     "completed",</a:t>
            </a:r>
          </a:p>
          <a:p>
            <a:r>
              <a:rPr sz="950">
                <a:solidFill>
                  <a:srgbClr val="CCCCCC"/>
                </a:solidFill>
                <a:latin typeface="Courier New"/>
              </a:rPr>
              <a:t>    "message":   null,</a:t>
            </a:r>
          </a:p>
          <a:p>
            <a:r>
              <a:rPr sz="950">
                <a:solidFill>
                  <a:srgbClr val="CCCCCC"/>
                </a:solidFill>
                <a:latin typeface="Courier New"/>
              </a:rPr>
              <a:t>    "timestamp": "2024-12-15T10:30:00Z"</a:t>
            </a:r>
          </a:p>
          <a:p>
            <a:r>
              <a:rPr sz="950">
                <a:solidFill>
                  <a:srgbClr val="CCCCCC"/>
                </a:solidFill>
                <a:latin typeface="Courier New"/>
              </a:rPr>
              <a:t>  },</a:t>
            </a:r>
          </a:p>
          <a:p>
            <a:r>
              <a:rPr sz="950">
                <a:solidFill>
                  <a:srgbClr val="CCCCCC"/>
                </a:solidFill>
                <a:latin typeface="Courier New"/>
              </a:rPr>
              <a:t>  "artifacts": [{</a:t>
            </a:r>
          </a:p>
          <a:p>
            <a:r>
              <a:rPr sz="950">
                <a:solidFill>
                  <a:srgbClr val="CCCCCC"/>
                </a:solidFill>
                <a:latin typeface="Courier New"/>
              </a:rPr>
              <a:t>    "name":        "flight_results",</a:t>
            </a:r>
          </a:p>
          <a:p>
            <a:r>
              <a:rPr sz="950">
                <a:solidFill>
                  <a:srgbClr val="CCCCCC"/>
                </a:solidFill>
                <a:latin typeface="Courier New"/>
              </a:rPr>
              <a:t>    "description": "Available flights",</a:t>
            </a:r>
          </a:p>
          <a:p>
            <a:r>
              <a:rPr sz="950">
                <a:solidFill>
                  <a:srgbClr val="CCCCCC"/>
                </a:solidFill>
                <a:latin typeface="Courier New"/>
              </a:rPr>
              <a:t>    "index":       0,</a:t>
            </a:r>
          </a:p>
          <a:p>
            <a:r>
              <a:rPr sz="950">
                <a:solidFill>
                  <a:srgbClr val="CCCCCC"/>
                </a:solidFill>
                <a:latin typeface="Courier New"/>
              </a:rPr>
              <a:t>    "lastChunk":   true,</a:t>
            </a:r>
          </a:p>
          <a:p>
            <a:r>
              <a:rPr sz="950">
                <a:solidFill>
                  <a:srgbClr val="CCCCCC"/>
                </a:solidFill>
                <a:latin typeface="Courier New"/>
              </a:rPr>
              <a:t>    "parts": [{"type": "data", "data": {"flights": [...]}}]</a:t>
            </a:r>
          </a:p>
          <a:p>
            <a:r>
              <a:rPr sz="950">
                <a:solidFill>
                  <a:srgbClr val="CCCCCC"/>
                </a:solidFill>
                <a:latin typeface="Courier New"/>
              </a:rPr>
              <a:t>  }],</a:t>
            </a:r>
          </a:p>
          <a:p>
            <a:r>
              <a:rPr sz="950">
                <a:solidFill>
                  <a:srgbClr val="CCCCCC"/>
                </a:solidFill>
                <a:latin typeface="Courier New"/>
              </a:rPr>
              <a:t>  "history": [...]</a:t>
            </a:r>
          </a:p>
          <a:p>
            <a:r>
              <a:rPr sz="950">
                <a:solidFill>
                  <a:srgbClr val="CCCCCC"/>
                </a:solidFill>
                <a:latin typeface="Courier New"/>
              </a:rPr>
              <a:t>}</a:t>
            </a:r>
          </a:p>
        </p:txBody>
      </p:sp>
      <p:sp>
        <p:nvSpPr>
          <p:cNvPr id="14" name="Rectangle 13"/>
          <p:cNvSpPr/>
          <p:nvPr/>
        </p:nvSpPr>
        <p:spPr>
          <a:xfrm>
            <a:off x="6355080" y="1115568"/>
            <a:ext cx="5532120" cy="365760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55080" y="1115568"/>
            <a:ext cx="553212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46520" y="1152144"/>
            <a:ext cx="5349240" cy="274320"/>
          </a:xfrm>
          <a:prstGeom prst="rect">
            <a:avLst/>
          </a:prstGeom>
          <a:noFill/>
        </p:spPr>
        <p:txBody>
          <a:bodyPr wrap="square">
            <a:spAutoFit/>
          </a:bodyPr>
          <a:lstStyle/>
          <a:p>
            <a:pPr algn="l"/>
            <a:r>
              <a:rPr sz="1200" b="1">
                <a:solidFill>
                  <a:srgbClr val="FFFFFF"/>
                </a:solidFill>
                <a:latin typeface="Calibri"/>
              </a:rPr>
              <a:t>Part Types</a:t>
            </a:r>
          </a:p>
        </p:txBody>
      </p:sp>
      <p:sp>
        <p:nvSpPr>
          <p:cNvPr id="17" name="TextBox 16"/>
          <p:cNvSpPr txBox="1"/>
          <p:nvPr/>
        </p:nvSpPr>
        <p:spPr>
          <a:xfrm>
            <a:off x="6464808" y="1499616"/>
            <a:ext cx="5312664" cy="3200400"/>
          </a:xfrm>
          <a:prstGeom prst="rect">
            <a:avLst/>
          </a:prstGeom>
          <a:noFill/>
        </p:spPr>
        <p:txBody>
          <a:bodyPr wrap="square">
            <a:spAutoFit/>
          </a:bodyPr>
          <a:lstStyle/>
          <a:p>
            <a:pPr>
              <a:spcBef>
                <a:spcPts val="400"/>
              </a:spcBef>
            </a:pPr>
            <a:r>
              <a:rPr sz="1100">
                <a:solidFill>
                  <a:srgbClr val="222244"/>
                </a:solidFill>
                <a:latin typeface="Calibri"/>
              </a:rPr>
              <a:t>  •  TextPart  — plain text content</a:t>
            </a:r>
          </a:p>
          <a:p>
            <a:pPr>
              <a:spcBef>
                <a:spcPts val="400"/>
              </a:spcBef>
            </a:pPr>
            <a:r>
              <a:rPr sz="1000">
                <a:solidFill>
                  <a:srgbClr val="222244"/>
                </a:solidFill>
                <a:latin typeface="Calibri"/>
              </a:rPr>
              <a:t>       ◦  type: 'text'</a:t>
            </a:r>
          </a:p>
          <a:p>
            <a:pPr>
              <a:spcBef>
                <a:spcPts val="400"/>
              </a:spcBef>
            </a:pPr>
            <a:r>
              <a:rPr sz="1000">
                <a:solidFill>
                  <a:srgbClr val="222244"/>
                </a:solidFill>
                <a:latin typeface="Calibri"/>
              </a:rPr>
              <a:t>       ◦  text: str</a:t>
            </a:r>
          </a:p>
          <a:p>
            <a:pPr>
              <a:spcBef>
                <a:spcPts val="400"/>
              </a:spcBef>
            </a:pPr>
            <a:r>
              <a:rPr sz="1100">
                <a:solidFill>
                  <a:srgbClr val="222244"/>
                </a:solidFill>
                <a:latin typeface="Calibri"/>
              </a:rPr>
              <a:t>  •  FilePart  — binary or hosted files</a:t>
            </a:r>
          </a:p>
          <a:p>
            <a:pPr>
              <a:spcBef>
                <a:spcPts val="400"/>
              </a:spcBef>
            </a:pPr>
            <a:r>
              <a:rPr sz="1000">
                <a:solidFill>
                  <a:srgbClr val="222244"/>
                </a:solidFill>
                <a:latin typeface="Calibri"/>
              </a:rPr>
              <a:t>       ◦  type: 'file'</a:t>
            </a:r>
          </a:p>
          <a:p>
            <a:pPr>
              <a:spcBef>
                <a:spcPts val="400"/>
              </a:spcBef>
            </a:pPr>
            <a:r>
              <a:rPr sz="1000">
                <a:solidFill>
                  <a:srgbClr val="222244"/>
                </a:solidFill>
                <a:latin typeface="Calibri"/>
              </a:rPr>
              <a:t>       ◦  mimeType: str</a:t>
            </a:r>
          </a:p>
          <a:p>
            <a:pPr>
              <a:spcBef>
                <a:spcPts val="400"/>
              </a:spcBef>
            </a:pPr>
            <a:r>
              <a:rPr sz="1000">
                <a:solidFill>
                  <a:srgbClr val="222244"/>
                </a:solidFill>
                <a:latin typeface="Calibri"/>
              </a:rPr>
              <a:t>       ◦  bytes: base64  OR  uri: str</a:t>
            </a:r>
          </a:p>
          <a:p>
            <a:pPr>
              <a:spcBef>
                <a:spcPts val="400"/>
              </a:spcBef>
            </a:pPr>
            <a:r>
              <a:rPr sz="1100">
                <a:solidFill>
                  <a:srgbClr val="222244"/>
                </a:solidFill>
                <a:latin typeface="Calibri"/>
              </a:rPr>
              <a:t>  •  DataPart  — structured JSON</a:t>
            </a:r>
          </a:p>
          <a:p>
            <a:pPr>
              <a:spcBef>
                <a:spcPts val="400"/>
              </a:spcBef>
            </a:pPr>
            <a:r>
              <a:rPr sz="1000">
                <a:solidFill>
                  <a:srgbClr val="222244"/>
                </a:solidFill>
                <a:latin typeface="Calibri"/>
              </a:rPr>
              <a:t>       ◦  type: 'data'</a:t>
            </a:r>
          </a:p>
          <a:p>
            <a:pPr>
              <a:spcBef>
                <a:spcPts val="400"/>
              </a:spcBef>
            </a:pPr>
            <a:r>
              <a:rPr sz="1000">
                <a:solidFill>
                  <a:srgbClr val="222244"/>
                </a:solidFill>
                <a:latin typeface="Calibri"/>
              </a:rPr>
              <a:t>       ◦  data: dict</a:t>
            </a:r>
          </a:p>
        </p:txBody>
      </p:sp>
      <p:sp>
        <p:nvSpPr>
          <p:cNvPr id="18" name="Rectangle 17"/>
          <p:cNvSpPr/>
          <p:nvPr/>
        </p:nvSpPr>
        <p:spPr>
          <a:xfrm>
            <a:off x="6355080" y="4864608"/>
            <a:ext cx="5532120" cy="182880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55080" y="4864608"/>
            <a:ext cx="553212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46520" y="4901184"/>
            <a:ext cx="5349240" cy="274320"/>
          </a:xfrm>
          <a:prstGeom prst="rect">
            <a:avLst/>
          </a:prstGeom>
          <a:noFill/>
        </p:spPr>
        <p:txBody>
          <a:bodyPr wrap="square">
            <a:spAutoFit/>
          </a:bodyPr>
          <a:lstStyle/>
          <a:p>
            <a:pPr algn="l"/>
            <a:r>
              <a:rPr sz="1200" b="1">
                <a:solidFill>
                  <a:srgbClr val="FFFFFF"/>
                </a:solidFill>
                <a:latin typeface="Calibri"/>
              </a:rPr>
              <a:t>Artifact Fields</a:t>
            </a:r>
          </a:p>
        </p:txBody>
      </p:sp>
      <p:sp>
        <p:nvSpPr>
          <p:cNvPr id="21" name="TextBox 20"/>
          <p:cNvSpPr txBox="1"/>
          <p:nvPr/>
        </p:nvSpPr>
        <p:spPr>
          <a:xfrm>
            <a:off x="6464808" y="5248656"/>
            <a:ext cx="5312664" cy="1691640"/>
          </a:xfrm>
          <a:prstGeom prst="rect">
            <a:avLst/>
          </a:prstGeom>
          <a:noFill/>
        </p:spPr>
        <p:txBody>
          <a:bodyPr wrap="square">
            <a:spAutoFit/>
          </a:bodyPr>
          <a:lstStyle/>
          <a:p>
            <a:pPr>
              <a:spcBef>
                <a:spcPts val="400"/>
              </a:spcBef>
            </a:pPr>
            <a:r>
              <a:rPr sz="1100">
                <a:solidFill>
                  <a:srgbClr val="222244"/>
                </a:solidFill>
                <a:latin typeface="Calibri"/>
              </a:rPr>
              <a:t>  •  name        — artifact identifier</a:t>
            </a:r>
          </a:p>
          <a:p>
            <a:pPr>
              <a:spcBef>
                <a:spcPts val="400"/>
              </a:spcBef>
            </a:pPr>
            <a:r>
              <a:rPr sz="1100">
                <a:solidFill>
                  <a:srgbClr val="222244"/>
                </a:solidFill>
                <a:latin typeface="Calibri"/>
              </a:rPr>
              <a:t>  •  description — human-readable description</a:t>
            </a:r>
          </a:p>
          <a:p>
            <a:pPr>
              <a:spcBef>
                <a:spcPts val="400"/>
              </a:spcBef>
            </a:pPr>
            <a:r>
              <a:rPr sz="1100">
                <a:solidFill>
                  <a:srgbClr val="222244"/>
                </a:solidFill>
                <a:latin typeface="Calibri"/>
              </a:rPr>
              <a:t>  •  parts[]     — content (same Part types)</a:t>
            </a:r>
          </a:p>
          <a:p>
            <a:pPr>
              <a:spcBef>
                <a:spcPts val="400"/>
              </a:spcBef>
            </a:pPr>
            <a:r>
              <a:rPr sz="1100">
                <a:solidFill>
                  <a:srgbClr val="222244"/>
                </a:solidFill>
                <a:latin typeface="Calibri"/>
              </a:rPr>
              <a:t>  •  index       — chunk sequence number</a:t>
            </a:r>
          </a:p>
          <a:p>
            <a:pPr>
              <a:spcBef>
                <a:spcPts val="400"/>
              </a:spcBef>
            </a:pPr>
            <a:r>
              <a:rPr sz="1100">
                <a:solidFill>
                  <a:srgbClr val="222244"/>
                </a:solidFill>
                <a:latin typeface="Calibri"/>
              </a:rPr>
              <a:t>  •  lastChunk   — true when stream complete</a:t>
            </a:r>
          </a:p>
          <a:p>
            <a:pPr>
              <a:spcBef>
                <a:spcPts val="400"/>
              </a:spcBef>
            </a:pPr>
            <a:r>
              <a:rPr sz="1100">
                <a:solidFill>
                  <a:srgbClr val="222244"/>
                </a:solidFill>
                <a:latin typeface="Calibri"/>
              </a:rPr>
              <a:t>  •  append      — true if chunk extends prior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3: Tasks — Python A2A Client</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Using the google-a2a-sdk to send tasks</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6400800" cy="539496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15568"/>
            <a:ext cx="640080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43000"/>
            <a:ext cx="6217920" cy="201168"/>
          </a:xfrm>
          <a:prstGeom prst="rect">
            <a:avLst/>
          </a:prstGeom>
          <a:noFill/>
        </p:spPr>
        <p:txBody>
          <a:bodyPr wrap="square">
            <a:spAutoFit/>
          </a:bodyPr>
          <a:lstStyle/>
          <a:p>
            <a:pPr algn="l"/>
            <a:r>
              <a:rPr sz="1000" b="0">
                <a:solidFill>
                  <a:srgbClr val="F0A500"/>
                </a:solidFill>
                <a:latin typeface="Calibri"/>
              </a:rPr>
              <a:t>tasks/send — Python SDK</a:t>
            </a:r>
          </a:p>
        </p:txBody>
      </p:sp>
      <p:sp>
        <p:nvSpPr>
          <p:cNvPr id="9" name="TextBox 8"/>
          <p:cNvSpPr txBox="1"/>
          <p:nvPr/>
        </p:nvSpPr>
        <p:spPr>
          <a:xfrm>
            <a:off x="365760" y="1380744"/>
            <a:ext cx="6217920" cy="5084064"/>
          </a:xfrm>
          <a:prstGeom prst="rect">
            <a:avLst/>
          </a:prstGeom>
          <a:noFill/>
        </p:spPr>
        <p:txBody>
          <a:bodyPr wrap="none">
            <a:spAutoFit/>
          </a:bodyPr>
          <a:lstStyle/>
          <a:p>
            <a:r>
              <a:rPr sz="950">
                <a:solidFill>
                  <a:srgbClr val="CCCCCC"/>
                </a:solidFill>
                <a:latin typeface="Courier New"/>
              </a:rPr>
              <a:t>import uuid</a:t>
            </a:r>
          </a:p>
          <a:p>
            <a:r>
              <a:rPr sz="950">
                <a:solidFill>
                  <a:srgbClr val="CCCCCC"/>
                </a:solidFill>
                <a:latin typeface="Courier New"/>
              </a:rPr>
              <a:t>from a2a.client import A2AClient</a:t>
            </a:r>
          </a:p>
          <a:p>
            <a:r>
              <a:rPr sz="950">
                <a:solidFill>
                  <a:srgbClr val="CCCCCC"/>
                </a:solidFill>
                <a:latin typeface="Courier New"/>
              </a:rPr>
              <a:t>from a2a.types  import (</a:t>
            </a:r>
          </a:p>
          <a:p>
            <a:r>
              <a:rPr sz="950">
                <a:solidFill>
                  <a:srgbClr val="CCCCCC"/>
                </a:solidFill>
                <a:latin typeface="Courier New"/>
              </a:rPr>
              <a:t>    SendTaskRequest, TaskSendParams,</a:t>
            </a:r>
          </a:p>
          <a:p>
            <a:r>
              <a:rPr sz="950">
                <a:solidFill>
                  <a:srgbClr val="CCCCCC"/>
                </a:solidFill>
                <a:latin typeface="Courier New"/>
              </a:rPr>
              <a:t>    Message, TextPart</a:t>
            </a:r>
          </a:p>
          <a:p>
            <a:r>
              <a:rPr sz="950">
                <a:solidFill>
                  <a:srgbClr val="CCCCCC"/>
                </a:solidFill>
                <a:latin typeface="Courier New"/>
              </a:rPr>
              <a:t>)</a:t>
            </a:r>
          </a:p>
          <a:p>
            <a:endParaRPr sz="950">
              <a:solidFill>
                <a:srgbClr val="CCCCCC"/>
              </a:solidFill>
              <a:latin typeface="Courier New"/>
            </a:endParaRPr>
          </a:p>
          <a:p>
            <a:r>
              <a:rPr sz="950">
                <a:solidFill>
                  <a:srgbClr val="CCCCCC"/>
                </a:solidFill>
                <a:latin typeface="Courier New"/>
              </a:rPr>
              <a:t># Initialize client (reads Agent Card automatically)</a:t>
            </a:r>
          </a:p>
          <a:p>
            <a:r>
              <a:rPr sz="950">
                <a:solidFill>
                  <a:srgbClr val="CCCCCC"/>
                </a:solidFill>
                <a:latin typeface="Courier New"/>
              </a:rPr>
              <a:t>client = A2AClient(url="http://localhost:8001/")</a:t>
            </a:r>
          </a:p>
          <a:p>
            <a:endParaRPr sz="950">
              <a:solidFill>
                <a:srgbClr val="CCCCCC"/>
              </a:solidFill>
              <a:latin typeface="Courier New"/>
            </a:endParaRPr>
          </a:p>
          <a:p>
            <a:r>
              <a:rPr sz="950">
                <a:solidFill>
                  <a:srgbClr val="CCCCCC"/>
                </a:solidFill>
                <a:latin typeface="Courier New"/>
              </a:rPr>
              <a:t># Build and send a task</a:t>
            </a:r>
          </a:p>
          <a:p>
            <a:r>
              <a:rPr sz="950">
                <a:solidFill>
                  <a:srgbClr val="CCCCCC"/>
                </a:solidFill>
                <a:latin typeface="Courier New"/>
              </a:rPr>
              <a:t>task_id = str(uuid.uuid4())</a:t>
            </a:r>
          </a:p>
          <a:p>
            <a:r>
              <a:rPr sz="950">
                <a:solidFill>
                  <a:srgbClr val="CCCCCC"/>
                </a:solidFill>
                <a:latin typeface="Courier New"/>
              </a:rPr>
              <a:t>request = SendTaskRequest(</a:t>
            </a:r>
          </a:p>
          <a:p>
            <a:r>
              <a:rPr sz="950">
                <a:solidFill>
                  <a:srgbClr val="CCCCCC"/>
                </a:solidFill>
                <a:latin typeface="Courier New"/>
              </a:rPr>
              <a:t>    id=task_id,</a:t>
            </a:r>
          </a:p>
          <a:p>
            <a:r>
              <a:rPr sz="950">
                <a:solidFill>
                  <a:srgbClr val="CCCCCC"/>
                </a:solidFill>
                <a:latin typeface="Courier New"/>
              </a:rPr>
              <a:t>    params=TaskSendParams(</a:t>
            </a:r>
          </a:p>
          <a:p>
            <a:r>
              <a:rPr sz="950">
                <a:solidFill>
                  <a:srgbClr val="CCCCCC"/>
                </a:solidFill>
                <a:latin typeface="Courier New"/>
              </a:rPr>
              <a:t>        id=task_id,</a:t>
            </a:r>
          </a:p>
          <a:p>
            <a:r>
              <a:rPr sz="950">
                <a:solidFill>
                  <a:srgbClr val="CCCCCC"/>
                </a:solidFill>
                <a:latin typeface="Courier New"/>
              </a:rPr>
              <a:t>        sessionId="session-001",</a:t>
            </a:r>
          </a:p>
          <a:p>
            <a:r>
              <a:rPr sz="950">
                <a:solidFill>
                  <a:srgbClr val="CCCCCC"/>
                </a:solidFill>
                <a:latin typeface="Courier New"/>
              </a:rPr>
              <a:t>        message=Message(</a:t>
            </a:r>
          </a:p>
          <a:p>
            <a:r>
              <a:rPr sz="950">
                <a:solidFill>
                  <a:srgbClr val="CCCCCC"/>
                </a:solidFill>
                <a:latin typeface="Courier New"/>
              </a:rPr>
              <a:t>            role="user",</a:t>
            </a:r>
          </a:p>
          <a:p>
            <a:r>
              <a:rPr sz="950">
                <a:solidFill>
                  <a:srgbClr val="CCCCCC"/>
                </a:solidFill>
                <a:latin typeface="Courier New"/>
              </a:rPr>
              <a:t>            parts=[TextPart(type="text",</a:t>
            </a:r>
          </a:p>
          <a:p>
            <a:r>
              <a:rPr sz="950">
                <a:solidFill>
                  <a:srgbClr val="CCCCCC"/>
                </a:solidFill>
                <a:latin typeface="Courier New"/>
              </a:rPr>
              <a:t>                            text="Find flights NYC→Paris, Dec 15")]</a:t>
            </a:r>
          </a:p>
          <a:p>
            <a:r>
              <a:rPr sz="950">
                <a:solidFill>
                  <a:srgbClr val="CCCCCC"/>
                </a:solidFill>
                <a:latin typeface="Courier New"/>
              </a:rPr>
              <a:t>        )</a:t>
            </a:r>
          </a:p>
          <a:p>
            <a:r>
              <a:rPr sz="950">
                <a:solidFill>
                  <a:srgbClr val="CCCCCC"/>
                </a:solidFill>
                <a:latin typeface="Courier New"/>
              </a:rPr>
              <a:t>    )</a:t>
            </a:r>
          </a:p>
          <a:p>
            <a:r>
              <a:rPr sz="950">
                <a:solidFill>
                  <a:srgbClr val="CCCCCC"/>
                </a:solidFill>
                <a:latin typeface="Courier New"/>
              </a:rPr>
              <a:t>)</a:t>
            </a:r>
          </a:p>
          <a:p>
            <a:endParaRPr sz="950">
              <a:solidFill>
                <a:srgbClr val="CCCCCC"/>
              </a:solidFill>
              <a:latin typeface="Courier New"/>
            </a:endParaRPr>
          </a:p>
          <a:p>
            <a:r>
              <a:rPr sz="950">
                <a:solidFill>
                  <a:srgbClr val="CCCCCC"/>
                </a:solidFill>
                <a:latin typeface="Courier New"/>
              </a:rPr>
              <a:t>response = await client.send_task(request)</a:t>
            </a:r>
          </a:p>
          <a:p>
            <a:endParaRPr sz="950">
              <a:solidFill>
                <a:srgbClr val="CCCCCC"/>
              </a:solidFill>
              <a:latin typeface="Courier New"/>
            </a:endParaRPr>
          </a:p>
          <a:p>
            <a:r>
              <a:rPr sz="950">
                <a:solidFill>
                  <a:srgbClr val="CCCCCC"/>
                </a:solidFill>
                <a:latin typeface="Courier New"/>
              </a:rPr>
              <a:t># Access results</a:t>
            </a:r>
          </a:p>
          <a:p>
            <a:r>
              <a:rPr sz="950">
                <a:solidFill>
                  <a:srgbClr val="CCCCCC"/>
                </a:solidFill>
                <a:latin typeface="Courier New"/>
              </a:rPr>
              <a:t>task   = response.result</a:t>
            </a:r>
          </a:p>
          <a:p>
            <a:r>
              <a:rPr sz="950">
                <a:solidFill>
                  <a:srgbClr val="CCCCCC"/>
                </a:solidFill>
                <a:latin typeface="Courier New"/>
              </a:rPr>
              <a:t>status = task.status.state        # "completed"</a:t>
            </a:r>
          </a:p>
          <a:p>
            <a:r>
              <a:rPr sz="950">
                <a:solidFill>
                  <a:srgbClr val="CCCCCC"/>
                </a:solidFill>
                <a:latin typeface="Courier New"/>
              </a:rPr>
              <a:t>arts   = task.artifacts           # list of Artifact</a:t>
            </a:r>
          </a:p>
          <a:p>
            <a:r>
              <a:rPr sz="950">
                <a:solidFill>
                  <a:srgbClr val="CCCCCC"/>
                </a:solidFill>
                <a:latin typeface="Courier New"/>
              </a:rPr>
              <a:t>text   = arts[0].parts[0].text    # response text</a:t>
            </a:r>
          </a:p>
          <a:p>
            <a:r>
              <a:rPr sz="950">
                <a:solidFill>
                  <a:srgbClr val="CCCCCC"/>
                </a:solidFill>
                <a:latin typeface="Courier New"/>
              </a:rPr>
              <a:t>data   = arts[0].parts[0].data    # structured dict</a:t>
            </a:r>
          </a:p>
        </p:txBody>
      </p:sp>
      <p:sp>
        <p:nvSpPr>
          <p:cNvPr id="10" name="Rectangle 9"/>
          <p:cNvSpPr/>
          <p:nvPr/>
        </p:nvSpPr>
        <p:spPr>
          <a:xfrm>
            <a:off x="6903720" y="1115568"/>
            <a:ext cx="4983480" cy="292608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903720" y="1115568"/>
            <a:ext cx="498348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95159" y="1152144"/>
            <a:ext cx="4800600" cy="274320"/>
          </a:xfrm>
          <a:prstGeom prst="rect">
            <a:avLst/>
          </a:prstGeom>
          <a:noFill/>
        </p:spPr>
        <p:txBody>
          <a:bodyPr wrap="square">
            <a:spAutoFit/>
          </a:bodyPr>
          <a:lstStyle/>
          <a:p>
            <a:pPr algn="l"/>
            <a:r>
              <a:rPr sz="1200" b="1">
                <a:solidFill>
                  <a:srgbClr val="FFFFFF"/>
                </a:solidFill>
                <a:latin typeface="Calibri"/>
              </a:rPr>
              <a:t>TaskSendParams Fields</a:t>
            </a:r>
          </a:p>
        </p:txBody>
      </p:sp>
      <p:sp>
        <p:nvSpPr>
          <p:cNvPr id="13" name="TextBox 12"/>
          <p:cNvSpPr txBox="1"/>
          <p:nvPr/>
        </p:nvSpPr>
        <p:spPr>
          <a:xfrm>
            <a:off x="7013448" y="1499616"/>
            <a:ext cx="4764024" cy="2468880"/>
          </a:xfrm>
          <a:prstGeom prst="rect">
            <a:avLst/>
          </a:prstGeom>
          <a:noFill/>
        </p:spPr>
        <p:txBody>
          <a:bodyPr wrap="square">
            <a:spAutoFit/>
          </a:bodyPr>
          <a:lstStyle/>
          <a:p>
            <a:pPr>
              <a:spcBef>
                <a:spcPts val="400"/>
              </a:spcBef>
            </a:pPr>
            <a:r>
              <a:rPr sz="1100">
                <a:solidFill>
                  <a:srgbClr val="222244"/>
                </a:solidFill>
                <a:latin typeface="Calibri"/>
              </a:rPr>
              <a:t>  •  id        — client-generated UUID (required)</a:t>
            </a:r>
          </a:p>
          <a:p>
            <a:pPr>
              <a:spcBef>
                <a:spcPts val="400"/>
              </a:spcBef>
            </a:pPr>
            <a:r>
              <a:rPr sz="1100">
                <a:solidFill>
                  <a:srgbClr val="222244"/>
                </a:solidFill>
                <a:latin typeface="Calibri"/>
              </a:rPr>
              <a:t>  •  message   — the Message object (required)</a:t>
            </a:r>
          </a:p>
          <a:p>
            <a:pPr>
              <a:spcBef>
                <a:spcPts val="400"/>
              </a:spcBef>
            </a:pPr>
            <a:r>
              <a:rPr sz="1100">
                <a:solidFill>
                  <a:srgbClr val="222244"/>
                </a:solidFill>
                <a:latin typeface="Calibri"/>
              </a:rPr>
              <a:t>  •  sessionId — optional session grouping</a:t>
            </a:r>
          </a:p>
          <a:p>
            <a:pPr>
              <a:spcBef>
                <a:spcPts val="400"/>
              </a:spcBef>
            </a:pPr>
            <a:r>
              <a:rPr sz="1100">
                <a:solidFill>
                  <a:srgbClr val="222244"/>
                </a:solidFill>
                <a:latin typeface="Calibri"/>
              </a:rPr>
              <a:t>  •  historyLength — how many history turns to return</a:t>
            </a:r>
          </a:p>
          <a:p>
            <a:pPr>
              <a:spcBef>
                <a:spcPts val="400"/>
              </a:spcBef>
            </a:pPr>
            <a:r>
              <a:rPr sz="1100">
                <a:solidFill>
                  <a:srgbClr val="222244"/>
                </a:solidFill>
                <a:latin typeface="Calibri"/>
              </a:rPr>
              <a:t>  •  metadata  — arbitrary client metadata dict</a:t>
            </a:r>
          </a:p>
          <a:p>
            <a:pPr>
              <a:spcBef>
                <a:spcPts val="400"/>
              </a:spcBef>
            </a:pPr>
            <a:r>
              <a:rPr sz="1100">
                <a:solidFill>
                  <a:srgbClr val="222244"/>
                </a:solidFill>
                <a:latin typeface="Calibri"/>
              </a:rPr>
              <a:t>  •  pushNotification — webhook config (Section 8)</a:t>
            </a:r>
          </a:p>
        </p:txBody>
      </p:sp>
      <p:sp>
        <p:nvSpPr>
          <p:cNvPr id="14" name="Rectangle 13"/>
          <p:cNvSpPr/>
          <p:nvPr/>
        </p:nvSpPr>
        <p:spPr>
          <a:xfrm>
            <a:off x="6903720" y="4133087"/>
            <a:ext cx="4983480" cy="251460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903720" y="4133087"/>
            <a:ext cx="498348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95159" y="4169663"/>
            <a:ext cx="4800600" cy="274320"/>
          </a:xfrm>
          <a:prstGeom prst="rect">
            <a:avLst/>
          </a:prstGeom>
          <a:noFill/>
        </p:spPr>
        <p:txBody>
          <a:bodyPr wrap="square">
            <a:spAutoFit/>
          </a:bodyPr>
          <a:lstStyle/>
          <a:p>
            <a:pPr algn="l"/>
            <a:r>
              <a:rPr sz="1200" b="1">
                <a:solidFill>
                  <a:srgbClr val="FFFFFF"/>
                </a:solidFill>
                <a:latin typeface="Calibri"/>
              </a:rPr>
              <a:t>Client Configuration</a:t>
            </a:r>
          </a:p>
        </p:txBody>
      </p:sp>
      <p:sp>
        <p:nvSpPr>
          <p:cNvPr id="17" name="TextBox 16"/>
          <p:cNvSpPr txBox="1"/>
          <p:nvPr/>
        </p:nvSpPr>
        <p:spPr>
          <a:xfrm>
            <a:off x="7013448" y="4517136"/>
            <a:ext cx="4764024" cy="2057400"/>
          </a:xfrm>
          <a:prstGeom prst="rect">
            <a:avLst/>
          </a:prstGeom>
          <a:noFill/>
        </p:spPr>
        <p:txBody>
          <a:bodyPr wrap="square">
            <a:spAutoFit/>
          </a:bodyPr>
          <a:lstStyle/>
          <a:p>
            <a:pPr>
              <a:spcBef>
                <a:spcPts val="400"/>
              </a:spcBef>
            </a:pPr>
            <a:r>
              <a:rPr sz="1100">
                <a:solidFill>
                  <a:srgbClr val="222244"/>
                </a:solidFill>
                <a:latin typeface="Calibri"/>
              </a:rPr>
              <a:t>  •  url      — agent base URL</a:t>
            </a:r>
          </a:p>
          <a:p>
            <a:pPr>
              <a:spcBef>
                <a:spcPts val="400"/>
              </a:spcBef>
            </a:pPr>
            <a:r>
              <a:rPr sz="1100">
                <a:solidFill>
                  <a:srgbClr val="222244"/>
                </a:solidFill>
                <a:latin typeface="Calibri"/>
              </a:rPr>
              <a:t>  •  headers  — default request headers</a:t>
            </a:r>
          </a:p>
          <a:p>
            <a:pPr>
              <a:spcBef>
                <a:spcPts val="400"/>
              </a:spcBef>
            </a:pPr>
            <a:r>
              <a:rPr sz="1100">
                <a:solidFill>
                  <a:srgbClr val="222244"/>
                </a:solidFill>
                <a:latin typeface="Calibri"/>
              </a:rPr>
              <a:t>  •  timeout  — request timeout seconds</a:t>
            </a:r>
          </a:p>
          <a:p>
            <a:pPr>
              <a:spcBef>
                <a:spcPts val="400"/>
              </a:spcBef>
            </a:pPr>
            <a:r>
              <a:rPr sz="1100">
                <a:solidFill>
                  <a:srgbClr val="222244"/>
                </a:solidFill>
                <a:latin typeface="Calibri"/>
              </a:rPr>
              <a:t>  •  Reads Agent Card to validate capabilities</a:t>
            </a:r>
          </a:p>
          <a:p>
            <a:pPr>
              <a:spcBef>
                <a:spcPts val="400"/>
              </a:spcBef>
            </a:pPr>
            <a:r>
              <a:rPr sz="1100">
                <a:solidFill>
                  <a:srgbClr val="222244"/>
                </a:solidFill>
                <a:latin typeface="Calibri"/>
              </a:rPr>
              <a:t>  •  Handles JSON-RPC envelope automatically</a:t>
            </a:r>
          </a:p>
          <a:p>
            <a:pPr>
              <a:spcBef>
                <a:spcPts val="400"/>
              </a:spcBef>
            </a:pPr>
            <a:r>
              <a:rPr sz="1100">
                <a:solidFill>
                  <a:srgbClr val="222244"/>
                </a:solidFill>
                <a:latin typeface="Calibri"/>
              </a:rPr>
              <a:t>  •  Raises A2AClientHTTPError on 4xx/5xx</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4: Task Lifecycle — States and Transitions</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From submitted to completed/failed/canceled/input-required</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14400" y="2011680"/>
            <a:ext cx="2011680" cy="731520"/>
          </a:xfrm>
          <a:prstGeom prst="rect">
            <a:avLst/>
          </a:prstGeom>
          <a:solidFill>
            <a:srgbClr val="4A7AB5"/>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084832"/>
            <a:ext cx="2011680" cy="347472"/>
          </a:xfrm>
          <a:prstGeom prst="rect">
            <a:avLst/>
          </a:prstGeom>
          <a:noFill/>
        </p:spPr>
        <p:txBody>
          <a:bodyPr wrap="square">
            <a:spAutoFit/>
          </a:bodyPr>
          <a:lstStyle/>
          <a:p>
            <a:pPr algn="ctr"/>
            <a:r>
              <a:rPr sz="1300" b="1">
                <a:solidFill>
                  <a:srgbClr val="FFFFFF"/>
                </a:solidFill>
                <a:latin typeface="Calibri"/>
              </a:rPr>
              <a:t>submitted</a:t>
            </a:r>
          </a:p>
        </p:txBody>
      </p:sp>
      <p:sp>
        <p:nvSpPr>
          <p:cNvPr id="8" name="TextBox 7"/>
          <p:cNvSpPr txBox="1"/>
          <p:nvPr/>
        </p:nvSpPr>
        <p:spPr>
          <a:xfrm>
            <a:off x="914400" y="2423160"/>
            <a:ext cx="2011680" cy="365760"/>
          </a:xfrm>
          <a:prstGeom prst="rect">
            <a:avLst/>
          </a:prstGeom>
          <a:noFill/>
        </p:spPr>
        <p:txBody>
          <a:bodyPr wrap="square">
            <a:spAutoFit/>
          </a:bodyPr>
          <a:lstStyle/>
          <a:p>
            <a:pPr algn="ctr"/>
            <a:r>
              <a:rPr sz="900" b="0">
                <a:solidFill>
                  <a:srgbClr val="FFFFFF"/>
                </a:solidFill>
                <a:latin typeface="Calibri"/>
              </a:rPr>
              <a:t>Initial state
right after tasks/send</a:t>
            </a:r>
          </a:p>
        </p:txBody>
      </p:sp>
      <p:sp>
        <p:nvSpPr>
          <p:cNvPr id="9" name="Rectangle 8"/>
          <p:cNvSpPr/>
          <p:nvPr/>
        </p:nvSpPr>
        <p:spPr>
          <a:xfrm>
            <a:off x="3840480" y="2011680"/>
            <a:ext cx="2011680" cy="731520"/>
          </a:xfrm>
          <a:prstGeom prst="rect">
            <a:avLst/>
          </a:prstGeom>
          <a:solidFill>
            <a:srgbClr val="17806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40480" y="2084832"/>
            <a:ext cx="2011680" cy="347472"/>
          </a:xfrm>
          <a:prstGeom prst="rect">
            <a:avLst/>
          </a:prstGeom>
          <a:noFill/>
        </p:spPr>
        <p:txBody>
          <a:bodyPr wrap="square">
            <a:spAutoFit/>
          </a:bodyPr>
          <a:lstStyle/>
          <a:p>
            <a:pPr algn="ctr"/>
            <a:r>
              <a:rPr sz="1300" b="1">
                <a:solidFill>
                  <a:srgbClr val="FFFFFF"/>
                </a:solidFill>
                <a:latin typeface="Calibri"/>
              </a:rPr>
              <a:t>working</a:t>
            </a:r>
          </a:p>
        </p:txBody>
      </p:sp>
      <p:sp>
        <p:nvSpPr>
          <p:cNvPr id="11" name="TextBox 10"/>
          <p:cNvSpPr txBox="1"/>
          <p:nvPr/>
        </p:nvSpPr>
        <p:spPr>
          <a:xfrm>
            <a:off x="3840480" y="2423160"/>
            <a:ext cx="2011680" cy="365760"/>
          </a:xfrm>
          <a:prstGeom prst="rect">
            <a:avLst/>
          </a:prstGeom>
          <a:noFill/>
        </p:spPr>
        <p:txBody>
          <a:bodyPr wrap="square">
            <a:spAutoFit/>
          </a:bodyPr>
          <a:lstStyle/>
          <a:p>
            <a:pPr algn="ctr"/>
            <a:r>
              <a:rPr sz="900" b="0">
                <a:solidFill>
                  <a:srgbClr val="FFFFFF"/>
                </a:solidFill>
                <a:latin typeface="Calibri"/>
              </a:rPr>
              <a:t>Agent is
processing</a:t>
            </a:r>
          </a:p>
        </p:txBody>
      </p:sp>
      <p:sp>
        <p:nvSpPr>
          <p:cNvPr id="12" name="Rectangle 11"/>
          <p:cNvSpPr/>
          <p:nvPr/>
        </p:nvSpPr>
        <p:spPr>
          <a:xfrm>
            <a:off x="6766560" y="2011680"/>
            <a:ext cx="2011680" cy="731520"/>
          </a:xfrm>
          <a:prstGeom prst="rect">
            <a:avLst/>
          </a:prstGeom>
          <a:solidFill>
            <a:srgbClr val="28A745"/>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66560" y="2084832"/>
            <a:ext cx="2011680" cy="347472"/>
          </a:xfrm>
          <a:prstGeom prst="rect">
            <a:avLst/>
          </a:prstGeom>
          <a:noFill/>
        </p:spPr>
        <p:txBody>
          <a:bodyPr wrap="square">
            <a:spAutoFit/>
          </a:bodyPr>
          <a:lstStyle/>
          <a:p>
            <a:pPr algn="ctr"/>
            <a:r>
              <a:rPr sz="1300" b="1">
                <a:solidFill>
                  <a:srgbClr val="FFFFFF"/>
                </a:solidFill>
                <a:latin typeface="Calibri"/>
              </a:rPr>
              <a:t>completed</a:t>
            </a:r>
          </a:p>
        </p:txBody>
      </p:sp>
      <p:sp>
        <p:nvSpPr>
          <p:cNvPr id="14" name="TextBox 13"/>
          <p:cNvSpPr txBox="1"/>
          <p:nvPr/>
        </p:nvSpPr>
        <p:spPr>
          <a:xfrm>
            <a:off x="6766560" y="2423160"/>
            <a:ext cx="2011680" cy="365760"/>
          </a:xfrm>
          <a:prstGeom prst="rect">
            <a:avLst/>
          </a:prstGeom>
          <a:noFill/>
        </p:spPr>
        <p:txBody>
          <a:bodyPr wrap="square">
            <a:spAutoFit/>
          </a:bodyPr>
          <a:lstStyle/>
          <a:p>
            <a:pPr algn="ctr"/>
            <a:r>
              <a:rPr sz="900" b="0">
                <a:solidFill>
                  <a:srgbClr val="FFFFFF"/>
                </a:solidFill>
                <a:latin typeface="Calibri"/>
              </a:rPr>
              <a:t>Normal
termination</a:t>
            </a:r>
          </a:p>
        </p:txBody>
      </p:sp>
      <p:sp>
        <p:nvSpPr>
          <p:cNvPr id="15" name="Rectangle 14"/>
          <p:cNvSpPr/>
          <p:nvPr/>
        </p:nvSpPr>
        <p:spPr>
          <a:xfrm>
            <a:off x="6766560" y="3474720"/>
            <a:ext cx="2011680" cy="731520"/>
          </a:xfrm>
          <a:prstGeom prst="rect">
            <a:avLst/>
          </a:prstGeom>
          <a:solidFill>
            <a:srgbClr val="DC3545"/>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66560" y="3547872"/>
            <a:ext cx="2011680" cy="347472"/>
          </a:xfrm>
          <a:prstGeom prst="rect">
            <a:avLst/>
          </a:prstGeom>
          <a:noFill/>
        </p:spPr>
        <p:txBody>
          <a:bodyPr wrap="square">
            <a:spAutoFit/>
          </a:bodyPr>
          <a:lstStyle/>
          <a:p>
            <a:pPr algn="ctr"/>
            <a:r>
              <a:rPr sz="1300" b="1">
                <a:solidFill>
                  <a:srgbClr val="FFFFFF"/>
                </a:solidFill>
                <a:latin typeface="Calibri"/>
              </a:rPr>
              <a:t>failed</a:t>
            </a:r>
          </a:p>
        </p:txBody>
      </p:sp>
      <p:sp>
        <p:nvSpPr>
          <p:cNvPr id="17" name="TextBox 16"/>
          <p:cNvSpPr txBox="1"/>
          <p:nvPr/>
        </p:nvSpPr>
        <p:spPr>
          <a:xfrm>
            <a:off x="6766560" y="3886200"/>
            <a:ext cx="2011680" cy="365760"/>
          </a:xfrm>
          <a:prstGeom prst="rect">
            <a:avLst/>
          </a:prstGeom>
          <a:noFill/>
        </p:spPr>
        <p:txBody>
          <a:bodyPr wrap="square">
            <a:spAutoFit/>
          </a:bodyPr>
          <a:lstStyle/>
          <a:p>
            <a:pPr algn="ctr"/>
            <a:r>
              <a:rPr sz="900" b="0">
                <a:solidFill>
                  <a:srgbClr val="FFFFFF"/>
                </a:solidFill>
                <a:latin typeface="Calibri"/>
              </a:rPr>
              <a:t>Error
occurred</a:t>
            </a:r>
          </a:p>
        </p:txBody>
      </p:sp>
      <p:sp>
        <p:nvSpPr>
          <p:cNvPr id="18" name="Rectangle 17"/>
          <p:cNvSpPr/>
          <p:nvPr/>
        </p:nvSpPr>
        <p:spPr>
          <a:xfrm>
            <a:off x="6766560" y="4937760"/>
            <a:ext cx="2011680" cy="731520"/>
          </a:xfrm>
          <a:prstGeom prst="rect">
            <a:avLst/>
          </a:prstGeom>
          <a:solidFill>
            <a:srgbClr val="C66B0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66560" y="5010912"/>
            <a:ext cx="2011680" cy="347472"/>
          </a:xfrm>
          <a:prstGeom prst="rect">
            <a:avLst/>
          </a:prstGeom>
          <a:noFill/>
        </p:spPr>
        <p:txBody>
          <a:bodyPr wrap="square">
            <a:spAutoFit/>
          </a:bodyPr>
          <a:lstStyle/>
          <a:p>
            <a:pPr algn="ctr"/>
            <a:r>
              <a:rPr sz="1300" b="1">
                <a:solidFill>
                  <a:srgbClr val="FFFFFF"/>
                </a:solidFill>
                <a:latin typeface="Calibri"/>
              </a:rPr>
              <a:t>canceled</a:t>
            </a:r>
          </a:p>
        </p:txBody>
      </p:sp>
      <p:sp>
        <p:nvSpPr>
          <p:cNvPr id="20" name="TextBox 19"/>
          <p:cNvSpPr txBox="1"/>
          <p:nvPr/>
        </p:nvSpPr>
        <p:spPr>
          <a:xfrm>
            <a:off x="6766560" y="5349240"/>
            <a:ext cx="2011680" cy="365760"/>
          </a:xfrm>
          <a:prstGeom prst="rect">
            <a:avLst/>
          </a:prstGeom>
          <a:noFill/>
        </p:spPr>
        <p:txBody>
          <a:bodyPr wrap="square">
            <a:spAutoFit/>
          </a:bodyPr>
          <a:lstStyle/>
          <a:p>
            <a:pPr algn="ctr"/>
            <a:r>
              <a:rPr sz="900" b="0">
                <a:solidFill>
                  <a:srgbClr val="FFFFFF"/>
                </a:solidFill>
                <a:latin typeface="Calibri"/>
              </a:rPr>
              <a:t>Client called
tasks/cancel</a:t>
            </a:r>
          </a:p>
        </p:txBody>
      </p:sp>
      <p:sp>
        <p:nvSpPr>
          <p:cNvPr id="21" name="Rectangle 20"/>
          <p:cNvSpPr/>
          <p:nvPr/>
        </p:nvSpPr>
        <p:spPr>
          <a:xfrm>
            <a:off x="3840480" y="4572000"/>
            <a:ext cx="2011680" cy="731520"/>
          </a:xfrm>
          <a:prstGeom prst="rect">
            <a:avLst/>
          </a:prstGeom>
          <a:solidFill>
            <a:srgbClr val="7B2D8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840480" y="4645152"/>
            <a:ext cx="2011680" cy="347472"/>
          </a:xfrm>
          <a:prstGeom prst="rect">
            <a:avLst/>
          </a:prstGeom>
          <a:noFill/>
        </p:spPr>
        <p:txBody>
          <a:bodyPr wrap="square">
            <a:spAutoFit/>
          </a:bodyPr>
          <a:lstStyle/>
          <a:p>
            <a:pPr algn="ctr"/>
            <a:r>
              <a:rPr sz="1300" b="1">
                <a:solidFill>
                  <a:srgbClr val="FFFFFF"/>
                </a:solidFill>
                <a:latin typeface="Calibri"/>
              </a:rPr>
              <a:t>input-required</a:t>
            </a:r>
          </a:p>
        </p:txBody>
      </p:sp>
      <p:sp>
        <p:nvSpPr>
          <p:cNvPr id="23" name="TextBox 22"/>
          <p:cNvSpPr txBox="1"/>
          <p:nvPr/>
        </p:nvSpPr>
        <p:spPr>
          <a:xfrm>
            <a:off x="3840480" y="4983480"/>
            <a:ext cx="2011680" cy="365760"/>
          </a:xfrm>
          <a:prstGeom prst="rect">
            <a:avLst/>
          </a:prstGeom>
          <a:noFill/>
        </p:spPr>
        <p:txBody>
          <a:bodyPr wrap="square">
            <a:spAutoFit/>
          </a:bodyPr>
          <a:lstStyle/>
          <a:p>
            <a:pPr algn="ctr"/>
            <a:r>
              <a:rPr sz="900" b="0">
                <a:solidFill>
                  <a:srgbClr val="FFFFFF"/>
                </a:solidFill>
                <a:latin typeface="Calibri"/>
              </a:rPr>
              <a:t>Agent needs
more info</a:t>
            </a:r>
          </a:p>
        </p:txBody>
      </p:sp>
      <p:sp>
        <p:nvSpPr>
          <p:cNvPr id="24" name="TextBox 23"/>
          <p:cNvSpPr txBox="1"/>
          <p:nvPr/>
        </p:nvSpPr>
        <p:spPr>
          <a:xfrm>
            <a:off x="2926080" y="2258568"/>
            <a:ext cx="731520" cy="411480"/>
          </a:xfrm>
          <a:prstGeom prst="rect">
            <a:avLst/>
          </a:prstGeom>
          <a:noFill/>
        </p:spPr>
        <p:txBody>
          <a:bodyPr wrap="square">
            <a:spAutoFit/>
          </a:bodyPr>
          <a:lstStyle/>
          <a:p>
            <a:pPr algn="ctr"/>
            <a:r>
              <a:rPr sz="1800" b="1">
                <a:solidFill>
                  <a:srgbClr val="1B3A6B"/>
                </a:solidFill>
                <a:latin typeface="Calibri"/>
              </a:rPr>
              <a:t>→</a:t>
            </a:r>
          </a:p>
        </p:txBody>
      </p:sp>
      <p:sp>
        <p:nvSpPr>
          <p:cNvPr id="25" name="TextBox 24"/>
          <p:cNvSpPr txBox="1"/>
          <p:nvPr/>
        </p:nvSpPr>
        <p:spPr>
          <a:xfrm>
            <a:off x="5852160" y="2258568"/>
            <a:ext cx="731520" cy="411480"/>
          </a:xfrm>
          <a:prstGeom prst="rect">
            <a:avLst/>
          </a:prstGeom>
          <a:noFill/>
        </p:spPr>
        <p:txBody>
          <a:bodyPr wrap="square">
            <a:spAutoFit/>
          </a:bodyPr>
          <a:lstStyle/>
          <a:p>
            <a:pPr algn="ctr"/>
            <a:r>
              <a:rPr sz="1800" b="1">
                <a:solidFill>
                  <a:srgbClr val="1B3A6B"/>
                </a:solidFill>
                <a:latin typeface="Calibri"/>
              </a:rPr>
              <a:t>→</a:t>
            </a:r>
          </a:p>
        </p:txBody>
      </p:sp>
      <p:sp>
        <p:nvSpPr>
          <p:cNvPr id="26" name="TextBox 25"/>
          <p:cNvSpPr txBox="1"/>
          <p:nvPr/>
        </p:nvSpPr>
        <p:spPr>
          <a:xfrm>
            <a:off x="5852160" y="3721608"/>
            <a:ext cx="731520" cy="411480"/>
          </a:xfrm>
          <a:prstGeom prst="rect">
            <a:avLst/>
          </a:prstGeom>
          <a:noFill/>
        </p:spPr>
        <p:txBody>
          <a:bodyPr wrap="square">
            <a:spAutoFit/>
          </a:bodyPr>
          <a:lstStyle/>
          <a:p>
            <a:pPr algn="ctr"/>
            <a:r>
              <a:rPr sz="1800" b="1">
                <a:solidFill>
                  <a:srgbClr val="1B3A6B"/>
                </a:solidFill>
                <a:latin typeface="Calibri"/>
              </a:rPr>
              <a:t>→</a:t>
            </a:r>
          </a:p>
        </p:txBody>
      </p:sp>
      <p:sp>
        <p:nvSpPr>
          <p:cNvPr id="27" name="TextBox 26"/>
          <p:cNvSpPr txBox="1"/>
          <p:nvPr/>
        </p:nvSpPr>
        <p:spPr>
          <a:xfrm>
            <a:off x="5852160" y="5184648"/>
            <a:ext cx="731520" cy="411480"/>
          </a:xfrm>
          <a:prstGeom prst="rect">
            <a:avLst/>
          </a:prstGeom>
          <a:noFill/>
        </p:spPr>
        <p:txBody>
          <a:bodyPr wrap="square">
            <a:spAutoFit/>
          </a:bodyPr>
          <a:lstStyle/>
          <a:p>
            <a:pPr algn="ctr"/>
            <a:r>
              <a:rPr sz="1800" b="1">
                <a:solidFill>
                  <a:srgbClr val="1B3A6B"/>
                </a:solidFill>
                <a:latin typeface="Calibri"/>
              </a:rPr>
              <a:t>→</a:t>
            </a:r>
          </a:p>
        </p:txBody>
      </p:sp>
      <p:sp>
        <p:nvSpPr>
          <p:cNvPr id="28" name="TextBox 27"/>
          <p:cNvSpPr txBox="1"/>
          <p:nvPr/>
        </p:nvSpPr>
        <p:spPr>
          <a:xfrm>
            <a:off x="5074920" y="3611880"/>
            <a:ext cx="731520" cy="411480"/>
          </a:xfrm>
          <a:prstGeom prst="rect">
            <a:avLst/>
          </a:prstGeom>
          <a:noFill/>
        </p:spPr>
        <p:txBody>
          <a:bodyPr wrap="square">
            <a:spAutoFit/>
          </a:bodyPr>
          <a:lstStyle/>
          <a:p>
            <a:pPr algn="ctr"/>
            <a:r>
              <a:rPr sz="1800" b="1">
                <a:solidFill>
                  <a:srgbClr val="1B3A6B"/>
                </a:solidFill>
                <a:latin typeface="Calibri"/>
              </a:rPr>
              <a:t>↓</a:t>
            </a:r>
          </a:p>
        </p:txBody>
      </p:sp>
      <p:sp>
        <p:nvSpPr>
          <p:cNvPr id="29" name="TextBox 28"/>
          <p:cNvSpPr txBox="1"/>
          <p:nvPr/>
        </p:nvSpPr>
        <p:spPr>
          <a:xfrm>
            <a:off x="5074920" y="4343400"/>
            <a:ext cx="731520" cy="411480"/>
          </a:xfrm>
          <a:prstGeom prst="rect">
            <a:avLst/>
          </a:prstGeom>
          <a:noFill/>
        </p:spPr>
        <p:txBody>
          <a:bodyPr wrap="square">
            <a:spAutoFit/>
          </a:bodyPr>
          <a:lstStyle/>
          <a:p>
            <a:pPr algn="ctr"/>
            <a:r>
              <a:rPr sz="1800" b="1">
                <a:solidFill>
                  <a:srgbClr val="1B3A6B"/>
                </a:solidFill>
                <a:latin typeface="Calibri"/>
              </a:rPr>
              <a:t>↑ resume</a:t>
            </a:r>
          </a:p>
        </p:txBody>
      </p:sp>
      <p:sp>
        <p:nvSpPr>
          <p:cNvPr id="30" name="Rectangle 29"/>
          <p:cNvSpPr/>
          <p:nvPr/>
        </p:nvSpPr>
        <p:spPr>
          <a:xfrm>
            <a:off x="274320" y="5596128"/>
            <a:ext cx="11612880" cy="566928"/>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5650992"/>
            <a:ext cx="1645920" cy="384048"/>
          </a:xfrm>
          <a:prstGeom prst="rect">
            <a:avLst/>
          </a:prstGeom>
          <a:noFill/>
        </p:spPr>
        <p:txBody>
          <a:bodyPr wrap="square">
            <a:spAutoFit/>
          </a:bodyPr>
          <a:lstStyle/>
          <a:p>
            <a:pPr algn="l"/>
            <a:r>
              <a:rPr sz="1100" b="1">
                <a:solidFill>
                  <a:srgbClr val="1B3A6B"/>
                </a:solidFill>
                <a:latin typeface="Calibri"/>
              </a:rPr>
              <a:t>Endpoints:</a:t>
            </a:r>
          </a:p>
        </p:txBody>
      </p:sp>
      <p:sp>
        <p:nvSpPr>
          <p:cNvPr id="32" name="Rectangle 31"/>
          <p:cNvSpPr/>
          <p:nvPr/>
        </p:nvSpPr>
        <p:spPr>
          <a:xfrm>
            <a:off x="2103120" y="5650992"/>
            <a:ext cx="2286000" cy="38404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103120" y="5650992"/>
            <a:ext cx="2286000" cy="384048"/>
          </a:xfrm>
          <a:prstGeom prst="rect">
            <a:avLst/>
          </a:prstGeom>
          <a:noFill/>
        </p:spPr>
        <p:txBody>
          <a:bodyPr wrap="square">
            <a:spAutoFit/>
          </a:bodyPr>
          <a:lstStyle/>
          <a:p>
            <a:pPr algn="ctr"/>
            <a:r>
              <a:rPr sz="900" b="0">
                <a:solidFill>
                  <a:srgbClr val="FFFFFF"/>
                </a:solidFill>
                <a:latin typeface="Calibri"/>
              </a:rPr>
              <a:t>tasks/send
Submit new task</a:t>
            </a:r>
          </a:p>
        </p:txBody>
      </p:sp>
      <p:sp>
        <p:nvSpPr>
          <p:cNvPr id="34" name="Rectangle 33"/>
          <p:cNvSpPr/>
          <p:nvPr/>
        </p:nvSpPr>
        <p:spPr>
          <a:xfrm>
            <a:off x="4526279" y="5650992"/>
            <a:ext cx="2286000" cy="38404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26279" y="5650992"/>
            <a:ext cx="2286000" cy="384048"/>
          </a:xfrm>
          <a:prstGeom prst="rect">
            <a:avLst/>
          </a:prstGeom>
          <a:noFill/>
        </p:spPr>
        <p:txBody>
          <a:bodyPr wrap="square">
            <a:spAutoFit/>
          </a:bodyPr>
          <a:lstStyle/>
          <a:p>
            <a:pPr algn="ctr"/>
            <a:r>
              <a:rPr sz="900" b="0">
                <a:solidFill>
                  <a:srgbClr val="FFFFFF"/>
                </a:solidFill>
                <a:latin typeface="Calibri"/>
              </a:rPr>
              <a:t>tasks/get
Poll current status</a:t>
            </a:r>
          </a:p>
        </p:txBody>
      </p:sp>
      <p:sp>
        <p:nvSpPr>
          <p:cNvPr id="36" name="Rectangle 35"/>
          <p:cNvSpPr/>
          <p:nvPr/>
        </p:nvSpPr>
        <p:spPr>
          <a:xfrm>
            <a:off x="6949440" y="5650992"/>
            <a:ext cx="2286000" cy="38404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949440" y="5650992"/>
            <a:ext cx="2286000" cy="384048"/>
          </a:xfrm>
          <a:prstGeom prst="rect">
            <a:avLst/>
          </a:prstGeom>
          <a:noFill/>
        </p:spPr>
        <p:txBody>
          <a:bodyPr wrap="square">
            <a:spAutoFit/>
          </a:bodyPr>
          <a:lstStyle/>
          <a:p>
            <a:pPr algn="ctr"/>
            <a:r>
              <a:rPr sz="900" b="0">
                <a:solidFill>
                  <a:srgbClr val="FFFFFF"/>
                </a:solidFill>
                <a:latin typeface="Calibri"/>
              </a:rPr>
              <a:t>tasks/cancel
Request cancellation</a:t>
            </a:r>
          </a:p>
        </p:txBody>
      </p:sp>
      <p:sp>
        <p:nvSpPr>
          <p:cNvPr id="38" name="Rectangle 37"/>
          <p:cNvSpPr/>
          <p:nvPr/>
        </p:nvSpPr>
        <p:spPr>
          <a:xfrm>
            <a:off x="9372600" y="5650992"/>
            <a:ext cx="2286000" cy="38404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372600" y="5650992"/>
            <a:ext cx="2286000" cy="384048"/>
          </a:xfrm>
          <a:prstGeom prst="rect">
            <a:avLst/>
          </a:prstGeom>
          <a:noFill/>
        </p:spPr>
        <p:txBody>
          <a:bodyPr wrap="square">
            <a:spAutoFit/>
          </a:bodyPr>
          <a:lstStyle/>
          <a:p>
            <a:pPr algn="ctr"/>
            <a:r>
              <a:rPr sz="900" b="0">
                <a:solidFill>
                  <a:srgbClr val="FFFFFF"/>
                </a:solidFill>
                <a:latin typeface="Calibri"/>
              </a:rPr>
              <a:t>tasks/sendSubscribe
Submit + stream updates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4: Task Lifecycle — Polling and State Handling</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Polling with tasks/get and state machine patterns</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6492240" cy="544068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15568"/>
            <a:ext cx="649224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43000"/>
            <a:ext cx="6309359" cy="201168"/>
          </a:xfrm>
          <a:prstGeom prst="rect">
            <a:avLst/>
          </a:prstGeom>
          <a:noFill/>
        </p:spPr>
        <p:txBody>
          <a:bodyPr wrap="square">
            <a:spAutoFit/>
          </a:bodyPr>
          <a:lstStyle/>
          <a:p>
            <a:pPr algn="l"/>
            <a:r>
              <a:rPr sz="1000" b="0">
                <a:solidFill>
                  <a:srgbClr val="F0A500"/>
                </a:solidFill>
                <a:latin typeface="Calibri"/>
              </a:rPr>
              <a:t>Polling Pattern — tasks/get</a:t>
            </a:r>
          </a:p>
        </p:txBody>
      </p:sp>
      <p:sp>
        <p:nvSpPr>
          <p:cNvPr id="9" name="TextBox 8"/>
          <p:cNvSpPr txBox="1"/>
          <p:nvPr/>
        </p:nvSpPr>
        <p:spPr>
          <a:xfrm>
            <a:off x="365760" y="1380744"/>
            <a:ext cx="6309359" cy="5129784"/>
          </a:xfrm>
          <a:prstGeom prst="rect">
            <a:avLst/>
          </a:prstGeom>
          <a:noFill/>
        </p:spPr>
        <p:txBody>
          <a:bodyPr wrap="none">
            <a:spAutoFit/>
          </a:bodyPr>
          <a:lstStyle/>
          <a:p>
            <a:r>
              <a:rPr sz="950" dirty="0">
                <a:solidFill>
                  <a:srgbClr val="CCCCCC"/>
                </a:solidFill>
                <a:latin typeface="Courier New"/>
              </a:rPr>
              <a:t>import </a:t>
            </a:r>
            <a:r>
              <a:rPr sz="950" dirty="0" err="1">
                <a:solidFill>
                  <a:srgbClr val="CCCCCC"/>
                </a:solidFill>
                <a:latin typeface="Courier New"/>
              </a:rPr>
              <a:t>asyncio</a:t>
            </a:r>
            <a:endParaRPr sz="950" dirty="0">
              <a:solidFill>
                <a:srgbClr val="CCCCCC"/>
              </a:solidFill>
              <a:latin typeface="Courier New"/>
            </a:endParaRPr>
          </a:p>
          <a:p>
            <a:r>
              <a:rPr sz="950" dirty="0">
                <a:solidFill>
                  <a:srgbClr val="CCCCCC"/>
                </a:solidFill>
                <a:latin typeface="Courier New"/>
              </a:rPr>
              <a:t>from a2a.client import A2AClient</a:t>
            </a:r>
          </a:p>
          <a:p>
            <a:r>
              <a:rPr sz="950" dirty="0">
                <a:solidFill>
                  <a:srgbClr val="CCCCCC"/>
                </a:solidFill>
                <a:latin typeface="Courier New"/>
              </a:rPr>
              <a:t>from a2a.types  import </a:t>
            </a:r>
            <a:r>
              <a:rPr sz="950" dirty="0" err="1">
                <a:solidFill>
                  <a:srgbClr val="CCCCCC"/>
                </a:solidFill>
                <a:latin typeface="Courier New"/>
              </a:rPr>
              <a:t>GetTaskRequest</a:t>
            </a:r>
            <a:r>
              <a:rPr sz="950" dirty="0">
                <a:solidFill>
                  <a:srgbClr val="CCCCCC"/>
                </a:solidFill>
                <a:latin typeface="Courier New"/>
              </a:rPr>
              <a:t>, </a:t>
            </a:r>
            <a:r>
              <a:rPr sz="950" dirty="0" err="1">
                <a:solidFill>
                  <a:srgbClr val="CCCCCC"/>
                </a:solidFill>
                <a:latin typeface="Courier New"/>
              </a:rPr>
              <a:t>TaskQueryParams</a:t>
            </a:r>
            <a:endParaRPr sz="950" dirty="0">
              <a:solidFill>
                <a:srgbClr val="CCCCCC"/>
              </a:solidFill>
              <a:latin typeface="Courier New"/>
            </a:endParaRPr>
          </a:p>
          <a:p>
            <a:endParaRPr sz="950" dirty="0">
              <a:solidFill>
                <a:srgbClr val="CCCCCC"/>
              </a:solidFill>
              <a:latin typeface="Courier New"/>
            </a:endParaRPr>
          </a:p>
          <a:p>
            <a:r>
              <a:rPr sz="950" dirty="0">
                <a:solidFill>
                  <a:srgbClr val="CCCCCC"/>
                </a:solidFill>
                <a:latin typeface="Courier New"/>
              </a:rPr>
              <a:t>async def </a:t>
            </a:r>
            <a:r>
              <a:rPr sz="950" dirty="0" err="1">
                <a:solidFill>
                  <a:srgbClr val="CCCCCC"/>
                </a:solidFill>
                <a:latin typeface="Courier New"/>
              </a:rPr>
              <a:t>poll_until_done</a:t>
            </a:r>
            <a:r>
              <a:rPr sz="950" dirty="0">
                <a:solidFill>
                  <a:srgbClr val="CCCCCC"/>
                </a:solidFill>
                <a:latin typeface="Courier New"/>
              </a:rPr>
              <a:t>(client: A2AClient, </a:t>
            </a:r>
            <a:r>
              <a:rPr sz="950" dirty="0" err="1">
                <a:solidFill>
                  <a:srgbClr val="CCCCCC"/>
                </a:solidFill>
                <a:latin typeface="Courier New"/>
              </a:rPr>
              <a:t>task_id</a:t>
            </a:r>
            <a:r>
              <a:rPr sz="950" dirty="0">
                <a:solidFill>
                  <a:srgbClr val="CCCCCC"/>
                </a:solidFill>
                <a:latin typeface="Courier New"/>
              </a:rPr>
              <a:t>: str,</a:t>
            </a:r>
          </a:p>
          <a:p>
            <a:r>
              <a:rPr sz="950" dirty="0">
                <a:solidFill>
                  <a:srgbClr val="CCCCCC"/>
                </a:solidFill>
                <a:latin typeface="Courier New"/>
              </a:rPr>
              <a:t>                          </a:t>
            </a:r>
            <a:r>
              <a:rPr sz="950" dirty="0" err="1">
                <a:solidFill>
                  <a:srgbClr val="CCCCCC"/>
                </a:solidFill>
                <a:latin typeface="Courier New"/>
              </a:rPr>
              <a:t>poll_interval</a:t>
            </a:r>
            <a:r>
              <a:rPr sz="950" dirty="0">
                <a:solidFill>
                  <a:srgbClr val="CCCCCC"/>
                </a:solidFill>
                <a:latin typeface="Courier New"/>
              </a:rPr>
              <a:t>: float = 2.0):</a:t>
            </a:r>
          </a:p>
          <a:p>
            <a:r>
              <a:rPr sz="950" dirty="0">
                <a:solidFill>
                  <a:srgbClr val="CCCCCC"/>
                </a:solidFill>
                <a:latin typeface="Courier New"/>
              </a:rPr>
              <a:t>    """Poll tasks/get until task reaches a terminal state."""</a:t>
            </a:r>
          </a:p>
          <a:p>
            <a:r>
              <a:rPr sz="950" dirty="0">
                <a:solidFill>
                  <a:srgbClr val="CCCCCC"/>
                </a:solidFill>
                <a:latin typeface="Courier New"/>
              </a:rPr>
              <a:t>    terminal = {"completed", "failed", "canceled"}</a:t>
            </a:r>
          </a:p>
          <a:p>
            <a:endParaRPr sz="950" dirty="0">
              <a:solidFill>
                <a:srgbClr val="CCCCCC"/>
              </a:solidFill>
              <a:latin typeface="Courier New"/>
            </a:endParaRPr>
          </a:p>
          <a:p>
            <a:r>
              <a:rPr sz="950" dirty="0">
                <a:solidFill>
                  <a:srgbClr val="CCCCCC"/>
                </a:solidFill>
                <a:latin typeface="Courier New"/>
              </a:rPr>
              <a:t>    while True:</a:t>
            </a:r>
          </a:p>
          <a:p>
            <a:r>
              <a:rPr sz="950" dirty="0">
                <a:solidFill>
                  <a:srgbClr val="CCCCCC"/>
                </a:solidFill>
                <a:latin typeface="Courier New"/>
              </a:rPr>
              <a:t>        resp = await </a:t>
            </a:r>
            <a:r>
              <a:rPr sz="950" dirty="0" err="1">
                <a:solidFill>
                  <a:srgbClr val="CCCCCC"/>
                </a:solidFill>
                <a:latin typeface="Courier New"/>
              </a:rPr>
              <a:t>client.get_task</a:t>
            </a:r>
            <a:r>
              <a:rPr sz="950" dirty="0">
                <a:solidFill>
                  <a:srgbClr val="CCCCCC"/>
                </a:solidFill>
                <a:latin typeface="Courier New"/>
              </a:rPr>
              <a:t>(</a:t>
            </a:r>
          </a:p>
          <a:p>
            <a:r>
              <a:rPr sz="950" dirty="0">
                <a:solidFill>
                  <a:srgbClr val="CCCCCC"/>
                </a:solidFill>
                <a:latin typeface="Courier New"/>
              </a:rPr>
              <a:t>            </a:t>
            </a:r>
            <a:r>
              <a:rPr sz="950" dirty="0" err="1">
                <a:solidFill>
                  <a:srgbClr val="CCCCCC"/>
                </a:solidFill>
                <a:latin typeface="Courier New"/>
              </a:rPr>
              <a:t>GetTaskRequest</a:t>
            </a:r>
            <a:r>
              <a:rPr sz="950" dirty="0">
                <a:solidFill>
                  <a:srgbClr val="CCCCCC"/>
                </a:solidFill>
                <a:latin typeface="Courier New"/>
              </a:rPr>
              <a:t>(</a:t>
            </a:r>
          </a:p>
          <a:p>
            <a:r>
              <a:rPr sz="950" dirty="0">
                <a:solidFill>
                  <a:srgbClr val="CCCCCC"/>
                </a:solidFill>
                <a:latin typeface="Courier New"/>
              </a:rPr>
              <a:t>                id=</a:t>
            </a:r>
            <a:r>
              <a:rPr sz="950" dirty="0" err="1">
                <a:solidFill>
                  <a:srgbClr val="CCCCCC"/>
                </a:solidFill>
                <a:latin typeface="Courier New"/>
              </a:rPr>
              <a:t>task_id</a:t>
            </a:r>
            <a:r>
              <a:rPr sz="950" dirty="0">
                <a:solidFill>
                  <a:srgbClr val="CCCCCC"/>
                </a:solidFill>
                <a:latin typeface="Courier New"/>
              </a:rPr>
              <a:t>,</a:t>
            </a:r>
          </a:p>
          <a:p>
            <a:r>
              <a:rPr sz="950" dirty="0">
                <a:solidFill>
                  <a:srgbClr val="CCCCCC"/>
                </a:solidFill>
                <a:latin typeface="Courier New"/>
              </a:rPr>
              <a:t>                params=</a:t>
            </a:r>
            <a:r>
              <a:rPr sz="950" dirty="0" err="1">
                <a:solidFill>
                  <a:srgbClr val="CCCCCC"/>
                </a:solidFill>
                <a:latin typeface="Courier New"/>
              </a:rPr>
              <a:t>TaskQueryParams</a:t>
            </a:r>
            <a:r>
              <a:rPr sz="950" dirty="0">
                <a:solidFill>
                  <a:srgbClr val="CCCCCC"/>
                </a:solidFill>
                <a:latin typeface="Courier New"/>
              </a:rPr>
              <a:t>(id=</a:t>
            </a:r>
            <a:r>
              <a:rPr sz="950" dirty="0" err="1">
                <a:solidFill>
                  <a:srgbClr val="CCCCCC"/>
                </a:solidFill>
                <a:latin typeface="Courier New"/>
              </a:rPr>
              <a:t>task_id</a:t>
            </a:r>
            <a:r>
              <a:rPr sz="950" dirty="0">
                <a:solidFill>
                  <a:srgbClr val="CCCCCC"/>
                </a:solidFill>
                <a:latin typeface="Courier New"/>
              </a:rPr>
              <a:t>, </a:t>
            </a:r>
            <a:r>
              <a:rPr sz="950" dirty="0" err="1">
                <a:solidFill>
                  <a:srgbClr val="CCCCCC"/>
                </a:solidFill>
                <a:latin typeface="Courier New"/>
              </a:rPr>
              <a:t>historyLength</a:t>
            </a:r>
            <a:r>
              <a:rPr sz="950" dirty="0">
                <a:solidFill>
                  <a:srgbClr val="CCCCCC"/>
                </a:solidFill>
                <a:latin typeface="Courier New"/>
              </a:rPr>
              <a:t>=0)</a:t>
            </a:r>
          </a:p>
          <a:p>
            <a:r>
              <a:rPr sz="950" dirty="0">
                <a:solidFill>
                  <a:srgbClr val="CCCCCC"/>
                </a:solidFill>
                <a:latin typeface="Courier New"/>
              </a:rPr>
              <a:t>            )</a:t>
            </a:r>
          </a:p>
          <a:p>
            <a:r>
              <a:rPr sz="950" dirty="0">
                <a:solidFill>
                  <a:srgbClr val="CCCCCC"/>
                </a:solidFill>
                <a:latin typeface="Courier New"/>
              </a:rPr>
              <a:t>        )</a:t>
            </a:r>
          </a:p>
          <a:p>
            <a:r>
              <a:rPr sz="950" dirty="0">
                <a:solidFill>
                  <a:srgbClr val="CCCCCC"/>
                </a:solidFill>
                <a:latin typeface="Courier New"/>
              </a:rPr>
              <a:t>        task  = </a:t>
            </a:r>
            <a:r>
              <a:rPr sz="950" dirty="0" err="1">
                <a:solidFill>
                  <a:srgbClr val="CCCCCC"/>
                </a:solidFill>
                <a:latin typeface="Courier New"/>
              </a:rPr>
              <a:t>resp.result</a:t>
            </a:r>
            <a:endParaRPr sz="950" dirty="0">
              <a:solidFill>
                <a:srgbClr val="CCCCCC"/>
              </a:solidFill>
              <a:latin typeface="Courier New"/>
            </a:endParaRPr>
          </a:p>
          <a:p>
            <a:r>
              <a:rPr sz="950" dirty="0">
                <a:solidFill>
                  <a:srgbClr val="CCCCCC"/>
                </a:solidFill>
                <a:latin typeface="Courier New"/>
              </a:rPr>
              <a:t>        state = </a:t>
            </a:r>
            <a:r>
              <a:rPr sz="950" dirty="0" err="1">
                <a:solidFill>
                  <a:srgbClr val="CCCCCC"/>
                </a:solidFill>
                <a:latin typeface="Courier New"/>
              </a:rPr>
              <a:t>task.status.state</a:t>
            </a:r>
            <a:endParaRPr sz="950" dirty="0">
              <a:solidFill>
                <a:srgbClr val="CCCCCC"/>
              </a:solidFill>
              <a:latin typeface="Courier New"/>
            </a:endParaRPr>
          </a:p>
          <a:p>
            <a:endParaRPr sz="950" dirty="0">
              <a:solidFill>
                <a:srgbClr val="CCCCCC"/>
              </a:solidFill>
              <a:latin typeface="Courier New"/>
            </a:endParaRPr>
          </a:p>
          <a:p>
            <a:r>
              <a:rPr sz="950" dirty="0">
                <a:solidFill>
                  <a:srgbClr val="CCCCCC"/>
                </a:solidFill>
                <a:latin typeface="Courier New"/>
              </a:rPr>
              <a:t>        print(</a:t>
            </a:r>
            <a:r>
              <a:rPr sz="950" dirty="0" err="1">
                <a:solidFill>
                  <a:srgbClr val="CCCCCC"/>
                </a:solidFill>
                <a:latin typeface="Courier New"/>
              </a:rPr>
              <a:t>f"Task</a:t>
            </a:r>
            <a:r>
              <a:rPr sz="950" dirty="0">
                <a:solidFill>
                  <a:srgbClr val="CCCCCC"/>
                </a:solidFill>
                <a:latin typeface="Courier New"/>
              </a:rPr>
              <a:t> {</a:t>
            </a:r>
            <a:r>
              <a:rPr sz="950" dirty="0" err="1">
                <a:solidFill>
                  <a:srgbClr val="CCCCCC"/>
                </a:solidFill>
                <a:latin typeface="Courier New"/>
              </a:rPr>
              <a:t>task_id</a:t>
            </a:r>
            <a:r>
              <a:rPr sz="950" dirty="0">
                <a:solidFill>
                  <a:srgbClr val="CCCCCC"/>
                </a:solidFill>
                <a:latin typeface="Courier New"/>
              </a:rPr>
              <a:t>}: state={state}")</a:t>
            </a:r>
          </a:p>
          <a:p>
            <a:endParaRPr sz="950" dirty="0">
              <a:solidFill>
                <a:srgbClr val="CCCCCC"/>
              </a:solidFill>
              <a:latin typeface="Courier New"/>
            </a:endParaRPr>
          </a:p>
          <a:p>
            <a:r>
              <a:rPr sz="950" dirty="0">
                <a:solidFill>
                  <a:srgbClr val="CCCCCC"/>
                </a:solidFill>
                <a:latin typeface="Courier New"/>
              </a:rPr>
              <a:t>        if state in terminal:</a:t>
            </a:r>
          </a:p>
          <a:p>
            <a:r>
              <a:rPr sz="950" dirty="0">
                <a:solidFill>
                  <a:srgbClr val="CCCCCC"/>
                </a:solidFill>
                <a:latin typeface="Courier New"/>
              </a:rPr>
              <a:t>            return task</a:t>
            </a:r>
          </a:p>
          <a:p>
            <a:endParaRPr sz="950" dirty="0">
              <a:solidFill>
                <a:srgbClr val="CCCCCC"/>
              </a:solidFill>
              <a:latin typeface="Courier New"/>
            </a:endParaRPr>
          </a:p>
          <a:p>
            <a:r>
              <a:rPr sz="950" dirty="0">
                <a:solidFill>
                  <a:srgbClr val="CCCCCC"/>
                </a:solidFill>
                <a:latin typeface="Courier New"/>
              </a:rPr>
              <a:t>        if state == "input-required":</a:t>
            </a:r>
          </a:p>
          <a:p>
            <a:r>
              <a:rPr sz="950" dirty="0">
                <a:solidFill>
                  <a:srgbClr val="CCCCCC"/>
                </a:solidFill>
                <a:latin typeface="Courier New"/>
              </a:rPr>
              <a:t>            # Handle in Section 7</a:t>
            </a:r>
          </a:p>
          <a:p>
            <a:r>
              <a:rPr sz="950" dirty="0">
                <a:solidFill>
                  <a:srgbClr val="CCCCCC"/>
                </a:solidFill>
                <a:latin typeface="Courier New"/>
              </a:rPr>
              <a:t>            return task</a:t>
            </a:r>
          </a:p>
          <a:p>
            <a:endParaRPr sz="950" dirty="0">
              <a:solidFill>
                <a:srgbClr val="CCCCCC"/>
              </a:solidFill>
              <a:latin typeface="Courier New"/>
            </a:endParaRPr>
          </a:p>
          <a:p>
            <a:r>
              <a:rPr sz="950" dirty="0">
                <a:solidFill>
                  <a:srgbClr val="CCCCCC"/>
                </a:solidFill>
                <a:latin typeface="Courier New"/>
              </a:rPr>
              <a:t>        await </a:t>
            </a:r>
            <a:r>
              <a:rPr sz="950" dirty="0" err="1">
                <a:solidFill>
                  <a:srgbClr val="CCCCCC"/>
                </a:solidFill>
                <a:latin typeface="Courier New"/>
              </a:rPr>
              <a:t>asyncio.sleep</a:t>
            </a:r>
            <a:r>
              <a:rPr sz="950" dirty="0">
                <a:solidFill>
                  <a:srgbClr val="CCCCCC"/>
                </a:solidFill>
                <a:latin typeface="Courier New"/>
              </a:rPr>
              <a:t>(</a:t>
            </a:r>
            <a:r>
              <a:rPr sz="950" dirty="0" err="1">
                <a:solidFill>
                  <a:srgbClr val="CCCCCC"/>
                </a:solidFill>
                <a:latin typeface="Courier New"/>
              </a:rPr>
              <a:t>poll_interval</a:t>
            </a:r>
            <a:r>
              <a:rPr sz="950" dirty="0">
                <a:solidFill>
                  <a:srgbClr val="CCCCCC"/>
                </a:solidFill>
                <a:latin typeface="Courier New"/>
              </a:rPr>
              <a:t>)</a:t>
            </a:r>
          </a:p>
          <a:p>
            <a:endParaRPr sz="950" dirty="0">
              <a:solidFill>
                <a:srgbClr val="CCCCCC"/>
              </a:solidFill>
              <a:latin typeface="Courier New"/>
            </a:endParaRPr>
          </a:p>
          <a:p>
            <a:r>
              <a:rPr sz="950" dirty="0">
                <a:solidFill>
                  <a:srgbClr val="CCCCCC"/>
                </a:solidFill>
                <a:latin typeface="Courier New"/>
              </a:rPr>
              <a:t># Usage</a:t>
            </a:r>
          </a:p>
          <a:p>
            <a:r>
              <a:rPr sz="950" dirty="0">
                <a:solidFill>
                  <a:srgbClr val="CCCCCC"/>
                </a:solidFill>
                <a:latin typeface="Courier New"/>
              </a:rPr>
              <a:t>task  = await </a:t>
            </a:r>
            <a:r>
              <a:rPr sz="950" dirty="0" err="1">
                <a:solidFill>
                  <a:srgbClr val="CCCCCC"/>
                </a:solidFill>
                <a:latin typeface="Courier New"/>
              </a:rPr>
              <a:t>poll_until_done</a:t>
            </a:r>
            <a:r>
              <a:rPr sz="950" dirty="0">
                <a:solidFill>
                  <a:srgbClr val="CCCCCC"/>
                </a:solidFill>
                <a:latin typeface="Courier New"/>
              </a:rPr>
              <a:t>(client, </a:t>
            </a:r>
            <a:r>
              <a:rPr sz="950" dirty="0" err="1">
                <a:solidFill>
                  <a:srgbClr val="CCCCCC"/>
                </a:solidFill>
                <a:latin typeface="Courier New"/>
              </a:rPr>
              <a:t>task_id</a:t>
            </a:r>
            <a:r>
              <a:rPr sz="950" dirty="0">
                <a:solidFill>
                  <a:srgbClr val="CCCCCC"/>
                </a:solidFill>
                <a:latin typeface="Courier New"/>
              </a:rPr>
              <a:t>)</a:t>
            </a:r>
          </a:p>
          <a:p>
            <a:r>
              <a:rPr sz="950" dirty="0">
                <a:solidFill>
                  <a:srgbClr val="CCCCCC"/>
                </a:solidFill>
                <a:latin typeface="Courier New"/>
              </a:rPr>
              <a:t>state = </a:t>
            </a:r>
            <a:r>
              <a:rPr sz="950" dirty="0" err="1">
                <a:solidFill>
                  <a:srgbClr val="CCCCCC"/>
                </a:solidFill>
                <a:latin typeface="Courier New"/>
              </a:rPr>
              <a:t>task.status.state</a:t>
            </a:r>
            <a:endParaRPr sz="950" dirty="0">
              <a:solidFill>
                <a:srgbClr val="CCCCCC"/>
              </a:solidFill>
              <a:latin typeface="Courier New"/>
            </a:endParaRPr>
          </a:p>
          <a:p>
            <a:endParaRPr sz="950" dirty="0">
              <a:solidFill>
                <a:srgbClr val="CCCCCC"/>
              </a:solidFill>
              <a:latin typeface="Courier New"/>
            </a:endParaRPr>
          </a:p>
          <a:p>
            <a:r>
              <a:rPr sz="950" dirty="0">
                <a:solidFill>
                  <a:srgbClr val="CCCCCC"/>
                </a:solidFill>
                <a:latin typeface="Courier New"/>
              </a:rPr>
              <a:t>if state == "completed":</a:t>
            </a:r>
          </a:p>
          <a:p>
            <a:r>
              <a:rPr sz="950" dirty="0">
                <a:solidFill>
                  <a:srgbClr val="CCCCCC"/>
                </a:solidFill>
                <a:latin typeface="Courier New"/>
              </a:rPr>
              <a:t>    </a:t>
            </a:r>
            <a:r>
              <a:rPr sz="950" dirty="0" err="1">
                <a:solidFill>
                  <a:srgbClr val="CCCCCC"/>
                </a:solidFill>
                <a:latin typeface="Courier New"/>
              </a:rPr>
              <a:t>process_artifacts</a:t>
            </a:r>
            <a:r>
              <a:rPr sz="950" dirty="0">
                <a:solidFill>
                  <a:srgbClr val="CCCCCC"/>
                </a:solidFill>
                <a:latin typeface="Courier New"/>
              </a:rPr>
              <a:t>(</a:t>
            </a:r>
            <a:r>
              <a:rPr sz="950" dirty="0" err="1">
                <a:solidFill>
                  <a:srgbClr val="CCCCCC"/>
                </a:solidFill>
                <a:latin typeface="Courier New"/>
              </a:rPr>
              <a:t>task.artifacts</a:t>
            </a:r>
            <a:r>
              <a:rPr sz="950" dirty="0">
                <a:solidFill>
                  <a:srgbClr val="CCCCCC"/>
                </a:solidFill>
                <a:latin typeface="Courier New"/>
              </a:rPr>
              <a:t>)</a:t>
            </a:r>
          </a:p>
          <a:p>
            <a:r>
              <a:rPr sz="950" dirty="0" err="1">
                <a:solidFill>
                  <a:srgbClr val="CCCCCC"/>
                </a:solidFill>
                <a:latin typeface="Courier New"/>
              </a:rPr>
              <a:t>elif</a:t>
            </a:r>
            <a:r>
              <a:rPr sz="950" dirty="0">
                <a:solidFill>
                  <a:srgbClr val="CCCCCC"/>
                </a:solidFill>
                <a:latin typeface="Courier New"/>
              </a:rPr>
              <a:t> state == "failed":</a:t>
            </a:r>
          </a:p>
          <a:p>
            <a:r>
              <a:rPr sz="950" dirty="0">
                <a:solidFill>
                  <a:srgbClr val="CCCCCC"/>
                </a:solidFill>
                <a:latin typeface="Courier New"/>
              </a:rPr>
              <a:t>    print(</a:t>
            </a:r>
            <a:r>
              <a:rPr sz="950" dirty="0" err="1">
                <a:solidFill>
                  <a:srgbClr val="CCCCCC"/>
                </a:solidFill>
                <a:latin typeface="Courier New"/>
              </a:rPr>
              <a:t>f"Failed</a:t>
            </a:r>
            <a:r>
              <a:rPr sz="950" dirty="0">
                <a:solidFill>
                  <a:srgbClr val="CCCCCC"/>
                </a:solidFill>
                <a:latin typeface="Courier New"/>
              </a:rPr>
              <a:t>: {</a:t>
            </a:r>
            <a:r>
              <a:rPr sz="950" dirty="0" err="1">
                <a:solidFill>
                  <a:srgbClr val="CCCCCC"/>
                </a:solidFill>
                <a:latin typeface="Courier New"/>
              </a:rPr>
              <a:t>task.status.message</a:t>
            </a:r>
            <a:r>
              <a:rPr sz="950" dirty="0">
                <a:solidFill>
                  <a:srgbClr val="CCCCCC"/>
                </a:solidFill>
                <a:latin typeface="Courier New"/>
              </a:rPr>
              <a:t>}")</a:t>
            </a:r>
          </a:p>
          <a:p>
            <a:r>
              <a:rPr sz="950" dirty="0" err="1">
                <a:solidFill>
                  <a:srgbClr val="CCCCCC"/>
                </a:solidFill>
                <a:latin typeface="Courier New"/>
              </a:rPr>
              <a:t>elif</a:t>
            </a:r>
            <a:r>
              <a:rPr sz="950" dirty="0">
                <a:solidFill>
                  <a:srgbClr val="CCCCCC"/>
                </a:solidFill>
                <a:latin typeface="Courier New"/>
              </a:rPr>
              <a:t> state == "canceled":</a:t>
            </a:r>
          </a:p>
          <a:p>
            <a:r>
              <a:rPr sz="950" dirty="0">
                <a:solidFill>
                  <a:srgbClr val="CCCCCC"/>
                </a:solidFill>
                <a:latin typeface="Courier New"/>
              </a:rPr>
              <a:t>    print("Task was canceled")</a:t>
            </a:r>
          </a:p>
        </p:txBody>
      </p:sp>
      <p:sp>
        <p:nvSpPr>
          <p:cNvPr id="10" name="Rectangle 9"/>
          <p:cNvSpPr/>
          <p:nvPr/>
        </p:nvSpPr>
        <p:spPr>
          <a:xfrm>
            <a:off x="6903720" y="1115568"/>
            <a:ext cx="4983480" cy="544068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903720" y="1115568"/>
            <a:ext cx="498348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95159" y="1152144"/>
            <a:ext cx="4800600" cy="274320"/>
          </a:xfrm>
          <a:prstGeom prst="rect">
            <a:avLst/>
          </a:prstGeom>
          <a:noFill/>
        </p:spPr>
        <p:txBody>
          <a:bodyPr wrap="square">
            <a:spAutoFit/>
          </a:bodyPr>
          <a:lstStyle/>
          <a:p>
            <a:pPr algn="l"/>
            <a:r>
              <a:rPr sz="1200" b="1">
                <a:solidFill>
                  <a:srgbClr val="FFFFFF"/>
                </a:solidFill>
                <a:latin typeface="Calibri"/>
              </a:rPr>
              <a:t>TaskStatus Object</a:t>
            </a:r>
          </a:p>
        </p:txBody>
      </p:sp>
      <p:sp>
        <p:nvSpPr>
          <p:cNvPr id="13" name="TextBox 12"/>
          <p:cNvSpPr txBox="1"/>
          <p:nvPr/>
        </p:nvSpPr>
        <p:spPr>
          <a:xfrm>
            <a:off x="7013448" y="1499616"/>
            <a:ext cx="4764024" cy="4983480"/>
          </a:xfrm>
          <a:prstGeom prst="rect">
            <a:avLst/>
          </a:prstGeom>
          <a:noFill/>
        </p:spPr>
        <p:txBody>
          <a:bodyPr wrap="square">
            <a:spAutoFit/>
          </a:bodyPr>
          <a:lstStyle/>
          <a:p>
            <a:pPr>
              <a:spcBef>
                <a:spcPts val="400"/>
              </a:spcBef>
            </a:pPr>
            <a:r>
              <a:rPr sz="1100">
                <a:solidFill>
                  <a:srgbClr val="222244"/>
                </a:solidFill>
                <a:latin typeface="Calibri"/>
              </a:rPr>
              <a:t>  •  state     — current state string</a:t>
            </a:r>
          </a:p>
          <a:p>
            <a:pPr>
              <a:spcBef>
                <a:spcPts val="400"/>
              </a:spcBef>
            </a:pPr>
            <a:r>
              <a:rPr sz="1100">
                <a:solidFill>
                  <a:srgbClr val="222244"/>
                </a:solidFill>
                <a:latin typeface="Calibri"/>
              </a:rPr>
              <a:t>  •  message   — optional Message from agent</a:t>
            </a:r>
          </a:p>
          <a:p>
            <a:pPr>
              <a:spcBef>
                <a:spcPts val="400"/>
              </a:spcBef>
            </a:pPr>
            <a:r>
              <a:rPr sz="1100">
                <a:solidFill>
                  <a:srgbClr val="222244"/>
                </a:solidFill>
                <a:latin typeface="Calibri"/>
              </a:rPr>
              <a:t>  •  timestamp — ISO-8601 UTC timestamp</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Terminal states (no more transitions):</a:t>
            </a:r>
          </a:p>
          <a:p>
            <a:pPr>
              <a:spcBef>
                <a:spcPts val="400"/>
              </a:spcBef>
            </a:pPr>
            <a:r>
              <a:rPr sz="1000">
                <a:solidFill>
                  <a:srgbClr val="222244"/>
                </a:solidFill>
                <a:latin typeface="Calibri"/>
              </a:rPr>
              <a:t>       ◦  completed  — success, artifacts ready</a:t>
            </a:r>
          </a:p>
          <a:p>
            <a:pPr>
              <a:spcBef>
                <a:spcPts val="400"/>
              </a:spcBef>
            </a:pPr>
            <a:r>
              <a:rPr sz="1000">
                <a:solidFill>
                  <a:srgbClr val="222244"/>
                </a:solidFill>
                <a:latin typeface="Calibri"/>
              </a:rPr>
              <a:t>       ◦  failed     — error, check status.message</a:t>
            </a:r>
          </a:p>
          <a:p>
            <a:pPr>
              <a:spcBef>
                <a:spcPts val="400"/>
              </a:spcBef>
            </a:pPr>
            <a:r>
              <a:rPr sz="1000">
                <a:solidFill>
                  <a:srgbClr val="222244"/>
                </a:solidFill>
                <a:latin typeface="Calibri"/>
              </a:rPr>
              <a:t>       ◦  canceled   — client-requested cancel</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Non-terminal (keep polling):</a:t>
            </a:r>
          </a:p>
          <a:p>
            <a:pPr>
              <a:spcBef>
                <a:spcPts val="400"/>
              </a:spcBef>
            </a:pPr>
            <a:r>
              <a:rPr sz="1000">
                <a:solidFill>
                  <a:srgbClr val="222244"/>
                </a:solidFill>
                <a:latin typeface="Calibri"/>
              </a:rPr>
              <a:t>       ◦  submitted  — queued, not started yet</a:t>
            </a:r>
          </a:p>
          <a:p>
            <a:pPr>
              <a:spcBef>
                <a:spcPts val="400"/>
              </a:spcBef>
            </a:pPr>
            <a:r>
              <a:rPr sz="1000">
                <a:solidFill>
                  <a:srgbClr val="222244"/>
                </a:solidFill>
                <a:latin typeface="Calibri"/>
              </a:rPr>
              <a:t>       ◦  working    — actively processing</a:t>
            </a:r>
          </a:p>
          <a:p>
            <a:pPr>
              <a:spcBef>
                <a:spcPts val="400"/>
              </a:spcBef>
            </a:pPr>
            <a:r>
              <a:rPr sz="1000">
                <a:solidFill>
                  <a:srgbClr val="222244"/>
                </a:solidFill>
                <a:latin typeface="Calibri"/>
              </a:rPr>
              <a:t>       ◦  input-required — waiting for user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5: Streaming with Server-Sent Events (SSE)</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Real-time updates via tasks/sendSubscribe</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6720840" cy="548640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15568"/>
            <a:ext cx="672084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43000"/>
            <a:ext cx="6537959" cy="201168"/>
          </a:xfrm>
          <a:prstGeom prst="rect">
            <a:avLst/>
          </a:prstGeom>
          <a:noFill/>
        </p:spPr>
        <p:txBody>
          <a:bodyPr wrap="square">
            <a:spAutoFit/>
          </a:bodyPr>
          <a:lstStyle/>
          <a:p>
            <a:pPr algn="l"/>
            <a:r>
              <a:rPr sz="1000" b="0">
                <a:solidFill>
                  <a:srgbClr val="F0A500"/>
                </a:solidFill>
                <a:latin typeface="Calibri"/>
              </a:rPr>
              <a:t>tasks/sendSubscribe — SSE Streaming</a:t>
            </a:r>
          </a:p>
        </p:txBody>
      </p:sp>
      <p:sp>
        <p:nvSpPr>
          <p:cNvPr id="9" name="TextBox 8"/>
          <p:cNvSpPr txBox="1"/>
          <p:nvPr/>
        </p:nvSpPr>
        <p:spPr>
          <a:xfrm>
            <a:off x="365760" y="1380744"/>
            <a:ext cx="6537959" cy="5175504"/>
          </a:xfrm>
          <a:prstGeom prst="rect">
            <a:avLst/>
          </a:prstGeom>
          <a:noFill/>
        </p:spPr>
        <p:txBody>
          <a:bodyPr wrap="none">
            <a:spAutoFit/>
          </a:bodyPr>
          <a:lstStyle/>
          <a:p>
            <a:r>
              <a:rPr sz="950" dirty="0">
                <a:solidFill>
                  <a:srgbClr val="CCCCCC"/>
                </a:solidFill>
                <a:latin typeface="Courier New"/>
              </a:rPr>
              <a:t>from a2a.client import A2AClient</a:t>
            </a:r>
          </a:p>
          <a:p>
            <a:r>
              <a:rPr sz="950" dirty="0">
                <a:solidFill>
                  <a:srgbClr val="CCCCCC"/>
                </a:solidFill>
                <a:latin typeface="Courier New"/>
              </a:rPr>
              <a:t>from a2a.types  import (</a:t>
            </a:r>
          </a:p>
          <a:p>
            <a:r>
              <a:rPr sz="950" dirty="0">
                <a:solidFill>
                  <a:srgbClr val="CCCCCC"/>
                </a:solidFill>
                <a:latin typeface="Courier New"/>
              </a:rPr>
              <a:t>    </a:t>
            </a:r>
            <a:r>
              <a:rPr sz="950" dirty="0" err="1">
                <a:solidFill>
                  <a:srgbClr val="CCCCCC"/>
                </a:solidFill>
                <a:latin typeface="Courier New"/>
              </a:rPr>
              <a:t>SendTaskStreamingRequest</a:t>
            </a:r>
            <a:r>
              <a:rPr sz="950" dirty="0">
                <a:solidFill>
                  <a:srgbClr val="CCCCCC"/>
                </a:solidFill>
                <a:latin typeface="Courier New"/>
              </a:rPr>
              <a:t>, </a:t>
            </a:r>
            <a:r>
              <a:rPr sz="950" dirty="0" err="1">
                <a:solidFill>
                  <a:srgbClr val="CCCCCC"/>
                </a:solidFill>
                <a:latin typeface="Courier New"/>
              </a:rPr>
              <a:t>TaskSendParams</a:t>
            </a:r>
            <a:r>
              <a:rPr sz="950" dirty="0">
                <a:solidFill>
                  <a:srgbClr val="CCCCCC"/>
                </a:solidFill>
                <a:latin typeface="Courier New"/>
              </a:rPr>
              <a:t>,</a:t>
            </a:r>
          </a:p>
          <a:p>
            <a:r>
              <a:rPr sz="950" dirty="0">
                <a:solidFill>
                  <a:srgbClr val="CCCCCC"/>
                </a:solidFill>
                <a:latin typeface="Courier New"/>
              </a:rPr>
              <a:t>    Message, TextPart</a:t>
            </a:r>
          </a:p>
          <a:p>
            <a:r>
              <a:rPr sz="950" dirty="0">
                <a:solidFill>
                  <a:srgbClr val="CCCCCC"/>
                </a:solidFill>
                <a:latin typeface="Courier New"/>
              </a:rPr>
              <a:t>)</a:t>
            </a:r>
          </a:p>
          <a:p>
            <a:endParaRPr sz="950" dirty="0">
              <a:solidFill>
                <a:srgbClr val="CCCCCC"/>
              </a:solidFill>
              <a:latin typeface="Courier New"/>
            </a:endParaRPr>
          </a:p>
          <a:p>
            <a:r>
              <a:rPr sz="950" dirty="0">
                <a:solidFill>
                  <a:srgbClr val="CCCCCC"/>
                </a:solidFill>
                <a:latin typeface="Courier New"/>
              </a:rPr>
              <a:t>async def </a:t>
            </a:r>
            <a:r>
              <a:rPr sz="950" dirty="0" err="1">
                <a:solidFill>
                  <a:srgbClr val="CCCCCC"/>
                </a:solidFill>
                <a:latin typeface="Courier New"/>
              </a:rPr>
              <a:t>stream_flight_search</a:t>
            </a:r>
            <a:r>
              <a:rPr sz="950" dirty="0">
                <a:solidFill>
                  <a:srgbClr val="CCCCCC"/>
                </a:solidFill>
                <a:latin typeface="Courier New"/>
              </a:rPr>
              <a:t>(client: A2AClient):</a:t>
            </a:r>
          </a:p>
          <a:p>
            <a:r>
              <a:rPr sz="950" dirty="0">
                <a:solidFill>
                  <a:srgbClr val="CCCCCC"/>
                </a:solidFill>
                <a:latin typeface="Courier New"/>
              </a:rPr>
              <a:t>    """Stream results from Flight Agent using SSE."""</a:t>
            </a:r>
          </a:p>
          <a:p>
            <a:r>
              <a:rPr sz="950" dirty="0">
                <a:solidFill>
                  <a:srgbClr val="CCCCCC"/>
                </a:solidFill>
                <a:latin typeface="Courier New"/>
              </a:rPr>
              <a:t>    request = </a:t>
            </a:r>
            <a:r>
              <a:rPr sz="950" dirty="0" err="1">
                <a:solidFill>
                  <a:srgbClr val="CCCCCC"/>
                </a:solidFill>
                <a:latin typeface="Courier New"/>
              </a:rPr>
              <a:t>SendTaskStreamingRequest</a:t>
            </a:r>
            <a:r>
              <a:rPr sz="950" dirty="0">
                <a:solidFill>
                  <a:srgbClr val="CCCCCC"/>
                </a:solidFill>
                <a:latin typeface="Courier New"/>
              </a:rPr>
              <a:t>(</a:t>
            </a:r>
          </a:p>
          <a:p>
            <a:r>
              <a:rPr sz="950" dirty="0">
                <a:solidFill>
                  <a:srgbClr val="CCCCCC"/>
                </a:solidFill>
                <a:latin typeface="Courier New"/>
              </a:rPr>
              <a:t>        id="stream-task-001",</a:t>
            </a:r>
          </a:p>
          <a:p>
            <a:r>
              <a:rPr sz="950" dirty="0">
                <a:solidFill>
                  <a:srgbClr val="CCCCCC"/>
                </a:solidFill>
                <a:latin typeface="Courier New"/>
              </a:rPr>
              <a:t>        params=</a:t>
            </a:r>
            <a:r>
              <a:rPr sz="950" dirty="0" err="1">
                <a:solidFill>
                  <a:srgbClr val="CCCCCC"/>
                </a:solidFill>
                <a:latin typeface="Courier New"/>
              </a:rPr>
              <a:t>TaskSendParams</a:t>
            </a:r>
            <a:r>
              <a:rPr sz="950" dirty="0">
                <a:solidFill>
                  <a:srgbClr val="CCCCCC"/>
                </a:solidFill>
                <a:latin typeface="Courier New"/>
              </a:rPr>
              <a:t>(</a:t>
            </a:r>
          </a:p>
          <a:p>
            <a:r>
              <a:rPr sz="950" dirty="0">
                <a:solidFill>
                  <a:srgbClr val="CCCCCC"/>
                </a:solidFill>
                <a:latin typeface="Courier New"/>
              </a:rPr>
              <a:t>            id="stream-task-001",</a:t>
            </a:r>
          </a:p>
          <a:p>
            <a:r>
              <a:rPr sz="950" dirty="0">
                <a:solidFill>
                  <a:srgbClr val="CCCCCC"/>
                </a:solidFill>
                <a:latin typeface="Courier New"/>
              </a:rPr>
              <a:t>            message=Message(</a:t>
            </a:r>
          </a:p>
          <a:p>
            <a:r>
              <a:rPr sz="950" dirty="0">
                <a:solidFill>
                  <a:srgbClr val="CCCCCC"/>
                </a:solidFill>
                <a:latin typeface="Courier New"/>
              </a:rPr>
              <a:t>                role="user",</a:t>
            </a:r>
          </a:p>
          <a:p>
            <a:r>
              <a:rPr sz="950" dirty="0">
                <a:solidFill>
                  <a:srgbClr val="CCCCCC"/>
                </a:solidFill>
                <a:latin typeface="Courier New"/>
              </a:rPr>
              <a:t>                parts=[TextPart(type="text",</a:t>
            </a:r>
          </a:p>
          <a:p>
            <a:r>
              <a:rPr sz="950" dirty="0">
                <a:solidFill>
                  <a:srgbClr val="CCCCCC"/>
                </a:solidFill>
                <a:latin typeface="Courier New"/>
              </a:rPr>
              <a:t>                                text="Find all flights </a:t>
            </a:r>
            <a:r>
              <a:rPr sz="950" dirty="0" err="1">
                <a:solidFill>
                  <a:srgbClr val="CCCCCC"/>
                </a:solidFill>
                <a:latin typeface="Courier New"/>
              </a:rPr>
              <a:t>NYC→Paris</a:t>
            </a:r>
            <a:r>
              <a:rPr sz="950" dirty="0">
                <a:solidFill>
                  <a:srgbClr val="CCCCCC"/>
                </a:solidFill>
                <a:latin typeface="Courier New"/>
              </a:rPr>
              <a:t> Dec 15")]</a:t>
            </a:r>
          </a:p>
          <a:p>
            <a:r>
              <a:rPr sz="950" dirty="0">
                <a:solidFill>
                  <a:srgbClr val="CCCCCC"/>
                </a:solidFill>
                <a:latin typeface="Courier New"/>
              </a:rPr>
              <a:t>            )</a:t>
            </a:r>
          </a:p>
          <a:p>
            <a:r>
              <a:rPr sz="950" dirty="0">
                <a:solidFill>
                  <a:srgbClr val="CCCCCC"/>
                </a:solidFill>
                <a:latin typeface="Courier New"/>
              </a:rPr>
              <a:t>        )</a:t>
            </a:r>
          </a:p>
          <a:p>
            <a:r>
              <a:rPr sz="950" dirty="0">
                <a:solidFill>
                  <a:srgbClr val="CCCCCC"/>
                </a:solidFill>
                <a:latin typeface="Courier New"/>
              </a:rPr>
              <a:t>    )</a:t>
            </a:r>
          </a:p>
          <a:p>
            <a:endParaRPr sz="950" dirty="0">
              <a:solidFill>
                <a:srgbClr val="CCCCCC"/>
              </a:solidFill>
              <a:latin typeface="Courier New"/>
            </a:endParaRPr>
          </a:p>
          <a:p>
            <a:r>
              <a:rPr sz="950" dirty="0">
                <a:solidFill>
                  <a:srgbClr val="CCCCCC"/>
                </a:solidFill>
                <a:latin typeface="Courier New"/>
              </a:rPr>
              <a:t>    # tasks/</a:t>
            </a:r>
            <a:r>
              <a:rPr sz="950" dirty="0" err="1">
                <a:solidFill>
                  <a:srgbClr val="CCCCCC"/>
                </a:solidFill>
                <a:latin typeface="Courier New"/>
              </a:rPr>
              <a:t>sendSubscribe</a:t>
            </a:r>
            <a:r>
              <a:rPr sz="950" dirty="0">
                <a:solidFill>
                  <a:srgbClr val="CCCCCC"/>
                </a:solidFill>
                <a:latin typeface="Courier New"/>
              </a:rPr>
              <a:t> returns an async generator</a:t>
            </a:r>
          </a:p>
          <a:p>
            <a:r>
              <a:rPr sz="950" dirty="0">
                <a:solidFill>
                  <a:srgbClr val="CCCCCC"/>
                </a:solidFill>
                <a:latin typeface="Courier New"/>
              </a:rPr>
              <a:t>    async for event in </a:t>
            </a:r>
            <a:r>
              <a:rPr sz="950" dirty="0" err="1">
                <a:solidFill>
                  <a:srgbClr val="CCCCCC"/>
                </a:solidFill>
                <a:latin typeface="Courier New"/>
              </a:rPr>
              <a:t>client.send_task_streaming</a:t>
            </a:r>
            <a:r>
              <a:rPr sz="950" dirty="0">
                <a:solidFill>
                  <a:srgbClr val="CCCCCC"/>
                </a:solidFill>
                <a:latin typeface="Courier New"/>
              </a:rPr>
              <a:t>(request):</a:t>
            </a:r>
          </a:p>
          <a:p>
            <a:r>
              <a:rPr sz="950" dirty="0">
                <a:solidFill>
                  <a:srgbClr val="CCCCCC"/>
                </a:solidFill>
                <a:latin typeface="Courier New"/>
              </a:rPr>
              <a:t>        if </a:t>
            </a:r>
            <a:r>
              <a:rPr sz="950" dirty="0" err="1">
                <a:solidFill>
                  <a:srgbClr val="CCCCCC"/>
                </a:solidFill>
                <a:latin typeface="Courier New"/>
              </a:rPr>
              <a:t>event.result</a:t>
            </a:r>
            <a:r>
              <a:rPr sz="950" dirty="0">
                <a:solidFill>
                  <a:srgbClr val="CCCCCC"/>
                </a:solidFill>
                <a:latin typeface="Courier New"/>
              </a:rPr>
              <a:t> is None:</a:t>
            </a:r>
          </a:p>
          <a:p>
            <a:r>
              <a:rPr sz="950" dirty="0">
                <a:solidFill>
                  <a:srgbClr val="CCCCCC"/>
                </a:solidFill>
                <a:latin typeface="Courier New"/>
              </a:rPr>
              <a:t>            continue</a:t>
            </a:r>
          </a:p>
          <a:p>
            <a:endParaRPr sz="950" dirty="0">
              <a:solidFill>
                <a:srgbClr val="CCCCCC"/>
              </a:solidFill>
              <a:latin typeface="Courier New"/>
            </a:endParaRPr>
          </a:p>
          <a:p>
            <a:r>
              <a:rPr sz="950" dirty="0">
                <a:solidFill>
                  <a:srgbClr val="CCCCCC"/>
                </a:solidFill>
                <a:latin typeface="Courier New"/>
              </a:rPr>
              <a:t>        result = </a:t>
            </a:r>
            <a:r>
              <a:rPr sz="950" dirty="0" err="1">
                <a:solidFill>
                  <a:srgbClr val="CCCCCC"/>
                </a:solidFill>
                <a:latin typeface="Courier New"/>
              </a:rPr>
              <a:t>event.result</a:t>
            </a:r>
            <a:endParaRPr sz="950" dirty="0">
              <a:solidFill>
                <a:srgbClr val="CCCCCC"/>
              </a:solidFill>
              <a:latin typeface="Courier New"/>
            </a:endParaRPr>
          </a:p>
          <a:p>
            <a:endParaRPr sz="950" dirty="0">
              <a:solidFill>
                <a:srgbClr val="CCCCCC"/>
              </a:solidFill>
              <a:latin typeface="Courier New"/>
            </a:endParaRPr>
          </a:p>
          <a:p>
            <a:r>
              <a:rPr sz="950" dirty="0">
                <a:solidFill>
                  <a:srgbClr val="CCCCCC"/>
                </a:solidFill>
                <a:latin typeface="Courier New"/>
              </a:rPr>
              <a:t>        # </a:t>
            </a:r>
            <a:r>
              <a:rPr sz="950" dirty="0" err="1">
                <a:solidFill>
                  <a:srgbClr val="CCCCCC"/>
                </a:solidFill>
                <a:latin typeface="Courier New"/>
              </a:rPr>
              <a:t>TaskStatusUpdateEvent</a:t>
            </a:r>
            <a:endParaRPr sz="950" dirty="0">
              <a:solidFill>
                <a:srgbClr val="CCCCCC"/>
              </a:solidFill>
              <a:latin typeface="Courier New"/>
            </a:endParaRPr>
          </a:p>
          <a:p>
            <a:r>
              <a:rPr sz="950" dirty="0">
                <a:solidFill>
                  <a:srgbClr val="CCCCCC"/>
                </a:solidFill>
                <a:latin typeface="Courier New"/>
              </a:rPr>
              <a:t>        if </a:t>
            </a:r>
            <a:r>
              <a:rPr sz="950" dirty="0" err="1">
                <a:solidFill>
                  <a:srgbClr val="CCCCCC"/>
                </a:solidFill>
                <a:latin typeface="Courier New"/>
              </a:rPr>
              <a:t>hasattr</a:t>
            </a:r>
            <a:r>
              <a:rPr sz="950" dirty="0">
                <a:solidFill>
                  <a:srgbClr val="CCCCCC"/>
                </a:solidFill>
                <a:latin typeface="Courier New"/>
              </a:rPr>
              <a:t>(result, 'status'):</a:t>
            </a:r>
          </a:p>
          <a:p>
            <a:r>
              <a:rPr sz="950" dirty="0">
                <a:solidFill>
                  <a:srgbClr val="CCCCCC"/>
                </a:solidFill>
                <a:latin typeface="Courier New"/>
              </a:rPr>
              <a:t>            state = </a:t>
            </a:r>
            <a:r>
              <a:rPr sz="950" dirty="0" err="1">
                <a:solidFill>
                  <a:srgbClr val="CCCCCC"/>
                </a:solidFill>
                <a:latin typeface="Courier New"/>
              </a:rPr>
              <a:t>result.status.state</a:t>
            </a:r>
            <a:endParaRPr sz="950" dirty="0">
              <a:solidFill>
                <a:srgbClr val="CCCCCC"/>
              </a:solidFill>
              <a:latin typeface="Courier New"/>
            </a:endParaRPr>
          </a:p>
          <a:p>
            <a:r>
              <a:rPr sz="950" dirty="0">
                <a:solidFill>
                  <a:srgbClr val="CCCCCC"/>
                </a:solidFill>
                <a:latin typeface="Courier New"/>
              </a:rPr>
              <a:t>            print(</a:t>
            </a:r>
            <a:r>
              <a:rPr sz="950" dirty="0" err="1">
                <a:solidFill>
                  <a:srgbClr val="CCCCCC"/>
                </a:solidFill>
                <a:latin typeface="Courier New"/>
              </a:rPr>
              <a:t>f"Status</a:t>
            </a:r>
            <a:r>
              <a:rPr sz="950" dirty="0">
                <a:solidFill>
                  <a:srgbClr val="CCCCCC"/>
                </a:solidFill>
                <a:latin typeface="Courier New"/>
              </a:rPr>
              <a:t> update: {state}")</a:t>
            </a:r>
          </a:p>
          <a:p>
            <a:r>
              <a:rPr sz="950" dirty="0">
                <a:solidFill>
                  <a:srgbClr val="CCCCCC"/>
                </a:solidFill>
                <a:latin typeface="Courier New"/>
              </a:rPr>
              <a:t>            if state in ("</a:t>
            </a:r>
            <a:r>
              <a:rPr sz="950" dirty="0" err="1">
                <a:solidFill>
                  <a:srgbClr val="CCCCCC"/>
                </a:solidFill>
                <a:latin typeface="Courier New"/>
              </a:rPr>
              <a:t>completed","failed","canceled</a:t>
            </a:r>
            <a:r>
              <a:rPr sz="950" dirty="0">
                <a:solidFill>
                  <a:srgbClr val="CCCCCC"/>
                </a:solidFill>
                <a:latin typeface="Courier New"/>
              </a:rPr>
              <a:t>"):</a:t>
            </a:r>
          </a:p>
          <a:p>
            <a:r>
              <a:rPr sz="950" dirty="0">
                <a:solidFill>
                  <a:srgbClr val="CCCCCC"/>
                </a:solidFill>
                <a:latin typeface="Courier New"/>
              </a:rPr>
              <a:t>                break</a:t>
            </a:r>
          </a:p>
          <a:p>
            <a:endParaRPr sz="950" dirty="0">
              <a:solidFill>
                <a:srgbClr val="CCCCCC"/>
              </a:solidFill>
              <a:latin typeface="Courier New"/>
            </a:endParaRPr>
          </a:p>
          <a:p>
            <a:r>
              <a:rPr sz="950" dirty="0">
                <a:solidFill>
                  <a:srgbClr val="CCCCCC"/>
                </a:solidFill>
                <a:latin typeface="Courier New"/>
              </a:rPr>
              <a:t>        # </a:t>
            </a:r>
            <a:r>
              <a:rPr sz="950" dirty="0" err="1">
                <a:solidFill>
                  <a:srgbClr val="CCCCCC"/>
                </a:solidFill>
                <a:latin typeface="Courier New"/>
              </a:rPr>
              <a:t>TaskArtifactUpdateEvent</a:t>
            </a:r>
            <a:endParaRPr sz="950" dirty="0">
              <a:solidFill>
                <a:srgbClr val="CCCCCC"/>
              </a:solidFill>
              <a:latin typeface="Courier New"/>
            </a:endParaRPr>
          </a:p>
          <a:p>
            <a:r>
              <a:rPr sz="950" dirty="0">
                <a:solidFill>
                  <a:srgbClr val="CCCCCC"/>
                </a:solidFill>
                <a:latin typeface="Courier New"/>
              </a:rPr>
              <a:t>        </a:t>
            </a:r>
            <a:r>
              <a:rPr sz="950" dirty="0" err="1">
                <a:solidFill>
                  <a:srgbClr val="CCCCCC"/>
                </a:solidFill>
                <a:latin typeface="Courier New"/>
              </a:rPr>
              <a:t>elif</a:t>
            </a:r>
            <a:r>
              <a:rPr sz="950" dirty="0">
                <a:solidFill>
                  <a:srgbClr val="CCCCCC"/>
                </a:solidFill>
                <a:latin typeface="Courier New"/>
              </a:rPr>
              <a:t> </a:t>
            </a:r>
            <a:r>
              <a:rPr sz="950" dirty="0" err="1">
                <a:solidFill>
                  <a:srgbClr val="CCCCCC"/>
                </a:solidFill>
                <a:latin typeface="Courier New"/>
              </a:rPr>
              <a:t>hasattr</a:t>
            </a:r>
            <a:r>
              <a:rPr sz="950" dirty="0">
                <a:solidFill>
                  <a:srgbClr val="CCCCCC"/>
                </a:solidFill>
                <a:latin typeface="Courier New"/>
              </a:rPr>
              <a:t>(result, 'artifact'):</a:t>
            </a:r>
          </a:p>
          <a:p>
            <a:r>
              <a:rPr sz="950" dirty="0">
                <a:solidFill>
                  <a:srgbClr val="CCCCCC"/>
                </a:solidFill>
                <a:latin typeface="Courier New"/>
              </a:rPr>
              <a:t>            art = </a:t>
            </a:r>
            <a:r>
              <a:rPr sz="950" dirty="0" err="1">
                <a:solidFill>
                  <a:srgbClr val="CCCCCC"/>
                </a:solidFill>
                <a:latin typeface="Courier New"/>
              </a:rPr>
              <a:t>result.artifact</a:t>
            </a:r>
            <a:endParaRPr sz="950" dirty="0">
              <a:solidFill>
                <a:srgbClr val="CCCCCC"/>
              </a:solidFill>
              <a:latin typeface="Courier New"/>
            </a:endParaRPr>
          </a:p>
          <a:p>
            <a:r>
              <a:rPr sz="950" dirty="0">
                <a:solidFill>
                  <a:srgbClr val="CCCCCC"/>
                </a:solidFill>
                <a:latin typeface="Courier New"/>
              </a:rPr>
              <a:t>            for part in </a:t>
            </a:r>
            <a:r>
              <a:rPr sz="950" dirty="0" err="1">
                <a:solidFill>
                  <a:srgbClr val="CCCCCC"/>
                </a:solidFill>
                <a:latin typeface="Courier New"/>
              </a:rPr>
              <a:t>art.parts</a:t>
            </a:r>
            <a:r>
              <a:rPr sz="950" dirty="0">
                <a:solidFill>
                  <a:srgbClr val="CCCCCC"/>
                </a:solidFill>
                <a:latin typeface="Courier New"/>
              </a:rPr>
              <a:t>:</a:t>
            </a:r>
          </a:p>
          <a:p>
            <a:r>
              <a:rPr sz="950" dirty="0">
                <a:solidFill>
                  <a:srgbClr val="CCCCCC"/>
                </a:solidFill>
                <a:latin typeface="Courier New"/>
              </a:rPr>
              <a:t>                if </a:t>
            </a:r>
            <a:r>
              <a:rPr sz="950" dirty="0" err="1">
                <a:solidFill>
                  <a:srgbClr val="CCCCCC"/>
                </a:solidFill>
                <a:latin typeface="Courier New"/>
              </a:rPr>
              <a:t>hasattr</a:t>
            </a:r>
            <a:r>
              <a:rPr sz="950" dirty="0">
                <a:solidFill>
                  <a:srgbClr val="CCCCCC"/>
                </a:solidFill>
                <a:latin typeface="Courier New"/>
              </a:rPr>
              <a:t>(part, 'text'):</a:t>
            </a:r>
          </a:p>
          <a:p>
            <a:r>
              <a:rPr sz="950" dirty="0">
                <a:solidFill>
                  <a:srgbClr val="CCCCCC"/>
                </a:solidFill>
                <a:latin typeface="Courier New"/>
              </a:rPr>
              <a:t>                    print(</a:t>
            </a:r>
            <a:r>
              <a:rPr sz="950" dirty="0" err="1">
                <a:solidFill>
                  <a:srgbClr val="CCCCCC"/>
                </a:solidFill>
                <a:latin typeface="Courier New"/>
              </a:rPr>
              <a:t>part.text</a:t>
            </a:r>
            <a:r>
              <a:rPr sz="950" dirty="0">
                <a:solidFill>
                  <a:srgbClr val="CCCCCC"/>
                </a:solidFill>
                <a:latin typeface="Courier New"/>
              </a:rPr>
              <a:t>, end='', flush=True)</a:t>
            </a:r>
          </a:p>
          <a:p>
            <a:r>
              <a:rPr sz="950" dirty="0">
                <a:solidFill>
                  <a:srgbClr val="CCCCCC"/>
                </a:solidFill>
                <a:latin typeface="Courier New"/>
              </a:rPr>
              <a:t>            if </a:t>
            </a:r>
            <a:r>
              <a:rPr sz="950" dirty="0" err="1">
                <a:solidFill>
                  <a:srgbClr val="CCCCCC"/>
                </a:solidFill>
                <a:latin typeface="Courier New"/>
              </a:rPr>
              <a:t>art.lastChunk</a:t>
            </a:r>
            <a:r>
              <a:rPr sz="950" dirty="0">
                <a:solidFill>
                  <a:srgbClr val="CCCCCC"/>
                </a:solidFill>
                <a:latin typeface="Courier New"/>
              </a:rPr>
              <a:t>:</a:t>
            </a:r>
          </a:p>
          <a:p>
            <a:r>
              <a:rPr sz="950" dirty="0">
                <a:solidFill>
                  <a:srgbClr val="CCCCCC"/>
                </a:solidFill>
                <a:latin typeface="Courier New"/>
              </a:rPr>
              <a:t>                print()   # final newline</a:t>
            </a:r>
          </a:p>
          <a:p>
            <a:r>
              <a:rPr sz="950" dirty="0">
                <a:solidFill>
                  <a:srgbClr val="CCCCCC"/>
                </a:solidFill>
                <a:latin typeface="Courier New"/>
              </a:rPr>
              <a:t>                break</a:t>
            </a:r>
          </a:p>
        </p:txBody>
      </p:sp>
      <p:sp>
        <p:nvSpPr>
          <p:cNvPr id="10" name="Rectangle 9"/>
          <p:cNvSpPr/>
          <p:nvPr/>
        </p:nvSpPr>
        <p:spPr>
          <a:xfrm>
            <a:off x="7104888" y="1115568"/>
            <a:ext cx="4782312" cy="2779776"/>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995160" y="1115568"/>
            <a:ext cx="489204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86600" y="1152144"/>
            <a:ext cx="4709159" cy="274320"/>
          </a:xfrm>
          <a:prstGeom prst="rect">
            <a:avLst/>
          </a:prstGeom>
          <a:noFill/>
        </p:spPr>
        <p:txBody>
          <a:bodyPr wrap="square">
            <a:spAutoFit/>
          </a:bodyPr>
          <a:lstStyle/>
          <a:p>
            <a:pPr algn="l"/>
            <a:r>
              <a:rPr sz="1200" b="1">
                <a:solidFill>
                  <a:srgbClr val="FFFFFF"/>
                </a:solidFill>
                <a:latin typeface="Calibri"/>
              </a:rPr>
              <a:t>SSE Event Types</a:t>
            </a:r>
          </a:p>
        </p:txBody>
      </p:sp>
      <p:sp>
        <p:nvSpPr>
          <p:cNvPr id="13" name="TextBox 12"/>
          <p:cNvSpPr txBox="1"/>
          <p:nvPr/>
        </p:nvSpPr>
        <p:spPr>
          <a:xfrm>
            <a:off x="7104888" y="1499616"/>
            <a:ext cx="4690871" cy="2139047"/>
          </a:xfrm>
          <a:prstGeom prst="rect">
            <a:avLst/>
          </a:prstGeom>
          <a:noFill/>
        </p:spPr>
        <p:txBody>
          <a:bodyPr wrap="square">
            <a:spAutoFit/>
          </a:bodyPr>
          <a:lstStyle/>
          <a:p>
            <a:pPr>
              <a:spcBef>
                <a:spcPts val="400"/>
              </a:spcBef>
            </a:pPr>
            <a:r>
              <a:rPr sz="1100" dirty="0">
                <a:solidFill>
                  <a:srgbClr val="222244"/>
                </a:solidFill>
                <a:latin typeface="Calibri"/>
              </a:rPr>
              <a:t>  •  </a:t>
            </a:r>
            <a:r>
              <a:rPr sz="1100" dirty="0" err="1">
                <a:solidFill>
                  <a:srgbClr val="222244"/>
                </a:solidFill>
                <a:latin typeface="Calibri"/>
              </a:rPr>
              <a:t>TaskStatusUpdateEvent</a:t>
            </a:r>
            <a:endParaRPr sz="1100" dirty="0">
              <a:solidFill>
                <a:srgbClr val="222244"/>
              </a:solidFill>
              <a:latin typeface="Calibri"/>
            </a:endParaRPr>
          </a:p>
          <a:p>
            <a:pPr>
              <a:spcBef>
                <a:spcPts val="400"/>
              </a:spcBef>
            </a:pPr>
            <a:r>
              <a:rPr sz="1000" dirty="0">
                <a:solidFill>
                  <a:srgbClr val="222244"/>
                </a:solidFill>
                <a:latin typeface="Calibri"/>
              </a:rPr>
              <a:t>       ◦  </a:t>
            </a:r>
            <a:r>
              <a:rPr sz="1000" dirty="0" err="1">
                <a:solidFill>
                  <a:srgbClr val="222244"/>
                </a:solidFill>
                <a:latin typeface="Calibri"/>
              </a:rPr>
              <a:t>status.state</a:t>
            </a:r>
            <a:r>
              <a:rPr sz="1000" dirty="0">
                <a:solidFill>
                  <a:srgbClr val="222244"/>
                </a:solidFill>
                <a:latin typeface="Calibri"/>
              </a:rPr>
              <a:t>  — new task state</a:t>
            </a:r>
          </a:p>
          <a:p>
            <a:pPr>
              <a:spcBef>
                <a:spcPts val="400"/>
              </a:spcBef>
            </a:pPr>
            <a:r>
              <a:rPr sz="1000" dirty="0">
                <a:solidFill>
                  <a:srgbClr val="222244"/>
                </a:solidFill>
                <a:latin typeface="Calibri"/>
              </a:rPr>
              <a:t>       ◦  </a:t>
            </a:r>
            <a:r>
              <a:rPr sz="1000" dirty="0" err="1">
                <a:solidFill>
                  <a:srgbClr val="222244"/>
                </a:solidFill>
                <a:latin typeface="Calibri"/>
              </a:rPr>
              <a:t>status.message</a:t>
            </a:r>
            <a:r>
              <a:rPr sz="1000" dirty="0">
                <a:solidFill>
                  <a:srgbClr val="222244"/>
                </a:solidFill>
                <a:latin typeface="Calibri"/>
              </a:rPr>
              <a:t> — optional agent message</a:t>
            </a:r>
          </a:p>
          <a:p>
            <a:pPr>
              <a:spcBef>
                <a:spcPts val="400"/>
              </a:spcBef>
            </a:pPr>
            <a:r>
              <a:rPr sz="1000" dirty="0">
                <a:solidFill>
                  <a:srgbClr val="222244"/>
                </a:solidFill>
                <a:latin typeface="Calibri"/>
              </a:rPr>
              <a:t>       ◦  final: true when stream ends</a:t>
            </a:r>
          </a:p>
          <a:p>
            <a:pPr>
              <a:spcBef>
                <a:spcPts val="400"/>
              </a:spcBef>
            </a:pPr>
            <a:r>
              <a:rPr sz="1100" dirty="0">
                <a:solidFill>
                  <a:srgbClr val="222244"/>
                </a:solidFill>
                <a:latin typeface="Calibri"/>
              </a:rPr>
              <a:t>  •  </a:t>
            </a:r>
          </a:p>
          <a:p>
            <a:pPr>
              <a:spcBef>
                <a:spcPts val="400"/>
              </a:spcBef>
            </a:pPr>
            <a:r>
              <a:rPr sz="1100" dirty="0">
                <a:solidFill>
                  <a:srgbClr val="222244"/>
                </a:solidFill>
                <a:latin typeface="Calibri"/>
              </a:rPr>
              <a:t>  •  </a:t>
            </a:r>
            <a:r>
              <a:rPr sz="1100" dirty="0" err="1">
                <a:solidFill>
                  <a:srgbClr val="222244"/>
                </a:solidFill>
                <a:latin typeface="Calibri"/>
              </a:rPr>
              <a:t>TaskArtifactUpdateEvent</a:t>
            </a:r>
            <a:endParaRPr sz="1100" dirty="0">
              <a:solidFill>
                <a:srgbClr val="222244"/>
              </a:solidFill>
              <a:latin typeface="Calibri"/>
            </a:endParaRPr>
          </a:p>
          <a:p>
            <a:pPr>
              <a:spcBef>
                <a:spcPts val="400"/>
              </a:spcBef>
            </a:pPr>
            <a:r>
              <a:rPr sz="1000" dirty="0">
                <a:solidFill>
                  <a:srgbClr val="222244"/>
                </a:solidFill>
                <a:latin typeface="Calibri"/>
              </a:rPr>
              <a:t>       ◦  </a:t>
            </a:r>
            <a:r>
              <a:rPr sz="1000" dirty="0" err="1">
                <a:solidFill>
                  <a:srgbClr val="222244"/>
                </a:solidFill>
                <a:latin typeface="Calibri"/>
              </a:rPr>
              <a:t>artifact.parts</a:t>
            </a:r>
            <a:r>
              <a:rPr sz="1000" dirty="0">
                <a:solidFill>
                  <a:srgbClr val="222244"/>
                </a:solidFill>
                <a:latin typeface="Calibri"/>
              </a:rPr>
              <a:t> — content chunk</a:t>
            </a:r>
          </a:p>
          <a:p>
            <a:pPr>
              <a:spcBef>
                <a:spcPts val="400"/>
              </a:spcBef>
            </a:pPr>
            <a:r>
              <a:rPr sz="1000" dirty="0">
                <a:solidFill>
                  <a:srgbClr val="222244"/>
                </a:solidFill>
                <a:latin typeface="Calibri"/>
              </a:rPr>
              <a:t>       ◦  </a:t>
            </a:r>
            <a:r>
              <a:rPr sz="1000" dirty="0" err="1">
                <a:solidFill>
                  <a:srgbClr val="222244"/>
                </a:solidFill>
                <a:latin typeface="Calibri"/>
              </a:rPr>
              <a:t>artifact.index</a:t>
            </a:r>
            <a:r>
              <a:rPr sz="1000" dirty="0">
                <a:solidFill>
                  <a:srgbClr val="222244"/>
                </a:solidFill>
                <a:latin typeface="Calibri"/>
              </a:rPr>
              <a:t> — chunk sequence</a:t>
            </a:r>
          </a:p>
          <a:p>
            <a:pPr>
              <a:spcBef>
                <a:spcPts val="400"/>
              </a:spcBef>
            </a:pPr>
            <a:r>
              <a:rPr sz="1000" dirty="0">
                <a:solidFill>
                  <a:srgbClr val="222244"/>
                </a:solidFill>
                <a:latin typeface="Calibri"/>
              </a:rPr>
              <a:t>       ◦  </a:t>
            </a:r>
            <a:r>
              <a:rPr sz="1000" dirty="0" err="1">
                <a:solidFill>
                  <a:srgbClr val="222244"/>
                </a:solidFill>
                <a:latin typeface="Calibri"/>
              </a:rPr>
              <a:t>artifact.lastChunk</a:t>
            </a:r>
            <a:r>
              <a:rPr sz="1000" dirty="0">
                <a:solidFill>
                  <a:srgbClr val="222244"/>
                </a:solidFill>
                <a:latin typeface="Calibri"/>
              </a:rPr>
              <a:t> — stream done</a:t>
            </a:r>
          </a:p>
          <a:p>
            <a:pPr>
              <a:spcBef>
                <a:spcPts val="400"/>
              </a:spcBef>
            </a:pPr>
            <a:r>
              <a:rPr sz="1000" dirty="0">
                <a:solidFill>
                  <a:srgbClr val="222244"/>
                </a:solidFill>
                <a:latin typeface="Calibri"/>
              </a:rPr>
              <a:t>       ◦  </a:t>
            </a:r>
            <a:r>
              <a:rPr sz="1000" dirty="0" err="1">
                <a:solidFill>
                  <a:srgbClr val="222244"/>
                </a:solidFill>
                <a:latin typeface="Calibri"/>
              </a:rPr>
              <a:t>artifact.append</a:t>
            </a:r>
            <a:r>
              <a:rPr sz="1000" dirty="0">
                <a:solidFill>
                  <a:srgbClr val="222244"/>
                </a:solidFill>
                <a:latin typeface="Calibri"/>
              </a:rPr>
              <a:t> — extends prior chunk</a:t>
            </a:r>
          </a:p>
        </p:txBody>
      </p:sp>
      <p:sp>
        <p:nvSpPr>
          <p:cNvPr id="14" name="Rectangle 13"/>
          <p:cNvSpPr/>
          <p:nvPr/>
        </p:nvSpPr>
        <p:spPr>
          <a:xfrm>
            <a:off x="7104889" y="4416552"/>
            <a:ext cx="4892040" cy="173736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104889" y="4416552"/>
            <a:ext cx="489204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96329" y="4453128"/>
            <a:ext cx="4709159" cy="274320"/>
          </a:xfrm>
          <a:prstGeom prst="rect">
            <a:avLst/>
          </a:prstGeom>
          <a:noFill/>
        </p:spPr>
        <p:txBody>
          <a:bodyPr wrap="square">
            <a:spAutoFit/>
          </a:bodyPr>
          <a:lstStyle/>
          <a:p>
            <a:pPr algn="l"/>
            <a:r>
              <a:rPr sz="1200" b="1">
                <a:solidFill>
                  <a:srgbClr val="FFFFFF"/>
                </a:solidFill>
                <a:latin typeface="Calibri"/>
              </a:rPr>
              <a:t>Agent Card Requirement</a:t>
            </a:r>
          </a:p>
        </p:txBody>
      </p:sp>
      <p:sp>
        <p:nvSpPr>
          <p:cNvPr id="17" name="TextBox 16"/>
          <p:cNvSpPr txBox="1"/>
          <p:nvPr/>
        </p:nvSpPr>
        <p:spPr>
          <a:xfrm>
            <a:off x="7214617" y="4800600"/>
            <a:ext cx="4672583" cy="1280160"/>
          </a:xfrm>
          <a:prstGeom prst="rect">
            <a:avLst/>
          </a:prstGeom>
          <a:noFill/>
        </p:spPr>
        <p:txBody>
          <a:bodyPr wrap="square">
            <a:spAutoFit/>
          </a:bodyPr>
          <a:lstStyle/>
          <a:p>
            <a:pPr>
              <a:spcBef>
                <a:spcPts val="400"/>
              </a:spcBef>
            </a:pPr>
            <a:r>
              <a:rPr sz="1100">
                <a:solidFill>
                  <a:srgbClr val="222244"/>
                </a:solidFill>
                <a:latin typeface="Calibri"/>
              </a:rPr>
              <a:t>  •  capabilities.streaming: true</a:t>
            </a:r>
          </a:p>
          <a:p>
            <a:pPr>
              <a:spcBef>
                <a:spcPts val="400"/>
              </a:spcBef>
            </a:pPr>
            <a:r>
              <a:rPr sz="1100">
                <a:solidFill>
                  <a:srgbClr val="222244"/>
                </a:solidFill>
                <a:latin typeface="Calibri"/>
              </a:rPr>
              <a:t>  •  Clients check this BEFORE subscribing</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Used By:</a:t>
            </a:r>
          </a:p>
          <a:p>
            <a:pPr>
              <a:spcBef>
                <a:spcPts val="400"/>
              </a:spcBef>
            </a:pPr>
            <a:r>
              <a:rPr sz="1000">
                <a:solidFill>
                  <a:srgbClr val="222244"/>
                </a:solidFill>
                <a:latin typeface="Calibri"/>
              </a:rPr>
              <a:t>       ◦  Flight Agent  — search results</a:t>
            </a:r>
          </a:p>
          <a:p>
            <a:pPr>
              <a:spcBef>
                <a:spcPts val="400"/>
              </a:spcBef>
            </a:pPr>
            <a:r>
              <a:rPr sz="1000">
                <a:solidFill>
                  <a:srgbClr val="222244"/>
                </a:solidFill>
                <a:latin typeface="Calibri"/>
              </a:rPr>
              <a:t>       ◦  Weather Agent — live forecast stream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5: Streaming — Server-Side Implementation</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How the Flight Agent generates SSE events</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6903720" cy="548640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15568"/>
            <a:ext cx="690372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43000"/>
            <a:ext cx="6720840" cy="201168"/>
          </a:xfrm>
          <a:prstGeom prst="rect">
            <a:avLst/>
          </a:prstGeom>
          <a:noFill/>
        </p:spPr>
        <p:txBody>
          <a:bodyPr wrap="square">
            <a:spAutoFit/>
          </a:bodyPr>
          <a:lstStyle/>
          <a:p>
            <a:pPr algn="l"/>
            <a:r>
              <a:rPr sz="1000" b="0">
                <a:solidFill>
                  <a:srgbClr val="F0A500"/>
                </a:solidFill>
                <a:latin typeface="Calibri"/>
              </a:rPr>
              <a:t>FlightAgentExecutor — Server-side SSE</a:t>
            </a:r>
          </a:p>
        </p:txBody>
      </p:sp>
      <p:sp>
        <p:nvSpPr>
          <p:cNvPr id="9" name="TextBox 8"/>
          <p:cNvSpPr txBox="1"/>
          <p:nvPr/>
        </p:nvSpPr>
        <p:spPr>
          <a:xfrm>
            <a:off x="365760" y="1380744"/>
            <a:ext cx="6720840" cy="5175504"/>
          </a:xfrm>
          <a:prstGeom prst="rect">
            <a:avLst/>
          </a:prstGeom>
          <a:noFill/>
        </p:spPr>
        <p:txBody>
          <a:bodyPr wrap="none">
            <a:spAutoFit/>
          </a:bodyPr>
          <a:lstStyle/>
          <a:p>
            <a:r>
              <a:rPr sz="950">
                <a:solidFill>
                  <a:srgbClr val="CCCCCC"/>
                </a:solidFill>
                <a:latin typeface="Courier New"/>
              </a:rPr>
              <a:t>from a2a.server.agent_execution import AgentExecutor</a:t>
            </a:r>
          </a:p>
          <a:p>
            <a:r>
              <a:rPr sz="950">
                <a:solidFill>
                  <a:srgbClr val="CCCCCC"/>
                </a:solidFill>
                <a:latin typeface="Courier New"/>
              </a:rPr>
              <a:t>from a2a.server.events import EventQueue</a:t>
            </a:r>
          </a:p>
          <a:p>
            <a:r>
              <a:rPr sz="950">
                <a:solidFill>
                  <a:srgbClr val="CCCCCC"/>
                </a:solidFill>
                <a:latin typeface="Courier New"/>
              </a:rPr>
              <a:t>from a2a.types import (</a:t>
            </a:r>
          </a:p>
          <a:p>
            <a:r>
              <a:rPr sz="950">
                <a:solidFill>
                  <a:srgbClr val="CCCCCC"/>
                </a:solidFill>
                <a:latin typeface="Courier New"/>
              </a:rPr>
              <a:t>    TaskStatusUpdateEvent, TaskArtifactUpdateEvent,</a:t>
            </a:r>
          </a:p>
          <a:p>
            <a:r>
              <a:rPr sz="950">
                <a:solidFill>
                  <a:srgbClr val="CCCCCC"/>
                </a:solidFill>
                <a:latin typeface="Courier New"/>
              </a:rPr>
              <a:t>    TaskStatus, Artifact, TextPart</a:t>
            </a:r>
          </a:p>
          <a:p>
            <a:r>
              <a:rPr sz="950">
                <a:solidFill>
                  <a:srgbClr val="CCCCCC"/>
                </a:solidFill>
                <a:latin typeface="Courier New"/>
              </a:rPr>
              <a:t>)</a:t>
            </a:r>
          </a:p>
          <a:p>
            <a:endParaRPr sz="950">
              <a:solidFill>
                <a:srgbClr val="CCCCCC"/>
              </a:solidFill>
              <a:latin typeface="Courier New"/>
            </a:endParaRPr>
          </a:p>
          <a:p>
            <a:r>
              <a:rPr sz="950">
                <a:solidFill>
                  <a:srgbClr val="CCCCCC"/>
                </a:solidFill>
                <a:latin typeface="Courier New"/>
              </a:rPr>
              <a:t>class FlightAgentExecutor(AgentExecutor):</a:t>
            </a:r>
          </a:p>
          <a:p>
            <a:endParaRPr sz="950">
              <a:solidFill>
                <a:srgbClr val="CCCCCC"/>
              </a:solidFill>
              <a:latin typeface="Courier New"/>
            </a:endParaRPr>
          </a:p>
          <a:p>
            <a:r>
              <a:rPr sz="950">
                <a:solidFill>
                  <a:srgbClr val="CCCCCC"/>
                </a:solidFill>
                <a:latin typeface="Courier New"/>
              </a:rPr>
              <a:t>    async def execute(self, context, event_queue: EventQueue):</a:t>
            </a:r>
          </a:p>
          <a:p>
            <a:r>
              <a:rPr sz="950">
                <a:solidFill>
                  <a:srgbClr val="CCCCCC"/>
                </a:solidFill>
                <a:latin typeface="Courier New"/>
              </a:rPr>
              <a:t>        query = context.get_user_input()</a:t>
            </a:r>
          </a:p>
          <a:p>
            <a:endParaRPr sz="950">
              <a:solidFill>
                <a:srgbClr val="CCCCCC"/>
              </a:solidFill>
              <a:latin typeface="Courier New"/>
            </a:endParaRPr>
          </a:p>
          <a:p>
            <a:r>
              <a:rPr sz="950">
                <a:solidFill>
                  <a:srgbClr val="CCCCCC"/>
                </a:solidFill>
                <a:latin typeface="Courier New"/>
              </a:rPr>
              <a:t>        # Emit working status</a:t>
            </a:r>
          </a:p>
          <a:p>
            <a:r>
              <a:rPr sz="950">
                <a:solidFill>
                  <a:srgbClr val="CCCCCC"/>
                </a:solidFill>
                <a:latin typeface="Courier New"/>
              </a:rPr>
              <a:t>        await event_queue.enqueue_event(</a:t>
            </a:r>
          </a:p>
          <a:p>
            <a:r>
              <a:rPr sz="950">
                <a:solidFill>
                  <a:srgbClr val="CCCCCC"/>
                </a:solidFill>
                <a:latin typeface="Courier New"/>
              </a:rPr>
              <a:t>            TaskStatusUpdateEvent(</a:t>
            </a:r>
          </a:p>
          <a:p>
            <a:r>
              <a:rPr sz="950">
                <a:solidFill>
                  <a:srgbClr val="CCCCCC"/>
                </a:solidFill>
                <a:latin typeface="Courier New"/>
              </a:rPr>
              <a:t>                status=TaskStatus(state="working"),</a:t>
            </a:r>
          </a:p>
          <a:p>
            <a:r>
              <a:rPr sz="950">
                <a:solidFill>
                  <a:srgbClr val="CCCCCC"/>
                </a:solidFill>
                <a:latin typeface="Courier New"/>
              </a:rPr>
              <a:t>                final=False</a:t>
            </a:r>
          </a:p>
          <a:p>
            <a:r>
              <a:rPr sz="950">
                <a:solidFill>
                  <a:srgbClr val="CCCCCC"/>
                </a:solidFill>
                <a:latin typeface="Courier New"/>
              </a:rPr>
              <a:t>            )</a:t>
            </a:r>
          </a:p>
          <a:p>
            <a:r>
              <a:rPr sz="950">
                <a:solidFill>
                  <a:srgbClr val="CCCCCC"/>
                </a:solidFill>
                <a:latin typeface="Courier New"/>
              </a:rPr>
              <a:t>        )</a:t>
            </a:r>
          </a:p>
          <a:p>
            <a:endParaRPr sz="950">
              <a:solidFill>
                <a:srgbClr val="CCCCCC"/>
              </a:solidFill>
              <a:latin typeface="Courier New"/>
            </a:endParaRPr>
          </a:p>
          <a:p>
            <a:r>
              <a:rPr sz="950">
                <a:solidFill>
                  <a:srgbClr val="CCCCCC"/>
                </a:solidFill>
                <a:latin typeface="Courier New"/>
              </a:rPr>
              <a:t>        # Stream results chunk by chunk</a:t>
            </a:r>
          </a:p>
          <a:p>
            <a:r>
              <a:rPr sz="950">
                <a:solidFill>
                  <a:srgbClr val="CCCCCC"/>
                </a:solidFill>
                <a:latin typeface="Courier New"/>
              </a:rPr>
              <a:t>        flights = await self._search_flights(query)</a:t>
            </a:r>
          </a:p>
          <a:p>
            <a:r>
              <a:rPr sz="950">
                <a:solidFill>
                  <a:srgbClr val="CCCCCC"/>
                </a:solidFill>
                <a:latin typeface="Courier New"/>
              </a:rPr>
              <a:t>        for i, flight in enumerate(flights):</a:t>
            </a:r>
          </a:p>
          <a:p>
            <a:r>
              <a:rPr sz="950">
                <a:solidFill>
                  <a:srgbClr val="CCCCCC"/>
                </a:solidFill>
                <a:latin typeface="Courier New"/>
              </a:rPr>
              <a:t>            is_last = (i == len(flights) - 1)</a:t>
            </a:r>
          </a:p>
          <a:p>
            <a:r>
              <a:rPr sz="950">
                <a:solidFill>
                  <a:srgbClr val="CCCCCC"/>
                </a:solidFill>
                <a:latin typeface="Courier New"/>
              </a:rPr>
              <a:t>            await event_queue.enqueue_event(</a:t>
            </a:r>
          </a:p>
          <a:p>
            <a:r>
              <a:rPr sz="950">
                <a:solidFill>
                  <a:srgbClr val="CCCCCC"/>
                </a:solidFill>
                <a:latin typeface="Courier New"/>
              </a:rPr>
              <a:t>                TaskArtifactUpdateEvent(</a:t>
            </a:r>
          </a:p>
          <a:p>
            <a:r>
              <a:rPr sz="950">
                <a:solidFill>
                  <a:srgbClr val="CCCCCC"/>
                </a:solidFill>
                <a:latin typeface="Courier New"/>
              </a:rPr>
              <a:t>                    artifact=Artifact(</a:t>
            </a:r>
          </a:p>
          <a:p>
            <a:r>
              <a:rPr sz="950">
                <a:solidFill>
                  <a:srgbClr val="CCCCCC"/>
                </a:solidFill>
                <a:latin typeface="Courier New"/>
              </a:rPr>
              <a:t>                        name="flights",</a:t>
            </a:r>
          </a:p>
          <a:p>
            <a:r>
              <a:rPr sz="950">
                <a:solidFill>
                  <a:srgbClr val="CCCCCC"/>
                </a:solidFill>
                <a:latin typeface="Courier New"/>
              </a:rPr>
              <a:t>                        index=i,</a:t>
            </a:r>
          </a:p>
          <a:p>
            <a:r>
              <a:rPr sz="950">
                <a:solidFill>
                  <a:srgbClr val="CCCCCC"/>
                </a:solidFill>
                <a:latin typeface="Courier New"/>
              </a:rPr>
              <a:t>                        lastChunk=is_last,</a:t>
            </a:r>
          </a:p>
          <a:p>
            <a:r>
              <a:rPr sz="950">
                <a:solidFill>
                  <a:srgbClr val="CCCCCC"/>
                </a:solidFill>
                <a:latin typeface="Courier New"/>
              </a:rPr>
              <a:t>                        parts=[TextPart(</a:t>
            </a:r>
          </a:p>
          <a:p>
            <a:r>
              <a:rPr sz="950">
                <a:solidFill>
                  <a:srgbClr val="CCCCCC"/>
                </a:solidFill>
                <a:latin typeface="Courier New"/>
              </a:rPr>
              <a:t>                            type="text",</a:t>
            </a:r>
          </a:p>
          <a:p>
            <a:r>
              <a:rPr sz="950">
                <a:solidFill>
                  <a:srgbClr val="CCCCCC"/>
                </a:solidFill>
                <a:latin typeface="Courier New"/>
              </a:rPr>
              <a:t>                            text=f"Flight {i+1}: {flight}"</a:t>
            </a:r>
          </a:p>
          <a:p>
            <a:r>
              <a:rPr sz="950">
                <a:solidFill>
                  <a:srgbClr val="CCCCCC"/>
                </a:solidFill>
                <a:latin typeface="Courier New"/>
              </a:rPr>
              <a:t>                        )]</a:t>
            </a:r>
          </a:p>
          <a:p>
            <a:r>
              <a:rPr sz="950">
                <a:solidFill>
                  <a:srgbClr val="CCCCCC"/>
                </a:solidFill>
                <a:latin typeface="Courier New"/>
              </a:rPr>
              <a:t>                    )</a:t>
            </a:r>
          </a:p>
          <a:p>
            <a:r>
              <a:rPr sz="950">
                <a:solidFill>
                  <a:srgbClr val="CCCCCC"/>
                </a:solidFill>
                <a:latin typeface="Courier New"/>
              </a:rPr>
              <a:t>                )</a:t>
            </a:r>
          </a:p>
          <a:p>
            <a:r>
              <a:rPr sz="950">
                <a:solidFill>
                  <a:srgbClr val="CCCCCC"/>
                </a:solidFill>
                <a:latin typeface="Courier New"/>
              </a:rPr>
              <a:t>            )</a:t>
            </a:r>
          </a:p>
          <a:p>
            <a:endParaRPr sz="950">
              <a:solidFill>
                <a:srgbClr val="CCCCCC"/>
              </a:solidFill>
              <a:latin typeface="Courier New"/>
            </a:endParaRPr>
          </a:p>
          <a:p>
            <a:r>
              <a:rPr sz="950">
                <a:solidFill>
                  <a:srgbClr val="CCCCCC"/>
                </a:solidFill>
                <a:latin typeface="Courier New"/>
              </a:rPr>
              <a:t>        # Emit completed status</a:t>
            </a:r>
          </a:p>
          <a:p>
            <a:r>
              <a:rPr sz="950">
                <a:solidFill>
                  <a:srgbClr val="CCCCCC"/>
                </a:solidFill>
                <a:latin typeface="Courier New"/>
              </a:rPr>
              <a:t>        await event_queue.enqueue_event(</a:t>
            </a:r>
          </a:p>
          <a:p>
            <a:r>
              <a:rPr sz="950">
                <a:solidFill>
                  <a:srgbClr val="CCCCCC"/>
                </a:solidFill>
                <a:latin typeface="Courier New"/>
              </a:rPr>
              <a:t>            TaskStatusUpdateEvent(</a:t>
            </a:r>
          </a:p>
          <a:p>
            <a:r>
              <a:rPr sz="950">
                <a:solidFill>
                  <a:srgbClr val="CCCCCC"/>
                </a:solidFill>
                <a:latin typeface="Courier New"/>
              </a:rPr>
              <a:t>                status=TaskStatus(state="completed"),</a:t>
            </a:r>
          </a:p>
          <a:p>
            <a:r>
              <a:rPr sz="950">
                <a:solidFill>
                  <a:srgbClr val="CCCCCC"/>
                </a:solidFill>
                <a:latin typeface="Courier New"/>
              </a:rPr>
              <a:t>                final=True</a:t>
            </a:r>
          </a:p>
          <a:p>
            <a:r>
              <a:rPr sz="950">
                <a:solidFill>
                  <a:srgbClr val="CCCCCC"/>
                </a:solidFill>
                <a:latin typeface="Courier New"/>
              </a:rPr>
              <a:t>            )</a:t>
            </a:r>
          </a:p>
          <a:p>
            <a:r>
              <a:rPr sz="950">
                <a:solidFill>
                  <a:srgbClr val="CCCCCC"/>
                </a:solidFill>
                <a:latin typeface="Courier New"/>
              </a:rPr>
              <a:t>        )</a:t>
            </a:r>
          </a:p>
        </p:txBody>
      </p:sp>
      <p:sp>
        <p:nvSpPr>
          <p:cNvPr id="10" name="Rectangle 9"/>
          <p:cNvSpPr/>
          <p:nvPr/>
        </p:nvSpPr>
        <p:spPr>
          <a:xfrm>
            <a:off x="7315200" y="1115568"/>
            <a:ext cx="4572000" cy="548640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0" y="1115568"/>
            <a:ext cx="457200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06640" y="1152144"/>
            <a:ext cx="4389120" cy="274320"/>
          </a:xfrm>
          <a:prstGeom prst="rect">
            <a:avLst/>
          </a:prstGeom>
          <a:noFill/>
        </p:spPr>
        <p:txBody>
          <a:bodyPr wrap="square">
            <a:spAutoFit/>
          </a:bodyPr>
          <a:lstStyle/>
          <a:p>
            <a:pPr algn="l"/>
            <a:r>
              <a:rPr sz="1200" b="1">
                <a:solidFill>
                  <a:srgbClr val="FFFFFF"/>
                </a:solidFill>
                <a:latin typeface="Calibri"/>
              </a:rPr>
              <a:t>EventQueue Pattern</a:t>
            </a:r>
          </a:p>
        </p:txBody>
      </p:sp>
      <p:sp>
        <p:nvSpPr>
          <p:cNvPr id="13" name="TextBox 12"/>
          <p:cNvSpPr txBox="1"/>
          <p:nvPr/>
        </p:nvSpPr>
        <p:spPr>
          <a:xfrm>
            <a:off x="7424927" y="1499616"/>
            <a:ext cx="4352544" cy="5029200"/>
          </a:xfrm>
          <a:prstGeom prst="rect">
            <a:avLst/>
          </a:prstGeom>
          <a:noFill/>
        </p:spPr>
        <p:txBody>
          <a:bodyPr wrap="square">
            <a:spAutoFit/>
          </a:bodyPr>
          <a:lstStyle/>
          <a:p>
            <a:pPr>
              <a:spcBef>
                <a:spcPts val="400"/>
              </a:spcBef>
            </a:pPr>
            <a:r>
              <a:rPr sz="1100">
                <a:solidFill>
                  <a:srgbClr val="222244"/>
                </a:solidFill>
                <a:latin typeface="Calibri"/>
              </a:rPr>
              <a:t>  •  AgentExecutor.execute() receives EventQueue</a:t>
            </a:r>
          </a:p>
          <a:p>
            <a:pPr>
              <a:spcBef>
                <a:spcPts val="400"/>
              </a:spcBef>
            </a:pPr>
            <a:r>
              <a:rPr sz="1100">
                <a:solidFill>
                  <a:srgbClr val="222244"/>
                </a:solidFill>
                <a:latin typeface="Calibri"/>
              </a:rPr>
              <a:t>  •  Call event_queue.enqueue_event() to stream</a:t>
            </a:r>
          </a:p>
          <a:p>
            <a:pPr>
              <a:spcBef>
                <a:spcPts val="400"/>
              </a:spcBef>
            </a:pPr>
            <a:r>
              <a:rPr sz="1100">
                <a:solidFill>
                  <a:srgbClr val="222244"/>
                </a:solidFill>
                <a:latin typeface="Calibri"/>
              </a:rPr>
              <a:t>  •  Status events: state transitions</a:t>
            </a:r>
          </a:p>
          <a:p>
            <a:pPr>
              <a:spcBef>
                <a:spcPts val="400"/>
              </a:spcBef>
            </a:pPr>
            <a:r>
              <a:rPr sz="1100">
                <a:solidFill>
                  <a:srgbClr val="222244"/>
                </a:solidFill>
                <a:latin typeface="Calibri"/>
              </a:rPr>
              <a:t>  •  Artifact events: content chunks</a:t>
            </a:r>
          </a:p>
          <a:p>
            <a:pPr>
              <a:spcBef>
                <a:spcPts val="400"/>
              </a:spcBef>
            </a:pPr>
            <a:r>
              <a:rPr sz="1100">
                <a:solidFill>
                  <a:srgbClr val="222244"/>
                </a:solidFill>
                <a:latin typeface="Calibri"/>
              </a:rPr>
              <a:t>  •  final=True signals end of SSE stream</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Framework handles:</a:t>
            </a:r>
          </a:p>
          <a:p>
            <a:pPr>
              <a:spcBef>
                <a:spcPts val="400"/>
              </a:spcBef>
            </a:pPr>
            <a:r>
              <a:rPr sz="1000">
                <a:solidFill>
                  <a:srgbClr val="222244"/>
                </a:solidFill>
                <a:latin typeface="Calibri"/>
              </a:rPr>
              <a:t>       ◦  SSE formatting (data: ... \n\n)</a:t>
            </a:r>
          </a:p>
          <a:p>
            <a:pPr>
              <a:spcBef>
                <a:spcPts val="400"/>
              </a:spcBef>
            </a:pPr>
            <a:r>
              <a:rPr sz="1000">
                <a:solidFill>
                  <a:srgbClr val="222244"/>
                </a:solidFill>
                <a:latin typeface="Calibri"/>
              </a:rPr>
              <a:t>       ◦  Content-Type: text/event-stream</a:t>
            </a:r>
          </a:p>
          <a:p>
            <a:pPr>
              <a:spcBef>
                <a:spcPts val="400"/>
              </a:spcBef>
            </a:pPr>
            <a:r>
              <a:rPr sz="1000">
                <a:solidFill>
                  <a:srgbClr val="222244"/>
                </a:solidFill>
                <a:latin typeface="Calibri"/>
              </a:rPr>
              <a:t>       ◦  HTTP chunked transfer encoding</a:t>
            </a:r>
          </a:p>
          <a:p>
            <a:pPr>
              <a:spcBef>
                <a:spcPts val="400"/>
              </a:spcBef>
            </a:pPr>
            <a:r>
              <a:rPr sz="1000">
                <a:solidFill>
                  <a:srgbClr val="222244"/>
                </a:solidFill>
                <a:latin typeface="Calibri"/>
              </a:rPr>
              <a:t>       ◦  Client disconnect detection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6: Multimodal Content — Files and Structured Data</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FilePart (bytes/URI) and DataPart (structured JSON)</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6812280" cy="548640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15568"/>
            <a:ext cx="681228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43000"/>
            <a:ext cx="6629400" cy="201168"/>
          </a:xfrm>
          <a:prstGeom prst="rect">
            <a:avLst/>
          </a:prstGeom>
          <a:noFill/>
        </p:spPr>
        <p:txBody>
          <a:bodyPr wrap="square">
            <a:spAutoFit/>
          </a:bodyPr>
          <a:lstStyle/>
          <a:p>
            <a:pPr algn="l"/>
            <a:r>
              <a:rPr sz="1000" b="0">
                <a:solidFill>
                  <a:srgbClr val="F0A500"/>
                </a:solidFill>
                <a:latin typeface="Calibri"/>
              </a:rPr>
              <a:t>Multimodal Parts — Python</a:t>
            </a:r>
          </a:p>
        </p:txBody>
      </p:sp>
      <p:sp>
        <p:nvSpPr>
          <p:cNvPr id="9" name="TextBox 8"/>
          <p:cNvSpPr txBox="1"/>
          <p:nvPr/>
        </p:nvSpPr>
        <p:spPr>
          <a:xfrm>
            <a:off x="365760" y="1380744"/>
            <a:ext cx="6629400" cy="5175504"/>
          </a:xfrm>
          <a:prstGeom prst="rect">
            <a:avLst/>
          </a:prstGeom>
          <a:noFill/>
        </p:spPr>
        <p:txBody>
          <a:bodyPr wrap="none">
            <a:spAutoFit/>
          </a:bodyPr>
          <a:lstStyle/>
          <a:p>
            <a:r>
              <a:rPr sz="950">
                <a:solidFill>
                  <a:srgbClr val="CCCCCC"/>
                </a:solidFill>
                <a:latin typeface="Courier New"/>
              </a:rPr>
              <a:t>import base64</a:t>
            </a:r>
          </a:p>
          <a:p>
            <a:r>
              <a:rPr sz="950">
                <a:solidFill>
                  <a:srgbClr val="CCCCCC"/>
                </a:solidFill>
                <a:latin typeface="Courier New"/>
              </a:rPr>
              <a:t>from a2a.types import (</a:t>
            </a:r>
          </a:p>
          <a:p>
            <a:r>
              <a:rPr sz="950">
                <a:solidFill>
                  <a:srgbClr val="CCCCCC"/>
                </a:solidFill>
                <a:latin typeface="Courier New"/>
              </a:rPr>
              <a:t>    Message, FilePart, FileContent, DataPart, TextPart</a:t>
            </a:r>
          </a:p>
          <a:p>
            <a:r>
              <a:rPr sz="950">
                <a:solidFill>
                  <a:srgbClr val="CCCCCC"/>
                </a:solidFill>
                <a:latin typeface="Courier New"/>
              </a:rPr>
              <a:t>)</a:t>
            </a:r>
          </a:p>
          <a:p>
            <a:endParaRPr sz="950">
              <a:solidFill>
                <a:srgbClr val="CCCCCC"/>
              </a:solidFill>
              <a:latin typeface="Courier New"/>
            </a:endParaRPr>
          </a:p>
          <a:p>
            <a:r>
              <a:rPr sz="950">
                <a:solidFill>
                  <a:srgbClr val="CCCCCC"/>
                </a:solidFill>
                <a:latin typeface="Courier New"/>
              </a:rPr>
              <a:t># ── FilePart: inline bytes ─────────────────────────────</a:t>
            </a:r>
          </a:p>
          <a:p>
            <a:r>
              <a:rPr sz="950">
                <a:solidFill>
                  <a:srgbClr val="CCCCCC"/>
                </a:solidFill>
                <a:latin typeface="Courier New"/>
              </a:rPr>
              <a:t>with open("hotel_brochure.pdf", "rb") as f:</a:t>
            </a:r>
          </a:p>
          <a:p>
            <a:r>
              <a:rPr sz="950">
                <a:solidFill>
                  <a:srgbClr val="CCCCCC"/>
                </a:solidFill>
                <a:latin typeface="Courier New"/>
              </a:rPr>
              <a:t>    pdf_bytes = base64.b64encode(f.read()).decode()</a:t>
            </a:r>
          </a:p>
          <a:p>
            <a:endParaRPr sz="950">
              <a:solidFill>
                <a:srgbClr val="CCCCCC"/>
              </a:solidFill>
              <a:latin typeface="Courier New"/>
            </a:endParaRPr>
          </a:p>
          <a:p>
            <a:r>
              <a:rPr sz="950">
                <a:solidFill>
                  <a:srgbClr val="CCCCCC"/>
                </a:solidFill>
                <a:latin typeface="Courier New"/>
              </a:rPr>
              <a:t>pdf_part = FilePart(</a:t>
            </a:r>
          </a:p>
          <a:p>
            <a:r>
              <a:rPr sz="950">
                <a:solidFill>
                  <a:srgbClr val="CCCCCC"/>
                </a:solidFill>
                <a:latin typeface="Courier New"/>
              </a:rPr>
              <a:t>    type="file",</a:t>
            </a:r>
          </a:p>
          <a:p>
            <a:r>
              <a:rPr sz="950">
                <a:solidFill>
                  <a:srgbClr val="CCCCCC"/>
                </a:solidFill>
                <a:latin typeface="Courier New"/>
              </a:rPr>
              <a:t>    file=FileContent(</a:t>
            </a:r>
          </a:p>
          <a:p>
            <a:r>
              <a:rPr sz="950">
                <a:solidFill>
                  <a:srgbClr val="CCCCCC"/>
                </a:solidFill>
                <a:latin typeface="Courier New"/>
              </a:rPr>
              <a:t>        mimeType="application/pdf",</a:t>
            </a:r>
          </a:p>
          <a:p>
            <a:r>
              <a:rPr sz="950">
                <a:solidFill>
                  <a:srgbClr val="CCCCCC"/>
                </a:solidFill>
                <a:latin typeface="Courier New"/>
              </a:rPr>
              <a:t>        bytes=pdf_bytes       # base64-encoded</a:t>
            </a:r>
          </a:p>
          <a:p>
            <a:r>
              <a:rPr sz="950">
                <a:solidFill>
                  <a:srgbClr val="CCCCCC"/>
                </a:solidFill>
                <a:latin typeface="Courier New"/>
              </a:rPr>
              <a:t>    )</a:t>
            </a:r>
          </a:p>
          <a:p>
            <a:r>
              <a:rPr sz="950">
                <a:solidFill>
                  <a:srgbClr val="CCCCCC"/>
                </a:solidFill>
                <a:latin typeface="Courier New"/>
              </a:rPr>
              <a:t>)</a:t>
            </a:r>
          </a:p>
          <a:p>
            <a:endParaRPr sz="950">
              <a:solidFill>
                <a:srgbClr val="CCCCCC"/>
              </a:solidFill>
              <a:latin typeface="Courier New"/>
            </a:endParaRPr>
          </a:p>
          <a:p>
            <a:r>
              <a:rPr sz="950">
                <a:solidFill>
                  <a:srgbClr val="CCCCCC"/>
                </a:solidFill>
                <a:latin typeface="Courier New"/>
              </a:rPr>
              <a:t># ── FilePart: hosted URI ───────────────────────────────</a:t>
            </a:r>
          </a:p>
          <a:p>
            <a:r>
              <a:rPr sz="950">
                <a:solidFill>
                  <a:srgbClr val="CCCCCC"/>
                </a:solidFill>
                <a:latin typeface="Courier New"/>
              </a:rPr>
              <a:t>uri_part = FilePart(</a:t>
            </a:r>
          </a:p>
          <a:p>
            <a:r>
              <a:rPr sz="950">
                <a:solidFill>
                  <a:srgbClr val="CCCCCC"/>
                </a:solidFill>
                <a:latin typeface="Courier New"/>
              </a:rPr>
              <a:t>    type="file",</a:t>
            </a:r>
          </a:p>
          <a:p>
            <a:r>
              <a:rPr sz="950">
                <a:solidFill>
                  <a:srgbClr val="CCCCCC"/>
                </a:solidFill>
                <a:latin typeface="Courier New"/>
              </a:rPr>
              <a:t>    file=FileContent(</a:t>
            </a:r>
          </a:p>
          <a:p>
            <a:r>
              <a:rPr sz="950">
                <a:solidFill>
                  <a:srgbClr val="CCCCCC"/>
                </a:solidFill>
                <a:latin typeface="Courier New"/>
              </a:rPr>
              <a:t>        mimeType="image/jpeg",</a:t>
            </a:r>
          </a:p>
          <a:p>
            <a:r>
              <a:rPr sz="950">
                <a:solidFill>
                  <a:srgbClr val="CCCCCC"/>
                </a:solidFill>
                <a:latin typeface="Courier New"/>
              </a:rPr>
              <a:t>        uri="https://cdn.example.com/hotel_lobby.jpg"</a:t>
            </a:r>
          </a:p>
          <a:p>
            <a:r>
              <a:rPr sz="950">
                <a:solidFill>
                  <a:srgbClr val="CCCCCC"/>
                </a:solidFill>
                <a:latin typeface="Courier New"/>
              </a:rPr>
              <a:t>    )</a:t>
            </a:r>
          </a:p>
          <a:p>
            <a:r>
              <a:rPr sz="950">
                <a:solidFill>
                  <a:srgbClr val="CCCCCC"/>
                </a:solidFill>
                <a:latin typeface="Courier New"/>
              </a:rPr>
              <a:t>)</a:t>
            </a:r>
          </a:p>
          <a:p>
            <a:endParaRPr sz="950">
              <a:solidFill>
                <a:srgbClr val="CCCCCC"/>
              </a:solidFill>
              <a:latin typeface="Courier New"/>
            </a:endParaRPr>
          </a:p>
          <a:p>
            <a:r>
              <a:rPr sz="950">
                <a:solidFill>
                  <a:srgbClr val="CCCCCC"/>
                </a:solidFill>
                <a:latin typeface="Courier New"/>
              </a:rPr>
              <a:t># ── DataPart: structured JSON ──────────────────────────</a:t>
            </a:r>
          </a:p>
          <a:p>
            <a:r>
              <a:rPr sz="950">
                <a:solidFill>
                  <a:srgbClr val="CCCCCC"/>
                </a:solidFill>
                <a:latin typeface="Courier New"/>
              </a:rPr>
              <a:t>data_part = DataPart(</a:t>
            </a:r>
          </a:p>
          <a:p>
            <a:r>
              <a:rPr sz="950">
                <a:solidFill>
                  <a:srgbClr val="CCCCCC"/>
                </a:solidFill>
                <a:latin typeface="Courier New"/>
              </a:rPr>
              <a:t>    type="data",</a:t>
            </a:r>
          </a:p>
          <a:p>
            <a:r>
              <a:rPr sz="950">
                <a:solidFill>
                  <a:srgbClr val="CCCCCC"/>
                </a:solidFill>
                <a:latin typeface="Courier New"/>
              </a:rPr>
              <a:t>    data={</a:t>
            </a:r>
          </a:p>
          <a:p>
            <a:r>
              <a:rPr sz="950">
                <a:solidFill>
                  <a:srgbClr val="CCCCCC"/>
                </a:solidFill>
                <a:latin typeface="Courier New"/>
              </a:rPr>
              <a:t>        "checkin":  "2024-12-15",</a:t>
            </a:r>
          </a:p>
          <a:p>
            <a:r>
              <a:rPr sz="950">
                <a:solidFill>
                  <a:srgbClr val="CCCCCC"/>
                </a:solidFill>
                <a:latin typeface="Courier New"/>
              </a:rPr>
              <a:t>        "checkout": "2024-12-20",</a:t>
            </a:r>
          </a:p>
          <a:p>
            <a:r>
              <a:rPr sz="950">
                <a:solidFill>
                  <a:srgbClr val="CCCCCC"/>
                </a:solidFill>
                <a:latin typeface="Courier New"/>
              </a:rPr>
              <a:t>        "guests":   2,</a:t>
            </a:r>
          </a:p>
          <a:p>
            <a:r>
              <a:rPr sz="950">
                <a:solidFill>
                  <a:srgbClr val="CCCCCC"/>
                </a:solidFill>
                <a:latin typeface="Courier New"/>
              </a:rPr>
              <a:t>        "preferences": ["ocean view", "king bed"]</a:t>
            </a:r>
          </a:p>
          <a:p>
            <a:r>
              <a:rPr sz="950">
                <a:solidFill>
                  <a:srgbClr val="CCCCCC"/>
                </a:solidFill>
                <a:latin typeface="Courier New"/>
              </a:rPr>
              <a:t>    }</a:t>
            </a:r>
          </a:p>
          <a:p>
            <a:r>
              <a:rPr sz="950">
                <a:solidFill>
                  <a:srgbClr val="CCCCCC"/>
                </a:solidFill>
                <a:latin typeface="Courier New"/>
              </a:rPr>
              <a:t>)</a:t>
            </a:r>
          </a:p>
          <a:p>
            <a:endParaRPr sz="950">
              <a:solidFill>
                <a:srgbClr val="CCCCCC"/>
              </a:solidFill>
              <a:latin typeface="Courier New"/>
            </a:endParaRPr>
          </a:p>
          <a:p>
            <a:r>
              <a:rPr sz="950">
                <a:solidFill>
                  <a:srgbClr val="CCCCCC"/>
                </a:solidFill>
                <a:latin typeface="Courier New"/>
              </a:rPr>
              <a:t># ── Send multimodal message ────────────────────────────</a:t>
            </a:r>
          </a:p>
          <a:p>
            <a:r>
              <a:rPr sz="950">
                <a:solidFill>
                  <a:srgbClr val="CCCCCC"/>
                </a:solidFill>
                <a:latin typeface="Courier New"/>
              </a:rPr>
              <a:t>message = Message(</a:t>
            </a:r>
          </a:p>
          <a:p>
            <a:r>
              <a:rPr sz="950">
                <a:solidFill>
                  <a:srgbClr val="CCCCCC"/>
                </a:solidFill>
                <a:latin typeface="Courier New"/>
              </a:rPr>
              <a:t>    role="user",</a:t>
            </a:r>
          </a:p>
          <a:p>
            <a:r>
              <a:rPr sz="950">
                <a:solidFill>
                  <a:srgbClr val="CCCCCC"/>
                </a:solidFill>
                <a:latin typeface="Courier New"/>
              </a:rPr>
              <a:t>    parts=[</a:t>
            </a:r>
          </a:p>
          <a:p>
            <a:r>
              <a:rPr sz="950">
                <a:solidFill>
                  <a:srgbClr val="CCCCCC"/>
                </a:solidFill>
                <a:latin typeface="Courier New"/>
              </a:rPr>
              <a:t>        TextPart(type="text", text="Search based on this brochure"),</a:t>
            </a:r>
          </a:p>
          <a:p>
            <a:r>
              <a:rPr sz="950">
                <a:solidFill>
                  <a:srgbClr val="CCCCCC"/>
                </a:solidFill>
                <a:latin typeface="Courier New"/>
              </a:rPr>
              <a:t>        pdf_part,</a:t>
            </a:r>
          </a:p>
          <a:p>
            <a:r>
              <a:rPr sz="950">
                <a:solidFill>
                  <a:srgbClr val="CCCCCC"/>
                </a:solidFill>
                <a:latin typeface="Courier New"/>
              </a:rPr>
              <a:t>        data_part,</a:t>
            </a:r>
          </a:p>
          <a:p>
            <a:r>
              <a:rPr sz="950">
                <a:solidFill>
                  <a:srgbClr val="CCCCCC"/>
                </a:solidFill>
                <a:latin typeface="Courier New"/>
              </a:rPr>
              <a:t>    ]</a:t>
            </a:r>
          </a:p>
          <a:p>
            <a:r>
              <a:rPr sz="950">
                <a:solidFill>
                  <a:srgbClr val="CCCCCC"/>
                </a:solidFill>
                <a:latin typeface="Courier New"/>
              </a:rPr>
              <a:t>)</a:t>
            </a:r>
          </a:p>
        </p:txBody>
      </p:sp>
      <p:sp>
        <p:nvSpPr>
          <p:cNvPr id="10" name="Rectangle 9"/>
          <p:cNvSpPr/>
          <p:nvPr/>
        </p:nvSpPr>
        <p:spPr>
          <a:xfrm>
            <a:off x="7223760" y="1115568"/>
            <a:ext cx="4663440" cy="411480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223760" y="1115568"/>
            <a:ext cx="466344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0" y="1152144"/>
            <a:ext cx="4480559" cy="274320"/>
          </a:xfrm>
          <a:prstGeom prst="rect">
            <a:avLst/>
          </a:prstGeom>
          <a:noFill/>
        </p:spPr>
        <p:txBody>
          <a:bodyPr wrap="square">
            <a:spAutoFit/>
          </a:bodyPr>
          <a:lstStyle/>
          <a:p>
            <a:pPr algn="l"/>
            <a:r>
              <a:rPr sz="1200" b="1">
                <a:solidFill>
                  <a:srgbClr val="FFFFFF"/>
                </a:solidFill>
                <a:latin typeface="Calibri"/>
              </a:rPr>
              <a:t>FilePart Variants</a:t>
            </a:r>
          </a:p>
        </p:txBody>
      </p:sp>
      <p:sp>
        <p:nvSpPr>
          <p:cNvPr id="13" name="TextBox 12"/>
          <p:cNvSpPr txBox="1"/>
          <p:nvPr/>
        </p:nvSpPr>
        <p:spPr>
          <a:xfrm>
            <a:off x="7333488" y="1499616"/>
            <a:ext cx="4443983" cy="3657600"/>
          </a:xfrm>
          <a:prstGeom prst="rect">
            <a:avLst/>
          </a:prstGeom>
          <a:noFill/>
        </p:spPr>
        <p:txBody>
          <a:bodyPr wrap="square">
            <a:spAutoFit/>
          </a:bodyPr>
          <a:lstStyle/>
          <a:p>
            <a:pPr>
              <a:spcBef>
                <a:spcPts val="400"/>
              </a:spcBef>
            </a:pPr>
            <a:r>
              <a:rPr sz="1100">
                <a:solidFill>
                  <a:srgbClr val="222244"/>
                </a:solidFill>
                <a:latin typeface="Calibri"/>
              </a:rPr>
              <a:t>  •  Inline bytes (small files &lt; 1MB):</a:t>
            </a:r>
          </a:p>
          <a:p>
            <a:pPr>
              <a:spcBef>
                <a:spcPts val="400"/>
              </a:spcBef>
            </a:pPr>
            <a:r>
              <a:rPr sz="1000">
                <a:solidFill>
                  <a:srgbClr val="222244"/>
                </a:solidFill>
                <a:latin typeface="Calibri"/>
              </a:rPr>
              <a:t>       ◦  bytes  — base64-encoded content</a:t>
            </a:r>
          </a:p>
          <a:p>
            <a:pPr>
              <a:spcBef>
                <a:spcPts val="400"/>
              </a:spcBef>
            </a:pPr>
            <a:r>
              <a:rPr sz="1000">
                <a:solidFill>
                  <a:srgbClr val="222244"/>
                </a:solidFill>
                <a:latin typeface="Calibri"/>
              </a:rPr>
              <a:t>       ◦  mimeType — MIME type string</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Hosted URI (large files):</a:t>
            </a:r>
          </a:p>
          <a:p>
            <a:pPr>
              <a:spcBef>
                <a:spcPts val="400"/>
              </a:spcBef>
            </a:pPr>
            <a:r>
              <a:rPr sz="1000">
                <a:solidFill>
                  <a:srgbClr val="222244"/>
                </a:solidFill>
                <a:latin typeface="Calibri"/>
              </a:rPr>
              <a:t>       ◦  uri    — publicly accessible URL</a:t>
            </a:r>
          </a:p>
          <a:p>
            <a:pPr>
              <a:spcBef>
                <a:spcPts val="400"/>
              </a:spcBef>
            </a:pPr>
            <a:r>
              <a:rPr sz="1000">
                <a:solidFill>
                  <a:srgbClr val="222244"/>
                </a:solidFill>
                <a:latin typeface="Calibri"/>
              </a:rPr>
              <a:t>       ◦  mimeType — MIME type string</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Common MIME types:</a:t>
            </a:r>
          </a:p>
          <a:p>
            <a:pPr>
              <a:spcBef>
                <a:spcPts val="400"/>
              </a:spcBef>
            </a:pPr>
            <a:r>
              <a:rPr sz="1000">
                <a:solidFill>
                  <a:srgbClr val="222244"/>
                </a:solidFill>
                <a:latin typeface="Calibri"/>
              </a:rPr>
              <a:t>       ◦  application/pdf</a:t>
            </a:r>
          </a:p>
          <a:p>
            <a:pPr>
              <a:spcBef>
                <a:spcPts val="400"/>
              </a:spcBef>
            </a:pPr>
            <a:r>
              <a:rPr sz="1000">
                <a:solidFill>
                  <a:srgbClr val="222244"/>
                </a:solidFill>
                <a:latin typeface="Calibri"/>
              </a:rPr>
              <a:t>       ◦  image/jpeg, image/png</a:t>
            </a:r>
          </a:p>
          <a:p>
            <a:pPr>
              <a:spcBef>
                <a:spcPts val="400"/>
              </a:spcBef>
            </a:pPr>
            <a:r>
              <a:rPr sz="1000">
                <a:solidFill>
                  <a:srgbClr val="222244"/>
                </a:solidFill>
                <a:latin typeface="Calibri"/>
              </a:rPr>
              <a:t>       ◦  audio/wav, video/mp4</a:t>
            </a:r>
          </a:p>
        </p:txBody>
      </p:sp>
      <p:sp>
        <p:nvSpPr>
          <p:cNvPr id="14" name="Rectangle 13"/>
          <p:cNvSpPr/>
          <p:nvPr/>
        </p:nvSpPr>
        <p:spPr>
          <a:xfrm>
            <a:off x="7223760" y="5321808"/>
            <a:ext cx="4663440" cy="173736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223760" y="5321808"/>
            <a:ext cx="466344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0" y="5358384"/>
            <a:ext cx="4480559" cy="274320"/>
          </a:xfrm>
          <a:prstGeom prst="rect">
            <a:avLst/>
          </a:prstGeom>
          <a:noFill/>
        </p:spPr>
        <p:txBody>
          <a:bodyPr wrap="square">
            <a:spAutoFit/>
          </a:bodyPr>
          <a:lstStyle/>
          <a:p>
            <a:pPr algn="l"/>
            <a:r>
              <a:rPr sz="1200" b="1">
                <a:solidFill>
                  <a:srgbClr val="FFFFFF"/>
                </a:solidFill>
                <a:latin typeface="Calibri"/>
              </a:rPr>
              <a:t>Hotel Agent Skill Declaration</a:t>
            </a:r>
          </a:p>
        </p:txBody>
      </p:sp>
      <p:sp>
        <p:nvSpPr>
          <p:cNvPr id="17" name="TextBox 16"/>
          <p:cNvSpPr txBox="1"/>
          <p:nvPr/>
        </p:nvSpPr>
        <p:spPr>
          <a:xfrm>
            <a:off x="7333488" y="5705856"/>
            <a:ext cx="4443983" cy="1280160"/>
          </a:xfrm>
          <a:prstGeom prst="rect">
            <a:avLst/>
          </a:prstGeom>
          <a:noFill/>
        </p:spPr>
        <p:txBody>
          <a:bodyPr wrap="square">
            <a:spAutoFit/>
          </a:bodyPr>
          <a:lstStyle/>
          <a:p>
            <a:pPr>
              <a:spcBef>
                <a:spcPts val="400"/>
              </a:spcBef>
            </a:pPr>
            <a:r>
              <a:rPr sz="1100">
                <a:solidFill>
                  <a:srgbClr val="222244"/>
                </a:solidFill>
                <a:latin typeface="Calibri"/>
              </a:rPr>
              <a:t>  •  inputModes: [</a:t>
            </a:r>
          </a:p>
          <a:p>
            <a:pPr>
              <a:spcBef>
                <a:spcPts val="400"/>
              </a:spcBef>
            </a:pPr>
            <a:r>
              <a:rPr sz="1000">
                <a:solidFill>
                  <a:srgbClr val="222244"/>
                </a:solidFill>
                <a:latin typeface="Calibri"/>
              </a:rPr>
              <a:t>       ◦  "text/plain",</a:t>
            </a:r>
          </a:p>
          <a:p>
            <a:pPr>
              <a:spcBef>
                <a:spcPts val="400"/>
              </a:spcBef>
            </a:pPr>
            <a:r>
              <a:rPr sz="1000">
                <a:solidFill>
                  <a:srgbClr val="222244"/>
                </a:solidFill>
                <a:latin typeface="Calibri"/>
              </a:rPr>
              <a:t>       ◦  "application/pdf"</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Declared in Agent Card skill</a:t>
            </a:r>
          </a:p>
          <a:p>
            <a:pPr>
              <a:spcBef>
                <a:spcPts val="400"/>
              </a:spcBef>
            </a:pPr>
            <a:r>
              <a:rPr sz="1100">
                <a:solidFill>
                  <a:srgbClr val="222244"/>
                </a:solidFill>
                <a:latin typeface="Calibri"/>
              </a:rPr>
              <a:t>  •  Orchestrator reads &amp; formats accordingly</a:t>
            </a:r>
          </a:p>
          <a:p>
            <a:pPr>
              <a:spcBef>
                <a:spcPts val="400"/>
              </a:spcBef>
            </a:pPr>
            <a:r>
              <a:rPr sz="1100">
                <a:solidFill>
                  <a:srgbClr val="222244"/>
                </a:solidFill>
                <a:latin typeface="Calibri"/>
              </a:rPr>
              <a:t>  •  Returns DataPart with amenities dict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7: Input Required — Human-in-the-Loop</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Agent pauses and requests additional information</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6812280" cy="553212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15568"/>
            <a:ext cx="681228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43000"/>
            <a:ext cx="6629400" cy="201168"/>
          </a:xfrm>
          <a:prstGeom prst="rect">
            <a:avLst/>
          </a:prstGeom>
          <a:noFill/>
        </p:spPr>
        <p:txBody>
          <a:bodyPr wrap="square">
            <a:spAutoFit/>
          </a:bodyPr>
          <a:lstStyle/>
          <a:p>
            <a:pPr algn="l"/>
            <a:r>
              <a:rPr sz="1000" b="0">
                <a:solidFill>
                  <a:srgbClr val="F0A500"/>
                </a:solidFill>
                <a:latin typeface="Calibri"/>
              </a:rPr>
              <a:t>Booking Agent — input-required loop</a:t>
            </a:r>
          </a:p>
        </p:txBody>
      </p:sp>
      <p:sp>
        <p:nvSpPr>
          <p:cNvPr id="9" name="TextBox 8"/>
          <p:cNvSpPr txBox="1"/>
          <p:nvPr/>
        </p:nvSpPr>
        <p:spPr>
          <a:xfrm>
            <a:off x="365760" y="1380744"/>
            <a:ext cx="6629400" cy="5221224"/>
          </a:xfrm>
          <a:prstGeom prst="rect">
            <a:avLst/>
          </a:prstGeom>
          <a:noFill/>
        </p:spPr>
        <p:txBody>
          <a:bodyPr wrap="none">
            <a:spAutoFit/>
          </a:bodyPr>
          <a:lstStyle/>
          <a:p>
            <a:r>
              <a:rPr sz="900">
                <a:solidFill>
                  <a:srgbClr val="CCCCCC"/>
                </a:solidFill>
                <a:latin typeface="Courier New"/>
              </a:rPr>
              <a:t># ── STEP 1: Send initial booking request ──────────────</a:t>
            </a:r>
          </a:p>
          <a:p>
            <a:r>
              <a:rPr sz="900">
                <a:solidFill>
                  <a:srgbClr val="CCCCCC"/>
                </a:solidFill>
                <a:latin typeface="Courier New"/>
              </a:rPr>
              <a:t>task_id = str(uuid.uuid4())</a:t>
            </a:r>
          </a:p>
          <a:p>
            <a:r>
              <a:rPr sz="900">
                <a:solidFill>
                  <a:srgbClr val="CCCCCC"/>
                </a:solidFill>
                <a:latin typeface="Courier New"/>
              </a:rPr>
              <a:t>resp = await client.send_task(SendTaskRequest(</a:t>
            </a:r>
          </a:p>
          <a:p>
            <a:r>
              <a:rPr sz="900">
                <a:solidFill>
                  <a:srgbClr val="CCCCCC"/>
                </a:solidFill>
                <a:latin typeface="Courier New"/>
              </a:rPr>
              <a:t>    id=task_id,</a:t>
            </a:r>
          </a:p>
          <a:p>
            <a:r>
              <a:rPr sz="900">
                <a:solidFill>
                  <a:srgbClr val="CCCCCC"/>
                </a:solidFill>
                <a:latin typeface="Courier New"/>
              </a:rPr>
              <a:t>    params=TaskSendParams(</a:t>
            </a:r>
          </a:p>
          <a:p>
            <a:r>
              <a:rPr sz="900">
                <a:solidFill>
                  <a:srgbClr val="CCCCCC"/>
                </a:solidFill>
                <a:latin typeface="Courier New"/>
              </a:rPr>
              <a:t>        id=task_id,</a:t>
            </a:r>
          </a:p>
          <a:p>
            <a:r>
              <a:rPr sz="900">
                <a:solidFill>
                  <a:srgbClr val="CCCCCC"/>
                </a:solidFill>
                <a:latin typeface="Courier New"/>
              </a:rPr>
              <a:t>        sessionId="session-001",</a:t>
            </a:r>
          </a:p>
          <a:p>
            <a:r>
              <a:rPr sz="900">
                <a:solidFill>
                  <a:srgbClr val="CCCCCC"/>
                </a:solidFill>
                <a:latin typeface="Courier New"/>
              </a:rPr>
              <a:t>        message=Message(role="user", parts=[</a:t>
            </a:r>
          </a:p>
          <a:p>
            <a:r>
              <a:rPr sz="900">
                <a:solidFill>
                  <a:srgbClr val="CCCCCC"/>
                </a:solidFill>
                <a:latin typeface="Courier New"/>
              </a:rPr>
              <a:t>            DataPart(type="data", data=flight_data)</a:t>
            </a:r>
          </a:p>
          <a:p>
            <a:r>
              <a:rPr sz="900">
                <a:solidFill>
                  <a:srgbClr val="CCCCCC"/>
                </a:solidFill>
                <a:latin typeface="Courier New"/>
              </a:rPr>
              <a:t>        ])</a:t>
            </a:r>
          </a:p>
          <a:p>
            <a:r>
              <a:rPr sz="900">
                <a:solidFill>
                  <a:srgbClr val="CCCCCC"/>
                </a:solidFill>
                <a:latin typeface="Courier New"/>
              </a:rPr>
              <a:t>    )</a:t>
            </a:r>
          </a:p>
          <a:p>
            <a:r>
              <a:rPr sz="900">
                <a:solidFill>
                  <a:srgbClr val="CCCCCC"/>
                </a:solidFill>
                <a:latin typeface="Courier New"/>
              </a:rPr>
              <a:t>))</a:t>
            </a:r>
          </a:p>
          <a:p>
            <a:r>
              <a:rPr sz="900">
                <a:solidFill>
                  <a:srgbClr val="CCCCCC"/>
                </a:solidFill>
                <a:latin typeface="Courier New"/>
              </a:rPr>
              <a:t>task = resp.result</a:t>
            </a:r>
          </a:p>
          <a:p>
            <a:endParaRPr sz="900">
              <a:solidFill>
                <a:srgbClr val="CCCCCC"/>
              </a:solidFill>
              <a:latin typeface="Courier New"/>
            </a:endParaRPr>
          </a:p>
          <a:p>
            <a:r>
              <a:rPr sz="900">
                <a:solidFill>
                  <a:srgbClr val="CCCCCC"/>
                </a:solidFill>
                <a:latin typeface="Courier New"/>
              </a:rPr>
              <a:t># ── STEP 2: Handle input-required loop ────────────────</a:t>
            </a:r>
          </a:p>
          <a:p>
            <a:r>
              <a:rPr sz="900">
                <a:solidFill>
                  <a:srgbClr val="CCCCCC"/>
                </a:solidFill>
                <a:latin typeface="Courier New"/>
              </a:rPr>
              <a:t>while task.status.state == "input-required":</a:t>
            </a:r>
          </a:p>
          <a:p>
            <a:r>
              <a:rPr sz="900">
                <a:solidFill>
                  <a:srgbClr val="CCCCCC"/>
                </a:solidFill>
                <a:latin typeface="Courier New"/>
              </a:rPr>
              <a:t>    # Agent's question is in status.message</a:t>
            </a:r>
          </a:p>
          <a:p>
            <a:r>
              <a:rPr sz="900">
                <a:solidFill>
                  <a:srgbClr val="CCCCCC"/>
                </a:solidFill>
                <a:latin typeface="Courier New"/>
              </a:rPr>
              <a:t>    question = task.status.message.parts[0].text</a:t>
            </a:r>
          </a:p>
          <a:p>
            <a:r>
              <a:rPr sz="900">
                <a:solidFill>
                  <a:srgbClr val="CCCCCC"/>
                </a:solidFill>
                <a:latin typeface="Courier New"/>
              </a:rPr>
              <a:t>    print(f"Agent asks: {question}")</a:t>
            </a:r>
          </a:p>
          <a:p>
            <a:r>
              <a:rPr sz="900">
                <a:solidFill>
                  <a:srgbClr val="CCCCCC"/>
                </a:solidFill>
                <a:latin typeface="Courier New"/>
              </a:rPr>
              <a:t>    # e.g. "Which seat class? (economy/business/first)"</a:t>
            </a:r>
          </a:p>
          <a:p>
            <a:endParaRPr sz="900">
              <a:solidFill>
                <a:srgbClr val="CCCCCC"/>
              </a:solidFill>
              <a:latin typeface="Courier New"/>
            </a:endParaRPr>
          </a:p>
          <a:p>
            <a:r>
              <a:rPr sz="900">
                <a:solidFill>
                  <a:srgbClr val="CCCCCC"/>
                </a:solidFill>
                <a:latin typeface="Courier New"/>
              </a:rPr>
              <a:t>    # Get answer from user (or LLM)</a:t>
            </a:r>
          </a:p>
          <a:p>
            <a:r>
              <a:rPr sz="900">
                <a:solidFill>
                  <a:srgbClr val="CCCCCC"/>
                </a:solidFill>
                <a:latin typeface="Courier New"/>
              </a:rPr>
              <a:t>    user_answer = input("Your answer: ")</a:t>
            </a:r>
          </a:p>
          <a:p>
            <a:endParaRPr sz="900">
              <a:solidFill>
                <a:srgbClr val="CCCCCC"/>
              </a:solidFill>
              <a:latin typeface="Courier New"/>
            </a:endParaRPr>
          </a:p>
          <a:p>
            <a:r>
              <a:rPr sz="900">
                <a:solidFill>
                  <a:srgbClr val="CCCCCC"/>
                </a:solidFill>
                <a:latin typeface="Courier New"/>
              </a:rPr>
              <a:t>    # RESUME the SAME task by reusing task_id</a:t>
            </a:r>
          </a:p>
          <a:p>
            <a:r>
              <a:rPr sz="900">
                <a:solidFill>
                  <a:srgbClr val="CCCCCC"/>
                </a:solidFill>
                <a:latin typeface="Courier New"/>
              </a:rPr>
              <a:t>    resp = await client.send_task(SendTaskRequest(</a:t>
            </a:r>
          </a:p>
          <a:p>
            <a:r>
              <a:rPr sz="900">
                <a:solidFill>
                  <a:srgbClr val="CCCCCC"/>
                </a:solidFill>
                <a:latin typeface="Courier New"/>
              </a:rPr>
              <a:t>        id=task_id,                    # &lt;── same task ID!</a:t>
            </a:r>
          </a:p>
          <a:p>
            <a:r>
              <a:rPr sz="900">
                <a:solidFill>
                  <a:srgbClr val="CCCCCC"/>
                </a:solidFill>
                <a:latin typeface="Courier New"/>
              </a:rPr>
              <a:t>        params=TaskSendParams(</a:t>
            </a:r>
          </a:p>
          <a:p>
            <a:r>
              <a:rPr sz="900">
                <a:solidFill>
                  <a:srgbClr val="CCCCCC"/>
                </a:solidFill>
                <a:latin typeface="Courier New"/>
              </a:rPr>
              <a:t>            id=task_id,</a:t>
            </a:r>
          </a:p>
          <a:p>
            <a:r>
              <a:rPr sz="900">
                <a:solidFill>
                  <a:srgbClr val="CCCCCC"/>
                </a:solidFill>
                <a:latin typeface="Courier New"/>
              </a:rPr>
              <a:t>            sessionId="session-001",   # &lt;── same session</a:t>
            </a:r>
          </a:p>
          <a:p>
            <a:r>
              <a:rPr sz="900">
                <a:solidFill>
                  <a:srgbClr val="CCCCCC"/>
                </a:solidFill>
                <a:latin typeface="Courier New"/>
              </a:rPr>
              <a:t>            message=Message(role="user", parts=[</a:t>
            </a:r>
          </a:p>
          <a:p>
            <a:r>
              <a:rPr sz="900">
                <a:solidFill>
                  <a:srgbClr val="CCCCCC"/>
                </a:solidFill>
                <a:latin typeface="Courier New"/>
              </a:rPr>
              <a:t>                TextPart(type="text", text=user_answer)</a:t>
            </a:r>
          </a:p>
          <a:p>
            <a:r>
              <a:rPr sz="900">
                <a:solidFill>
                  <a:srgbClr val="CCCCCC"/>
                </a:solidFill>
                <a:latin typeface="Courier New"/>
              </a:rPr>
              <a:t>            ])</a:t>
            </a:r>
          </a:p>
          <a:p>
            <a:r>
              <a:rPr sz="900">
                <a:solidFill>
                  <a:srgbClr val="CCCCCC"/>
                </a:solidFill>
                <a:latin typeface="Courier New"/>
              </a:rPr>
              <a:t>        )</a:t>
            </a:r>
          </a:p>
          <a:p>
            <a:r>
              <a:rPr sz="900">
                <a:solidFill>
                  <a:srgbClr val="CCCCCC"/>
                </a:solidFill>
                <a:latin typeface="Courier New"/>
              </a:rPr>
              <a:t>    ))</a:t>
            </a:r>
          </a:p>
          <a:p>
            <a:r>
              <a:rPr sz="900">
                <a:solidFill>
                  <a:srgbClr val="CCCCCC"/>
                </a:solidFill>
                <a:latin typeface="Courier New"/>
              </a:rPr>
              <a:t>    task = resp.result</a:t>
            </a:r>
          </a:p>
          <a:p>
            <a:endParaRPr sz="900">
              <a:solidFill>
                <a:srgbClr val="CCCCCC"/>
              </a:solidFill>
              <a:latin typeface="Courier New"/>
            </a:endParaRPr>
          </a:p>
          <a:p>
            <a:r>
              <a:rPr sz="900">
                <a:solidFill>
                  <a:srgbClr val="CCCCCC"/>
                </a:solidFill>
                <a:latin typeface="Courier New"/>
              </a:rPr>
              <a:t># ── STEP 3: Process final result ──────────────────────</a:t>
            </a:r>
          </a:p>
          <a:p>
            <a:r>
              <a:rPr sz="900">
                <a:solidFill>
                  <a:srgbClr val="CCCCCC"/>
                </a:solidFill>
                <a:latin typeface="Courier New"/>
              </a:rPr>
              <a:t>if task.status.state == "completed":</a:t>
            </a:r>
          </a:p>
          <a:p>
            <a:r>
              <a:rPr sz="900">
                <a:solidFill>
                  <a:srgbClr val="CCCCCC"/>
                </a:solidFill>
                <a:latin typeface="Courier New"/>
              </a:rPr>
              <a:t>    booking_ref = task.artifacts[0].parts[0].data</a:t>
            </a:r>
          </a:p>
          <a:p>
            <a:r>
              <a:rPr sz="900">
                <a:solidFill>
                  <a:srgbClr val="CCCCCC"/>
                </a:solidFill>
                <a:latin typeface="Courier New"/>
              </a:rPr>
              <a:t>    print(f"Booking confirmed: {booking_ref['reference']}")</a:t>
            </a:r>
          </a:p>
        </p:txBody>
      </p:sp>
      <p:sp>
        <p:nvSpPr>
          <p:cNvPr id="10" name="Rectangle 9"/>
          <p:cNvSpPr/>
          <p:nvPr/>
        </p:nvSpPr>
        <p:spPr>
          <a:xfrm>
            <a:off x="7223760" y="1115568"/>
            <a:ext cx="4663440" cy="553212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223760" y="1115568"/>
            <a:ext cx="466344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0" y="1152144"/>
            <a:ext cx="4480559" cy="274320"/>
          </a:xfrm>
          <a:prstGeom prst="rect">
            <a:avLst/>
          </a:prstGeom>
          <a:noFill/>
        </p:spPr>
        <p:txBody>
          <a:bodyPr wrap="square">
            <a:spAutoFit/>
          </a:bodyPr>
          <a:lstStyle/>
          <a:p>
            <a:pPr algn="l"/>
            <a:r>
              <a:rPr sz="1200" b="1">
                <a:solidFill>
                  <a:srgbClr val="FFFFFF"/>
                </a:solidFill>
                <a:latin typeface="Calibri"/>
              </a:rPr>
              <a:t>Booking Agent Multi-Step Flow</a:t>
            </a:r>
          </a:p>
        </p:txBody>
      </p:sp>
      <p:sp>
        <p:nvSpPr>
          <p:cNvPr id="13" name="TextBox 12"/>
          <p:cNvSpPr txBox="1"/>
          <p:nvPr/>
        </p:nvSpPr>
        <p:spPr>
          <a:xfrm>
            <a:off x="7333488" y="1499616"/>
            <a:ext cx="4443983" cy="5074920"/>
          </a:xfrm>
          <a:prstGeom prst="rect">
            <a:avLst/>
          </a:prstGeom>
          <a:noFill/>
        </p:spPr>
        <p:txBody>
          <a:bodyPr wrap="square">
            <a:spAutoFit/>
          </a:bodyPr>
          <a:lstStyle/>
          <a:p>
            <a:pPr>
              <a:spcBef>
                <a:spcPts val="400"/>
              </a:spcBef>
            </a:pPr>
            <a:r>
              <a:rPr sz="1100">
                <a:solidFill>
                  <a:srgbClr val="222244"/>
                </a:solidFill>
                <a:latin typeface="Calibri"/>
              </a:rPr>
              <a:t>  •  Step 1 — Send flight/hotel selection</a:t>
            </a:r>
          </a:p>
          <a:p>
            <a:pPr>
              <a:spcBef>
                <a:spcPts val="400"/>
              </a:spcBef>
            </a:pPr>
            <a:r>
              <a:rPr sz="1000">
                <a:solidFill>
                  <a:srgbClr val="222244"/>
                </a:solidFill>
                <a:latin typeface="Calibri"/>
              </a:rPr>
              <a:t>       ◦  → state: input-required</a:t>
            </a:r>
          </a:p>
          <a:p>
            <a:pPr>
              <a:spcBef>
                <a:spcPts val="400"/>
              </a:spcBef>
            </a:pPr>
            <a:r>
              <a:rPr sz="1000">
                <a:solidFill>
                  <a:srgbClr val="222244"/>
                </a:solidFill>
                <a:latin typeface="Calibri"/>
              </a:rPr>
              <a:t>       ◦  → "Which seat class?"</a:t>
            </a:r>
          </a:p>
          <a:p>
            <a:pPr>
              <a:spcBef>
                <a:spcPts val="400"/>
              </a:spcBef>
            </a:pPr>
            <a:r>
              <a:rPr sz="1100">
                <a:solidFill>
                  <a:srgbClr val="222244"/>
                </a:solidFill>
                <a:latin typeface="Calibri"/>
              </a:rPr>
              <a:t>  •  Step 2 — Send seat class (economy)</a:t>
            </a:r>
          </a:p>
          <a:p>
            <a:pPr>
              <a:spcBef>
                <a:spcPts val="400"/>
              </a:spcBef>
            </a:pPr>
            <a:r>
              <a:rPr sz="1000">
                <a:solidFill>
                  <a:srgbClr val="222244"/>
                </a:solidFill>
                <a:latin typeface="Calibri"/>
              </a:rPr>
              <a:t>       ◦  → state: input-required</a:t>
            </a:r>
          </a:p>
          <a:p>
            <a:pPr>
              <a:spcBef>
                <a:spcPts val="400"/>
              </a:spcBef>
            </a:pPr>
            <a:r>
              <a:rPr sz="1000">
                <a:solidFill>
                  <a:srgbClr val="222244"/>
                </a:solidFill>
                <a:latin typeface="Calibri"/>
              </a:rPr>
              <a:t>       ◦  → "Meal preference?"</a:t>
            </a:r>
          </a:p>
          <a:p>
            <a:pPr>
              <a:spcBef>
                <a:spcPts val="400"/>
              </a:spcBef>
            </a:pPr>
            <a:r>
              <a:rPr sz="1100">
                <a:solidFill>
                  <a:srgbClr val="222244"/>
                </a:solidFill>
                <a:latin typeface="Calibri"/>
              </a:rPr>
              <a:t>  •  Step 3 — Send meal preference</a:t>
            </a:r>
          </a:p>
          <a:p>
            <a:pPr>
              <a:spcBef>
                <a:spcPts val="400"/>
              </a:spcBef>
            </a:pPr>
            <a:r>
              <a:rPr sz="1000">
                <a:solidFill>
                  <a:srgbClr val="222244"/>
                </a:solidFill>
                <a:latin typeface="Calibri"/>
              </a:rPr>
              <a:t>       ◦  → state: input-required</a:t>
            </a:r>
          </a:p>
          <a:p>
            <a:pPr>
              <a:spcBef>
                <a:spcPts val="400"/>
              </a:spcBef>
            </a:pPr>
            <a:r>
              <a:rPr sz="1000">
                <a:solidFill>
                  <a:srgbClr val="222244"/>
                </a:solidFill>
                <a:latin typeface="Calibri"/>
              </a:rPr>
              <a:t>       ◦  → "Loyalty number? (skip=none)"</a:t>
            </a:r>
          </a:p>
          <a:p>
            <a:pPr>
              <a:spcBef>
                <a:spcPts val="400"/>
              </a:spcBef>
            </a:pPr>
            <a:r>
              <a:rPr sz="1100">
                <a:solidFill>
                  <a:srgbClr val="222244"/>
                </a:solidFill>
                <a:latin typeface="Calibri"/>
              </a:rPr>
              <a:t>  •  Step 4 — Send loyalty number</a:t>
            </a:r>
          </a:p>
          <a:p>
            <a:pPr>
              <a:spcBef>
                <a:spcPts val="400"/>
              </a:spcBef>
            </a:pPr>
            <a:r>
              <a:rPr sz="1000">
                <a:solidFill>
                  <a:srgbClr val="222244"/>
                </a:solidFill>
                <a:latin typeface="Calibri"/>
              </a:rPr>
              <a:t>       ◦  → state: completed</a:t>
            </a:r>
          </a:p>
          <a:p>
            <a:pPr>
              <a:spcBef>
                <a:spcPts val="400"/>
              </a:spcBef>
            </a:pPr>
            <a:r>
              <a:rPr sz="1000">
                <a:solidFill>
                  <a:srgbClr val="222244"/>
                </a:solidFill>
                <a:latin typeface="Calibri"/>
              </a:rPr>
              <a:t>       ◦  → booking_reference artifact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8: Push Notifications — Fire-and-Forget Async</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Agent POSTs to your webhook when task completes</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6492240" cy="512064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15568"/>
            <a:ext cx="649224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43000"/>
            <a:ext cx="6309359" cy="201168"/>
          </a:xfrm>
          <a:prstGeom prst="rect">
            <a:avLst/>
          </a:prstGeom>
          <a:noFill/>
        </p:spPr>
        <p:txBody>
          <a:bodyPr wrap="square">
            <a:spAutoFit/>
          </a:bodyPr>
          <a:lstStyle/>
          <a:p>
            <a:pPr algn="l"/>
            <a:r>
              <a:rPr sz="1000" b="0">
                <a:solidFill>
                  <a:srgbClr val="F0A500"/>
                </a:solidFill>
                <a:latin typeface="Calibri"/>
              </a:rPr>
              <a:t>Register Webhook + Send Task</a:t>
            </a:r>
          </a:p>
        </p:txBody>
      </p:sp>
      <p:sp>
        <p:nvSpPr>
          <p:cNvPr id="9" name="TextBox 8"/>
          <p:cNvSpPr txBox="1"/>
          <p:nvPr/>
        </p:nvSpPr>
        <p:spPr>
          <a:xfrm>
            <a:off x="365760" y="1380744"/>
            <a:ext cx="6309359" cy="4809744"/>
          </a:xfrm>
          <a:prstGeom prst="rect">
            <a:avLst/>
          </a:prstGeom>
          <a:noFill/>
        </p:spPr>
        <p:txBody>
          <a:bodyPr wrap="none">
            <a:spAutoFit/>
          </a:bodyPr>
          <a:lstStyle/>
          <a:p>
            <a:r>
              <a:rPr sz="900">
                <a:solidFill>
                  <a:srgbClr val="CCCCCC"/>
                </a:solidFill>
                <a:latin typeface="Courier New"/>
              </a:rPr>
              <a:t>from a2a.types import (</a:t>
            </a:r>
          </a:p>
          <a:p>
            <a:r>
              <a:rPr sz="900">
                <a:solidFill>
                  <a:srgbClr val="CCCCCC"/>
                </a:solidFill>
                <a:latin typeface="Courier New"/>
              </a:rPr>
              <a:t>    SetTaskPushNotificationRequest,</a:t>
            </a:r>
          </a:p>
          <a:p>
            <a:r>
              <a:rPr sz="900">
                <a:solidFill>
                  <a:srgbClr val="CCCCCC"/>
                </a:solidFill>
                <a:latin typeface="Courier New"/>
              </a:rPr>
              <a:t>    TaskPushNotificationConfig,</a:t>
            </a:r>
          </a:p>
          <a:p>
            <a:r>
              <a:rPr sz="900">
                <a:solidFill>
                  <a:srgbClr val="CCCCCC"/>
                </a:solidFill>
                <a:latin typeface="Courier New"/>
              </a:rPr>
              <a:t>    PushNotificationConfig,</a:t>
            </a:r>
          </a:p>
          <a:p>
            <a:r>
              <a:rPr sz="900">
                <a:solidFill>
                  <a:srgbClr val="CCCCCC"/>
                </a:solidFill>
                <a:latin typeface="Courier New"/>
              </a:rPr>
              <a:t>    PushNotificationAuthenticationInfo</a:t>
            </a:r>
          </a:p>
          <a:p>
            <a:r>
              <a:rPr sz="900">
                <a:solidFill>
                  <a:srgbClr val="CCCCCC"/>
                </a:solidFill>
                <a:latin typeface="Courier New"/>
              </a:rPr>
              <a:t>)</a:t>
            </a:r>
          </a:p>
          <a:p>
            <a:endParaRPr sz="900">
              <a:solidFill>
                <a:srgbClr val="CCCCCC"/>
              </a:solidFill>
              <a:latin typeface="Courier New"/>
            </a:endParaRPr>
          </a:p>
          <a:p>
            <a:r>
              <a:rPr sz="900">
                <a:solidFill>
                  <a:srgbClr val="CCCCCC"/>
                </a:solidFill>
                <a:latin typeface="Courier New"/>
              </a:rPr>
              <a:t># ── Register webhook BEFORE sending the task ──────────</a:t>
            </a:r>
          </a:p>
          <a:p>
            <a:r>
              <a:rPr sz="900">
                <a:solidFill>
                  <a:srgbClr val="CCCCCC"/>
                </a:solidFill>
                <a:latin typeface="Courier New"/>
              </a:rPr>
              <a:t>await client.set_task_push_notification(</a:t>
            </a:r>
          </a:p>
          <a:p>
            <a:r>
              <a:rPr sz="900">
                <a:solidFill>
                  <a:srgbClr val="CCCCCC"/>
                </a:solidFill>
                <a:latin typeface="Courier New"/>
              </a:rPr>
              <a:t>    SetTaskPushNotificationRequest(</a:t>
            </a:r>
          </a:p>
          <a:p>
            <a:r>
              <a:rPr sz="900">
                <a:solidFill>
                  <a:srgbClr val="CCCCCC"/>
                </a:solidFill>
                <a:latin typeface="Courier New"/>
              </a:rPr>
              <a:t>        id=task_id,</a:t>
            </a:r>
          </a:p>
          <a:p>
            <a:r>
              <a:rPr sz="900">
                <a:solidFill>
                  <a:srgbClr val="CCCCCC"/>
                </a:solidFill>
                <a:latin typeface="Courier New"/>
              </a:rPr>
              <a:t>        params=TaskPushNotificationConfig(</a:t>
            </a:r>
          </a:p>
          <a:p>
            <a:r>
              <a:rPr sz="900">
                <a:solidFill>
                  <a:srgbClr val="CCCCCC"/>
                </a:solidFill>
                <a:latin typeface="Courier New"/>
              </a:rPr>
              <a:t>            id=task_id,</a:t>
            </a:r>
          </a:p>
          <a:p>
            <a:r>
              <a:rPr sz="900">
                <a:solidFill>
                  <a:srgbClr val="CCCCCC"/>
                </a:solidFill>
                <a:latin typeface="Courier New"/>
              </a:rPr>
              <a:t>            pushNotificationConfig=PushNotificationConfig(</a:t>
            </a:r>
          </a:p>
          <a:p>
            <a:r>
              <a:rPr sz="900">
                <a:solidFill>
                  <a:srgbClr val="CCCCCC"/>
                </a:solidFill>
                <a:latin typeface="Courier New"/>
              </a:rPr>
              <a:t>                url="https://myserver.com/webhook/a2a",</a:t>
            </a:r>
          </a:p>
          <a:p>
            <a:r>
              <a:rPr sz="900">
                <a:solidFill>
                  <a:srgbClr val="CCCCCC"/>
                </a:solidFill>
                <a:latin typeface="Courier New"/>
              </a:rPr>
              <a:t>                token="secret-verify-token-abc123",</a:t>
            </a:r>
          </a:p>
          <a:p>
            <a:r>
              <a:rPr sz="900">
                <a:solidFill>
                  <a:srgbClr val="CCCCCC"/>
                </a:solidFill>
                <a:latin typeface="Courier New"/>
              </a:rPr>
              <a:t>                authentication=PushNotificationAuthenticationInfo(</a:t>
            </a:r>
          </a:p>
          <a:p>
            <a:r>
              <a:rPr sz="900">
                <a:solidFill>
                  <a:srgbClr val="CCCCCC"/>
                </a:solidFill>
                <a:latin typeface="Courier New"/>
              </a:rPr>
              <a:t>                    schemes=["Bearer"],</a:t>
            </a:r>
          </a:p>
          <a:p>
            <a:r>
              <a:rPr sz="900">
                <a:solidFill>
                  <a:srgbClr val="CCCCCC"/>
                </a:solidFill>
                <a:latin typeface="Courier New"/>
              </a:rPr>
              <a:t>                    credentials="my-webhook-bearer-token"</a:t>
            </a:r>
          </a:p>
          <a:p>
            <a:r>
              <a:rPr sz="900">
                <a:solidFill>
                  <a:srgbClr val="CCCCCC"/>
                </a:solidFill>
                <a:latin typeface="Courier New"/>
              </a:rPr>
              <a:t>                )</a:t>
            </a:r>
          </a:p>
          <a:p>
            <a:r>
              <a:rPr sz="900">
                <a:solidFill>
                  <a:srgbClr val="CCCCCC"/>
                </a:solidFill>
                <a:latin typeface="Courier New"/>
              </a:rPr>
              <a:t>            )</a:t>
            </a:r>
          </a:p>
          <a:p>
            <a:r>
              <a:rPr sz="900">
                <a:solidFill>
                  <a:srgbClr val="CCCCCC"/>
                </a:solidFill>
                <a:latin typeface="Courier New"/>
              </a:rPr>
              <a:t>        )</a:t>
            </a:r>
          </a:p>
          <a:p>
            <a:r>
              <a:rPr sz="900">
                <a:solidFill>
                  <a:srgbClr val="CCCCCC"/>
                </a:solidFill>
                <a:latin typeface="Courier New"/>
              </a:rPr>
              <a:t>    )</a:t>
            </a:r>
          </a:p>
          <a:p>
            <a:r>
              <a:rPr sz="900">
                <a:solidFill>
                  <a:srgbClr val="CCCCCC"/>
                </a:solidFill>
                <a:latin typeface="Courier New"/>
              </a:rPr>
              <a:t>)</a:t>
            </a:r>
          </a:p>
          <a:p>
            <a:endParaRPr sz="900">
              <a:solidFill>
                <a:srgbClr val="CCCCCC"/>
              </a:solidFill>
              <a:latin typeface="Courier New"/>
            </a:endParaRPr>
          </a:p>
          <a:p>
            <a:r>
              <a:rPr sz="900">
                <a:solidFill>
                  <a:srgbClr val="CCCCCC"/>
                </a:solidFill>
                <a:latin typeface="Courier New"/>
              </a:rPr>
              <a:t># ── Send the long-running task ─────────────────────────</a:t>
            </a:r>
          </a:p>
          <a:p>
            <a:r>
              <a:rPr sz="900">
                <a:solidFill>
                  <a:srgbClr val="CCCCCC"/>
                </a:solidFill>
                <a:latin typeface="Courier New"/>
              </a:rPr>
              <a:t>await client.send_task(SendTaskRequest(</a:t>
            </a:r>
          </a:p>
          <a:p>
            <a:r>
              <a:rPr sz="900">
                <a:solidFill>
                  <a:srgbClr val="CCCCCC"/>
                </a:solidFill>
                <a:latin typeface="Courier New"/>
              </a:rPr>
              <a:t>    id=task_id,</a:t>
            </a:r>
          </a:p>
          <a:p>
            <a:r>
              <a:rPr sz="900">
                <a:solidFill>
                  <a:srgbClr val="CCCCCC"/>
                </a:solidFill>
                <a:latin typeface="Courier New"/>
              </a:rPr>
              <a:t>    params=TaskSendParams(id=task_id, message=...)</a:t>
            </a:r>
          </a:p>
          <a:p>
            <a:r>
              <a:rPr sz="900">
                <a:solidFill>
                  <a:srgbClr val="CCCCCC"/>
                </a:solidFill>
                <a:latin typeface="Courier New"/>
              </a:rPr>
              <a:t>))</a:t>
            </a:r>
          </a:p>
          <a:p>
            <a:r>
              <a:rPr sz="900">
                <a:solidFill>
                  <a:srgbClr val="CCCCCC"/>
                </a:solidFill>
                <a:latin typeface="Courier New"/>
              </a:rPr>
              <a:t>print("Task submitted — webhook will fire when done")</a:t>
            </a:r>
          </a:p>
          <a:p>
            <a:r>
              <a:rPr sz="900">
                <a:solidFill>
                  <a:srgbClr val="CCCCCC"/>
                </a:solidFill>
                <a:latin typeface="Courier New"/>
              </a:rPr>
              <a:t># Client is free to do other work now!</a:t>
            </a:r>
          </a:p>
        </p:txBody>
      </p:sp>
      <p:sp>
        <p:nvSpPr>
          <p:cNvPr id="10" name="Rectangle 9"/>
          <p:cNvSpPr/>
          <p:nvPr/>
        </p:nvSpPr>
        <p:spPr>
          <a:xfrm>
            <a:off x="274320" y="6327648"/>
            <a:ext cx="6492240" cy="160020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4320" y="6327648"/>
            <a:ext cx="649224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6355080"/>
            <a:ext cx="6309359" cy="201168"/>
          </a:xfrm>
          <a:prstGeom prst="rect">
            <a:avLst/>
          </a:prstGeom>
          <a:noFill/>
        </p:spPr>
        <p:txBody>
          <a:bodyPr wrap="square">
            <a:spAutoFit/>
          </a:bodyPr>
          <a:lstStyle/>
          <a:p>
            <a:pPr algn="l"/>
            <a:r>
              <a:rPr sz="1000" b="0">
                <a:solidFill>
                  <a:srgbClr val="F0A500"/>
                </a:solidFill>
                <a:latin typeface="Calibri"/>
              </a:rPr>
              <a:t>Webhook Receiver (FastAPI)</a:t>
            </a:r>
          </a:p>
        </p:txBody>
      </p:sp>
      <p:sp>
        <p:nvSpPr>
          <p:cNvPr id="13" name="TextBox 12"/>
          <p:cNvSpPr txBox="1"/>
          <p:nvPr/>
        </p:nvSpPr>
        <p:spPr>
          <a:xfrm>
            <a:off x="365760" y="6592824"/>
            <a:ext cx="6309359" cy="1289304"/>
          </a:xfrm>
          <a:prstGeom prst="rect">
            <a:avLst/>
          </a:prstGeom>
          <a:noFill/>
        </p:spPr>
        <p:txBody>
          <a:bodyPr wrap="none">
            <a:spAutoFit/>
          </a:bodyPr>
          <a:lstStyle/>
          <a:p>
            <a:r>
              <a:rPr sz="850">
                <a:solidFill>
                  <a:srgbClr val="CCCCCC"/>
                </a:solidFill>
                <a:latin typeface="Courier New"/>
              </a:rPr>
              <a:t># webhook_receiver.py — FastAPI server</a:t>
            </a:r>
          </a:p>
          <a:p>
            <a:r>
              <a:rPr sz="850">
                <a:solidFill>
                  <a:srgbClr val="CCCCCC"/>
                </a:solidFill>
                <a:latin typeface="Courier New"/>
              </a:rPr>
              <a:t>from fastapi import FastAPI, Request, HTTPException</a:t>
            </a:r>
          </a:p>
          <a:p>
            <a:r>
              <a:rPr sz="850">
                <a:solidFill>
                  <a:srgbClr val="CCCCCC"/>
                </a:solidFill>
                <a:latin typeface="Courier New"/>
              </a:rPr>
              <a:t>import hmac, hashlib</a:t>
            </a:r>
          </a:p>
          <a:p>
            <a:endParaRPr sz="850">
              <a:solidFill>
                <a:srgbClr val="CCCCCC"/>
              </a:solidFill>
              <a:latin typeface="Courier New"/>
            </a:endParaRPr>
          </a:p>
          <a:p>
            <a:r>
              <a:rPr sz="850">
                <a:solidFill>
                  <a:srgbClr val="CCCCCC"/>
                </a:solidFill>
                <a:latin typeface="Courier New"/>
              </a:rPr>
              <a:t>app = FastAPI()</a:t>
            </a:r>
          </a:p>
          <a:p>
            <a:endParaRPr sz="850">
              <a:solidFill>
                <a:srgbClr val="CCCCCC"/>
              </a:solidFill>
              <a:latin typeface="Courier New"/>
            </a:endParaRPr>
          </a:p>
          <a:p>
            <a:r>
              <a:rPr sz="850">
                <a:solidFill>
                  <a:srgbClr val="CCCCCC"/>
                </a:solidFill>
                <a:latin typeface="Courier New"/>
              </a:rPr>
              <a:t>@app.post("/webhook/a2a")</a:t>
            </a:r>
          </a:p>
          <a:p>
            <a:r>
              <a:rPr sz="850">
                <a:solidFill>
                  <a:srgbClr val="CCCCCC"/>
                </a:solidFill>
                <a:latin typeface="Courier New"/>
              </a:rPr>
              <a:t>async def receive_push(request: Request):</a:t>
            </a:r>
          </a:p>
          <a:p>
            <a:r>
              <a:rPr sz="850">
                <a:solidFill>
                  <a:srgbClr val="CCCCCC"/>
                </a:solidFill>
                <a:latin typeface="Courier New"/>
              </a:rPr>
              <a:t>    # Validate token header</a:t>
            </a:r>
          </a:p>
          <a:p>
            <a:r>
              <a:rPr sz="850">
                <a:solidFill>
                  <a:srgbClr val="CCCCCC"/>
                </a:solidFill>
                <a:latin typeface="Courier New"/>
              </a:rPr>
              <a:t>    token = request.headers.get("X-A2A-Notification-Token")</a:t>
            </a:r>
          </a:p>
          <a:p>
            <a:r>
              <a:rPr sz="850">
                <a:solidFill>
                  <a:srgbClr val="CCCCCC"/>
                </a:solidFill>
                <a:latin typeface="Courier New"/>
              </a:rPr>
              <a:t>    if not hmac.compare_digest(token or "", EXPECTED_TOKEN):</a:t>
            </a:r>
          </a:p>
          <a:p>
            <a:r>
              <a:rPr sz="850">
                <a:solidFill>
                  <a:srgbClr val="CCCCCC"/>
                </a:solidFill>
                <a:latin typeface="Courier New"/>
              </a:rPr>
              <a:t>        raise HTTPException(status_code=401)</a:t>
            </a:r>
          </a:p>
          <a:p>
            <a:endParaRPr sz="850">
              <a:solidFill>
                <a:srgbClr val="CCCCCC"/>
              </a:solidFill>
              <a:latin typeface="Courier New"/>
            </a:endParaRPr>
          </a:p>
          <a:p>
            <a:r>
              <a:rPr sz="850">
                <a:solidFill>
                  <a:srgbClr val="CCCCCC"/>
                </a:solidFill>
                <a:latin typeface="Courier New"/>
              </a:rPr>
              <a:t>    payload = await request.json()</a:t>
            </a:r>
          </a:p>
          <a:p>
            <a:r>
              <a:rPr sz="850">
                <a:solidFill>
                  <a:srgbClr val="CCCCCC"/>
                </a:solidFill>
                <a:latin typeface="Courier New"/>
              </a:rPr>
              <a:t>    task_id = payload["id"]</a:t>
            </a:r>
          </a:p>
          <a:p>
            <a:r>
              <a:rPr sz="850">
                <a:solidFill>
                  <a:srgbClr val="CCCCCC"/>
                </a:solidFill>
                <a:latin typeface="Courier New"/>
              </a:rPr>
              <a:t>    state   = payload["status"]["state"]</a:t>
            </a:r>
          </a:p>
          <a:p>
            <a:r>
              <a:rPr sz="850">
                <a:solidFill>
                  <a:srgbClr val="CCCCCC"/>
                </a:solidFill>
                <a:latin typeface="Courier New"/>
              </a:rPr>
              <a:t>    print(f"Push notification: task={task_id} state={state}")</a:t>
            </a:r>
          </a:p>
          <a:p>
            <a:endParaRPr sz="850">
              <a:solidFill>
                <a:srgbClr val="CCCCCC"/>
              </a:solidFill>
              <a:latin typeface="Courier New"/>
            </a:endParaRPr>
          </a:p>
          <a:p>
            <a:r>
              <a:rPr sz="850">
                <a:solidFill>
                  <a:srgbClr val="CCCCCC"/>
                </a:solidFill>
                <a:latin typeface="Courier New"/>
              </a:rPr>
              <a:t>    if state == "completed":</a:t>
            </a:r>
          </a:p>
          <a:p>
            <a:r>
              <a:rPr sz="850">
                <a:solidFill>
                  <a:srgbClr val="CCCCCC"/>
                </a:solidFill>
                <a:latin typeface="Courier New"/>
              </a:rPr>
              <a:t>        artifacts = payload.get("artifacts", [])</a:t>
            </a:r>
          </a:p>
          <a:p>
            <a:r>
              <a:rPr sz="850">
                <a:solidFill>
                  <a:srgbClr val="CCCCCC"/>
                </a:solidFill>
                <a:latin typeface="Courier New"/>
              </a:rPr>
              <a:t>        await process_result(task_id, artifacts)</a:t>
            </a:r>
          </a:p>
          <a:p>
            <a:r>
              <a:rPr sz="850">
                <a:solidFill>
                  <a:srgbClr val="CCCCCC"/>
                </a:solidFill>
                <a:latin typeface="Courier New"/>
              </a:rPr>
              <a:t>    return {"ok": True}</a:t>
            </a:r>
          </a:p>
        </p:txBody>
      </p:sp>
      <p:sp>
        <p:nvSpPr>
          <p:cNvPr id="14" name="Rectangle 13"/>
          <p:cNvSpPr/>
          <p:nvPr/>
        </p:nvSpPr>
        <p:spPr>
          <a:xfrm>
            <a:off x="6903720" y="1115568"/>
            <a:ext cx="4983480" cy="329184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903720" y="1115568"/>
            <a:ext cx="498348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95159" y="1152144"/>
            <a:ext cx="4800600" cy="274320"/>
          </a:xfrm>
          <a:prstGeom prst="rect">
            <a:avLst/>
          </a:prstGeom>
          <a:noFill/>
        </p:spPr>
        <p:txBody>
          <a:bodyPr wrap="square">
            <a:spAutoFit/>
          </a:bodyPr>
          <a:lstStyle/>
          <a:p>
            <a:pPr algn="l"/>
            <a:r>
              <a:rPr sz="1200" b="1">
                <a:solidFill>
                  <a:srgbClr val="FFFFFF"/>
                </a:solidFill>
                <a:latin typeface="Calibri"/>
              </a:rPr>
              <a:t>PushNotificationConfig Fields</a:t>
            </a:r>
          </a:p>
        </p:txBody>
      </p:sp>
      <p:sp>
        <p:nvSpPr>
          <p:cNvPr id="17" name="TextBox 16"/>
          <p:cNvSpPr txBox="1"/>
          <p:nvPr/>
        </p:nvSpPr>
        <p:spPr>
          <a:xfrm>
            <a:off x="7013448" y="1499616"/>
            <a:ext cx="4178808" cy="2672526"/>
          </a:xfrm>
          <a:prstGeom prst="rect">
            <a:avLst/>
          </a:prstGeom>
          <a:noFill/>
        </p:spPr>
        <p:txBody>
          <a:bodyPr wrap="square">
            <a:spAutoFit/>
          </a:bodyPr>
          <a:lstStyle/>
          <a:p>
            <a:pPr>
              <a:spcBef>
                <a:spcPts val="400"/>
              </a:spcBef>
            </a:pPr>
            <a:r>
              <a:rPr sz="1100">
                <a:solidFill>
                  <a:srgbClr val="222244"/>
                </a:solidFill>
                <a:latin typeface="Calibri"/>
              </a:rPr>
              <a:t>  •  url    — your HTTPS webhook endpoint</a:t>
            </a:r>
          </a:p>
          <a:p>
            <a:pPr>
              <a:spcBef>
                <a:spcPts val="400"/>
              </a:spcBef>
            </a:pPr>
            <a:r>
              <a:rPr sz="1100">
                <a:solidFill>
                  <a:srgbClr val="222244"/>
                </a:solidFill>
                <a:latin typeface="Calibri"/>
              </a:rPr>
              <a:t>  •  token  — verification token (you set it)</a:t>
            </a:r>
          </a:p>
          <a:p>
            <a:pPr>
              <a:spcBef>
                <a:spcPts val="400"/>
              </a:spcBef>
            </a:pPr>
            <a:r>
              <a:rPr sz="1100">
                <a:solidFill>
                  <a:srgbClr val="222244"/>
                </a:solidFill>
                <a:latin typeface="Calibri"/>
              </a:rPr>
              <a:t>  •  authentication — auth for agent to call you</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Agent Card requirement:</a:t>
            </a:r>
          </a:p>
          <a:p>
            <a:pPr>
              <a:spcBef>
                <a:spcPts val="400"/>
              </a:spcBef>
            </a:pPr>
            <a:r>
              <a:rPr sz="1000">
                <a:solidFill>
                  <a:srgbClr val="222244"/>
                </a:solidFill>
                <a:latin typeface="Calibri"/>
              </a:rPr>
              <a:t>       ◦  capabilities.pushNotifications: true</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Agent POSTs full Task JSON to webhook</a:t>
            </a:r>
          </a:p>
          <a:p>
            <a:pPr>
              <a:spcBef>
                <a:spcPts val="400"/>
              </a:spcBef>
            </a:pPr>
            <a:r>
              <a:rPr sz="1100">
                <a:solidFill>
                  <a:srgbClr val="222244"/>
                </a:solidFill>
                <a:latin typeface="Calibri"/>
              </a:rPr>
              <a:t>  •  Validate token to prevent spoofing</a:t>
            </a:r>
          </a:p>
          <a:p>
            <a:pPr>
              <a:spcBef>
                <a:spcPts val="400"/>
              </a:spcBef>
            </a:pPr>
            <a:r>
              <a:rPr sz="1100">
                <a:solidFill>
                  <a:srgbClr val="222244"/>
                </a:solidFill>
                <a:latin typeface="Calibri"/>
              </a:rPr>
              <a:t>  •  Return 200 OK to acknowledge receipt</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tasks/pushNotification/get — retrieve config</a:t>
            </a:r>
          </a:p>
        </p:txBody>
      </p:sp>
      <p:sp>
        <p:nvSpPr>
          <p:cNvPr id="18" name="Rectangle 17"/>
          <p:cNvSpPr/>
          <p:nvPr/>
        </p:nvSpPr>
        <p:spPr>
          <a:xfrm>
            <a:off x="6995161" y="4617720"/>
            <a:ext cx="4983480" cy="1709928"/>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995161" y="4617720"/>
            <a:ext cx="498348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86600" y="4654296"/>
            <a:ext cx="4800600" cy="274320"/>
          </a:xfrm>
          <a:prstGeom prst="rect">
            <a:avLst/>
          </a:prstGeom>
          <a:noFill/>
        </p:spPr>
        <p:txBody>
          <a:bodyPr wrap="square">
            <a:spAutoFit/>
          </a:bodyPr>
          <a:lstStyle/>
          <a:p>
            <a:pPr algn="l"/>
            <a:r>
              <a:rPr sz="1200" b="1">
                <a:solidFill>
                  <a:srgbClr val="FFFFFF"/>
                </a:solidFill>
                <a:latin typeface="Calibri"/>
              </a:rPr>
              <a:t>When to Use Push Notifications</a:t>
            </a:r>
          </a:p>
        </p:txBody>
      </p:sp>
      <p:sp>
        <p:nvSpPr>
          <p:cNvPr id="21" name="TextBox 20"/>
          <p:cNvSpPr txBox="1"/>
          <p:nvPr/>
        </p:nvSpPr>
        <p:spPr>
          <a:xfrm>
            <a:off x="7104889" y="5001768"/>
            <a:ext cx="4764024" cy="777240"/>
          </a:xfrm>
          <a:prstGeom prst="rect">
            <a:avLst/>
          </a:prstGeom>
          <a:noFill/>
        </p:spPr>
        <p:txBody>
          <a:bodyPr wrap="square">
            <a:spAutoFit/>
          </a:bodyPr>
          <a:lstStyle/>
          <a:p>
            <a:pPr>
              <a:spcBef>
                <a:spcPts val="400"/>
              </a:spcBef>
            </a:pPr>
            <a:r>
              <a:rPr sz="1100">
                <a:solidFill>
                  <a:srgbClr val="222244"/>
                </a:solidFill>
                <a:latin typeface="Calibri"/>
              </a:rPr>
              <a:t>  •  Tasks taking minutes or hours</a:t>
            </a:r>
          </a:p>
          <a:p>
            <a:pPr>
              <a:spcBef>
                <a:spcPts val="400"/>
              </a:spcBef>
            </a:pPr>
            <a:r>
              <a:rPr sz="1100">
                <a:solidFill>
                  <a:srgbClr val="222244"/>
                </a:solidFill>
                <a:latin typeface="Calibri"/>
              </a:rPr>
              <a:t>  •  Batch processing pipelines</a:t>
            </a:r>
          </a:p>
          <a:p>
            <a:pPr>
              <a:spcBef>
                <a:spcPts val="400"/>
              </a:spcBef>
            </a:pPr>
            <a:r>
              <a:rPr sz="1100">
                <a:solidFill>
                  <a:srgbClr val="222244"/>
                </a:solidFill>
                <a:latin typeface="Calibri"/>
              </a:rPr>
              <a:t>  •  When client cannot maintain connection</a:t>
            </a:r>
          </a:p>
          <a:p>
            <a:pPr>
              <a:spcBef>
                <a:spcPts val="400"/>
              </a:spcBef>
            </a:pPr>
            <a:r>
              <a:rPr sz="1100">
                <a:solidFill>
                  <a:srgbClr val="222244"/>
                </a:solidFill>
                <a:latin typeface="Calibri"/>
              </a:rPr>
              <a:t>  •  Serverless / event-driven architectures</a:t>
            </a:r>
          </a:p>
          <a:p>
            <a:pPr>
              <a:spcBef>
                <a:spcPts val="400"/>
              </a:spcBef>
            </a:pPr>
            <a:r>
              <a:rPr sz="1100">
                <a:solidFill>
                  <a:srgbClr val="222244"/>
                </a:solidFill>
                <a:latin typeface="Calibri"/>
              </a:rPr>
              <a:t>  •  Replace tight polling loops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9: Authentication and Security</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Agent Cards declare requirements; clients inject credentials</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6720840" cy="548640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15568"/>
            <a:ext cx="672084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43000"/>
            <a:ext cx="6537959" cy="201168"/>
          </a:xfrm>
          <a:prstGeom prst="rect">
            <a:avLst/>
          </a:prstGeom>
          <a:noFill/>
        </p:spPr>
        <p:txBody>
          <a:bodyPr wrap="square">
            <a:spAutoFit/>
          </a:bodyPr>
          <a:lstStyle/>
          <a:p>
            <a:pPr algn="l"/>
            <a:r>
              <a:rPr sz="1000" b="0">
                <a:solidFill>
                  <a:srgbClr val="F0A500"/>
                </a:solidFill>
                <a:latin typeface="Calibri"/>
              </a:rPr>
              <a:t>Client-Side Authentication — Python</a:t>
            </a:r>
          </a:p>
        </p:txBody>
      </p:sp>
      <p:sp>
        <p:nvSpPr>
          <p:cNvPr id="9" name="TextBox 8"/>
          <p:cNvSpPr txBox="1"/>
          <p:nvPr/>
        </p:nvSpPr>
        <p:spPr>
          <a:xfrm>
            <a:off x="365760" y="1380744"/>
            <a:ext cx="6537959" cy="5175504"/>
          </a:xfrm>
          <a:prstGeom prst="rect">
            <a:avLst/>
          </a:prstGeom>
          <a:noFill/>
        </p:spPr>
        <p:txBody>
          <a:bodyPr wrap="none">
            <a:spAutoFit/>
          </a:bodyPr>
          <a:lstStyle/>
          <a:p>
            <a:r>
              <a:rPr sz="900">
                <a:solidFill>
                  <a:srgbClr val="CCCCCC"/>
                </a:solidFill>
                <a:latin typeface="Courier New"/>
              </a:rPr>
              <a:t>import httpx</a:t>
            </a:r>
          </a:p>
          <a:p>
            <a:r>
              <a:rPr sz="900">
                <a:solidFill>
                  <a:srgbClr val="CCCCCC"/>
                </a:solidFill>
                <a:latin typeface="Courier New"/>
              </a:rPr>
              <a:t>from a2a.client import A2AClient, A2ACardResolver</a:t>
            </a:r>
          </a:p>
          <a:p>
            <a:endParaRPr sz="900">
              <a:solidFill>
                <a:srgbClr val="CCCCCC"/>
              </a:solidFill>
              <a:latin typeface="Courier New"/>
            </a:endParaRPr>
          </a:p>
          <a:p>
            <a:r>
              <a:rPr sz="900">
                <a:solidFill>
                  <a:srgbClr val="CCCCCC"/>
                </a:solidFill>
                <a:latin typeface="Courier New"/>
              </a:rPr>
              <a:t># ── Pattern 1: Bearer Token (Flight Agent) ────────────</a:t>
            </a:r>
          </a:p>
          <a:p>
            <a:r>
              <a:rPr sz="900">
                <a:solidFill>
                  <a:srgbClr val="CCCCCC"/>
                </a:solidFill>
                <a:latin typeface="Courier New"/>
              </a:rPr>
              <a:t>resolver = A2ACardResolver(</a:t>
            </a:r>
          </a:p>
          <a:p>
            <a:r>
              <a:rPr sz="900">
                <a:solidFill>
                  <a:srgbClr val="CCCCCC"/>
                </a:solidFill>
                <a:latin typeface="Courier New"/>
              </a:rPr>
              <a:t>    httpx_client=httpx.AsyncClient(),</a:t>
            </a:r>
          </a:p>
          <a:p>
            <a:r>
              <a:rPr sz="900">
                <a:solidFill>
                  <a:srgbClr val="CCCCCC"/>
                </a:solidFill>
                <a:latin typeface="Courier New"/>
              </a:rPr>
              <a:t>    base_url="http://localhost:8001/"</a:t>
            </a:r>
          </a:p>
          <a:p>
            <a:r>
              <a:rPr sz="900">
                <a:solidFill>
                  <a:srgbClr val="CCCCCC"/>
                </a:solidFill>
                <a:latin typeface="Courier New"/>
              </a:rPr>
              <a:t>)</a:t>
            </a:r>
          </a:p>
          <a:p>
            <a:r>
              <a:rPr sz="900">
                <a:solidFill>
                  <a:srgbClr val="CCCCCC"/>
                </a:solidFill>
                <a:latin typeface="Courier New"/>
              </a:rPr>
              <a:t>card = await resolver.get_agent_card()</a:t>
            </a:r>
          </a:p>
          <a:p>
            <a:r>
              <a:rPr sz="900">
                <a:solidFill>
                  <a:srgbClr val="CCCCCC"/>
                </a:solidFill>
                <a:latin typeface="Courier New"/>
              </a:rPr>
              <a:t># card.authentication.schemes == ["Bearer"]</a:t>
            </a:r>
          </a:p>
          <a:p>
            <a:endParaRPr sz="900">
              <a:solidFill>
                <a:srgbClr val="CCCCCC"/>
              </a:solidFill>
              <a:latin typeface="Courier New"/>
            </a:endParaRPr>
          </a:p>
          <a:p>
            <a:r>
              <a:rPr sz="900">
                <a:solidFill>
                  <a:srgbClr val="CCCCCC"/>
                </a:solidFill>
                <a:latin typeface="Courier New"/>
              </a:rPr>
              <a:t>flight_client = A2AClient(</a:t>
            </a:r>
          </a:p>
          <a:p>
            <a:r>
              <a:rPr sz="900">
                <a:solidFill>
                  <a:srgbClr val="CCCCCC"/>
                </a:solidFill>
                <a:latin typeface="Courier New"/>
              </a:rPr>
              <a:t>    httpx_client=httpx.AsyncClient(headers={</a:t>
            </a:r>
          </a:p>
          <a:p>
            <a:r>
              <a:rPr sz="900">
                <a:solidFill>
                  <a:srgbClr val="CCCCCC"/>
                </a:solidFill>
                <a:latin typeface="Courier New"/>
              </a:rPr>
              <a:t>        "Authorization": f"Bearer {FLIGHT_API_TOKEN}"</a:t>
            </a:r>
          </a:p>
          <a:p>
            <a:r>
              <a:rPr sz="900">
                <a:solidFill>
                  <a:srgbClr val="CCCCCC"/>
                </a:solidFill>
                <a:latin typeface="Courier New"/>
              </a:rPr>
              <a:t>    }),</a:t>
            </a:r>
          </a:p>
          <a:p>
            <a:r>
              <a:rPr sz="900">
                <a:solidFill>
                  <a:srgbClr val="CCCCCC"/>
                </a:solidFill>
                <a:latin typeface="Courier New"/>
              </a:rPr>
              <a:t>    agent_card=card</a:t>
            </a:r>
          </a:p>
          <a:p>
            <a:r>
              <a:rPr sz="900">
                <a:solidFill>
                  <a:srgbClr val="CCCCCC"/>
                </a:solidFill>
                <a:latin typeface="Courier New"/>
              </a:rPr>
              <a:t>)</a:t>
            </a:r>
          </a:p>
          <a:p>
            <a:endParaRPr sz="900">
              <a:solidFill>
                <a:srgbClr val="CCCCCC"/>
              </a:solidFill>
              <a:latin typeface="Courier New"/>
            </a:endParaRPr>
          </a:p>
          <a:p>
            <a:r>
              <a:rPr sz="900">
                <a:solidFill>
                  <a:srgbClr val="CCCCCC"/>
                </a:solidFill>
                <a:latin typeface="Courier New"/>
              </a:rPr>
              <a:t># ── Pattern 2: API Key (Hotel Agent) ──────────────────</a:t>
            </a:r>
          </a:p>
          <a:p>
            <a:r>
              <a:rPr sz="900">
                <a:solidFill>
                  <a:srgbClr val="CCCCCC"/>
                </a:solidFill>
                <a:latin typeface="Courier New"/>
              </a:rPr>
              <a:t>hotel_card = await A2ACardResolver(</a:t>
            </a:r>
          </a:p>
          <a:p>
            <a:r>
              <a:rPr sz="900">
                <a:solidFill>
                  <a:srgbClr val="CCCCCC"/>
                </a:solidFill>
                <a:latin typeface="Courier New"/>
              </a:rPr>
              <a:t>    httpx_client=httpx.AsyncClient(),</a:t>
            </a:r>
          </a:p>
          <a:p>
            <a:r>
              <a:rPr sz="900">
                <a:solidFill>
                  <a:srgbClr val="CCCCCC"/>
                </a:solidFill>
                <a:latin typeface="Courier New"/>
              </a:rPr>
              <a:t>    base_url="http://localhost:8002/"</a:t>
            </a:r>
          </a:p>
          <a:p>
            <a:r>
              <a:rPr sz="900">
                <a:solidFill>
                  <a:srgbClr val="CCCCCC"/>
                </a:solidFill>
                <a:latin typeface="Courier New"/>
              </a:rPr>
              <a:t>).get_agent_card()</a:t>
            </a:r>
          </a:p>
          <a:p>
            <a:r>
              <a:rPr sz="900">
                <a:solidFill>
                  <a:srgbClr val="CCCCCC"/>
                </a:solidFill>
                <a:latin typeface="Courier New"/>
              </a:rPr>
              <a:t># hotel_card.authentication.credentials.header == "X-API-Key"</a:t>
            </a:r>
          </a:p>
          <a:p>
            <a:endParaRPr sz="900">
              <a:solidFill>
                <a:srgbClr val="CCCCCC"/>
              </a:solidFill>
              <a:latin typeface="Courier New"/>
            </a:endParaRPr>
          </a:p>
          <a:p>
            <a:r>
              <a:rPr sz="900">
                <a:solidFill>
                  <a:srgbClr val="CCCCCC"/>
                </a:solidFill>
                <a:latin typeface="Courier New"/>
              </a:rPr>
              <a:t>hotel_client = A2AClient(</a:t>
            </a:r>
          </a:p>
          <a:p>
            <a:r>
              <a:rPr sz="900">
                <a:solidFill>
                  <a:srgbClr val="CCCCCC"/>
                </a:solidFill>
                <a:latin typeface="Courier New"/>
              </a:rPr>
              <a:t>    httpx_client=httpx.AsyncClient(headers={</a:t>
            </a:r>
          </a:p>
          <a:p>
            <a:r>
              <a:rPr sz="900">
                <a:solidFill>
                  <a:srgbClr val="CCCCCC"/>
                </a:solidFill>
                <a:latin typeface="Courier New"/>
              </a:rPr>
              <a:t>        "X-API-Key": HOTEL_API_KEY</a:t>
            </a:r>
          </a:p>
          <a:p>
            <a:r>
              <a:rPr sz="900">
                <a:solidFill>
                  <a:srgbClr val="CCCCCC"/>
                </a:solidFill>
                <a:latin typeface="Courier New"/>
              </a:rPr>
              <a:t>    }),</a:t>
            </a:r>
          </a:p>
          <a:p>
            <a:r>
              <a:rPr sz="900">
                <a:solidFill>
                  <a:srgbClr val="CCCCCC"/>
                </a:solidFill>
                <a:latin typeface="Courier New"/>
              </a:rPr>
              <a:t>    agent_card=hotel_card</a:t>
            </a:r>
          </a:p>
          <a:p>
            <a:r>
              <a:rPr sz="900">
                <a:solidFill>
                  <a:srgbClr val="CCCCCC"/>
                </a:solidFill>
                <a:latin typeface="Courier New"/>
              </a:rPr>
              <a:t>)</a:t>
            </a:r>
          </a:p>
          <a:p>
            <a:endParaRPr sz="900">
              <a:solidFill>
                <a:srgbClr val="CCCCCC"/>
              </a:solidFill>
              <a:latin typeface="Courier New"/>
            </a:endParaRPr>
          </a:p>
          <a:p>
            <a:r>
              <a:rPr sz="900">
                <a:solidFill>
                  <a:srgbClr val="CCCCCC"/>
                </a:solidFill>
                <a:latin typeface="Courier New"/>
              </a:rPr>
              <a:t># ── Handle auth errors ────────────────────────────────</a:t>
            </a:r>
          </a:p>
          <a:p>
            <a:r>
              <a:rPr sz="900">
                <a:solidFill>
                  <a:srgbClr val="CCCCCC"/>
                </a:solidFill>
                <a:latin typeface="Courier New"/>
              </a:rPr>
              <a:t>from a2a.client.errors import A2AClientHTTPError</a:t>
            </a:r>
          </a:p>
          <a:p>
            <a:endParaRPr sz="900">
              <a:solidFill>
                <a:srgbClr val="CCCCCC"/>
              </a:solidFill>
              <a:latin typeface="Courier New"/>
            </a:endParaRPr>
          </a:p>
          <a:p>
            <a:r>
              <a:rPr sz="900">
                <a:solidFill>
                  <a:srgbClr val="CCCCCC"/>
                </a:solidFill>
                <a:latin typeface="Courier New"/>
              </a:rPr>
              <a:t>try:</a:t>
            </a:r>
          </a:p>
          <a:p>
            <a:r>
              <a:rPr sz="900">
                <a:solidFill>
                  <a:srgbClr val="CCCCCC"/>
                </a:solidFill>
                <a:latin typeface="Courier New"/>
              </a:rPr>
              <a:t>    response = await flight_client.send_task(request)</a:t>
            </a:r>
          </a:p>
          <a:p>
            <a:r>
              <a:rPr sz="900">
                <a:solidFill>
                  <a:srgbClr val="CCCCCC"/>
                </a:solidFill>
                <a:latin typeface="Courier New"/>
              </a:rPr>
              <a:t>except A2AClientHTTPError as e:</a:t>
            </a:r>
          </a:p>
          <a:p>
            <a:r>
              <a:rPr sz="900">
                <a:solidFill>
                  <a:srgbClr val="CCCCCC"/>
                </a:solidFill>
                <a:latin typeface="Courier New"/>
              </a:rPr>
              <a:t>    if e.status_code == 401:</a:t>
            </a:r>
          </a:p>
          <a:p>
            <a:r>
              <a:rPr sz="900">
                <a:solidFill>
                  <a:srgbClr val="CCCCCC"/>
                </a:solidFill>
                <a:latin typeface="Courier New"/>
              </a:rPr>
              <a:t>        print("Token expired — refresh and retry")</a:t>
            </a:r>
          </a:p>
          <a:p>
            <a:r>
              <a:rPr sz="900">
                <a:solidFill>
                  <a:srgbClr val="CCCCCC"/>
                </a:solidFill>
                <a:latin typeface="Courier New"/>
              </a:rPr>
              <a:t>    elif e.status_code == 403:</a:t>
            </a:r>
          </a:p>
          <a:p>
            <a:r>
              <a:rPr sz="900">
                <a:solidFill>
                  <a:srgbClr val="CCCCCC"/>
                </a:solidFill>
                <a:latin typeface="Courier New"/>
              </a:rPr>
              <a:t>        print("Insufficient permissions")</a:t>
            </a:r>
          </a:p>
          <a:p>
            <a:r>
              <a:rPr sz="900">
                <a:solidFill>
                  <a:srgbClr val="CCCCCC"/>
                </a:solidFill>
                <a:latin typeface="Courier New"/>
              </a:rPr>
              <a:t>    else:</a:t>
            </a:r>
          </a:p>
          <a:p>
            <a:r>
              <a:rPr sz="900">
                <a:solidFill>
                  <a:srgbClr val="CCCCCC"/>
                </a:solidFill>
                <a:latin typeface="Courier New"/>
              </a:rPr>
              <a:t>        raise</a:t>
            </a:r>
          </a:p>
        </p:txBody>
      </p:sp>
      <p:sp>
        <p:nvSpPr>
          <p:cNvPr id="10" name="Rectangle 9"/>
          <p:cNvSpPr/>
          <p:nvPr/>
        </p:nvSpPr>
        <p:spPr>
          <a:xfrm>
            <a:off x="7132320" y="1115568"/>
            <a:ext cx="4754880" cy="411480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132320" y="1115568"/>
            <a:ext cx="475488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223759" y="1152144"/>
            <a:ext cx="4572000" cy="274320"/>
          </a:xfrm>
          <a:prstGeom prst="rect">
            <a:avLst/>
          </a:prstGeom>
          <a:noFill/>
        </p:spPr>
        <p:txBody>
          <a:bodyPr wrap="square">
            <a:spAutoFit/>
          </a:bodyPr>
          <a:lstStyle/>
          <a:p>
            <a:pPr algn="l"/>
            <a:r>
              <a:rPr sz="1200" b="1">
                <a:solidFill>
                  <a:srgbClr val="FFFFFF"/>
                </a:solidFill>
                <a:latin typeface="Calibri"/>
              </a:rPr>
              <a:t>Auth Scheme Summary</a:t>
            </a:r>
          </a:p>
        </p:txBody>
      </p:sp>
      <p:sp>
        <p:nvSpPr>
          <p:cNvPr id="13" name="TextBox 12"/>
          <p:cNvSpPr txBox="1"/>
          <p:nvPr/>
        </p:nvSpPr>
        <p:spPr>
          <a:xfrm>
            <a:off x="7242048" y="1499616"/>
            <a:ext cx="4535424" cy="3657600"/>
          </a:xfrm>
          <a:prstGeom prst="rect">
            <a:avLst/>
          </a:prstGeom>
          <a:noFill/>
        </p:spPr>
        <p:txBody>
          <a:bodyPr wrap="square">
            <a:spAutoFit/>
          </a:bodyPr>
          <a:lstStyle/>
          <a:p>
            <a:pPr>
              <a:spcBef>
                <a:spcPts val="400"/>
              </a:spcBef>
            </a:pPr>
            <a:r>
              <a:rPr sz="1100">
                <a:solidFill>
                  <a:srgbClr val="222244"/>
                </a:solidFill>
                <a:latin typeface="Calibri"/>
              </a:rPr>
              <a:t>  •  Bearer Token (Flight Agent 8001):</a:t>
            </a:r>
          </a:p>
          <a:p>
            <a:pPr>
              <a:spcBef>
                <a:spcPts val="400"/>
              </a:spcBef>
            </a:pPr>
            <a:r>
              <a:rPr sz="1000">
                <a:solidFill>
                  <a:srgbClr val="222244"/>
                </a:solidFill>
                <a:latin typeface="Calibri"/>
              </a:rPr>
              <a:t>       ◦  Authorization: Bearer &lt;token&gt;</a:t>
            </a:r>
          </a:p>
          <a:p>
            <a:pPr>
              <a:spcBef>
                <a:spcPts val="400"/>
              </a:spcBef>
            </a:pPr>
            <a:r>
              <a:rPr sz="1000">
                <a:solidFill>
                  <a:srgbClr val="222244"/>
                </a:solidFill>
                <a:latin typeface="Calibri"/>
              </a:rPr>
              <a:t>       ◦  Server validates via middleware</a:t>
            </a:r>
          </a:p>
          <a:p>
            <a:pPr>
              <a:spcBef>
                <a:spcPts val="400"/>
              </a:spcBef>
            </a:pPr>
            <a:r>
              <a:rPr sz="1000">
                <a:solidFill>
                  <a:srgbClr val="222244"/>
                </a:solidFill>
                <a:latin typeface="Calibri"/>
              </a:rPr>
              <a:t>       ◦  401 if missing/invalid</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API Key (Hotel Agent 8002):</a:t>
            </a:r>
          </a:p>
          <a:p>
            <a:pPr>
              <a:spcBef>
                <a:spcPts val="400"/>
              </a:spcBef>
            </a:pPr>
            <a:r>
              <a:rPr sz="1000">
                <a:solidFill>
                  <a:srgbClr val="222244"/>
                </a:solidFill>
                <a:latin typeface="Calibri"/>
              </a:rPr>
              <a:t>       ◦  X-API-Key: &lt;key&gt;</a:t>
            </a:r>
          </a:p>
          <a:p>
            <a:pPr>
              <a:spcBef>
                <a:spcPts val="400"/>
              </a:spcBef>
            </a:pPr>
            <a:r>
              <a:rPr sz="1000">
                <a:solidFill>
                  <a:srgbClr val="222244"/>
                </a:solidFill>
                <a:latin typeface="Calibri"/>
              </a:rPr>
              <a:t>       ◦  Header name in Agent Card credentials</a:t>
            </a:r>
          </a:p>
          <a:p>
            <a:pPr>
              <a:spcBef>
                <a:spcPts val="400"/>
              </a:spcBef>
            </a:pPr>
            <a:r>
              <a:rPr sz="1000">
                <a:solidFill>
                  <a:srgbClr val="222244"/>
                </a:solidFill>
                <a:latin typeface="Calibri"/>
              </a:rPr>
              <a:t>       ◦  403 if key invalid/missing</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No Auth (Booking/Weather):</a:t>
            </a:r>
          </a:p>
          <a:p>
            <a:pPr>
              <a:spcBef>
                <a:spcPts val="400"/>
              </a:spcBef>
            </a:pPr>
            <a:r>
              <a:rPr sz="1000">
                <a:solidFill>
                  <a:srgbClr val="222244"/>
                </a:solidFill>
                <a:latin typeface="Calibri"/>
              </a:rPr>
              <a:t>       ◦  No credentials required</a:t>
            </a:r>
          </a:p>
          <a:p>
            <a:pPr>
              <a:spcBef>
                <a:spcPts val="400"/>
              </a:spcBef>
            </a:pPr>
            <a:r>
              <a:rPr sz="1000">
                <a:solidFill>
                  <a:srgbClr val="222244"/>
                </a:solidFill>
                <a:latin typeface="Calibri"/>
              </a:rPr>
              <a:t>       ◦  Still validate input via schema</a:t>
            </a:r>
          </a:p>
        </p:txBody>
      </p:sp>
      <p:sp>
        <p:nvSpPr>
          <p:cNvPr id="14" name="Rectangle 13"/>
          <p:cNvSpPr/>
          <p:nvPr/>
        </p:nvSpPr>
        <p:spPr>
          <a:xfrm>
            <a:off x="7132320" y="5321808"/>
            <a:ext cx="4754880" cy="173736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132320" y="5321808"/>
            <a:ext cx="475488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23759" y="5358384"/>
            <a:ext cx="4572000" cy="274320"/>
          </a:xfrm>
          <a:prstGeom prst="rect">
            <a:avLst/>
          </a:prstGeom>
          <a:noFill/>
        </p:spPr>
        <p:txBody>
          <a:bodyPr wrap="square">
            <a:spAutoFit/>
          </a:bodyPr>
          <a:lstStyle/>
          <a:p>
            <a:pPr algn="l"/>
            <a:r>
              <a:rPr sz="1200" b="1">
                <a:solidFill>
                  <a:srgbClr val="FFFFFF"/>
                </a:solidFill>
                <a:latin typeface="Calibri"/>
              </a:rPr>
              <a:t>Server-Side Middleware</a:t>
            </a:r>
          </a:p>
        </p:txBody>
      </p:sp>
      <p:sp>
        <p:nvSpPr>
          <p:cNvPr id="17" name="TextBox 16"/>
          <p:cNvSpPr txBox="1"/>
          <p:nvPr/>
        </p:nvSpPr>
        <p:spPr>
          <a:xfrm>
            <a:off x="7242048" y="5705856"/>
            <a:ext cx="4535424" cy="1280160"/>
          </a:xfrm>
          <a:prstGeom prst="rect">
            <a:avLst/>
          </a:prstGeom>
          <a:noFill/>
        </p:spPr>
        <p:txBody>
          <a:bodyPr wrap="square">
            <a:spAutoFit/>
          </a:bodyPr>
          <a:lstStyle/>
          <a:p>
            <a:pPr>
              <a:spcBef>
                <a:spcPts val="400"/>
              </a:spcBef>
            </a:pPr>
            <a:r>
              <a:rPr sz="1100">
                <a:solidFill>
                  <a:srgbClr val="222244"/>
                </a:solidFill>
                <a:latin typeface="Calibri"/>
              </a:rPr>
              <a:t>  •  Reads Agent Card authentication schemes</a:t>
            </a:r>
          </a:p>
          <a:p>
            <a:pPr>
              <a:spcBef>
                <a:spcPts val="400"/>
              </a:spcBef>
            </a:pPr>
            <a:r>
              <a:rPr sz="1100">
                <a:solidFill>
                  <a:srgbClr val="222244"/>
                </a:solidFill>
                <a:latin typeface="Calibri"/>
              </a:rPr>
              <a:t>  •  Validates on EVERY incoming request</a:t>
            </a:r>
          </a:p>
          <a:p>
            <a:pPr>
              <a:spcBef>
                <a:spcPts val="400"/>
              </a:spcBef>
            </a:pPr>
            <a:r>
              <a:rPr sz="1100">
                <a:solidFill>
                  <a:srgbClr val="222244"/>
                </a:solidFill>
                <a:latin typeface="Calibri"/>
              </a:rPr>
              <a:t>  •  Returns JSON-RPC error on failure:</a:t>
            </a:r>
          </a:p>
          <a:p>
            <a:pPr>
              <a:spcBef>
                <a:spcPts val="400"/>
              </a:spcBef>
            </a:pPr>
            <a:r>
              <a:rPr sz="1000">
                <a:solidFill>
                  <a:srgbClr val="222244"/>
                </a:solidFill>
                <a:latin typeface="Calibri"/>
              </a:rPr>
              <a:t>       ◦  HTTP 401 for missing credentials</a:t>
            </a:r>
          </a:p>
          <a:p>
            <a:pPr>
              <a:spcBef>
                <a:spcPts val="400"/>
              </a:spcBef>
            </a:pPr>
            <a:r>
              <a:rPr sz="1000">
                <a:solidFill>
                  <a:srgbClr val="222244"/>
                </a:solidFill>
                <a:latin typeface="Calibri"/>
              </a:rPr>
              <a:t>       ◦  HTTP 403 for invalid credentials</a:t>
            </a:r>
          </a:p>
          <a:p>
            <a:pPr>
              <a:spcBef>
                <a:spcPts val="400"/>
              </a:spcBef>
            </a:pPr>
            <a:r>
              <a:rPr sz="1100">
                <a:solidFill>
                  <a:srgbClr val="222244"/>
                </a:solidFill>
                <a:latin typeface="Calibri"/>
              </a:rPr>
              <a:t>  •  Never skip validation in production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10: Error Handling and Resilience</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JSON-RPC error codes and recovery patterns</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11612880" cy="34747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133856"/>
            <a:ext cx="1097280" cy="274320"/>
          </a:xfrm>
          <a:prstGeom prst="rect">
            <a:avLst/>
          </a:prstGeom>
          <a:noFill/>
        </p:spPr>
        <p:txBody>
          <a:bodyPr wrap="square">
            <a:spAutoFit/>
          </a:bodyPr>
          <a:lstStyle/>
          <a:p>
            <a:pPr algn="l"/>
            <a:r>
              <a:rPr sz="1100" b="1">
                <a:solidFill>
                  <a:srgbClr val="FFFFFF"/>
                </a:solidFill>
                <a:latin typeface="Calibri"/>
              </a:rPr>
              <a:t>Code</a:t>
            </a:r>
          </a:p>
        </p:txBody>
      </p:sp>
      <p:sp>
        <p:nvSpPr>
          <p:cNvPr id="8" name="TextBox 7"/>
          <p:cNvSpPr txBox="1"/>
          <p:nvPr/>
        </p:nvSpPr>
        <p:spPr>
          <a:xfrm>
            <a:off x="1463040" y="1133856"/>
            <a:ext cx="2743200" cy="274320"/>
          </a:xfrm>
          <a:prstGeom prst="rect">
            <a:avLst/>
          </a:prstGeom>
          <a:noFill/>
        </p:spPr>
        <p:txBody>
          <a:bodyPr wrap="square">
            <a:spAutoFit/>
          </a:bodyPr>
          <a:lstStyle/>
          <a:p>
            <a:pPr algn="l"/>
            <a:r>
              <a:rPr sz="1100" b="1">
                <a:solidFill>
                  <a:srgbClr val="FFFFFF"/>
                </a:solidFill>
                <a:latin typeface="Calibri"/>
              </a:rPr>
              <a:t>Name</a:t>
            </a:r>
          </a:p>
        </p:txBody>
      </p:sp>
      <p:sp>
        <p:nvSpPr>
          <p:cNvPr id="9" name="TextBox 8"/>
          <p:cNvSpPr txBox="1"/>
          <p:nvPr/>
        </p:nvSpPr>
        <p:spPr>
          <a:xfrm>
            <a:off x="4206240" y="1133856"/>
            <a:ext cx="6858000" cy="274320"/>
          </a:xfrm>
          <a:prstGeom prst="rect">
            <a:avLst/>
          </a:prstGeom>
          <a:noFill/>
        </p:spPr>
        <p:txBody>
          <a:bodyPr wrap="square">
            <a:spAutoFit/>
          </a:bodyPr>
          <a:lstStyle/>
          <a:p>
            <a:pPr algn="l"/>
            <a:r>
              <a:rPr sz="1100" b="1">
                <a:solidFill>
                  <a:srgbClr val="FFFFFF"/>
                </a:solidFill>
                <a:latin typeface="Calibri"/>
              </a:rPr>
              <a:t>Description</a:t>
            </a:r>
          </a:p>
        </p:txBody>
      </p:sp>
      <p:sp>
        <p:nvSpPr>
          <p:cNvPr id="10" name="Rectangle 9"/>
          <p:cNvSpPr/>
          <p:nvPr/>
        </p:nvSpPr>
        <p:spPr>
          <a:xfrm>
            <a:off x="274320" y="1481328"/>
            <a:ext cx="11612880" cy="393192"/>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4048" y="1508760"/>
            <a:ext cx="1005840" cy="320040"/>
          </a:xfrm>
          <a:prstGeom prst="rect">
            <a:avLst/>
          </a:prstGeom>
          <a:noFill/>
        </p:spPr>
        <p:txBody>
          <a:bodyPr wrap="square">
            <a:spAutoFit/>
          </a:bodyPr>
          <a:lstStyle/>
          <a:p>
            <a:pPr algn="l"/>
            <a:r>
              <a:rPr sz="1100" b="0">
                <a:solidFill>
                  <a:srgbClr val="DC3545"/>
                </a:solidFill>
                <a:latin typeface="Courier New"/>
              </a:rPr>
              <a:t>-32700</a:t>
            </a:r>
          </a:p>
        </p:txBody>
      </p:sp>
      <p:sp>
        <p:nvSpPr>
          <p:cNvPr id="12" name="TextBox 11"/>
          <p:cNvSpPr txBox="1"/>
          <p:nvPr/>
        </p:nvSpPr>
        <p:spPr>
          <a:xfrm>
            <a:off x="1417320" y="1508760"/>
            <a:ext cx="2651760" cy="320040"/>
          </a:xfrm>
          <a:prstGeom prst="rect">
            <a:avLst/>
          </a:prstGeom>
          <a:noFill/>
        </p:spPr>
        <p:txBody>
          <a:bodyPr wrap="square">
            <a:spAutoFit/>
          </a:bodyPr>
          <a:lstStyle/>
          <a:p>
            <a:pPr algn="l"/>
            <a:r>
              <a:rPr sz="1100" b="1">
                <a:solidFill>
                  <a:srgbClr val="222244"/>
                </a:solidFill>
                <a:latin typeface="Calibri"/>
              </a:rPr>
              <a:t>Parse Error</a:t>
            </a:r>
          </a:p>
        </p:txBody>
      </p:sp>
      <p:sp>
        <p:nvSpPr>
          <p:cNvPr id="13" name="TextBox 12"/>
          <p:cNvSpPr txBox="1"/>
          <p:nvPr/>
        </p:nvSpPr>
        <p:spPr>
          <a:xfrm>
            <a:off x="4096512" y="1508760"/>
            <a:ext cx="7680960" cy="320040"/>
          </a:xfrm>
          <a:prstGeom prst="rect">
            <a:avLst/>
          </a:prstGeom>
          <a:noFill/>
        </p:spPr>
        <p:txBody>
          <a:bodyPr wrap="square">
            <a:spAutoFit/>
          </a:bodyPr>
          <a:lstStyle/>
          <a:p>
            <a:pPr algn="l"/>
            <a:r>
              <a:rPr sz="1100" b="0">
                <a:solidFill>
                  <a:srgbClr val="222244"/>
                </a:solidFill>
                <a:latin typeface="Calibri"/>
              </a:rPr>
              <a:t>Invalid JSON in request body</a:t>
            </a:r>
          </a:p>
        </p:txBody>
      </p:sp>
      <p:sp>
        <p:nvSpPr>
          <p:cNvPr id="14" name="Rectangle 13"/>
          <p:cNvSpPr/>
          <p:nvPr/>
        </p:nvSpPr>
        <p:spPr>
          <a:xfrm>
            <a:off x="274320" y="1874520"/>
            <a:ext cx="11612880" cy="393192"/>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4048" y="1901952"/>
            <a:ext cx="1005840" cy="320040"/>
          </a:xfrm>
          <a:prstGeom prst="rect">
            <a:avLst/>
          </a:prstGeom>
          <a:noFill/>
        </p:spPr>
        <p:txBody>
          <a:bodyPr wrap="square">
            <a:spAutoFit/>
          </a:bodyPr>
          <a:lstStyle/>
          <a:p>
            <a:pPr algn="l"/>
            <a:r>
              <a:rPr sz="1100" b="0">
                <a:solidFill>
                  <a:srgbClr val="DC3545"/>
                </a:solidFill>
                <a:latin typeface="Courier New"/>
              </a:rPr>
              <a:t>-32600</a:t>
            </a:r>
          </a:p>
        </p:txBody>
      </p:sp>
      <p:sp>
        <p:nvSpPr>
          <p:cNvPr id="16" name="TextBox 15"/>
          <p:cNvSpPr txBox="1"/>
          <p:nvPr/>
        </p:nvSpPr>
        <p:spPr>
          <a:xfrm>
            <a:off x="1417320" y="1901952"/>
            <a:ext cx="2651760" cy="320040"/>
          </a:xfrm>
          <a:prstGeom prst="rect">
            <a:avLst/>
          </a:prstGeom>
          <a:noFill/>
        </p:spPr>
        <p:txBody>
          <a:bodyPr wrap="square">
            <a:spAutoFit/>
          </a:bodyPr>
          <a:lstStyle/>
          <a:p>
            <a:pPr algn="l"/>
            <a:r>
              <a:rPr sz="1100" b="1">
                <a:solidFill>
                  <a:srgbClr val="222244"/>
                </a:solidFill>
                <a:latin typeface="Calibri"/>
              </a:rPr>
              <a:t>Invalid Request</a:t>
            </a:r>
          </a:p>
        </p:txBody>
      </p:sp>
      <p:sp>
        <p:nvSpPr>
          <p:cNvPr id="17" name="TextBox 16"/>
          <p:cNvSpPr txBox="1"/>
          <p:nvPr/>
        </p:nvSpPr>
        <p:spPr>
          <a:xfrm>
            <a:off x="4096512" y="1901952"/>
            <a:ext cx="7680960" cy="320040"/>
          </a:xfrm>
          <a:prstGeom prst="rect">
            <a:avLst/>
          </a:prstGeom>
          <a:noFill/>
        </p:spPr>
        <p:txBody>
          <a:bodyPr wrap="square">
            <a:spAutoFit/>
          </a:bodyPr>
          <a:lstStyle/>
          <a:p>
            <a:pPr algn="l"/>
            <a:r>
              <a:rPr sz="1100" b="0">
                <a:solidFill>
                  <a:srgbClr val="222244"/>
                </a:solidFill>
                <a:latin typeface="Calibri"/>
              </a:rPr>
              <a:t>JSON-RPC envelope malformed</a:t>
            </a:r>
          </a:p>
        </p:txBody>
      </p:sp>
      <p:sp>
        <p:nvSpPr>
          <p:cNvPr id="18" name="Rectangle 17"/>
          <p:cNvSpPr/>
          <p:nvPr/>
        </p:nvSpPr>
        <p:spPr>
          <a:xfrm>
            <a:off x="274320" y="2267712"/>
            <a:ext cx="11612880" cy="393192"/>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4048" y="2295144"/>
            <a:ext cx="1005840" cy="320040"/>
          </a:xfrm>
          <a:prstGeom prst="rect">
            <a:avLst/>
          </a:prstGeom>
          <a:noFill/>
        </p:spPr>
        <p:txBody>
          <a:bodyPr wrap="square">
            <a:spAutoFit/>
          </a:bodyPr>
          <a:lstStyle/>
          <a:p>
            <a:pPr algn="l"/>
            <a:r>
              <a:rPr sz="1100" b="0">
                <a:solidFill>
                  <a:srgbClr val="DC3545"/>
                </a:solidFill>
                <a:latin typeface="Courier New"/>
              </a:rPr>
              <a:t>-32601</a:t>
            </a:r>
          </a:p>
        </p:txBody>
      </p:sp>
      <p:sp>
        <p:nvSpPr>
          <p:cNvPr id="20" name="TextBox 19"/>
          <p:cNvSpPr txBox="1"/>
          <p:nvPr/>
        </p:nvSpPr>
        <p:spPr>
          <a:xfrm>
            <a:off x="1417320" y="2295144"/>
            <a:ext cx="2651760" cy="320040"/>
          </a:xfrm>
          <a:prstGeom prst="rect">
            <a:avLst/>
          </a:prstGeom>
          <a:noFill/>
        </p:spPr>
        <p:txBody>
          <a:bodyPr wrap="square">
            <a:spAutoFit/>
          </a:bodyPr>
          <a:lstStyle/>
          <a:p>
            <a:pPr algn="l"/>
            <a:r>
              <a:rPr sz="1100" b="1">
                <a:solidFill>
                  <a:srgbClr val="222244"/>
                </a:solidFill>
                <a:latin typeface="Calibri"/>
              </a:rPr>
              <a:t>Method Not Found</a:t>
            </a:r>
          </a:p>
        </p:txBody>
      </p:sp>
      <p:sp>
        <p:nvSpPr>
          <p:cNvPr id="21" name="TextBox 20"/>
          <p:cNvSpPr txBox="1"/>
          <p:nvPr/>
        </p:nvSpPr>
        <p:spPr>
          <a:xfrm>
            <a:off x="4096512" y="2295144"/>
            <a:ext cx="7680960" cy="320040"/>
          </a:xfrm>
          <a:prstGeom prst="rect">
            <a:avLst/>
          </a:prstGeom>
          <a:noFill/>
        </p:spPr>
        <p:txBody>
          <a:bodyPr wrap="square">
            <a:spAutoFit/>
          </a:bodyPr>
          <a:lstStyle/>
          <a:p>
            <a:pPr algn="l"/>
            <a:r>
              <a:rPr sz="1100" b="0">
                <a:solidFill>
                  <a:srgbClr val="222244"/>
                </a:solidFill>
                <a:latin typeface="Calibri"/>
              </a:rPr>
              <a:t>e.g. 'tasks/unknown' does not exist</a:t>
            </a:r>
          </a:p>
        </p:txBody>
      </p:sp>
      <p:sp>
        <p:nvSpPr>
          <p:cNvPr id="22" name="Rectangle 21"/>
          <p:cNvSpPr/>
          <p:nvPr/>
        </p:nvSpPr>
        <p:spPr>
          <a:xfrm>
            <a:off x="274320" y="2660904"/>
            <a:ext cx="11612880" cy="393192"/>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84048" y="2688336"/>
            <a:ext cx="1005840" cy="320040"/>
          </a:xfrm>
          <a:prstGeom prst="rect">
            <a:avLst/>
          </a:prstGeom>
          <a:noFill/>
        </p:spPr>
        <p:txBody>
          <a:bodyPr wrap="square">
            <a:spAutoFit/>
          </a:bodyPr>
          <a:lstStyle/>
          <a:p>
            <a:pPr algn="l"/>
            <a:r>
              <a:rPr sz="1100" b="0">
                <a:solidFill>
                  <a:srgbClr val="DC3545"/>
                </a:solidFill>
                <a:latin typeface="Courier New"/>
              </a:rPr>
              <a:t>-32602</a:t>
            </a:r>
          </a:p>
        </p:txBody>
      </p:sp>
      <p:sp>
        <p:nvSpPr>
          <p:cNvPr id="24" name="TextBox 23"/>
          <p:cNvSpPr txBox="1"/>
          <p:nvPr/>
        </p:nvSpPr>
        <p:spPr>
          <a:xfrm>
            <a:off x="1417320" y="2688336"/>
            <a:ext cx="2651760" cy="320040"/>
          </a:xfrm>
          <a:prstGeom prst="rect">
            <a:avLst/>
          </a:prstGeom>
          <a:noFill/>
        </p:spPr>
        <p:txBody>
          <a:bodyPr wrap="square">
            <a:spAutoFit/>
          </a:bodyPr>
          <a:lstStyle/>
          <a:p>
            <a:pPr algn="l"/>
            <a:r>
              <a:rPr sz="1100" b="1">
                <a:solidFill>
                  <a:srgbClr val="222244"/>
                </a:solidFill>
                <a:latin typeface="Calibri"/>
              </a:rPr>
              <a:t>Invalid Params</a:t>
            </a:r>
          </a:p>
        </p:txBody>
      </p:sp>
      <p:sp>
        <p:nvSpPr>
          <p:cNvPr id="25" name="TextBox 24"/>
          <p:cNvSpPr txBox="1"/>
          <p:nvPr/>
        </p:nvSpPr>
        <p:spPr>
          <a:xfrm>
            <a:off x="4096512" y="2688336"/>
            <a:ext cx="7680960" cy="320040"/>
          </a:xfrm>
          <a:prstGeom prst="rect">
            <a:avLst/>
          </a:prstGeom>
          <a:noFill/>
        </p:spPr>
        <p:txBody>
          <a:bodyPr wrap="square">
            <a:spAutoFit/>
          </a:bodyPr>
          <a:lstStyle/>
          <a:p>
            <a:pPr algn="l"/>
            <a:r>
              <a:rPr sz="1100" b="0">
                <a:solidFill>
                  <a:srgbClr val="222244"/>
                </a:solidFill>
                <a:latin typeface="Calibri"/>
              </a:rPr>
              <a:t>Required field missing or wrong type</a:t>
            </a:r>
          </a:p>
        </p:txBody>
      </p:sp>
      <p:sp>
        <p:nvSpPr>
          <p:cNvPr id="26" name="Rectangle 25"/>
          <p:cNvSpPr/>
          <p:nvPr/>
        </p:nvSpPr>
        <p:spPr>
          <a:xfrm>
            <a:off x="274320" y="3054096"/>
            <a:ext cx="11612880" cy="393192"/>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84048" y="3081528"/>
            <a:ext cx="1005840" cy="320040"/>
          </a:xfrm>
          <a:prstGeom prst="rect">
            <a:avLst/>
          </a:prstGeom>
          <a:noFill/>
        </p:spPr>
        <p:txBody>
          <a:bodyPr wrap="square">
            <a:spAutoFit/>
          </a:bodyPr>
          <a:lstStyle/>
          <a:p>
            <a:pPr algn="l"/>
            <a:r>
              <a:rPr sz="1100" b="0">
                <a:solidFill>
                  <a:srgbClr val="DC3545"/>
                </a:solidFill>
                <a:latin typeface="Courier New"/>
              </a:rPr>
              <a:t>-32603</a:t>
            </a:r>
          </a:p>
        </p:txBody>
      </p:sp>
      <p:sp>
        <p:nvSpPr>
          <p:cNvPr id="28" name="TextBox 27"/>
          <p:cNvSpPr txBox="1"/>
          <p:nvPr/>
        </p:nvSpPr>
        <p:spPr>
          <a:xfrm>
            <a:off x="1417320" y="3081528"/>
            <a:ext cx="2651760" cy="320040"/>
          </a:xfrm>
          <a:prstGeom prst="rect">
            <a:avLst/>
          </a:prstGeom>
          <a:noFill/>
        </p:spPr>
        <p:txBody>
          <a:bodyPr wrap="square">
            <a:spAutoFit/>
          </a:bodyPr>
          <a:lstStyle/>
          <a:p>
            <a:pPr algn="l"/>
            <a:r>
              <a:rPr sz="1100" b="1">
                <a:solidFill>
                  <a:srgbClr val="222244"/>
                </a:solidFill>
                <a:latin typeface="Calibri"/>
              </a:rPr>
              <a:t>Internal Error</a:t>
            </a:r>
          </a:p>
        </p:txBody>
      </p:sp>
      <p:sp>
        <p:nvSpPr>
          <p:cNvPr id="29" name="TextBox 28"/>
          <p:cNvSpPr txBox="1"/>
          <p:nvPr/>
        </p:nvSpPr>
        <p:spPr>
          <a:xfrm>
            <a:off x="4096512" y="3081528"/>
            <a:ext cx="7680960" cy="320040"/>
          </a:xfrm>
          <a:prstGeom prst="rect">
            <a:avLst/>
          </a:prstGeom>
          <a:noFill/>
        </p:spPr>
        <p:txBody>
          <a:bodyPr wrap="square">
            <a:spAutoFit/>
          </a:bodyPr>
          <a:lstStyle/>
          <a:p>
            <a:pPr algn="l"/>
            <a:r>
              <a:rPr sz="1100" b="0">
                <a:solidFill>
                  <a:srgbClr val="222244"/>
                </a:solidFill>
                <a:latin typeface="Calibri"/>
              </a:rPr>
              <a:t>Unhandled server exception</a:t>
            </a:r>
          </a:p>
        </p:txBody>
      </p:sp>
      <p:sp>
        <p:nvSpPr>
          <p:cNvPr id="30" name="Rectangle 29"/>
          <p:cNvSpPr/>
          <p:nvPr/>
        </p:nvSpPr>
        <p:spPr>
          <a:xfrm>
            <a:off x="274320" y="3447288"/>
            <a:ext cx="11612880" cy="393192"/>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84048" y="3474720"/>
            <a:ext cx="1005840" cy="320040"/>
          </a:xfrm>
          <a:prstGeom prst="rect">
            <a:avLst/>
          </a:prstGeom>
          <a:noFill/>
        </p:spPr>
        <p:txBody>
          <a:bodyPr wrap="square">
            <a:spAutoFit/>
          </a:bodyPr>
          <a:lstStyle/>
          <a:p>
            <a:pPr algn="l"/>
            <a:r>
              <a:rPr sz="1100" b="0">
                <a:solidFill>
                  <a:srgbClr val="DC3545"/>
                </a:solidFill>
                <a:latin typeface="Courier New"/>
              </a:rPr>
              <a:t>-32001</a:t>
            </a:r>
          </a:p>
        </p:txBody>
      </p:sp>
      <p:sp>
        <p:nvSpPr>
          <p:cNvPr id="32" name="TextBox 31"/>
          <p:cNvSpPr txBox="1"/>
          <p:nvPr/>
        </p:nvSpPr>
        <p:spPr>
          <a:xfrm>
            <a:off x="1417320" y="3474720"/>
            <a:ext cx="2651760" cy="320040"/>
          </a:xfrm>
          <a:prstGeom prst="rect">
            <a:avLst/>
          </a:prstGeom>
          <a:noFill/>
        </p:spPr>
        <p:txBody>
          <a:bodyPr wrap="square">
            <a:spAutoFit/>
          </a:bodyPr>
          <a:lstStyle/>
          <a:p>
            <a:pPr algn="l"/>
            <a:r>
              <a:rPr sz="1100" b="1">
                <a:solidFill>
                  <a:srgbClr val="222244"/>
                </a:solidFill>
                <a:latin typeface="Calibri"/>
              </a:rPr>
              <a:t>TaskNotFound</a:t>
            </a:r>
          </a:p>
        </p:txBody>
      </p:sp>
      <p:sp>
        <p:nvSpPr>
          <p:cNvPr id="33" name="TextBox 32"/>
          <p:cNvSpPr txBox="1"/>
          <p:nvPr/>
        </p:nvSpPr>
        <p:spPr>
          <a:xfrm>
            <a:off x="4096512" y="3474720"/>
            <a:ext cx="7680960" cy="320040"/>
          </a:xfrm>
          <a:prstGeom prst="rect">
            <a:avLst/>
          </a:prstGeom>
          <a:noFill/>
        </p:spPr>
        <p:txBody>
          <a:bodyPr wrap="square">
            <a:spAutoFit/>
          </a:bodyPr>
          <a:lstStyle/>
          <a:p>
            <a:pPr algn="l"/>
            <a:r>
              <a:rPr sz="1100" b="0">
                <a:solidFill>
                  <a:srgbClr val="222244"/>
                </a:solidFill>
                <a:latin typeface="Calibri"/>
              </a:rPr>
              <a:t>Task ID does not exist on server</a:t>
            </a:r>
          </a:p>
        </p:txBody>
      </p:sp>
      <p:sp>
        <p:nvSpPr>
          <p:cNvPr id="34" name="Rectangle 33"/>
          <p:cNvSpPr/>
          <p:nvPr/>
        </p:nvSpPr>
        <p:spPr>
          <a:xfrm>
            <a:off x="274320" y="3840480"/>
            <a:ext cx="11612880" cy="393192"/>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048" y="3867912"/>
            <a:ext cx="1005840" cy="320040"/>
          </a:xfrm>
          <a:prstGeom prst="rect">
            <a:avLst/>
          </a:prstGeom>
          <a:noFill/>
        </p:spPr>
        <p:txBody>
          <a:bodyPr wrap="square">
            <a:spAutoFit/>
          </a:bodyPr>
          <a:lstStyle/>
          <a:p>
            <a:pPr algn="l"/>
            <a:r>
              <a:rPr sz="1100" b="0">
                <a:solidFill>
                  <a:srgbClr val="DC3545"/>
                </a:solidFill>
                <a:latin typeface="Courier New"/>
              </a:rPr>
              <a:t>-32002</a:t>
            </a:r>
          </a:p>
        </p:txBody>
      </p:sp>
      <p:sp>
        <p:nvSpPr>
          <p:cNvPr id="36" name="TextBox 35"/>
          <p:cNvSpPr txBox="1"/>
          <p:nvPr/>
        </p:nvSpPr>
        <p:spPr>
          <a:xfrm>
            <a:off x="1417320" y="3867912"/>
            <a:ext cx="2651760" cy="320040"/>
          </a:xfrm>
          <a:prstGeom prst="rect">
            <a:avLst/>
          </a:prstGeom>
          <a:noFill/>
        </p:spPr>
        <p:txBody>
          <a:bodyPr wrap="square">
            <a:spAutoFit/>
          </a:bodyPr>
          <a:lstStyle/>
          <a:p>
            <a:pPr algn="l"/>
            <a:r>
              <a:rPr sz="1100" b="1">
                <a:solidFill>
                  <a:srgbClr val="222244"/>
                </a:solidFill>
                <a:latin typeface="Calibri"/>
              </a:rPr>
              <a:t>TaskNotCancelable</a:t>
            </a:r>
          </a:p>
        </p:txBody>
      </p:sp>
      <p:sp>
        <p:nvSpPr>
          <p:cNvPr id="37" name="TextBox 36"/>
          <p:cNvSpPr txBox="1"/>
          <p:nvPr/>
        </p:nvSpPr>
        <p:spPr>
          <a:xfrm>
            <a:off x="4096512" y="3867912"/>
            <a:ext cx="7680960" cy="320040"/>
          </a:xfrm>
          <a:prstGeom prst="rect">
            <a:avLst/>
          </a:prstGeom>
          <a:noFill/>
        </p:spPr>
        <p:txBody>
          <a:bodyPr wrap="square">
            <a:spAutoFit/>
          </a:bodyPr>
          <a:lstStyle/>
          <a:p>
            <a:pPr algn="l"/>
            <a:r>
              <a:rPr sz="1100" b="0">
                <a:solidFill>
                  <a:srgbClr val="222244"/>
                </a:solidFill>
                <a:latin typeface="Calibri"/>
              </a:rPr>
              <a:t>Task already in terminal state</a:t>
            </a:r>
          </a:p>
        </p:txBody>
      </p:sp>
      <p:sp>
        <p:nvSpPr>
          <p:cNvPr id="38" name="Rectangle 37"/>
          <p:cNvSpPr/>
          <p:nvPr/>
        </p:nvSpPr>
        <p:spPr>
          <a:xfrm>
            <a:off x="274320" y="4233672"/>
            <a:ext cx="11612880" cy="393192"/>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84048" y="4261104"/>
            <a:ext cx="1005840" cy="320040"/>
          </a:xfrm>
          <a:prstGeom prst="rect">
            <a:avLst/>
          </a:prstGeom>
          <a:noFill/>
        </p:spPr>
        <p:txBody>
          <a:bodyPr wrap="square">
            <a:spAutoFit/>
          </a:bodyPr>
          <a:lstStyle/>
          <a:p>
            <a:pPr algn="l"/>
            <a:r>
              <a:rPr sz="1100" b="0">
                <a:solidFill>
                  <a:srgbClr val="DC3545"/>
                </a:solidFill>
                <a:latin typeface="Courier New"/>
              </a:rPr>
              <a:t>-32003</a:t>
            </a:r>
          </a:p>
        </p:txBody>
      </p:sp>
      <p:sp>
        <p:nvSpPr>
          <p:cNvPr id="40" name="TextBox 39"/>
          <p:cNvSpPr txBox="1"/>
          <p:nvPr/>
        </p:nvSpPr>
        <p:spPr>
          <a:xfrm>
            <a:off x="1417320" y="4261104"/>
            <a:ext cx="2651760" cy="320040"/>
          </a:xfrm>
          <a:prstGeom prst="rect">
            <a:avLst/>
          </a:prstGeom>
          <a:noFill/>
        </p:spPr>
        <p:txBody>
          <a:bodyPr wrap="square">
            <a:spAutoFit/>
          </a:bodyPr>
          <a:lstStyle/>
          <a:p>
            <a:pPr algn="l"/>
            <a:r>
              <a:rPr sz="1100" b="1">
                <a:solidFill>
                  <a:srgbClr val="222244"/>
                </a:solidFill>
                <a:latin typeface="Calibri"/>
              </a:rPr>
              <a:t>PushNotif.NotSupported</a:t>
            </a:r>
          </a:p>
        </p:txBody>
      </p:sp>
      <p:sp>
        <p:nvSpPr>
          <p:cNvPr id="41" name="TextBox 40"/>
          <p:cNvSpPr txBox="1"/>
          <p:nvPr/>
        </p:nvSpPr>
        <p:spPr>
          <a:xfrm>
            <a:off x="4096512" y="4261104"/>
            <a:ext cx="7680960" cy="320040"/>
          </a:xfrm>
          <a:prstGeom prst="rect">
            <a:avLst/>
          </a:prstGeom>
          <a:noFill/>
        </p:spPr>
        <p:txBody>
          <a:bodyPr wrap="square">
            <a:spAutoFit/>
          </a:bodyPr>
          <a:lstStyle/>
          <a:p>
            <a:pPr algn="l"/>
            <a:r>
              <a:rPr sz="1100" b="0">
                <a:solidFill>
                  <a:srgbClr val="222244"/>
                </a:solidFill>
                <a:latin typeface="Calibri"/>
              </a:rPr>
              <a:t>Agent Card: pushNotifications:false</a:t>
            </a:r>
          </a:p>
        </p:txBody>
      </p:sp>
      <p:sp>
        <p:nvSpPr>
          <p:cNvPr id="42" name="Rectangle 41"/>
          <p:cNvSpPr/>
          <p:nvPr/>
        </p:nvSpPr>
        <p:spPr>
          <a:xfrm>
            <a:off x="274320" y="4626864"/>
            <a:ext cx="11612880" cy="393192"/>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84048" y="4654296"/>
            <a:ext cx="1005840" cy="320040"/>
          </a:xfrm>
          <a:prstGeom prst="rect">
            <a:avLst/>
          </a:prstGeom>
          <a:noFill/>
        </p:spPr>
        <p:txBody>
          <a:bodyPr wrap="square">
            <a:spAutoFit/>
          </a:bodyPr>
          <a:lstStyle/>
          <a:p>
            <a:pPr algn="l"/>
            <a:r>
              <a:rPr sz="1100" b="0">
                <a:solidFill>
                  <a:srgbClr val="DC3545"/>
                </a:solidFill>
                <a:latin typeface="Courier New"/>
              </a:rPr>
              <a:t>-32004</a:t>
            </a:r>
          </a:p>
        </p:txBody>
      </p:sp>
      <p:sp>
        <p:nvSpPr>
          <p:cNvPr id="44" name="TextBox 43"/>
          <p:cNvSpPr txBox="1"/>
          <p:nvPr/>
        </p:nvSpPr>
        <p:spPr>
          <a:xfrm>
            <a:off x="1417320" y="4654296"/>
            <a:ext cx="2651760" cy="320040"/>
          </a:xfrm>
          <a:prstGeom prst="rect">
            <a:avLst/>
          </a:prstGeom>
          <a:noFill/>
        </p:spPr>
        <p:txBody>
          <a:bodyPr wrap="square">
            <a:spAutoFit/>
          </a:bodyPr>
          <a:lstStyle/>
          <a:p>
            <a:pPr algn="l"/>
            <a:r>
              <a:rPr sz="1100" b="1">
                <a:solidFill>
                  <a:srgbClr val="222244"/>
                </a:solidFill>
                <a:latin typeface="Calibri"/>
              </a:rPr>
              <a:t>UnsupportedOperation</a:t>
            </a:r>
          </a:p>
        </p:txBody>
      </p:sp>
      <p:sp>
        <p:nvSpPr>
          <p:cNvPr id="45" name="TextBox 44"/>
          <p:cNvSpPr txBox="1"/>
          <p:nvPr/>
        </p:nvSpPr>
        <p:spPr>
          <a:xfrm>
            <a:off x="4096512" y="4654296"/>
            <a:ext cx="7680960" cy="320040"/>
          </a:xfrm>
          <a:prstGeom prst="rect">
            <a:avLst/>
          </a:prstGeom>
          <a:noFill/>
        </p:spPr>
        <p:txBody>
          <a:bodyPr wrap="square">
            <a:spAutoFit/>
          </a:bodyPr>
          <a:lstStyle/>
          <a:p>
            <a:pPr algn="l"/>
            <a:r>
              <a:rPr sz="1100" b="0">
                <a:solidFill>
                  <a:srgbClr val="222244"/>
                </a:solidFill>
                <a:latin typeface="Calibri"/>
              </a:rPr>
              <a:t>Method exists but agent disables it</a:t>
            </a:r>
          </a:p>
        </p:txBody>
      </p:sp>
      <p:sp>
        <p:nvSpPr>
          <p:cNvPr id="46" name="Rectangle 45"/>
          <p:cNvSpPr/>
          <p:nvPr/>
        </p:nvSpPr>
        <p:spPr>
          <a:xfrm>
            <a:off x="274320" y="5020056"/>
            <a:ext cx="11612880" cy="393192"/>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84048" y="5047488"/>
            <a:ext cx="1005840" cy="320040"/>
          </a:xfrm>
          <a:prstGeom prst="rect">
            <a:avLst/>
          </a:prstGeom>
          <a:noFill/>
        </p:spPr>
        <p:txBody>
          <a:bodyPr wrap="square">
            <a:spAutoFit/>
          </a:bodyPr>
          <a:lstStyle/>
          <a:p>
            <a:pPr algn="l"/>
            <a:r>
              <a:rPr sz="1100" b="0">
                <a:solidFill>
                  <a:srgbClr val="DC3545"/>
                </a:solidFill>
                <a:latin typeface="Courier New"/>
              </a:rPr>
              <a:t>-32005</a:t>
            </a:r>
          </a:p>
        </p:txBody>
      </p:sp>
      <p:sp>
        <p:nvSpPr>
          <p:cNvPr id="48" name="TextBox 47"/>
          <p:cNvSpPr txBox="1"/>
          <p:nvPr/>
        </p:nvSpPr>
        <p:spPr>
          <a:xfrm>
            <a:off x="1417320" y="5047488"/>
            <a:ext cx="2651760" cy="320040"/>
          </a:xfrm>
          <a:prstGeom prst="rect">
            <a:avLst/>
          </a:prstGeom>
          <a:noFill/>
        </p:spPr>
        <p:txBody>
          <a:bodyPr wrap="square">
            <a:spAutoFit/>
          </a:bodyPr>
          <a:lstStyle/>
          <a:p>
            <a:pPr algn="l"/>
            <a:r>
              <a:rPr sz="1100" b="1">
                <a:solidFill>
                  <a:srgbClr val="222244"/>
                </a:solidFill>
                <a:latin typeface="Calibri"/>
              </a:rPr>
              <a:t>ContentTypeNotSupported</a:t>
            </a:r>
          </a:p>
        </p:txBody>
      </p:sp>
      <p:sp>
        <p:nvSpPr>
          <p:cNvPr id="49" name="TextBox 48"/>
          <p:cNvSpPr txBox="1"/>
          <p:nvPr/>
        </p:nvSpPr>
        <p:spPr>
          <a:xfrm>
            <a:off x="4096512" y="5047488"/>
            <a:ext cx="7680960" cy="320040"/>
          </a:xfrm>
          <a:prstGeom prst="rect">
            <a:avLst/>
          </a:prstGeom>
          <a:noFill/>
        </p:spPr>
        <p:txBody>
          <a:bodyPr wrap="square">
            <a:spAutoFit/>
          </a:bodyPr>
          <a:lstStyle/>
          <a:p>
            <a:pPr algn="l"/>
            <a:r>
              <a:rPr sz="1100" b="0">
                <a:solidFill>
                  <a:srgbClr val="222244"/>
                </a:solidFill>
                <a:latin typeface="Calibri"/>
              </a:rPr>
              <a:t>MIME type not in Agent Card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10: Error Handling — Recovery Patterns</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Retry, fallback, timeout, and graceful degradation</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6720840" cy="548640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15568"/>
            <a:ext cx="672084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43000"/>
            <a:ext cx="6537959" cy="201168"/>
          </a:xfrm>
          <a:prstGeom prst="rect">
            <a:avLst/>
          </a:prstGeom>
          <a:noFill/>
        </p:spPr>
        <p:txBody>
          <a:bodyPr wrap="square">
            <a:spAutoFit/>
          </a:bodyPr>
          <a:lstStyle/>
          <a:p>
            <a:pPr algn="l"/>
            <a:r>
              <a:rPr sz="1000" b="0">
                <a:solidFill>
                  <a:srgbClr val="F0A500"/>
                </a:solidFill>
                <a:latin typeface="Calibri"/>
              </a:rPr>
              <a:t>Retry + Timeout Patterns</a:t>
            </a:r>
          </a:p>
        </p:txBody>
      </p:sp>
      <p:sp>
        <p:nvSpPr>
          <p:cNvPr id="9" name="TextBox 8"/>
          <p:cNvSpPr txBox="1"/>
          <p:nvPr/>
        </p:nvSpPr>
        <p:spPr>
          <a:xfrm>
            <a:off x="365760" y="1380744"/>
            <a:ext cx="6537959" cy="5175504"/>
          </a:xfrm>
          <a:prstGeom prst="rect">
            <a:avLst/>
          </a:prstGeom>
          <a:noFill/>
        </p:spPr>
        <p:txBody>
          <a:bodyPr wrap="none">
            <a:spAutoFit/>
          </a:bodyPr>
          <a:lstStyle/>
          <a:p>
            <a:r>
              <a:rPr sz="900">
                <a:solidFill>
                  <a:srgbClr val="CCCCCC"/>
                </a:solidFill>
                <a:latin typeface="Courier New"/>
              </a:rPr>
              <a:t>import asyncio, random</a:t>
            </a:r>
          </a:p>
          <a:p>
            <a:r>
              <a:rPr sz="900">
                <a:solidFill>
                  <a:srgbClr val="CCCCCC"/>
                </a:solidFill>
                <a:latin typeface="Courier New"/>
              </a:rPr>
              <a:t>from a2a.client.errors import A2AClientHTTPError</a:t>
            </a:r>
          </a:p>
          <a:p>
            <a:r>
              <a:rPr sz="900">
                <a:solidFill>
                  <a:srgbClr val="CCCCCC"/>
                </a:solidFill>
                <a:latin typeface="Courier New"/>
              </a:rPr>
              <a:t>from a2a.client        import A2AClient</a:t>
            </a:r>
          </a:p>
          <a:p>
            <a:endParaRPr sz="900">
              <a:solidFill>
                <a:srgbClr val="CCCCCC"/>
              </a:solidFill>
              <a:latin typeface="Courier New"/>
            </a:endParaRPr>
          </a:p>
          <a:p>
            <a:r>
              <a:rPr sz="900">
                <a:solidFill>
                  <a:srgbClr val="CCCCCC"/>
                </a:solidFill>
                <a:latin typeface="Courier New"/>
              </a:rPr>
              <a:t>async def send_with_retry(client: A2AClient, request,</a:t>
            </a:r>
          </a:p>
          <a:p>
            <a:r>
              <a:rPr sz="900">
                <a:solidFill>
                  <a:srgbClr val="CCCCCC"/>
                </a:solidFill>
                <a:latin typeface="Courier New"/>
              </a:rPr>
              <a:t>                          max_retries=3):</a:t>
            </a:r>
          </a:p>
          <a:p>
            <a:r>
              <a:rPr sz="900">
                <a:solidFill>
                  <a:srgbClr val="CCCCCC"/>
                </a:solidFill>
                <a:latin typeface="Courier New"/>
              </a:rPr>
              <a:t>    """Exponential backoff retry for transient errors."""</a:t>
            </a:r>
          </a:p>
          <a:p>
            <a:r>
              <a:rPr sz="900">
                <a:solidFill>
                  <a:srgbClr val="CCCCCC"/>
                </a:solidFill>
                <a:latin typeface="Courier New"/>
              </a:rPr>
              <a:t>    retryable = {-32603, -32700}  # Internal, Parse</a:t>
            </a:r>
          </a:p>
          <a:p>
            <a:endParaRPr sz="900">
              <a:solidFill>
                <a:srgbClr val="CCCCCC"/>
              </a:solidFill>
              <a:latin typeface="Courier New"/>
            </a:endParaRPr>
          </a:p>
          <a:p>
            <a:r>
              <a:rPr sz="900">
                <a:solidFill>
                  <a:srgbClr val="CCCCCC"/>
                </a:solidFill>
                <a:latin typeface="Courier New"/>
              </a:rPr>
              <a:t>    for attempt in range(max_retries):</a:t>
            </a:r>
          </a:p>
          <a:p>
            <a:r>
              <a:rPr sz="900">
                <a:solidFill>
                  <a:srgbClr val="CCCCCC"/>
                </a:solidFill>
                <a:latin typeface="Courier New"/>
              </a:rPr>
              <a:t>        try:</a:t>
            </a:r>
          </a:p>
          <a:p>
            <a:r>
              <a:rPr sz="900">
                <a:solidFill>
                  <a:srgbClr val="CCCCCC"/>
                </a:solidFill>
                <a:latin typeface="Courier New"/>
              </a:rPr>
              <a:t>            resp = await client.send_task(request)</a:t>
            </a:r>
          </a:p>
          <a:p>
            <a:r>
              <a:rPr sz="900">
                <a:solidFill>
                  <a:srgbClr val="CCCCCC"/>
                </a:solidFill>
                <a:latin typeface="Courier New"/>
              </a:rPr>
              <a:t>            task = resp.result</a:t>
            </a:r>
          </a:p>
          <a:p>
            <a:endParaRPr sz="900">
              <a:solidFill>
                <a:srgbClr val="CCCCCC"/>
              </a:solidFill>
              <a:latin typeface="Courier New"/>
            </a:endParaRPr>
          </a:p>
          <a:p>
            <a:r>
              <a:rPr sz="900">
                <a:solidFill>
                  <a:srgbClr val="CCCCCC"/>
                </a:solidFill>
                <a:latin typeface="Courier New"/>
              </a:rPr>
              <a:t>            if task.status.state == "failed":</a:t>
            </a:r>
          </a:p>
          <a:p>
            <a:r>
              <a:rPr sz="900">
                <a:solidFill>
                  <a:srgbClr val="CCCCCC"/>
                </a:solidFill>
                <a:latin typeface="Courier New"/>
              </a:rPr>
              <a:t>                err_msg = str(task.status.message)</a:t>
            </a:r>
          </a:p>
          <a:p>
            <a:r>
              <a:rPr sz="900">
                <a:solidFill>
                  <a:srgbClr val="CCCCCC"/>
                </a:solidFill>
                <a:latin typeface="Courier New"/>
              </a:rPr>
              <a:t>                print(f"Task failed: {err_msg}")</a:t>
            </a:r>
          </a:p>
          <a:p>
            <a:r>
              <a:rPr sz="900">
                <a:solidFill>
                  <a:srgbClr val="CCCCCC"/>
                </a:solidFill>
                <a:latin typeface="Courier New"/>
              </a:rPr>
              <a:t>                return None           # do not retry task failures</a:t>
            </a:r>
          </a:p>
          <a:p>
            <a:endParaRPr sz="900">
              <a:solidFill>
                <a:srgbClr val="CCCCCC"/>
              </a:solidFill>
              <a:latin typeface="Courier New"/>
            </a:endParaRPr>
          </a:p>
          <a:p>
            <a:r>
              <a:rPr sz="900">
                <a:solidFill>
                  <a:srgbClr val="CCCCCC"/>
                </a:solidFill>
                <a:latin typeface="Courier New"/>
              </a:rPr>
              <a:t>            return task</a:t>
            </a:r>
          </a:p>
          <a:p>
            <a:endParaRPr sz="900">
              <a:solidFill>
                <a:srgbClr val="CCCCCC"/>
              </a:solidFill>
              <a:latin typeface="Courier New"/>
            </a:endParaRPr>
          </a:p>
          <a:p>
            <a:r>
              <a:rPr sz="900">
                <a:solidFill>
                  <a:srgbClr val="CCCCCC"/>
                </a:solidFill>
                <a:latin typeface="Courier New"/>
              </a:rPr>
              <a:t>        except A2AClientHTTPError as e:</a:t>
            </a:r>
          </a:p>
          <a:p>
            <a:r>
              <a:rPr sz="900">
                <a:solidFill>
                  <a:srgbClr val="CCCCCC"/>
                </a:solidFill>
                <a:latin typeface="Courier New"/>
              </a:rPr>
              <a:t>            if e.status_code in (401, 403):</a:t>
            </a:r>
          </a:p>
          <a:p>
            <a:r>
              <a:rPr sz="900">
                <a:solidFill>
                  <a:srgbClr val="CCCCCC"/>
                </a:solidFill>
                <a:latin typeface="Courier New"/>
              </a:rPr>
              <a:t>                raise   # auth errors — do not retry</a:t>
            </a:r>
          </a:p>
          <a:p>
            <a:endParaRPr sz="900">
              <a:solidFill>
                <a:srgbClr val="CCCCCC"/>
              </a:solidFill>
              <a:latin typeface="Courier New"/>
            </a:endParaRPr>
          </a:p>
          <a:p>
            <a:r>
              <a:rPr sz="900">
                <a:solidFill>
                  <a:srgbClr val="CCCCCC"/>
                </a:solidFill>
                <a:latin typeface="Courier New"/>
              </a:rPr>
              <a:t>            wait = (2 ** attempt) + random.uniform(0, 1)</a:t>
            </a:r>
          </a:p>
          <a:p>
            <a:r>
              <a:rPr sz="900">
                <a:solidFill>
                  <a:srgbClr val="CCCCCC"/>
                </a:solidFill>
                <a:latin typeface="Courier New"/>
              </a:rPr>
              <a:t>            print(f"Attempt {attempt+1} failed "</a:t>
            </a:r>
          </a:p>
          <a:p>
            <a:r>
              <a:rPr sz="900">
                <a:solidFill>
                  <a:srgbClr val="CCCCCC"/>
                </a:solidFill>
                <a:latin typeface="Courier New"/>
              </a:rPr>
              <a:t>                  f"(HTTP {e.status_code}), "</a:t>
            </a:r>
          </a:p>
          <a:p>
            <a:r>
              <a:rPr sz="900">
                <a:solidFill>
                  <a:srgbClr val="CCCCCC"/>
                </a:solidFill>
                <a:latin typeface="Courier New"/>
              </a:rPr>
              <a:t>                  f"retrying in {wait:.1f}s...")</a:t>
            </a:r>
          </a:p>
          <a:p>
            <a:r>
              <a:rPr sz="900">
                <a:solidFill>
                  <a:srgbClr val="CCCCCC"/>
                </a:solidFill>
                <a:latin typeface="Courier New"/>
              </a:rPr>
              <a:t>            await asyncio.sleep(wait)</a:t>
            </a:r>
          </a:p>
          <a:p>
            <a:endParaRPr sz="900">
              <a:solidFill>
                <a:srgbClr val="CCCCCC"/>
              </a:solidFill>
              <a:latin typeface="Courier New"/>
            </a:endParaRPr>
          </a:p>
          <a:p>
            <a:r>
              <a:rPr sz="900">
                <a:solidFill>
                  <a:srgbClr val="CCCCCC"/>
                </a:solidFill>
                <a:latin typeface="Courier New"/>
              </a:rPr>
              <a:t>    return None   # exhausted retries</a:t>
            </a:r>
          </a:p>
          <a:p>
            <a:endParaRPr sz="900">
              <a:solidFill>
                <a:srgbClr val="CCCCCC"/>
              </a:solidFill>
              <a:latin typeface="Courier New"/>
            </a:endParaRPr>
          </a:p>
          <a:p>
            <a:endParaRPr sz="900">
              <a:solidFill>
                <a:srgbClr val="CCCCCC"/>
              </a:solidFill>
              <a:latin typeface="Courier New"/>
            </a:endParaRPr>
          </a:p>
          <a:p>
            <a:r>
              <a:rPr sz="900">
                <a:solidFill>
                  <a:srgbClr val="CCCCCC"/>
                </a:solidFill>
                <a:latin typeface="Courier New"/>
              </a:rPr>
              <a:t>async def search_with_timeout(client, request,</a:t>
            </a:r>
          </a:p>
          <a:p>
            <a:r>
              <a:rPr sz="900">
                <a:solidFill>
                  <a:srgbClr val="CCCCCC"/>
                </a:solidFill>
                <a:latin typeface="Courier New"/>
              </a:rPr>
              <a:t>                               timeout_secs=30.0):</a:t>
            </a:r>
          </a:p>
          <a:p>
            <a:r>
              <a:rPr sz="900">
                <a:solidFill>
                  <a:srgbClr val="CCCCCC"/>
                </a:solidFill>
                <a:latin typeface="Courier New"/>
              </a:rPr>
              <a:t>    """Cancel task if it exceeds timeout."""</a:t>
            </a:r>
          </a:p>
          <a:p>
            <a:r>
              <a:rPr sz="900">
                <a:solidFill>
                  <a:srgbClr val="CCCCCC"/>
                </a:solidFill>
                <a:latin typeface="Courier New"/>
              </a:rPr>
              <a:t>    task_id = request.params.id</a:t>
            </a:r>
          </a:p>
          <a:p>
            <a:endParaRPr sz="900">
              <a:solidFill>
                <a:srgbClr val="CCCCCC"/>
              </a:solidFill>
              <a:latin typeface="Courier New"/>
            </a:endParaRPr>
          </a:p>
          <a:p>
            <a:r>
              <a:rPr sz="900">
                <a:solidFill>
                  <a:srgbClr val="CCCCCC"/>
                </a:solidFill>
                <a:latin typeface="Courier New"/>
              </a:rPr>
              <a:t>    try:</a:t>
            </a:r>
          </a:p>
          <a:p>
            <a:r>
              <a:rPr sz="900">
                <a:solidFill>
                  <a:srgbClr val="CCCCCC"/>
                </a:solidFill>
                <a:latin typeface="Courier New"/>
              </a:rPr>
              <a:t>        return await asyncio.wait_for(</a:t>
            </a:r>
          </a:p>
          <a:p>
            <a:r>
              <a:rPr sz="900">
                <a:solidFill>
                  <a:srgbClr val="CCCCCC"/>
                </a:solidFill>
                <a:latin typeface="Courier New"/>
              </a:rPr>
              <a:t>            client.send_task(request),</a:t>
            </a:r>
          </a:p>
          <a:p>
            <a:r>
              <a:rPr sz="900">
                <a:solidFill>
                  <a:srgbClr val="CCCCCC"/>
                </a:solidFill>
                <a:latin typeface="Courier New"/>
              </a:rPr>
              <a:t>            timeout=timeout_secs</a:t>
            </a:r>
          </a:p>
          <a:p>
            <a:r>
              <a:rPr sz="900">
                <a:solidFill>
                  <a:srgbClr val="CCCCCC"/>
                </a:solidFill>
                <a:latin typeface="Courier New"/>
              </a:rPr>
              <a:t>        )</a:t>
            </a:r>
          </a:p>
          <a:p>
            <a:r>
              <a:rPr sz="900">
                <a:solidFill>
                  <a:srgbClr val="CCCCCC"/>
                </a:solidFill>
                <a:latin typeface="Courier New"/>
              </a:rPr>
              <a:t>    except asyncio.TimeoutError:</a:t>
            </a:r>
          </a:p>
          <a:p>
            <a:r>
              <a:rPr sz="900">
                <a:solidFill>
                  <a:srgbClr val="CCCCCC"/>
                </a:solidFill>
                <a:latin typeface="Courier New"/>
              </a:rPr>
              <a:t>        print(f"Timeout — canceling task {task_id}")</a:t>
            </a:r>
          </a:p>
          <a:p>
            <a:r>
              <a:rPr sz="900">
                <a:solidFill>
                  <a:srgbClr val="CCCCCC"/>
                </a:solidFill>
                <a:latin typeface="Courier New"/>
              </a:rPr>
              <a:t>        try:</a:t>
            </a:r>
          </a:p>
          <a:p>
            <a:r>
              <a:rPr sz="900">
                <a:solidFill>
                  <a:srgbClr val="CCCCCC"/>
                </a:solidFill>
                <a:latin typeface="Courier New"/>
              </a:rPr>
              <a:t>            await client.cancel_task(task_id)</a:t>
            </a:r>
          </a:p>
          <a:p>
            <a:r>
              <a:rPr sz="900">
                <a:solidFill>
                  <a:srgbClr val="CCCCCC"/>
                </a:solidFill>
                <a:latin typeface="Courier New"/>
              </a:rPr>
              <a:t>        except Exception:</a:t>
            </a:r>
          </a:p>
          <a:p>
            <a:r>
              <a:rPr sz="900">
                <a:solidFill>
                  <a:srgbClr val="CCCCCC"/>
                </a:solidFill>
                <a:latin typeface="Courier New"/>
              </a:rPr>
              <a:t>            pass</a:t>
            </a:r>
          </a:p>
          <a:p>
            <a:r>
              <a:rPr sz="900">
                <a:solidFill>
                  <a:srgbClr val="CCCCCC"/>
                </a:solidFill>
                <a:latin typeface="Courier New"/>
              </a:rPr>
              <a:t>        return None</a:t>
            </a:r>
          </a:p>
        </p:txBody>
      </p:sp>
      <p:sp>
        <p:nvSpPr>
          <p:cNvPr id="10" name="Rectangle 9"/>
          <p:cNvSpPr/>
          <p:nvPr/>
        </p:nvSpPr>
        <p:spPr>
          <a:xfrm>
            <a:off x="7132320" y="1115568"/>
            <a:ext cx="4754880" cy="548640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132320" y="1115568"/>
            <a:ext cx="475488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223759" y="1152144"/>
            <a:ext cx="4572000" cy="274320"/>
          </a:xfrm>
          <a:prstGeom prst="rect">
            <a:avLst/>
          </a:prstGeom>
          <a:noFill/>
        </p:spPr>
        <p:txBody>
          <a:bodyPr wrap="square">
            <a:spAutoFit/>
          </a:bodyPr>
          <a:lstStyle/>
          <a:p>
            <a:pPr algn="l"/>
            <a:r>
              <a:rPr sz="1200" b="1">
                <a:solidFill>
                  <a:srgbClr val="FFFFFF"/>
                </a:solidFill>
                <a:latin typeface="Calibri"/>
              </a:rPr>
              <a:t>Resilience Strategies</a:t>
            </a:r>
          </a:p>
        </p:txBody>
      </p:sp>
      <p:sp>
        <p:nvSpPr>
          <p:cNvPr id="13" name="TextBox 12"/>
          <p:cNvSpPr txBox="1"/>
          <p:nvPr/>
        </p:nvSpPr>
        <p:spPr>
          <a:xfrm>
            <a:off x="7242048" y="1499616"/>
            <a:ext cx="4535424" cy="5029200"/>
          </a:xfrm>
          <a:prstGeom prst="rect">
            <a:avLst/>
          </a:prstGeom>
          <a:noFill/>
        </p:spPr>
        <p:txBody>
          <a:bodyPr wrap="square">
            <a:spAutoFit/>
          </a:bodyPr>
          <a:lstStyle/>
          <a:p>
            <a:pPr>
              <a:spcBef>
                <a:spcPts val="400"/>
              </a:spcBef>
            </a:pPr>
            <a:r>
              <a:rPr sz="1100">
                <a:solidFill>
                  <a:srgbClr val="222244"/>
                </a:solidFill>
                <a:latin typeface="Calibri"/>
              </a:rPr>
              <a:t>  •  Exponential Backoff:</a:t>
            </a:r>
          </a:p>
          <a:p>
            <a:pPr>
              <a:spcBef>
                <a:spcPts val="400"/>
              </a:spcBef>
            </a:pPr>
            <a:r>
              <a:rPr sz="1000">
                <a:solidFill>
                  <a:srgbClr val="222244"/>
                </a:solidFill>
                <a:latin typeface="Calibri"/>
              </a:rPr>
              <a:t>       ◦  Retry transient errors (5xx, network)</a:t>
            </a:r>
          </a:p>
          <a:p>
            <a:pPr>
              <a:spcBef>
                <a:spcPts val="400"/>
              </a:spcBef>
            </a:pPr>
            <a:r>
              <a:rPr sz="1000">
                <a:solidFill>
                  <a:srgbClr val="222244"/>
                </a:solidFill>
                <a:latin typeface="Calibri"/>
              </a:rPr>
              <a:t>       ◦  Do NOT retry 401/403/task failures</a:t>
            </a:r>
          </a:p>
          <a:p>
            <a:pPr>
              <a:spcBef>
                <a:spcPts val="400"/>
              </a:spcBef>
            </a:pPr>
            <a:r>
              <a:rPr sz="1000">
                <a:solidFill>
                  <a:srgbClr val="222244"/>
                </a:solidFill>
                <a:latin typeface="Calibri"/>
              </a:rPr>
              <a:t>       ◦  Add jitter to avoid thundering herd</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Timeout + Cancel:</a:t>
            </a:r>
          </a:p>
          <a:p>
            <a:pPr>
              <a:spcBef>
                <a:spcPts val="400"/>
              </a:spcBef>
            </a:pPr>
            <a:r>
              <a:rPr sz="1000">
                <a:solidFill>
                  <a:srgbClr val="222244"/>
                </a:solidFill>
                <a:latin typeface="Calibri"/>
              </a:rPr>
              <a:t>       ◦  Set per-request timeout</a:t>
            </a:r>
          </a:p>
          <a:p>
            <a:pPr>
              <a:spcBef>
                <a:spcPts val="400"/>
              </a:spcBef>
            </a:pPr>
            <a:r>
              <a:rPr sz="1000">
                <a:solidFill>
                  <a:srgbClr val="222244"/>
                </a:solidFill>
                <a:latin typeface="Calibri"/>
              </a:rPr>
              <a:t>       ◦  Call tasks/cancel on timeout</a:t>
            </a:r>
          </a:p>
          <a:p>
            <a:pPr>
              <a:spcBef>
                <a:spcPts val="400"/>
              </a:spcBef>
            </a:pPr>
            <a:r>
              <a:rPr sz="1000">
                <a:solidFill>
                  <a:srgbClr val="222244"/>
                </a:solidFill>
                <a:latin typeface="Calibri"/>
              </a:rPr>
              <a:t>       ◦  Prevents zombie tasks on server</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Graceful Degradation:</a:t>
            </a:r>
          </a:p>
          <a:p>
            <a:pPr>
              <a:spcBef>
                <a:spcPts val="400"/>
              </a:spcBef>
            </a:pPr>
            <a:r>
              <a:rPr sz="1000">
                <a:solidFill>
                  <a:srgbClr val="222244"/>
                </a:solidFill>
                <a:latin typeface="Calibri"/>
              </a:rPr>
              <a:t>       ◦  Flight fails → skip, show error</a:t>
            </a:r>
          </a:p>
          <a:p>
            <a:pPr>
              <a:spcBef>
                <a:spcPts val="400"/>
              </a:spcBef>
            </a:pPr>
            <a:r>
              <a:rPr sz="1000">
                <a:solidFill>
                  <a:srgbClr val="222244"/>
                </a:solidFill>
                <a:latin typeface="Calibri"/>
              </a:rPr>
              <a:t>       ◦  Hotel fails → suggest manual search</a:t>
            </a:r>
          </a:p>
          <a:p>
            <a:pPr>
              <a:spcBef>
                <a:spcPts val="400"/>
              </a:spcBef>
            </a:pPr>
            <a:r>
              <a:rPr sz="1000">
                <a:solidFill>
                  <a:srgbClr val="222244"/>
                </a:solidFill>
                <a:latin typeface="Calibri"/>
              </a:rPr>
              <a:t>       ◦  Never block entire itinerary</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Circuit Breaker:</a:t>
            </a:r>
          </a:p>
          <a:p>
            <a:pPr>
              <a:spcBef>
                <a:spcPts val="400"/>
              </a:spcBef>
            </a:pPr>
            <a:r>
              <a:rPr sz="1000">
                <a:solidFill>
                  <a:srgbClr val="222244"/>
                </a:solidFill>
                <a:latin typeface="Calibri"/>
              </a:rPr>
              <a:t>       ◦  Track consecutive failures per agent</a:t>
            </a:r>
          </a:p>
          <a:p>
            <a:pPr>
              <a:spcBef>
                <a:spcPts val="400"/>
              </a:spcBef>
            </a:pPr>
            <a:r>
              <a:rPr sz="1000">
                <a:solidFill>
                  <a:srgbClr val="222244"/>
                </a:solidFill>
                <a:latin typeface="Calibri"/>
              </a:rPr>
              <a:t>       ◦  Stop calling failing agent temporarily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11: Multi-Agent Orchestration</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Orchestrator as ADK LlmAgent — A2AClient as tool</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6949440" cy="553212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15568"/>
            <a:ext cx="694944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43000"/>
            <a:ext cx="6766559" cy="201168"/>
          </a:xfrm>
          <a:prstGeom prst="rect">
            <a:avLst/>
          </a:prstGeom>
          <a:noFill/>
        </p:spPr>
        <p:txBody>
          <a:bodyPr wrap="square">
            <a:spAutoFit/>
          </a:bodyPr>
          <a:lstStyle/>
          <a:p>
            <a:pPr algn="l"/>
            <a:r>
              <a:rPr sz="1000" b="0">
                <a:solidFill>
                  <a:srgbClr val="F0A500"/>
                </a:solidFill>
                <a:latin typeface="Calibri"/>
              </a:rPr>
              <a:t>TravelOrchestrator — parallel + sequential</a:t>
            </a:r>
          </a:p>
        </p:txBody>
      </p:sp>
      <p:sp>
        <p:nvSpPr>
          <p:cNvPr id="9" name="TextBox 8"/>
          <p:cNvSpPr txBox="1"/>
          <p:nvPr/>
        </p:nvSpPr>
        <p:spPr>
          <a:xfrm>
            <a:off x="365760" y="1380744"/>
            <a:ext cx="6766559" cy="5221224"/>
          </a:xfrm>
          <a:prstGeom prst="rect">
            <a:avLst/>
          </a:prstGeom>
          <a:noFill/>
        </p:spPr>
        <p:txBody>
          <a:bodyPr wrap="none">
            <a:spAutoFit/>
          </a:bodyPr>
          <a:lstStyle/>
          <a:p>
            <a:r>
              <a:rPr sz="900">
                <a:solidFill>
                  <a:srgbClr val="CCCCCC"/>
                </a:solidFill>
                <a:latin typeface="Courier New"/>
              </a:rPr>
              <a:t>from google.adk.agents import LlmAgent</a:t>
            </a:r>
          </a:p>
          <a:p>
            <a:r>
              <a:rPr sz="900">
                <a:solidFill>
                  <a:srgbClr val="CCCCCC"/>
                </a:solidFill>
                <a:latin typeface="Courier New"/>
              </a:rPr>
              <a:t>from a2a.client import A2AClient, A2ACardResolver</a:t>
            </a:r>
          </a:p>
          <a:p>
            <a:r>
              <a:rPr sz="900">
                <a:solidFill>
                  <a:srgbClr val="CCCCCC"/>
                </a:solidFill>
                <a:latin typeface="Courier New"/>
              </a:rPr>
              <a:t>import asyncio, httpx</a:t>
            </a:r>
          </a:p>
          <a:p>
            <a:endParaRPr sz="900">
              <a:solidFill>
                <a:srgbClr val="CCCCCC"/>
              </a:solidFill>
              <a:latin typeface="Courier New"/>
            </a:endParaRPr>
          </a:p>
          <a:p>
            <a:r>
              <a:rPr sz="900">
                <a:solidFill>
                  <a:srgbClr val="CCCCCC"/>
                </a:solidFill>
                <a:latin typeface="Courier New"/>
              </a:rPr>
              <a:t>class TravelOrchestrator:</a:t>
            </a:r>
          </a:p>
          <a:p>
            <a:r>
              <a:rPr sz="900">
                <a:solidFill>
                  <a:srgbClr val="CCCCCC"/>
                </a:solidFill>
                <a:latin typeface="Courier New"/>
              </a:rPr>
              <a:t>    """ADK LlmAgent that orchestrates 4 A2A agents."""</a:t>
            </a:r>
          </a:p>
          <a:p>
            <a:endParaRPr sz="900">
              <a:solidFill>
                <a:srgbClr val="CCCCCC"/>
              </a:solidFill>
              <a:latin typeface="Courier New"/>
            </a:endParaRPr>
          </a:p>
          <a:p>
            <a:r>
              <a:rPr sz="900">
                <a:solidFill>
                  <a:srgbClr val="CCCCCC"/>
                </a:solidFill>
                <a:latin typeface="Courier New"/>
              </a:rPr>
              <a:t>    def __init__(self):</a:t>
            </a:r>
          </a:p>
          <a:p>
            <a:r>
              <a:rPr sz="900">
                <a:solidFill>
                  <a:srgbClr val="CCCCCC"/>
                </a:solidFill>
                <a:latin typeface="Courier New"/>
              </a:rPr>
              <a:t>        self.agents = {}</a:t>
            </a:r>
          </a:p>
          <a:p>
            <a:endParaRPr sz="900">
              <a:solidFill>
                <a:srgbClr val="CCCCCC"/>
              </a:solidFill>
              <a:latin typeface="Courier New"/>
            </a:endParaRPr>
          </a:p>
          <a:p>
            <a:r>
              <a:rPr sz="900">
                <a:solidFill>
                  <a:srgbClr val="CCCCCC"/>
                </a:solidFill>
                <a:latin typeface="Courier New"/>
              </a:rPr>
              <a:t>    async def setup(self):</a:t>
            </a:r>
          </a:p>
          <a:p>
            <a:r>
              <a:rPr sz="900">
                <a:solidFill>
                  <a:srgbClr val="CCCCCC"/>
                </a:solidFill>
                <a:latin typeface="Courier New"/>
              </a:rPr>
              <a:t>        """Fetch all Agent Cards at startup."""</a:t>
            </a:r>
          </a:p>
          <a:p>
            <a:r>
              <a:rPr sz="900">
                <a:solidFill>
                  <a:srgbClr val="CCCCCC"/>
                </a:solidFill>
                <a:latin typeface="Courier New"/>
              </a:rPr>
              <a:t>        agent_urls = {</a:t>
            </a:r>
          </a:p>
          <a:p>
            <a:r>
              <a:rPr sz="900">
                <a:solidFill>
                  <a:srgbClr val="CCCCCC"/>
                </a:solidFill>
                <a:latin typeface="Courier New"/>
              </a:rPr>
              <a:t>            "flight":  "http://localhost:8001/",</a:t>
            </a:r>
          </a:p>
          <a:p>
            <a:r>
              <a:rPr sz="900">
                <a:solidFill>
                  <a:srgbClr val="CCCCCC"/>
                </a:solidFill>
                <a:latin typeface="Courier New"/>
              </a:rPr>
              <a:t>            "hotel":   "http://localhost:8002/",</a:t>
            </a:r>
          </a:p>
          <a:p>
            <a:r>
              <a:rPr sz="900">
                <a:solidFill>
                  <a:srgbClr val="CCCCCC"/>
                </a:solidFill>
                <a:latin typeface="Courier New"/>
              </a:rPr>
              <a:t>            "booking": "http://localhost:8003/",</a:t>
            </a:r>
          </a:p>
          <a:p>
            <a:r>
              <a:rPr sz="900">
                <a:solidFill>
                  <a:srgbClr val="CCCCCC"/>
                </a:solidFill>
                <a:latin typeface="Courier New"/>
              </a:rPr>
              <a:t>            "weather": "http://localhost:8004/",</a:t>
            </a:r>
          </a:p>
          <a:p>
            <a:r>
              <a:rPr sz="900">
                <a:solidFill>
                  <a:srgbClr val="CCCCCC"/>
                </a:solidFill>
                <a:latin typeface="Courier New"/>
              </a:rPr>
              <a:t>        }</a:t>
            </a:r>
          </a:p>
          <a:p>
            <a:r>
              <a:rPr sz="900">
                <a:solidFill>
                  <a:srgbClr val="CCCCCC"/>
                </a:solidFill>
                <a:latin typeface="Courier New"/>
              </a:rPr>
              <a:t>        for name, url in agent_urls.items():</a:t>
            </a:r>
          </a:p>
          <a:p>
            <a:r>
              <a:rPr sz="900">
                <a:solidFill>
                  <a:srgbClr val="CCCCCC"/>
                </a:solidFill>
                <a:latin typeface="Courier New"/>
              </a:rPr>
              <a:t>            card   = await A2ACardResolver(</a:t>
            </a:r>
          </a:p>
          <a:p>
            <a:r>
              <a:rPr sz="900">
                <a:solidFill>
                  <a:srgbClr val="CCCCCC"/>
                </a:solidFill>
                <a:latin typeface="Courier New"/>
              </a:rPr>
              <a:t>                         httpx_client=httpx.AsyncClient(),</a:t>
            </a:r>
          </a:p>
          <a:p>
            <a:r>
              <a:rPr sz="900">
                <a:solidFill>
                  <a:srgbClr val="CCCCCC"/>
                </a:solidFill>
                <a:latin typeface="Courier New"/>
              </a:rPr>
              <a:t>                         base_url=url</a:t>
            </a:r>
          </a:p>
          <a:p>
            <a:r>
              <a:rPr sz="900">
                <a:solidFill>
                  <a:srgbClr val="CCCCCC"/>
                </a:solidFill>
                <a:latin typeface="Courier New"/>
              </a:rPr>
              <a:t>                     ).get_agent_card()</a:t>
            </a:r>
          </a:p>
          <a:p>
            <a:r>
              <a:rPr sz="900">
                <a:solidFill>
                  <a:srgbClr val="CCCCCC"/>
                </a:solidFill>
                <a:latin typeface="Courier New"/>
              </a:rPr>
              <a:t>            client = A2AClient(</a:t>
            </a:r>
          </a:p>
          <a:p>
            <a:r>
              <a:rPr sz="900">
                <a:solidFill>
                  <a:srgbClr val="CCCCCC"/>
                </a:solidFill>
                <a:latin typeface="Courier New"/>
              </a:rPr>
              <a:t>                         httpx_client=self._make_client(name),</a:t>
            </a:r>
          </a:p>
          <a:p>
            <a:r>
              <a:rPr sz="900">
                <a:solidFill>
                  <a:srgbClr val="CCCCCC"/>
                </a:solidFill>
                <a:latin typeface="Courier New"/>
              </a:rPr>
              <a:t>                         agent_card=card</a:t>
            </a:r>
          </a:p>
          <a:p>
            <a:r>
              <a:rPr sz="900">
                <a:solidFill>
                  <a:srgbClr val="CCCCCC"/>
                </a:solidFill>
                <a:latin typeface="Courier New"/>
              </a:rPr>
              <a:t>                     )</a:t>
            </a:r>
          </a:p>
          <a:p>
            <a:r>
              <a:rPr sz="900">
                <a:solidFill>
                  <a:srgbClr val="CCCCCC"/>
                </a:solidFill>
                <a:latin typeface="Courier New"/>
              </a:rPr>
              <a:t>            self.agents[name] = client</a:t>
            </a:r>
          </a:p>
          <a:p>
            <a:endParaRPr sz="900">
              <a:solidFill>
                <a:srgbClr val="CCCCCC"/>
              </a:solidFill>
              <a:latin typeface="Courier New"/>
            </a:endParaRPr>
          </a:p>
          <a:p>
            <a:r>
              <a:rPr sz="900">
                <a:solidFill>
                  <a:srgbClr val="CCCCCC"/>
                </a:solidFill>
                <a:latin typeface="Courier New"/>
              </a:rPr>
              <a:t>    async def plan_trip(self, user_query: str):</a:t>
            </a:r>
          </a:p>
          <a:p>
            <a:r>
              <a:rPr sz="900">
                <a:solidFill>
                  <a:srgbClr val="CCCCCC"/>
                </a:solidFill>
                <a:latin typeface="Courier New"/>
              </a:rPr>
              <a:t>        """Parallel fan-out then sequential booking."""</a:t>
            </a:r>
          </a:p>
          <a:p>
            <a:r>
              <a:rPr sz="900">
                <a:solidFill>
                  <a:srgbClr val="CCCCCC"/>
                </a:solidFill>
                <a:latin typeface="Courier New"/>
              </a:rPr>
              <a:t>        # Fan out to flight, hotel, weather in parallel</a:t>
            </a:r>
          </a:p>
          <a:p>
            <a:r>
              <a:rPr sz="900">
                <a:solidFill>
                  <a:srgbClr val="CCCCCC"/>
                </a:solidFill>
                <a:latin typeface="Courier New"/>
              </a:rPr>
              <a:t>        flight_task, hotel_task, weather_task = (</a:t>
            </a:r>
          </a:p>
          <a:p>
            <a:r>
              <a:rPr sz="900">
                <a:solidFill>
                  <a:srgbClr val="CCCCCC"/>
                </a:solidFill>
                <a:latin typeface="Courier New"/>
              </a:rPr>
              <a:t>            await asyncio.gather(</a:t>
            </a:r>
          </a:p>
          <a:p>
            <a:r>
              <a:rPr sz="900">
                <a:solidFill>
                  <a:srgbClr val="CCCCCC"/>
                </a:solidFill>
                <a:latin typeface="Courier New"/>
              </a:rPr>
              <a:t>                self._call_agent("flight",  user_query),</a:t>
            </a:r>
          </a:p>
          <a:p>
            <a:r>
              <a:rPr sz="900">
                <a:solidFill>
                  <a:srgbClr val="CCCCCC"/>
                </a:solidFill>
                <a:latin typeface="Courier New"/>
              </a:rPr>
              <a:t>                self._call_agent("hotel",   user_query),</a:t>
            </a:r>
          </a:p>
          <a:p>
            <a:r>
              <a:rPr sz="900">
                <a:solidFill>
                  <a:srgbClr val="CCCCCC"/>
                </a:solidFill>
                <a:latin typeface="Courier New"/>
              </a:rPr>
              <a:t>                self._call_agent("weather", user_query),</a:t>
            </a:r>
          </a:p>
          <a:p>
            <a:r>
              <a:rPr sz="900">
                <a:solidFill>
                  <a:srgbClr val="CCCCCC"/>
                </a:solidFill>
                <a:latin typeface="Courier New"/>
              </a:rPr>
              <a:t>            )</a:t>
            </a:r>
          </a:p>
          <a:p>
            <a:r>
              <a:rPr sz="900">
                <a:solidFill>
                  <a:srgbClr val="CCCCCC"/>
                </a:solidFill>
                <a:latin typeface="Courier New"/>
              </a:rPr>
              <a:t>        )</a:t>
            </a:r>
          </a:p>
          <a:p>
            <a:endParaRPr sz="900">
              <a:solidFill>
                <a:srgbClr val="CCCCCC"/>
              </a:solidFill>
              <a:latin typeface="Courier New"/>
            </a:endParaRPr>
          </a:p>
          <a:p>
            <a:r>
              <a:rPr sz="900">
                <a:solidFill>
                  <a:srgbClr val="CCCCCC"/>
                </a:solidFill>
                <a:latin typeface="Courier New"/>
              </a:rPr>
              <a:t>        # Sequential: booking needs flight+hotel data</a:t>
            </a:r>
          </a:p>
          <a:p>
            <a:r>
              <a:rPr sz="900">
                <a:solidFill>
                  <a:srgbClr val="CCCCCC"/>
                </a:solidFill>
                <a:latin typeface="Courier New"/>
              </a:rPr>
              <a:t>        booking = await self._book(flight_task, hotel_task)</a:t>
            </a:r>
          </a:p>
          <a:p>
            <a:endParaRPr sz="900">
              <a:solidFill>
                <a:srgbClr val="CCCCCC"/>
              </a:solidFill>
              <a:latin typeface="Courier New"/>
            </a:endParaRPr>
          </a:p>
          <a:p>
            <a:r>
              <a:rPr sz="900">
                <a:solidFill>
                  <a:srgbClr val="CCCCCC"/>
                </a:solidFill>
                <a:latin typeface="Courier New"/>
              </a:rPr>
              <a:t>        return self._aggregate(</a:t>
            </a:r>
          </a:p>
          <a:p>
            <a:r>
              <a:rPr sz="900">
                <a:solidFill>
                  <a:srgbClr val="CCCCCC"/>
                </a:solidFill>
                <a:latin typeface="Courier New"/>
              </a:rPr>
              <a:t>            flight_task, hotel_task, weather_task, booking</a:t>
            </a:r>
          </a:p>
          <a:p>
            <a:r>
              <a:rPr sz="900">
                <a:solidFill>
                  <a:srgbClr val="CCCCCC"/>
                </a:solidFill>
                <a:latin typeface="Courier New"/>
              </a:rPr>
              <a:t>        )</a:t>
            </a:r>
          </a:p>
        </p:txBody>
      </p:sp>
      <p:sp>
        <p:nvSpPr>
          <p:cNvPr id="10" name="Rectangle 9"/>
          <p:cNvSpPr/>
          <p:nvPr/>
        </p:nvSpPr>
        <p:spPr>
          <a:xfrm>
            <a:off x="7406640" y="1115568"/>
            <a:ext cx="4480560" cy="553212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406640" y="1115568"/>
            <a:ext cx="448056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79" y="1152144"/>
            <a:ext cx="4297680" cy="274320"/>
          </a:xfrm>
          <a:prstGeom prst="rect">
            <a:avLst/>
          </a:prstGeom>
          <a:noFill/>
        </p:spPr>
        <p:txBody>
          <a:bodyPr wrap="square">
            <a:spAutoFit/>
          </a:bodyPr>
          <a:lstStyle/>
          <a:p>
            <a:pPr algn="l"/>
            <a:r>
              <a:rPr sz="1200" b="1">
                <a:solidFill>
                  <a:srgbClr val="FFFFFF"/>
                </a:solidFill>
                <a:latin typeface="Calibri"/>
              </a:rPr>
              <a:t>Orchestration Patterns</a:t>
            </a:r>
          </a:p>
        </p:txBody>
      </p:sp>
      <p:sp>
        <p:nvSpPr>
          <p:cNvPr id="13" name="TextBox 12"/>
          <p:cNvSpPr txBox="1"/>
          <p:nvPr/>
        </p:nvSpPr>
        <p:spPr>
          <a:xfrm>
            <a:off x="7516367" y="1499616"/>
            <a:ext cx="4261104" cy="5074920"/>
          </a:xfrm>
          <a:prstGeom prst="rect">
            <a:avLst/>
          </a:prstGeom>
          <a:noFill/>
        </p:spPr>
        <p:txBody>
          <a:bodyPr wrap="square">
            <a:spAutoFit/>
          </a:bodyPr>
          <a:lstStyle/>
          <a:p>
            <a:pPr>
              <a:spcBef>
                <a:spcPts val="400"/>
              </a:spcBef>
            </a:pPr>
            <a:r>
              <a:rPr sz="1100">
                <a:solidFill>
                  <a:srgbClr val="222244"/>
                </a:solidFill>
                <a:latin typeface="Calibri"/>
              </a:rPr>
              <a:t>  •  Parallel Fan-Out:</a:t>
            </a:r>
          </a:p>
          <a:p>
            <a:pPr>
              <a:spcBef>
                <a:spcPts val="400"/>
              </a:spcBef>
            </a:pPr>
            <a:r>
              <a:rPr sz="1000">
                <a:solidFill>
                  <a:srgbClr val="222244"/>
                </a:solidFill>
                <a:latin typeface="Calibri"/>
              </a:rPr>
              <a:t>       ◦  asyncio.gather() for independent tasks</a:t>
            </a:r>
          </a:p>
          <a:p>
            <a:pPr>
              <a:spcBef>
                <a:spcPts val="400"/>
              </a:spcBef>
            </a:pPr>
            <a:r>
              <a:rPr sz="1000">
                <a:solidFill>
                  <a:srgbClr val="222244"/>
                </a:solidFill>
                <a:latin typeface="Calibri"/>
              </a:rPr>
              <a:t>       ◦  Flight + Hotel + Weather run concurrently</a:t>
            </a:r>
          </a:p>
          <a:p>
            <a:pPr>
              <a:spcBef>
                <a:spcPts val="400"/>
              </a:spcBef>
            </a:pPr>
            <a:r>
              <a:rPr sz="1000">
                <a:solidFill>
                  <a:srgbClr val="222244"/>
                </a:solidFill>
                <a:latin typeface="Calibri"/>
              </a:rPr>
              <a:t>       ◦  Reduces total latency significantly</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Sequential Chaining:</a:t>
            </a:r>
          </a:p>
          <a:p>
            <a:pPr>
              <a:spcBef>
                <a:spcPts val="400"/>
              </a:spcBef>
            </a:pPr>
            <a:r>
              <a:rPr sz="1000">
                <a:solidFill>
                  <a:srgbClr val="222244"/>
                </a:solidFill>
                <a:latin typeface="Calibri"/>
              </a:rPr>
              <a:t>       ◦  Booking depends on flight+hotel results</a:t>
            </a:r>
          </a:p>
          <a:p>
            <a:pPr>
              <a:spcBef>
                <a:spcPts val="400"/>
              </a:spcBef>
            </a:pPr>
            <a:r>
              <a:rPr sz="1000">
                <a:solidFill>
                  <a:srgbClr val="222244"/>
                </a:solidFill>
                <a:latin typeface="Calibri"/>
              </a:rPr>
              <a:t>       ◦  Pass previous artifacts as input</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Skill Matching:</a:t>
            </a:r>
          </a:p>
          <a:p>
            <a:pPr>
              <a:spcBef>
                <a:spcPts val="400"/>
              </a:spcBef>
            </a:pPr>
            <a:r>
              <a:rPr sz="1000">
                <a:solidFill>
                  <a:srgbClr val="222244"/>
                </a:solidFill>
                <a:latin typeface="Calibri"/>
              </a:rPr>
              <a:t>       ◦  Read skill.description (LLM-readable)</a:t>
            </a:r>
          </a:p>
          <a:p>
            <a:pPr>
              <a:spcBef>
                <a:spcPts val="400"/>
              </a:spcBef>
            </a:pPr>
            <a:r>
              <a:rPr sz="1000">
                <a:solidFill>
                  <a:srgbClr val="222244"/>
                </a:solidFill>
                <a:latin typeface="Calibri"/>
              </a:rPr>
              <a:t>       ◦  Match user intent to best agent</a:t>
            </a:r>
          </a:p>
          <a:p>
            <a:pPr>
              <a:spcBef>
                <a:spcPts val="400"/>
              </a:spcBef>
            </a:pPr>
            <a:r>
              <a:rPr sz="1000">
                <a:solidFill>
                  <a:srgbClr val="222244"/>
                </a:solidFill>
                <a:latin typeface="Calibri"/>
              </a:rPr>
              <a:t>       ◦  Check inputModes compatibility</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Capability Checking:</a:t>
            </a:r>
          </a:p>
          <a:p>
            <a:pPr>
              <a:spcBef>
                <a:spcPts val="400"/>
              </a:spcBef>
            </a:pPr>
            <a:r>
              <a:rPr sz="1000">
                <a:solidFill>
                  <a:srgbClr val="222244"/>
                </a:solidFill>
                <a:latin typeface="Calibri"/>
              </a:rPr>
              <a:t>       ◦  streaming → use sendSubscribe</a:t>
            </a:r>
          </a:p>
          <a:p>
            <a:pPr>
              <a:spcBef>
                <a:spcPts val="400"/>
              </a:spcBef>
            </a:pPr>
            <a:r>
              <a:rPr sz="1000">
                <a:solidFill>
                  <a:srgbClr val="222244"/>
                </a:solidFill>
                <a:latin typeface="Calibri"/>
              </a:rPr>
              <a:t>       ◦  pushNotifications → set webhook first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11: Orchestration — Routing and Aggregation</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How the orchestrator routes and combines results</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6720840" cy="548640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15568"/>
            <a:ext cx="672084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43000"/>
            <a:ext cx="6537959" cy="201168"/>
          </a:xfrm>
          <a:prstGeom prst="rect">
            <a:avLst/>
          </a:prstGeom>
          <a:noFill/>
        </p:spPr>
        <p:txBody>
          <a:bodyPr wrap="square">
            <a:spAutoFit/>
          </a:bodyPr>
          <a:lstStyle/>
          <a:p>
            <a:pPr algn="l"/>
            <a:r>
              <a:rPr sz="1000" b="0">
                <a:solidFill>
                  <a:srgbClr val="F0A500"/>
                </a:solidFill>
                <a:latin typeface="Calibri"/>
              </a:rPr>
              <a:t>Routing + Aggregation</a:t>
            </a:r>
          </a:p>
        </p:txBody>
      </p:sp>
      <p:sp>
        <p:nvSpPr>
          <p:cNvPr id="9" name="TextBox 8"/>
          <p:cNvSpPr txBox="1"/>
          <p:nvPr/>
        </p:nvSpPr>
        <p:spPr>
          <a:xfrm>
            <a:off x="365760" y="1380744"/>
            <a:ext cx="6537959" cy="5175504"/>
          </a:xfrm>
          <a:prstGeom prst="rect">
            <a:avLst/>
          </a:prstGeom>
          <a:noFill/>
        </p:spPr>
        <p:txBody>
          <a:bodyPr wrap="none">
            <a:spAutoFit/>
          </a:bodyPr>
          <a:lstStyle/>
          <a:p>
            <a:r>
              <a:rPr sz="900">
                <a:solidFill>
                  <a:srgbClr val="CCCCCC"/>
                </a:solidFill>
                <a:latin typeface="Courier New"/>
              </a:rPr>
              <a:t>async def _call_agent(self, agent_name: str, query: str):</a:t>
            </a:r>
          </a:p>
          <a:p>
            <a:r>
              <a:rPr sz="900">
                <a:solidFill>
                  <a:srgbClr val="CCCCCC"/>
                </a:solidFill>
                <a:latin typeface="Courier New"/>
              </a:rPr>
              <a:t>    """Route to named agent with appropriate auth."""</a:t>
            </a:r>
          </a:p>
          <a:p>
            <a:r>
              <a:rPr sz="900">
                <a:solidFill>
                  <a:srgbClr val="CCCCCC"/>
                </a:solidFill>
                <a:latin typeface="Courier New"/>
              </a:rPr>
              <a:t>    client = self.agents[agent_name]</a:t>
            </a:r>
          </a:p>
          <a:p>
            <a:r>
              <a:rPr sz="900">
                <a:solidFill>
                  <a:srgbClr val="CCCCCC"/>
                </a:solidFill>
                <a:latin typeface="Courier New"/>
              </a:rPr>
              <a:t>    card   = client.agent_card</a:t>
            </a:r>
          </a:p>
          <a:p>
            <a:endParaRPr sz="900">
              <a:solidFill>
                <a:srgbClr val="CCCCCC"/>
              </a:solidFill>
              <a:latin typeface="Courier New"/>
            </a:endParaRPr>
          </a:p>
          <a:p>
            <a:r>
              <a:rPr sz="900">
                <a:solidFill>
                  <a:srgbClr val="CCCCCC"/>
                </a:solidFill>
                <a:latin typeface="Courier New"/>
              </a:rPr>
              <a:t>    # Check capability before using streaming</a:t>
            </a:r>
          </a:p>
          <a:p>
            <a:r>
              <a:rPr sz="900">
                <a:solidFill>
                  <a:srgbClr val="CCCCCC"/>
                </a:solidFill>
                <a:latin typeface="Courier New"/>
              </a:rPr>
              <a:t>    use_stream = card.capabilities.streaming</a:t>
            </a:r>
          </a:p>
          <a:p>
            <a:endParaRPr sz="900">
              <a:solidFill>
                <a:srgbClr val="CCCCCC"/>
              </a:solidFill>
              <a:latin typeface="Courier New"/>
            </a:endParaRPr>
          </a:p>
          <a:p>
            <a:r>
              <a:rPr sz="900">
                <a:solidFill>
                  <a:srgbClr val="CCCCCC"/>
                </a:solidFill>
                <a:latin typeface="Courier New"/>
              </a:rPr>
              <a:t>    if use_stream:</a:t>
            </a:r>
          </a:p>
          <a:p>
            <a:r>
              <a:rPr sz="900">
                <a:solidFill>
                  <a:srgbClr val="CCCCCC"/>
                </a:solidFill>
                <a:latin typeface="Courier New"/>
              </a:rPr>
              <a:t>        return await self._call_streaming(client, query)</a:t>
            </a:r>
          </a:p>
          <a:p>
            <a:r>
              <a:rPr sz="900">
                <a:solidFill>
                  <a:srgbClr val="CCCCCC"/>
                </a:solidFill>
                <a:latin typeface="Courier New"/>
              </a:rPr>
              <a:t>    else:</a:t>
            </a:r>
          </a:p>
          <a:p>
            <a:r>
              <a:rPr sz="900">
                <a:solidFill>
                  <a:srgbClr val="CCCCCC"/>
                </a:solidFill>
                <a:latin typeface="Courier New"/>
              </a:rPr>
              <a:t>        return await self._call_sync(client, query)</a:t>
            </a:r>
          </a:p>
          <a:p>
            <a:endParaRPr sz="900">
              <a:solidFill>
                <a:srgbClr val="CCCCCC"/>
              </a:solidFill>
              <a:latin typeface="Courier New"/>
            </a:endParaRPr>
          </a:p>
          <a:p>
            <a:r>
              <a:rPr sz="900">
                <a:solidFill>
                  <a:srgbClr val="CCCCCC"/>
                </a:solidFill>
                <a:latin typeface="Courier New"/>
              </a:rPr>
              <a:t>def _aggregate(self, flight, hotel, weather, booking):</a:t>
            </a:r>
          </a:p>
          <a:p>
            <a:r>
              <a:rPr sz="900">
                <a:solidFill>
                  <a:srgbClr val="CCCCCC"/>
                </a:solidFill>
                <a:latin typeface="Courier New"/>
              </a:rPr>
              <a:t>    """Combine all results into unified itinerary."""</a:t>
            </a:r>
          </a:p>
          <a:p>
            <a:r>
              <a:rPr sz="900">
                <a:solidFill>
                  <a:srgbClr val="CCCCCC"/>
                </a:solidFill>
                <a:latin typeface="Courier New"/>
              </a:rPr>
              <a:t>    return {</a:t>
            </a:r>
          </a:p>
          <a:p>
            <a:r>
              <a:rPr sz="900">
                <a:solidFill>
                  <a:srgbClr val="CCCCCC"/>
                </a:solidFill>
                <a:latin typeface="Courier New"/>
              </a:rPr>
              <a:t>        "itinerary": {</a:t>
            </a:r>
          </a:p>
          <a:p>
            <a:r>
              <a:rPr sz="900">
                <a:solidFill>
                  <a:srgbClr val="CCCCCC"/>
                </a:solidFill>
                <a:latin typeface="Courier New"/>
              </a:rPr>
              <a:t>            "flights":  self._extract_data(flight),</a:t>
            </a:r>
          </a:p>
          <a:p>
            <a:r>
              <a:rPr sz="900">
                <a:solidFill>
                  <a:srgbClr val="CCCCCC"/>
                </a:solidFill>
                <a:latin typeface="Courier New"/>
              </a:rPr>
              <a:t>            "hotels":   self._extract_data(hotel),</a:t>
            </a:r>
          </a:p>
          <a:p>
            <a:r>
              <a:rPr sz="900">
                <a:solidFill>
                  <a:srgbClr val="CCCCCC"/>
                </a:solidFill>
                <a:latin typeface="Courier New"/>
              </a:rPr>
              <a:t>            "weather":  self._extract_data(weather),</a:t>
            </a:r>
          </a:p>
          <a:p>
            <a:r>
              <a:rPr sz="900">
                <a:solidFill>
                  <a:srgbClr val="CCCCCC"/>
                </a:solidFill>
                <a:latin typeface="Courier New"/>
              </a:rPr>
              <a:t>            "booking":  self._extract_data(booking),</a:t>
            </a:r>
          </a:p>
          <a:p>
            <a:r>
              <a:rPr sz="900">
                <a:solidFill>
                  <a:srgbClr val="CCCCCC"/>
                </a:solidFill>
                <a:latin typeface="Courier New"/>
              </a:rPr>
              <a:t>        },</a:t>
            </a:r>
          </a:p>
          <a:p>
            <a:r>
              <a:rPr sz="900">
                <a:solidFill>
                  <a:srgbClr val="CCCCCC"/>
                </a:solidFill>
                <a:latin typeface="Courier New"/>
              </a:rPr>
              <a:t>        "summary": self._generate_summary(</a:t>
            </a:r>
          </a:p>
          <a:p>
            <a:r>
              <a:rPr sz="900">
                <a:solidFill>
                  <a:srgbClr val="CCCCCC"/>
                </a:solidFill>
                <a:latin typeface="Courier New"/>
              </a:rPr>
              <a:t>            flight, hotel, weather, booking</a:t>
            </a:r>
          </a:p>
          <a:p>
            <a:r>
              <a:rPr sz="900">
                <a:solidFill>
                  <a:srgbClr val="CCCCCC"/>
                </a:solidFill>
                <a:latin typeface="Courier New"/>
              </a:rPr>
              <a:t>        ),</a:t>
            </a:r>
          </a:p>
          <a:p>
            <a:r>
              <a:rPr sz="900">
                <a:solidFill>
                  <a:srgbClr val="CCCCCC"/>
                </a:solidFill>
                <a:latin typeface="Courier New"/>
              </a:rPr>
              <a:t>        "totalCost": (</a:t>
            </a:r>
          </a:p>
          <a:p>
            <a:r>
              <a:rPr sz="900">
                <a:solidFill>
                  <a:srgbClr val="CCCCCC"/>
                </a:solidFill>
                <a:latin typeface="Courier New"/>
              </a:rPr>
              <a:t>            self._extract_data(flight).get("price", 0) +</a:t>
            </a:r>
          </a:p>
          <a:p>
            <a:r>
              <a:rPr sz="900">
                <a:solidFill>
                  <a:srgbClr val="CCCCCC"/>
                </a:solidFill>
                <a:latin typeface="Courier New"/>
              </a:rPr>
              <a:t>            self._extract_data(hotel).get("price", 0)</a:t>
            </a:r>
          </a:p>
          <a:p>
            <a:r>
              <a:rPr sz="900">
                <a:solidFill>
                  <a:srgbClr val="CCCCCC"/>
                </a:solidFill>
                <a:latin typeface="Courier New"/>
              </a:rPr>
              <a:t>        )</a:t>
            </a:r>
          </a:p>
          <a:p>
            <a:r>
              <a:rPr sz="900">
                <a:solidFill>
                  <a:srgbClr val="CCCCCC"/>
                </a:solidFill>
                <a:latin typeface="Courier New"/>
              </a:rPr>
              <a:t>    }</a:t>
            </a:r>
          </a:p>
          <a:p>
            <a:endParaRPr sz="900">
              <a:solidFill>
                <a:srgbClr val="CCCCCC"/>
              </a:solidFill>
              <a:latin typeface="Courier New"/>
            </a:endParaRPr>
          </a:p>
          <a:p>
            <a:r>
              <a:rPr sz="900">
                <a:solidFill>
                  <a:srgbClr val="CCCCCC"/>
                </a:solidFill>
                <a:latin typeface="Courier New"/>
              </a:rPr>
              <a:t>def _extract_data(self, task):</a:t>
            </a:r>
          </a:p>
          <a:p>
            <a:r>
              <a:rPr sz="900">
                <a:solidFill>
                  <a:srgbClr val="CCCCCC"/>
                </a:solidFill>
                <a:latin typeface="Courier New"/>
              </a:rPr>
              <a:t>    """Extract DataPart from first artifact."""</a:t>
            </a:r>
          </a:p>
          <a:p>
            <a:r>
              <a:rPr sz="900">
                <a:solidFill>
                  <a:srgbClr val="CCCCCC"/>
                </a:solidFill>
                <a:latin typeface="Courier New"/>
              </a:rPr>
              <a:t>    if not task or not task.artifacts:</a:t>
            </a:r>
          </a:p>
          <a:p>
            <a:r>
              <a:rPr sz="900">
                <a:solidFill>
                  <a:srgbClr val="CCCCCC"/>
                </a:solidFill>
                <a:latin typeface="Courier New"/>
              </a:rPr>
              <a:t>        return {}</a:t>
            </a:r>
          </a:p>
          <a:p>
            <a:r>
              <a:rPr sz="900">
                <a:solidFill>
                  <a:srgbClr val="CCCCCC"/>
                </a:solidFill>
                <a:latin typeface="Courier New"/>
              </a:rPr>
              <a:t>    for part in task.artifacts[0].parts:</a:t>
            </a:r>
          </a:p>
          <a:p>
            <a:r>
              <a:rPr sz="900">
                <a:solidFill>
                  <a:srgbClr val="CCCCCC"/>
                </a:solidFill>
                <a:latin typeface="Courier New"/>
              </a:rPr>
              <a:t>        if hasattr(part, "data"):</a:t>
            </a:r>
          </a:p>
          <a:p>
            <a:r>
              <a:rPr sz="900">
                <a:solidFill>
                  <a:srgbClr val="CCCCCC"/>
                </a:solidFill>
                <a:latin typeface="Courier New"/>
              </a:rPr>
              <a:t>            return part.data</a:t>
            </a:r>
          </a:p>
          <a:p>
            <a:r>
              <a:rPr sz="900">
                <a:solidFill>
                  <a:srgbClr val="CCCCCC"/>
                </a:solidFill>
                <a:latin typeface="Courier New"/>
              </a:rPr>
              <a:t>    return {}</a:t>
            </a:r>
          </a:p>
        </p:txBody>
      </p:sp>
      <p:sp>
        <p:nvSpPr>
          <p:cNvPr id="10" name="Rectangle 9"/>
          <p:cNvSpPr/>
          <p:nvPr/>
        </p:nvSpPr>
        <p:spPr>
          <a:xfrm>
            <a:off x="7223760" y="1115568"/>
            <a:ext cx="4663440" cy="548640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223760" y="1115568"/>
            <a:ext cx="4663440" cy="3200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0" y="1133856"/>
            <a:ext cx="4480560" cy="274320"/>
          </a:xfrm>
          <a:prstGeom prst="rect">
            <a:avLst/>
          </a:prstGeom>
          <a:noFill/>
        </p:spPr>
        <p:txBody>
          <a:bodyPr wrap="square">
            <a:spAutoFit/>
          </a:bodyPr>
          <a:lstStyle/>
          <a:p>
            <a:pPr algn="l"/>
            <a:r>
              <a:rPr sz="1200" b="1">
                <a:solidFill>
                  <a:srgbClr val="FFFFFF"/>
                </a:solidFill>
                <a:latin typeface="Calibri"/>
              </a:rPr>
              <a:t>Execution Flow</a:t>
            </a:r>
          </a:p>
        </p:txBody>
      </p:sp>
      <p:sp>
        <p:nvSpPr>
          <p:cNvPr id="13" name="Rectangle 12"/>
          <p:cNvSpPr/>
          <p:nvPr/>
        </p:nvSpPr>
        <p:spPr>
          <a:xfrm>
            <a:off x="7360920" y="1508760"/>
            <a:ext cx="4343400" cy="429768"/>
          </a:xfrm>
          <a:prstGeom prst="rect">
            <a:avLst/>
          </a:prstGeom>
          <a:solidFill>
            <a:srgbClr val="28A74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52360" y="1536192"/>
            <a:ext cx="4206240" cy="347472"/>
          </a:xfrm>
          <a:prstGeom prst="rect">
            <a:avLst/>
          </a:prstGeom>
          <a:noFill/>
        </p:spPr>
        <p:txBody>
          <a:bodyPr wrap="square">
            <a:spAutoFit/>
          </a:bodyPr>
          <a:lstStyle/>
          <a:p>
            <a:pPr algn="l"/>
            <a:r>
              <a:rPr sz="1100" b="0">
                <a:solidFill>
                  <a:srgbClr val="FFFFFF"/>
                </a:solidFill>
                <a:latin typeface="Calibri"/>
              </a:rPr>
              <a:t>1. Fetch Agent Cards (startup)</a:t>
            </a:r>
          </a:p>
        </p:txBody>
      </p:sp>
      <p:sp>
        <p:nvSpPr>
          <p:cNvPr id="15" name="Rectangle 14"/>
          <p:cNvSpPr/>
          <p:nvPr/>
        </p:nvSpPr>
        <p:spPr>
          <a:xfrm>
            <a:off x="7360920" y="2029967"/>
            <a:ext cx="4343400" cy="429768"/>
          </a:xfrm>
          <a:prstGeom prst="rect">
            <a:avLst/>
          </a:prstGeom>
          <a:solidFill>
            <a:srgbClr val="4A7AB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52360" y="2057400"/>
            <a:ext cx="4206240" cy="347472"/>
          </a:xfrm>
          <a:prstGeom prst="rect">
            <a:avLst/>
          </a:prstGeom>
          <a:noFill/>
        </p:spPr>
        <p:txBody>
          <a:bodyPr wrap="square">
            <a:spAutoFit/>
          </a:bodyPr>
          <a:lstStyle/>
          <a:p>
            <a:pPr algn="l"/>
            <a:r>
              <a:rPr sz="1100" b="0">
                <a:solidFill>
                  <a:srgbClr val="FFFFFF"/>
                </a:solidFill>
                <a:latin typeface="Calibri"/>
              </a:rPr>
              <a:t>2. Receive user query</a:t>
            </a:r>
          </a:p>
        </p:txBody>
      </p:sp>
      <p:sp>
        <p:nvSpPr>
          <p:cNvPr id="17" name="Rectangle 16"/>
          <p:cNvSpPr/>
          <p:nvPr/>
        </p:nvSpPr>
        <p:spPr>
          <a:xfrm>
            <a:off x="7360920" y="2551176"/>
            <a:ext cx="4343400" cy="429768"/>
          </a:xfrm>
          <a:prstGeom prst="rect">
            <a:avLst/>
          </a:prstGeom>
          <a:solidFill>
            <a:srgbClr val="4A7AB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52360" y="2578608"/>
            <a:ext cx="4206240" cy="347472"/>
          </a:xfrm>
          <a:prstGeom prst="rect">
            <a:avLst/>
          </a:prstGeom>
          <a:noFill/>
        </p:spPr>
        <p:txBody>
          <a:bodyPr wrap="square">
            <a:spAutoFit/>
          </a:bodyPr>
          <a:lstStyle/>
          <a:p>
            <a:pPr algn="l"/>
            <a:r>
              <a:rPr sz="1100" b="0">
                <a:solidFill>
                  <a:srgbClr val="FFFFFF"/>
                </a:solidFill>
                <a:latin typeface="Calibri"/>
              </a:rPr>
              <a:t>3. Match intent → agents</a:t>
            </a:r>
          </a:p>
        </p:txBody>
      </p:sp>
      <p:sp>
        <p:nvSpPr>
          <p:cNvPr id="19" name="Rectangle 18"/>
          <p:cNvSpPr/>
          <p:nvPr/>
        </p:nvSpPr>
        <p:spPr>
          <a:xfrm>
            <a:off x="7360920" y="3072384"/>
            <a:ext cx="4343400" cy="429768"/>
          </a:xfrm>
          <a:prstGeom prst="rect">
            <a:avLst/>
          </a:prstGeom>
          <a:solidFill>
            <a:srgbClr val="C66B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52360" y="3099815"/>
            <a:ext cx="4206240" cy="347472"/>
          </a:xfrm>
          <a:prstGeom prst="rect">
            <a:avLst/>
          </a:prstGeom>
          <a:noFill/>
        </p:spPr>
        <p:txBody>
          <a:bodyPr wrap="square">
            <a:spAutoFit/>
          </a:bodyPr>
          <a:lstStyle/>
          <a:p>
            <a:pPr algn="l"/>
            <a:r>
              <a:rPr sz="1100" b="0">
                <a:solidFill>
                  <a:srgbClr val="FFFFFF"/>
                </a:solidFill>
                <a:latin typeface="Calibri"/>
              </a:rPr>
              <a:t>4. PARALLEL: flight+hotel+weather</a:t>
            </a:r>
          </a:p>
        </p:txBody>
      </p:sp>
      <p:sp>
        <p:nvSpPr>
          <p:cNvPr id="21" name="Rectangle 20"/>
          <p:cNvSpPr/>
          <p:nvPr/>
        </p:nvSpPr>
        <p:spPr>
          <a:xfrm>
            <a:off x="7360920" y="3593591"/>
            <a:ext cx="4343400" cy="429768"/>
          </a:xfrm>
          <a:prstGeom prst="rect">
            <a:avLst/>
          </a:prstGeom>
          <a:solidFill>
            <a:srgbClr val="C66B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52360" y="3621024"/>
            <a:ext cx="4206240" cy="347472"/>
          </a:xfrm>
          <a:prstGeom prst="rect">
            <a:avLst/>
          </a:prstGeom>
          <a:noFill/>
        </p:spPr>
        <p:txBody>
          <a:bodyPr wrap="square">
            <a:spAutoFit/>
          </a:bodyPr>
          <a:lstStyle/>
          <a:p>
            <a:pPr algn="l"/>
            <a:r>
              <a:rPr sz="1100" b="0">
                <a:solidFill>
                  <a:srgbClr val="FFFFFF"/>
                </a:solidFill>
                <a:latin typeface="Calibri"/>
              </a:rPr>
              <a:t>5. Await all 3 results</a:t>
            </a:r>
          </a:p>
        </p:txBody>
      </p:sp>
      <p:sp>
        <p:nvSpPr>
          <p:cNvPr id="23" name="Rectangle 22"/>
          <p:cNvSpPr/>
          <p:nvPr/>
        </p:nvSpPr>
        <p:spPr>
          <a:xfrm>
            <a:off x="7360920" y="4114800"/>
            <a:ext cx="4343400" cy="429768"/>
          </a:xfrm>
          <a:prstGeom prst="rect">
            <a:avLst/>
          </a:prstGeom>
          <a:solidFill>
            <a:srgbClr val="7B2D8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52360" y="4142231"/>
            <a:ext cx="4206240" cy="347472"/>
          </a:xfrm>
          <a:prstGeom prst="rect">
            <a:avLst/>
          </a:prstGeom>
          <a:noFill/>
        </p:spPr>
        <p:txBody>
          <a:bodyPr wrap="square">
            <a:spAutoFit/>
          </a:bodyPr>
          <a:lstStyle/>
          <a:p>
            <a:pPr algn="l"/>
            <a:r>
              <a:rPr sz="1100" b="0">
                <a:solidFill>
                  <a:srgbClr val="FFFFFF"/>
                </a:solidFill>
                <a:latin typeface="Calibri"/>
              </a:rPr>
              <a:t>6. SEQUENTIAL: send to booking</a:t>
            </a:r>
          </a:p>
        </p:txBody>
      </p:sp>
      <p:sp>
        <p:nvSpPr>
          <p:cNvPr id="25" name="Rectangle 24"/>
          <p:cNvSpPr/>
          <p:nvPr/>
        </p:nvSpPr>
        <p:spPr>
          <a:xfrm>
            <a:off x="7360920" y="4636008"/>
            <a:ext cx="4343400" cy="429768"/>
          </a:xfrm>
          <a:prstGeom prst="rect">
            <a:avLst/>
          </a:prstGeom>
          <a:solidFill>
            <a:srgbClr val="7B2D8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52360" y="4663440"/>
            <a:ext cx="4206240" cy="347472"/>
          </a:xfrm>
          <a:prstGeom prst="rect">
            <a:avLst/>
          </a:prstGeom>
          <a:noFill/>
        </p:spPr>
        <p:txBody>
          <a:bodyPr wrap="square">
            <a:spAutoFit/>
          </a:bodyPr>
          <a:lstStyle/>
          <a:p>
            <a:pPr algn="l"/>
            <a:r>
              <a:rPr sz="1100" b="0">
                <a:solidFill>
                  <a:srgbClr val="FFFFFF"/>
                </a:solidFill>
                <a:latin typeface="Calibri"/>
              </a:rPr>
              <a:t>7. Handle input-required loop</a:t>
            </a:r>
          </a:p>
        </p:txBody>
      </p:sp>
      <p:sp>
        <p:nvSpPr>
          <p:cNvPr id="27" name="Rectangle 26"/>
          <p:cNvSpPr/>
          <p:nvPr/>
        </p:nvSpPr>
        <p:spPr>
          <a:xfrm>
            <a:off x="7360920" y="5157216"/>
            <a:ext cx="4343400" cy="429768"/>
          </a:xfrm>
          <a:prstGeom prst="rect">
            <a:avLst/>
          </a:prstGeom>
          <a:solidFill>
            <a:srgbClr val="28A74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52360" y="5184648"/>
            <a:ext cx="4206240" cy="347472"/>
          </a:xfrm>
          <a:prstGeom prst="rect">
            <a:avLst/>
          </a:prstGeom>
          <a:noFill/>
        </p:spPr>
        <p:txBody>
          <a:bodyPr wrap="square">
            <a:spAutoFit/>
          </a:bodyPr>
          <a:lstStyle/>
          <a:p>
            <a:pPr algn="l"/>
            <a:r>
              <a:rPr sz="1100" b="0">
                <a:solidFill>
                  <a:srgbClr val="FFFFFF"/>
                </a:solidFill>
                <a:latin typeface="Calibri"/>
              </a:rPr>
              <a:t>8. Aggregate → unified response</a:t>
            </a:r>
          </a:p>
        </p:txBody>
      </p:sp>
      <p:sp>
        <p:nvSpPr>
          <p:cNvPr id="29" name="Rectangle 28"/>
          <p:cNvSpPr/>
          <p:nvPr/>
        </p:nvSpPr>
        <p:spPr>
          <a:xfrm>
            <a:off x="7360920" y="5678423"/>
            <a:ext cx="4343400" cy="429768"/>
          </a:xfrm>
          <a:prstGeom prst="rect">
            <a:avLst/>
          </a:prstGeom>
          <a:solidFill>
            <a:srgbClr val="28A74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452360" y="5705855"/>
            <a:ext cx="4206240" cy="347472"/>
          </a:xfrm>
          <a:prstGeom prst="rect">
            <a:avLst/>
          </a:prstGeom>
          <a:noFill/>
        </p:spPr>
        <p:txBody>
          <a:bodyPr wrap="square">
            <a:spAutoFit/>
          </a:bodyPr>
          <a:lstStyle/>
          <a:p>
            <a:pPr algn="l"/>
            <a:r>
              <a:rPr sz="1100" b="0">
                <a:solidFill>
                  <a:srgbClr val="FFFFFF"/>
                </a:solidFill>
                <a:latin typeface="Calibri"/>
              </a:rPr>
              <a:t>9. Return itinerary to user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12: Running the Complete System</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Docker Compose setup and port map</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11612880" cy="3657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133856"/>
            <a:ext cx="3200400" cy="292608"/>
          </a:xfrm>
          <a:prstGeom prst="rect">
            <a:avLst/>
          </a:prstGeom>
          <a:noFill/>
        </p:spPr>
        <p:txBody>
          <a:bodyPr wrap="square">
            <a:spAutoFit/>
          </a:bodyPr>
          <a:lstStyle/>
          <a:p>
            <a:pPr algn="l"/>
            <a:r>
              <a:rPr sz="1200" b="1">
                <a:solidFill>
                  <a:srgbClr val="FFFFFF"/>
                </a:solidFill>
                <a:latin typeface="Calibri"/>
              </a:rPr>
              <a:t>Service</a:t>
            </a:r>
          </a:p>
        </p:txBody>
      </p:sp>
      <p:sp>
        <p:nvSpPr>
          <p:cNvPr id="8" name="TextBox 7"/>
          <p:cNvSpPr txBox="1"/>
          <p:nvPr/>
        </p:nvSpPr>
        <p:spPr>
          <a:xfrm>
            <a:off x="3611880" y="1133856"/>
            <a:ext cx="1097280" cy="292608"/>
          </a:xfrm>
          <a:prstGeom prst="rect">
            <a:avLst/>
          </a:prstGeom>
          <a:noFill/>
        </p:spPr>
        <p:txBody>
          <a:bodyPr wrap="square">
            <a:spAutoFit/>
          </a:bodyPr>
          <a:lstStyle/>
          <a:p>
            <a:pPr algn="l"/>
            <a:r>
              <a:rPr sz="1200" b="1">
                <a:solidFill>
                  <a:srgbClr val="FFFFFF"/>
                </a:solidFill>
                <a:latin typeface="Calibri"/>
              </a:rPr>
              <a:t>Port</a:t>
            </a:r>
          </a:p>
        </p:txBody>
      </p:sp>
      <p:sp>
        <p:nvSpPr>
          <p:cNvPr id="9" name="TextBox 8"/>
          <p:cNvSpPr txBox="1"/>
          <p:nvPr/>
        </p:nvSpPr>
        <p:spPr>
          <a:xfrm>
            <a:off x="4800600" y="1133856"/>
            <a:ext cx="1828800" cy="292608"/>
          </a:xfrm>
          <a:prstGeom prst="rect">
            <a:avLst/>
          </a:prstGeom>
          <a:noFill/>
        </p:spPr>
        <p:txBody>
          <a:bodyPr wrap="square">
            <a:spAutoFit/>
          </a:bodyPr>
          <a:lstStyle/>
          <a:p>
            <a:pPr algn="l"/>
            <a:r>
              <a:rPr sz="1200" b="1">
                <a:solidFill>
                  <a:srgbClr val="FFFFFF"/>
                </a:solidFill>
                <a:latin typeface="Calibri"/>
              </a:rPr>
              <a:t>Auth</a:t>
            </a:r>
          </a:p>
        </p:txBody>
      </p:sp>
      <p:sp>
        <p:nvSpPr>
          <p:cNvPr id="10" name="TextBox 9"/>
          <p:cNvSpPr txBox="1"/>
          <p:nvPr/>
        </p:nvSpPr>
        <p:spPr>
          <a:xfrm>
            <a:off x="6720840" y="1133856"/>
            <a:ext cx="5029200" cy="292608"/>
          </a:xfrm>
          <a:prstGeom prst="rect">
            <a:avLst/>
          </a:prstGeom>
          <a:noFill/>
        </p:spPr>
        <p:txBody>
          <a:bodyPr wrap="square">
            <a:spAutoFit/>
          </a:bodyPr>
          <a:lstStyle/>
          <a:p>
            <a:pPr algn="l"/>
            <a:r>
              <a:rPr sz="1200" b="1">
                <a:solidFill>
                  <a:srgbClr val="FFFFFF"/>
                </a:solidFill>
                <a:latin typeface="Calibri"/>
              </a:rPr>
              <a:t>Features</a:t>
            </a:r>
          </a:p>
        </p:txBody>
      </p:sp>
      <p:sp>
        <p:nvSpPr>
          <p:cNvPr id="11" name="Rectangle 10"/>
          <p:cNvSpPr/>
          <p:nvPr/>
        </p:nvSpPr>
        <p:spPr>
          <a:xfrm>
            <a:off x="274320" y="1499616"/>
            <a:ext cx="11612880" cy="475488"/>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4320" y="1499616"/>
            <a:ext cx="109728" cy="47548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1527048"/>
            <a:ext cx="3063240" cy="347472"/>
          </a:xfrm>
          <a:prstGeom prst="rect">
            <a:avLst/>
          </a:prstGeom>
          <a:noFill/>
        </p:spPr>
        <p:txBody>
          <a:bodyPr wrap="square">
            <a:spAutoFit/>
          </a:bodyPr>
          <a:lstStyle/>
          <a:p>
            <a:pPr algn="l"/>
            <a:r>
              <a:rPr sz="1200" b="1">
                <a:solidFill>
                  <a:srgbClr val="222244"/>
                </a:solidFill>
                <a:latin typeface="Calibri"/>
              </a:rPr>
              <a:t>Flight Agent</a:t>
            </a:r>
          </a:p>
        </p:txBody>
      </p:sp>
      <p:sp>
        <p:nvSpPr>
          <p:cNvPr id="14" name="TextBox 13"/>
          <p:cNvSpPr txBox="1"/>
          <p:nvPr/>
        </p:nvSpPr>
        <p:spPr>
          <a:xfrm>
            <a:off x="3611880" y="1527048"/>
            <a:ext cx="1005840" cy="347472"/>
          </a:xfrm>
          <a:prstGeom prst="rect">
            <a:avLst/>
          </a:prstGeom>
          <a:noFill/>
        </p:spPr>
        <p:txBody>
          <a:bodyPr wrap="square">
            <a:spAutoFit/>
          </a:bodyPr>
          <a:lstStyle/>
          <a:p>
            <a:pPr algn="l"/>
            <a:r>
              <a:rPr sz="1200" b="0">
                <a:solidFill>
                  <a:srgbClr val="1B3A6B"/>
                </a:solidFill>
                <a:latin typeface="Courier New"/>
              </a:rPr>
              <a:t>8001</a:t>
            </a:r>
          </a:p>
        </p:txBody>
      </p:sp>
      <p:sp>
        <p:nvSpPr>
          <p:cNvPr id="15" name="TextBox 14"/>
          <p:cNvSpPr txBox="1"/>
          <p:nvPr/>
        </p:nvSpPr>
        <p:spPr>
          <a:xfrm>
            <a:off x="4800600" y="1527048"/>
            <a:ext cx="1737360" cy="347472"/>
          </a:xfrm>
          <a:prstGeom prst="rect">
            <a:avLst/>
          </a:prstGeom>
          <a:noFill/>
        </p:spPr>
        <p:txBody>
          <a:bodyPr wrap="square">
            <a:spAutoFit/>
          </a:bodyPr>
          <a:lstStyle/>
          <a:p>
            <a:pPr algn="l"/>
            <a:r>
              <a:rPr sz="1100" b="0">
                <a:solidFill>
                  <a:srgbClr val="222244"/>
                </a:solidFill>
                <a:latin typeface="Calibri"/>
              </a:rPr>
              <a:t>Bearer Token</a:t>
            </a:r>
          </a:p>
        </p:txBody>
      </p:sp>
      <p:sp>
        <p:nvSpPr>
          <p:cNvPr id="16" name="TextBox 15"/>
          <p:cNvSpPr txBox="1"/>
          <p:nvPr/>
        </p:nvSpPr>
        <p:spPr>
          <a:xfrm>
            <a:off x="6720840" y="1527048"/>
            <a:ext cx="5074920" cy="347472"/>
          </a:xfrm>
          <a:prstGeom prst="rect">
            <a:avLst/>
          </a:prstGeom>
          <a:noFill/>
        </p:spPr>
        <p:txBody>
          <a:bodyPr wrap="square">
            <a:spAutoFit/>
          </a:bodyPr>
          <a:lstStyle/>
          <a:p>
            <a:pPr algn="l"/>
            <a:r>
              <a:rPr sz="1100" b="0">
                <a:solidFill>
                  <a:srgbClr val="222244"/>
                </a:solidFill>
                <a:latin typeface="Calibri"/>
              </a:rPr>
              <a:t>Sync tasks, SSE streaming, state history</a:t>
            </a:r>
          </a:p>
        </p:txBody>
      </p:sp>
      <p:sp>
        <p:nvSpPr>
          <p:cNvPr id="17" name="Rectangle 16"/>
          <p:cNvSpPr/>
          <p:nvPr/>
        </p:nvSpPr>
        <p:spPr>
          <a:xfrm>
            <a:off x="274320" y="1975104"/>
            <a:ext cx="11612880" cy="475488"/>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74320" y="1975104"/>
            <a:ext cx="109728" cy="475488"/>
          </a:xfrm>
          <a:prstGeom prst="rect">
            <a:avLst/>
          </a:prstGeom>
          <a:solidFill>
            <a:srgbClr val="176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2002536"/>
            <a:ext cx="3063240" cy="347472"/>
          </a:xfrm>
          <a:prstGeom prst="rect">
            <a:avLst/>
          </a:prstGeom>
          <a:noFill/>
        </p:spPr>
        <p:txBody>
          <a:bodyPr wrap="square">
            <a:spAutoFit/>
          </a:bodyPr>
          <a:lstStyle/>
          <a:p>
            <a:pPr algn="l"/>
            <a:r>
              <a:rPr sz="1200" b="1">
                <a:solidFill>
                  <a:srgbClr val="222244"/>
                </a:solidFill>
                <a:latin typeface="Calibri"/>
              </a:rPr>
              <a:t>Hotel Agent</a:t>
            </a:r>
          </a:p>
        </p:txBody>
      </p:sp>
      <p:sp>
        <p:nvSpPr>
          <p:cNvPr id="20" name="TextBox 19"/>
          <p:cNvSpPr txBox="1"/>
          <p:nvPr/>
        </p:nvSpPr>
        <p:spPr>
          <a:xfrm>
            <a:off x="3611880" y="2002536"/>
            <a:ext cx="1005840" cy="347472"/>
          </a:xfrm>
          <a:prstGeom prst="rect">
            <a:avLst/>
          </a:prstGeom>
          <a:noFill/>
        </p:spPr>
        <p:txBody>
          <a:bodyPr wrap="square">
            <a:spAutoFit/>
          </a:bodyPr>
          <a:lstStyle/>
          <a:p>
            <a:pPr algn="l"/>
            <a:r>
              <a:rPr sz="1200" b="0">
                <a:solidFill>
                  <a:srgbClr val="1B3A6B"/>
                </a:solidFill>
                <a:latin typeface="Courier New"/>
              </a:rPr>
              <a:t>8002</a:t>
            </a:r>
          </a:p>
        </p:txBody>
      </p:sp>
      <p:sp>
        <p:nvSpPr>
          <p:cNvPr id="21" name="TextBox 20"/>
          <p:cNvSpPr txBox="1"/>
          <p:nvPr/>
        </p:nvSpPr>
        <p:spPr>
          <a:xfrm>
            <a:off x="4800600" y="2002536"/>
            <a:ext cx="1737360" cy="347472"/>
          </a:xfrm>
          <a:prstGeom prst="rect">
            <a:avLst/>
          </a:prstGeom>
          <a:noFill/>
        </p:spPr>
        <p:txBody>
          <a:bodyPr wrap="square">
            <a:spAutoFit/>
          </a:bodyPr>
          <a:lstStyle/>
          <a:p>
            <a:pPr algn="l"/>
            <a:r>
              <a:rPr sz="1100" b="0">
                <a:solidFill>
                  <a:srgbClr val="222244"/>
                </a:solidFill>
                <a:latin typeface="Calibri"/>
              </a:rPr>
              <a:t>API Key</a:t>
            </a:r>
          </a:p>
        </p:txBody>
      </p:sp>
      <p:sp>
        <p:nvSpPr>
          <p:cNvPr id="22" name="TextBox 21"/>
          <p:cNvSpPr txBox="1"/>
          <p:nvPr/>
        </p:nvSpPr>
        <p:spPr>
          <a:xfrm>
            <a:off x="6720840" y="2002536"/>
            <a:ext cx="5074920" cy="347472"/>
          </a:xfrm>
          <a:prstGeom prst="rect">
            <a:avLst/>
          </a:prstGeom>
          <a:noFill/>
        </p:spPr>
        <p:txBody>
          <a:bodyPr wrap="square">
            <a:spAutoFit/>
          </a:bodyPr>
          <a:lstStyle/>
          <a:p>
            <a:pPr algn="l"/>
            <a:r>
              <a:rPr sz="1100" b="0">
                <a:solidFill>
                  <a:srgbClr val="222244"/>
                </a:solidFill>
                <a:latin typeface="Calibri"/>
              </a:rPr>
              <a:t>Multimodal PDF input, structured output</a:t>
            </a:r>
          </a:p>
        </p:txBody>
      </p:sp>
      <p:sp>
        <p:nvSpPr>
          <p:cNvPr id="23" name="Rectangle 22"/>
          <p:cNvSpPr/>
          <p:nvPr/>
        </p:nvSpPr>
        <p:spPr>
          <a:xfrm>
            <a:off x="274320" y="2450591"/>
            <a:ext cx="11612880" cy="475488"/>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74320" y="2450591"/>
            <a:ext cx="109728" cy="475488"/>
          </a:xfrm>
          <a:prstGeom prst="rect">
            <a:avLst/>
          </a:prstGeom>
          <a:solidFill>
            <a:srgbClr val="7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2478024"/>
            <a:ext cx="3063240" cy="347472"/>
          </a:xfrm>
          <a:prstGeom prst="rect">
            <a:avLst/>
          </a:prstGeom>
          <a:noFill/>
        </p:spPr>
        <p:txBody>
          <a:bodyPr wrap="square">
            <a:spAutoFit/>
          </a:bodyPr>
          <a:lstStyle/>
          <a:p>
            <a:pPr algn="l"/>
            <a:r>
              <a:rPr sz="1200" b="1">
                <a:solidFill>
                  <a:srgbClr val="222244"/>
                </a:solidFill>
                <a:latin typeface="Calibri"/>
              </a:rPr>
              <a:t>Booking Agent</a:t>
            </a:r>
          </a:p>
        </p:txBody>
      </p:sp>
      <p:sp>
        <p:nvSpPr>
          <p:cNvPr id="26" name="TextBox 25"/>
          <p:cNvSpPr txBox="1"/>
          <p:nvPr/>
        </p:nvSpPr>
        <p:spPr>
          <a:xfrm>
            <a:off x="3611880" y="2478024"/>
            <a:ext cx="1005840" cy="347472"/>
          </a:xfrm>
          <a:prstGeom prst="rect">
            <a:avLst/>
          </a:prstGeom>
          <a:noFill/>
        </p:spPr>
        <p:txBody>
          <a:bodyPr wrap="square">
            <a:spAutoFit/>
          </a:bodyPr>
          <a:lstStyle/>
          <a:p>
            <a:pPr algn="l"/>
            <a:r>
              <a:rPr sz="1200" b="0">
                <a:solidFill>
                  <a:srgbClr val="1B3A6B"/>
                </a:solidFill>
                <a:latin typeface="Courier New"/>
              </a:rPr>
              <a:t>8003</a:t>
            </a:r>
          </a:p>
        </p:txBody>
      </p:sp>
      <p:sp>
        <p:nvSpPr>
          <p:cNvPr id="27" name="TextBox 26"/>
          <p:cNvSpPr txBox="1"/>
          <p:nvPr/>
        </p:nvSpPr>
        <p:spPr>
          <a:xfrm>
            <a:off x="4800600" y="2478024"/>
            <a:ext cx="1737360" cy="347472"/>
          </a:xfrm>
          <a:prstGeom prst="rect">
            <a:avLst/>
          </a:prstGeom>
          <a:noFill/>
        </p:spPr>
        <p:txBody>
          <a:bodyPr wrap="square">
            <a:spAutoFit/>
          </a:bodyPr>
          <a:lstStyle/>
          <a:p>
            <a:pPr algn="l"/>
            <a:r>
              <a:rPr sz="1100" b="0">
                <a:solidFill>
                  <a:srgbClr val="222244"/>
                </a:solidFill>
                <a:latin typeface="Calibri"/>
              </a:rPr>
              <a:t>None</a:t>
            </a:r>
          </a:p>
        </p:txBody>
      </p:sp>
      <p:sp>
        <p:nvSpPr>
          <p:cNvPr id="28" name="TextBox 27"/>
          <p:cNvSpPr txBox="1"/>
          <p:nvPr/>
        </p:nvSpPr>
        <p:spPr>
          <a:xfrm>
            <a:off x="6720840" y="2478024"/>
            <a:ext cx="5074920" cy="347472"/>
          </a:xfrm>
          <a:prstGeom prst="rect">
            <a:avLst/>
          </a:prstGeom>
          <a:noFill/>
        </p:spPr>
        <p:txBody>
          <a:bodyPr wrap="square">
            <a:spAutoFit/>
          </a:bodyPr>
          <a:lstStyle/>
          <a:p>
            <a:pPr algn="l"/>
            <a:r>
              <a:rPr sz="1100" b="0">
                <a:solidFill>
                  <a:srgbClr val="222244"/>
                </a:solidFill>
                <a:latin typeface="Calibri"/>
              </a:rPr>
              <a:t>Input-required, push notifications</a:t>
            </a:r>
          </a:p>
        </p:txBody>
      </p:sp>
      <p:sp>
        <p:nvSpPr>
          <p:cNvPr id="29" name="Rectangle 28"/>
          <p:cNvSpPr/>
          <p:nvPr/>
        </p:nvSpPr>
        <p:spPr>
          <a:xfrm>
            <a:off x="274320" y="2926080"/>
            <a:ext cx="11612880" cy="475488"/>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74320" y="2926080"/>
            <a:ext cx="109728" cy="475488"/>
          </a:xfrm>
          <a:prstGeom prst="rect">
            <a:avLst/>
          </a:prstGeom>
          <a:solidFill>
            <a:srgbClr val="C6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2953512"/>
            <a:ext cx="3063240" cy="347472"/>
          </a:xfrm>
          <a:prstGeom prst="rect">
            <a:avLst/>
          </a:prstGeom>
          <a:noFill/>
        </p:spPr>
        <p:txBody>
          <a:bodyPr wrap="square">
            <a:spAutoFit/>
          </a:bodyPr>
          <a:lstStyle/>
          <a:p>
            <a:pPr algn="l"/>
            <a:r>
              <a:rPr sz="1200" b="1">
                <a:solidFill>
                  <a:srgbClr val="222244"/>
                </a:solidFill>
                <a:latin typeface="Calibri"/>
              </a:rPr>
              <a:t>Weather Agent</a:t>
            </a:r>
          </a:p>
        </p:txBody>
      </p:sp>
      <p:sp>
        <p:nvSpPr>
          <p:cNvPr id="32" name="TextBox 31"/>
          <p:cNvSpPr txBox="1"/>
          <p:nvPr/>
        </p:nvSpPr>
        <p:spPr>
          <a:xfrm>
            <a:off x="3611880" y="2953512"/>
            <a:ext cx="1005840" cy="347472"/>
          </a:xfrm>
          <a:prstGeom prst="rect">
            <a:avLst/>
          </a:prstGeom>
          <a:noFill/>
        </p:spPr>
        <p:txBody>
          <a:bodyPr wrap="square">
            <a:spAutoFit/>
          </a:bodyPr>
          <a:lstStyle/>
          <a:p>
            <a:pPr algn="l"/>
            <a:r>
              <a:rPr sz="1200" b="0">
                <a:solidFill>
                  <a:srgbClr val="1B3A6B"/>
                </a:solidFill>
                <a:latin typeface="Courier New"/>
              </a:rPr>
              <a:t>8004</a:t>
            </a:r>
          </a:p>
        </p:txBody>
      </p:sp>
      <p:sp>
        <p:nvSpPr>
          <p:cNvPr id="33" name="TextBox 32"/>
          <p:cNvSpPr txBox="1"/>
          <p:nvPr/>
        </p:nvSpPr>
        <p:spPr>
          <a:xfrm>
            <a:off x="4800600" y="2953512"/>
            <a:ext cx="1737360" cy="347472"/>
          </a:xfrm>
          <a:prstGeom prst="rect">
            <a:avLst/>
          </a:prstGeom>
          <a:noFill/>
        </p:spPr>
        <p:txBody>
          <a:bodyPr wrap="square">
            <a:spAutoFit/>
          </a:bodyPr>
          <a:lstStyle/>
          <a:p>
            <a:pPr algn="l"/>
            <a:r>
              <a:rPr sz="1100" b="0">
                <a:solidFill>
                  <a:srgbClr val="222244"/>
                </a:solidFill>
                <a:latin typeface="Calibri"/>
              </a:rPr>
              <a:t>None</a:t>
            </a:r>
          </a:p>
        </p:txBody>
      </p:sp>
      <p:sp>
        <p:nvSpPr>
          <p:cNvPr id="34" name="TextBox 33"/>
          <p:cNvSpPr txBox="1"/>
          <p:nvPr/>
        </p:nvSpPr>
        <p:spPr>
          <a:xfrm>
            <a:off x="6720840" y="2953512"/>
            <a:ext cx="5074920" cy="347472"/>
          </a:xfrm>
          <a:prstGeom prst="rect">
            <a:avLst/>
          </a:prstGeom>
          <a:noFill/>
        </p:spPr>
        <p:txBody>
          <a:bodyPr wrap="square">
            <a:spAutoFit/>
          </a:bodyPr>
          <a:lstStyle/>
          <a:p>
            <a:pPr algn="l"/>
            <a:r>
              <a:rPr sz="1100" b="0">
                <a:solidFill>
                  <a:srgbClr val="222244"/>
                </a:solidFill>
                <a:latin typeface="Calibri"/>
              </a:rPr>
              <a:t>SSE streaming, real-time forecasts</a:t>
            </a:r>
          </a:p>
        </p:txBody>
      </p:sp>
      <p:sp>
        <p:nvSpPr>
          <p:cNvPr id="35" name="Rectangle 34"/>
          <p:cNvSpPr/>
          <p:nvPr/>
        </p:nvSpPr>
        <p:spPr>
          <a:xfrm>
            <a:off x="274320" y="3401568"/>
            <a:ext cx="11612880" cy="475488"/>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74320" y="3401568"/>
            <a:ext cx="109728" cy="4754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57200" y="3429000"/>
            <a:ext cx="3063240" cy="347472"/>
          </a:xfrm>
          <a:prstGeom prst="rect">
            <a:avLst/>
          </a:prstGeom>
          <a:noFill/>
        </p:spPr>
        <p:txBody>
          <a:bodyPr wrap="square">
            <a:spAutoFit/>
          </a:bodyPr>
          <a:lstStyle/>
          <a:p>
            <a:pPr algn="l"/>
            <a:r>
              <a:rPr sz="1200" b="1">
                <a:solidFill>
                  <a:srgbClr val="222244"/>
                </a:solidFill>
                <a:latin typeface="Calibri"/>
              </a:rPr>
              <a:t>Travel Orchestrator</a:t>
            </a:r>
          </a:p>
        </p:txBody>
      </p:sp>
      <p:sp>
        <p:nvSpPr>
          <p:cNvPr id="38" name="TextBox 37"/>
          <p:cNvSpPr txBox="1"/>
          <p:nvPr/>
        </p:nvSpPr>
        <p:spPr>
          <a:xfrm>
            <a:off x="3611880" y="3429000"/>
            <a:ext cx="1005840" cy="347472"/>
          </a:xfrm>
          <a:prstGeom prst="rect">
            <a:avLst/>
          </a:prstGeom>
          <a:noFill/>
        </p:spPr>
        <p:txBody>
          <a:bodyPr wrap="square">
            <a:spAutoFit/>
          </a:bodyPr>
          <a:lstStyle/>
          <a:p>
            <a:pPr algn="l"/>
            <a:r>
              <a:rPr sz="1200" b="0">
                <a:solidFill>
                  <a:srgbClr val="1B3A6B"/>
                </a:solidFill>
                <a:latin typeface="Courier New"/>
              </a:rPr>
              <a:t>8010</a:t>
            </a:r>
          </a:p>
        </p:txBody>
      </p:sp>
      <p:sp>
        <p:nvSpPr>
          <p:cNvPr id="39" name="TextBox 38"/>
          <p:cNvSpPr txBox="1"/>
          <p:nvPr/>
        </p:nvSpPr>
        <p:spPr>
          <a:xfrm>
            <a:off x="4800600" y="3429000"/>
            <a:ext cx="1737360" cy="347472"/>
          </a:xfrm>
          <a:prstGeom prst="rect">
            <a:avLst/>
          </a:prstGeom>
          <a:noFill/>
        </p:spPr>
        <p:txBody>
          <a:bodyPr wrap="square">
            <a:spAutoFit/>
          </a:bodyPr>
          <a:lstStyle/>
          <a:p>
            <a:pPr algn="l"/>
            <a:r>
              <a:rPr sz="1100" b="0">
                <a:solidFill>
                  <a:srgbClr val="222244"/>
                </a:solidFill>
                <a:latin typeface="Calibri"/>
              </a:rPr>
              <a:t>None</a:t>
            </a:r>
          </a:p>
        </p:txBody>
      </p:sp>
      <p:sp>
        <p:nvSpPr>
          <p:cNvPr id="40" name="TextBox 39"/>
          <p:cNvSpPr txBox="1"/>
          <p:nvPr/>
        </p:nvSpPr>
        <p:spPr>
          <a:xfrm>
            <a:off x="6720840" y="3429000"/>
            <a:ext cx="5074920" cy="347472"/>
          </a:xfrm>
          <a:prstGeom prst="rect">
            <a:avLst/>
          </a:prstGeom>
          <a:noFill/>
        </p:spPr>
        <p:txBody>
          <a:bodyPr wrap="square">
            <a:spAutoFit/>
          </a:bodyPr>
          <a:lstStyle/>
          <a:p>
            <a:pPr algn="l"/>
            <a:r>
              <a:rPr sz="1100" b="0">
                <a:solidFill>
                  <a:srgbClr val="222244"/>
                </a:solidFill>
                <a:latin typeface="Calibri"/>
              </a:rPr>
              <a:t>ADK LlmAgent, A2AClient, parallel fan-out</a:t>
            </a:r>
          </a:p>
        </p:txBody>
      </p:sp>
      <p:sp>
        <p:nvSpPr>
          <p:cNvPr id="41" name="Rectangle 40"/>
          <p:cNvSpPr/>
          <p:nvPr/>
        </p:nvSpPr>
        <p:spPr>
          <a:xfrm>
            <a:off x="274320" y="3877056"/>
            <a:ext cx="11612880" cy="475488"/>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74320" y="3877056"/>
            <a:ext cx="109728" cy="475488"/>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57200" y="3904487"/>
            <a:ext cx="3063240" cy="347472"/>
          </a:xfrm>
          <a:prstGeom prst="rect">
            <a:avLst/>
          </a:prstGeom>
          <a:noFill/>
        </p:spPr>
        <p:txBody>
          <a:bodyPr wrap="square">
            <a:spAutoFit/>
          </a:bodyPr>
          <a:lstStyle/>
          <a:p>
            <a:pPr algn="l"/>
            <a:r>
              <a:rPr sz="1200" b="1">
                <a:solidFill>
                  <a:srgbClr val="222244"/>
                </a:solidFill>
                <a:latin typeface="Calibri"/>
              </a:rPr>
              <a:t>Webhook Receiver</a:t>
            </a:r>
          </a:p>
        </p:txBody>
      </p:sp>
      <p:sp>
        <p:nvSpPr>
          <p:cNvPr id="44" name="TextBox 43"/>
          <p:cNvSpPr txBox="1"/>
          <p:nvPr/>
        </p:nvSpPr>
        <p:spPr>
          <a:xfrm>
            <a:off x="3611880" y="3904487"/>
            <a:ext cx="1005840" cy="347472"/>
          </a:xfrm>
          <a:prstGeom prst="rect">
            <a:avLst/>
          </a:prstGeom>
          <a:noFill/>
        </p:spPr>
        <p:txBody>
          <a:bodyPr wrap="square">
            <a:spAutoFit/>
          </a:bodyPr>
          <a:lstStyle/>
          <a:p>
            <a:pPr algn="l"/>
            <a:r>
              <a:rPr sz="1200" b="0">
                <a:solidFill>
                  <a:srgbClr val="1B3A6B"/>
                </a:solidFill>
                <a:latin typeface="Courier New"/>
              </a:rPr>
              <a:t>9000</a:t>
            </a:r>
          </a:p>
        </p:txBody>
      </p:sp>
      <p:sp>
        <p:nvSpPr>
          <p:cNvPr id="45" name="TextBox 44"/>
          <p:cNvSpPr txBox="1"/>
          <p:nvPr/>
        </p:nvSpPr>
        <p:spPr>
          <a:xfrm>
            <a:off x="4800600" y="3904487"/>
            <a:ext cx="1737360" cy="347472"/>
          </a:xfrm>
          <a:prstGeom prst="rect">
            <a:avLst/>
          </a:prstGeom>
          <a:noFill/>
        </p:spPr>
        <p:txBody>
          <a:bodyPr wrap="square">
            <a:spAutoFit/>
          </a:bodyPr>
          <a:lstStyle/>
          <a:p>
            <a:pPr algn="l"/>
            <a:r>
              <a:rPr sz="1100" b="0">
                <a:solidFill>
                  <a:srgbClr val="222244"/>
                </a:solidFill>
                <a:latin typeface="Calibri"/>
              </a:rPr>
              <a:t>Token header</a:t>
            </a:r>
          </a:p>
        </p:txBody>
      </p:sp>
      <p:sp>
        <p:nvSpPr>
          <p:cNvPr id="46" name="TextBox 45"/>
          <p:cNvSpPr txBox="1"/>
          <p:nvPr/>
        </p:nvSpPr>
        <p:spPr>
          <a:xfrm>
            <a:off x="6720840" y="3904487"/>
            <a:ext cx="5074920" cy="347472"/>
          </a:xfrm>
          <a:prstGeom prst="rect">
            <a:avLst/>
          </a:prstGeom>
          <a:noFill/>
        </p:spPr>
        <p:txBody>
          <a:bodyPr wrap="square">
            <a:spAutoFit/>
          </a:bodyPr>
          <a:lstStyle/>
          <a:p>
            <a:pPr algn="l"/>
            <a:r>
              <a:rPr sz="1100" b="0">
                <a:solidFill>
                  <a:srgbClr val="222244"/>
                </a:solidFill>
                <a:latin typeface="Calibri"/>
              </a:rPr>
              <a:t>FastAPI, validates X-A2A-Notification-Token</a:t>
            </a:r>
          </a:p>
        </p:txBody>
      </p:sp>
      <p:sp>
        <p:nvSpPr>
          <p:cNvPr id="47" name="Rectangle 46"/>
          <p:cNvSpPr/>
          <p:nvPr/>
        </p:nvSpPr>
        <p:spPr>
          <a:xfrm>
            <a:off x="274320" y="5257800"/>
            <a:ext cx="7315200" cy="150876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274320" y="5257800"/>
            <a:ext cx="731520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65760" y="5285232"/>
            <a:ext cx="7132320" cy="201168"/>
          </a:xfrm>
          <a:prstGeom prst="rect">
            <a:avLst/>
          </a:prstGeom>
          <a:noFill/>
        </p:spPr>
        <p:txBody>
          <a:bodyPr wrap="square">
            <a:spAutoFit/>
          </a:bodyPr>
          <a:lstStyle/>
          <a:p>
            <a:pPr algn="l"/>
            <a:r>
              <a:rPr sz="1000" b="0">
                <a:solidFill>
                  <a:srgbClr val="F0A500"/>
                </a:solidFill>
                <a:latin typeface="Calibri"/>
              </a:rPr>
              <a:t>Quick Start Commands</a:t>
            </a:r>
          </a:p>
        </p:txBody>
      </p:sp>
      <p:sp>
        <p:nvSpPr>
          <p:cNvPr id="50" name="TextBox 49"/>
          <p:cNvSpPr txBox="1"/>
          <p:nvPr/>
        </p:nvSpPr>
        <p:spPr>
          <a:xfrm>
            <a:off x="365760" y="5522976"/>
            <a:ext cx="7132320" cy="1197863"/>
          </a:xfrm>
          <a:prstGeom prst="rect">
            <a:avLst/>
          </a:prstGeom>
          <a:noFill/>
        </p:spPr>
        <p:txBody>
          <a:bodyPr wrap="none">
            <a:spAutoFit/>
          </a:bodyPr>
          <a:lstStyle/>
          <a:p>
            <a:r>
              <a:rPr sz="1050">
                <a:solidFill>
                  <a:srgbClr val="CCCCCC"/>
                </a:solidFill>
                <a:latin typeface="Courier New"/>
              </a:rPr>
              <a:t># Launch everything with Docker Compose</a:t>
            </a:r>
          </a:p>
          <a:p>
            <a:r>
              <a:rPr sz="1050">
                <a:solidFill>
                  <a:srgbClr val="CCCCCC"/>
                </a:solidFill>
                <a:latin typeface="Courier New"/>
              </a:rPr>
              <a:t>docker-compose up --build</a:t>
            </a:r>
          </a:p>
          <a:p>
            <a:endParaRPr sz="1050">
              <a:solidFill>
                <a:srgbClr val="CCCCCC"/>
              </a:solidFill>
              <a:latin typeface="Courier New"/>
            </a:endParaRPr>
          </a:p>
          <a:p>
            <a:r>
              <a:rPr sz="1050">
                <a:solidFill>
                  <a:srgbClr val="CCCCCC"/>
                </a:solidFill>
                <a:latin typeface="Courier New"/>
              </a:rPr>
              <a:t># Watch logs from specific service</a:t>
            </a:r>
          </a:p>
          <a:p>
            <a:r>
              <a:rPr sz="1050">
                <a:solidFill>
                  <a:srgbClr val="CCCCCC"/>
                </a:solidFill>
                <a:latin typeface="Courier New"/>
              </a:rPr>
              <a:t>docker-compose logs -f flight-agent</a:t>
            </a:r>
          </a:p>
          <a:p>
            <a:endParaRPr sz="1050">
              <a:solidFill>
                <a:srgbClr val="CCCCCC"/>
              </a:solidFill>
              <a:latin typeface="Courier New"/>
            </a:endParaRPr>
          </a:p>
          <a:p>
            <a:r>
              <a:rPr sz="1050">
                <a:solidFill>
                  <a:srgbClr val="CCCCCC"/>
                </a:solidFill>
                <a:latin typeface="Courier New"/>
              </a:rPr>
              <a:t># Run the client</a:t>
            </a:r>
          </a:p>
          <a:p>
            <a:r>
              <a:rPr sz="1050">
                <a:solidFill>
                  <a:srgbClr val="CCCCCC"/>
                </a:solidFill>
                <a:latin typeface="Courier New"/>
              </a:rPr>
              <a:t>python client/main.py "Plan a 5-day trip to Paris in December"</a:t>
            </a:r>
          </a:p>
        </p:txBody>
      </p:sp>
      <p:sp>
        <p:nvSpPr>
          <p:cNvPr id="51" name="Rectangle 50"/>
          <p:cNvSpPr/>
          <p:nvPr/>
        </p:nvSpPr>
        <p:spPr>
          <a:xfrm>
            <a:off x="7818120" y="5257800"/>
            <a:ext cx="4069080" cy="150876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818120" y="5257800"/>
            <a:ext cx="406908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909560" y="5294376"/>
            <a:ext cx="3886200" cy="274320"/>
          </a:xfrm>
          <a:prstGeom prst="rect">
            <a:avLst/>
          </a:prstGeom>
          <a:noFill/>
        </p:spPr>
        <p:txBody>
          <a:bodyPr wrap="square">
            <a:spAutoFit/>
          </a:bodyPr>
          <a:lstStyle/>
          <a:p>
            <a:pPr algn="l"/>
            <a:r>
              <a:rPr sz="1200" b="1">
                <a:solidFill>
                  <a:srgbClr val="FFFFFF"/>
                </a:solidFill>
                <a:latin typeface="Calibri"/>
              </a:rPr>
              <a:t>Prerequisites</a:t>
            </a:r>
          </a:p>
        </p:txBody>
      </p:sp>
      <p:sp>
        <p:nvSpPr>
          <p:cNvPr id="54" name="TextBox 53"/>
          <p:cNvSpPr txBox="1"/>
          <p:nvPr/>
        </p:nvSpPr>
        <p:spPr>
          <a:xfrm>
            <a:off x="7927848" y="5641848"/>
            <a:ext cx="3849624" cy="1051560"/>
          </a:xfrm>
          <a:prstGeom prst="rect">
            <a:avLst/>
          </a:prstGeom>
          <a:noFill/>
        </p:spPr>
        <p:txBody>
          <a:bodyPr wrap="square">
            <a:spAutoFit/>
          </a:bodyPr>
          <a:lstStyle/>
          <a:p>
            <a:pPr>
              <a:spcBef>
                <a:spcPts val="400"/>
              </a:spcBef>
            </a:pPr>
            <a:r>
              <a:rPr sz="1100">
                <a:solidFill>
                  <a:srgbClr val="222244"/>
                </a:solidFill>
                <a:latin typeface="Calibri"/>
              </a:rPr>
              <a:t>  •  Docker + Docker Compose installed</a:t>
            </a:r>
          </a:p>
          <a:p>
            <a:pPr>
              <a:spcBef>
                <a:spcPts val="400"/>
              </a:spcBef>
            </a:pPr>
            <a:r>
              <a:rPr sz="1100">
                <a:solidFill>
                  <a:srgbClr val="222244"/>
                </a:solidFill>
                <a:latin typeface="Calibri"/>
              </a:rPr>
              <a:t>  •  Python 3.11+ with google-a2a-sdk</a:t>
            </a:r>
          </a:p>
          <a:p>
            <a:pPr>
              <a:spcBef>
                <a:spcPts val="400"/>
              </a:spcBef>
            </a:pPr>
            <a:r>
              <a:rPr sz="1100">
                <a:solidFill>
                  <a:srgbClr val="222244"/>
                </a:solidFill>
                <a:latin typeface="Calibri"/>
              </a:rPr>
              <a:t>  •  Set env vars in .env file:</a:t>
            </a:r>
          </a:p>
          <a:p>
            <a:pPr>
              <a:spcBef>
                <a:spcPts val="400"/>
              </a:spcBef>
            </a:pPr>
            <a:r>
              <a:rPr sz="1000">
                <a:solidFill>
                  <a:srgbClr val="222244"/>
                </a:solidFill>
                <a:latin typeface="Calibri"/>
              </a:rPr>
              <a:t>       ◦  FLIGHT_BEARER_TOKEN</a:t>
            </a:r>
          </a:p>
          <a:p>
            <a:pPr>
              <a:spcBef>
                <a:spcPts val="400"/>
              </a:spcBef>
            </a:pPr>
            <a:r>
              <a:rPr sz="1000">
                <a:solidFill>
                  <a:srgbClr val="222244"/>
                </a:solidFill>
                <a:latin typeface="Calibri"/>
              </a:rPr>
              <a:t>       ◦  HOTEL_API_KEY</a:t>
            </a:r>
          </a:p>
          <a:p>
            <a:pPr>
              <a:spcBef>
                <a:spcPts val="400"/>
              </a:spcBef>
            </a:pPr>
            <a:r>
              <a:rPr sz="1000">
                <a:solidFill>
                  <a:srgbClr val="222244"/>
                </a:solidFill>
                <a:latin typeface="Calibri"/>
              </a:rPr>
              <a:t>       ◦  WEBHOOK_TOKEN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12: Docker Compose Configuration</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Service definitions for all 6 components</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6720840" cy="548640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15568"/>
            <a:ext cx="672084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43000"/>
            <a:ext cx="6537959" cy="201168"/>
          </a:xfrm>
          <a:prstGeom prst="rect">
            <a:avLst/>
          </a:prstGeom>
          <a:noFill/>
        </p:spPr>
        <p:txBody>
          <a:bodyPr wrap="square">
            <a:spAutoFit/>
          </a:bodyPr>
          <a:lstStyle/>
          <a:p>
            <a:pPr algn="l"/>
            <a:r>
              <a:rPr sz="1000" b="0">
                <a:solidFill>
                  <a:srgbClr val="F0A500"/>
                </a:solidFill>
                <a:latin typeface="Calibri"/>
              </a:rPr>
              <a:t>docker-compose.yml</a:t>
            </a:r>
          </a:p>
        </p:txBody>
      </p:sp>
      <p:sp>
        <p:nvSpPr>
          <p:cNvPr id="9" name="TextBox 8"/>
          <p:cNvSpPr txBox="1"/>
          <p:nvPr/>
        </p:nvSpPr>
        <p:spPr>
          <a:xfrm>
            <a:off x="365760" y="1380744"/>
            <a:ext cx="6537959" cy="5175504"/>
          </a:xfrm>
          <a:prstGeom prst="rect">
            <a:avLst/>
          </a:prstGeom>
          <a:noFill/>
        </p:spPr>
        <p:txBody>
          <a:bodyPr wrap="none">
            <a:spAutoFit/>
          </a:bodyPr>
          <a:lstStyle/>
          <a:p>
            <a:r>
              <a:rPr sz="900">
                <a:solidFill>
                  <a:srgbClr val="CCCCCC"/>
                </a:solidFill>
                <a:latin typeface="Courier New"/>
              </a:rPr>
              <a:t># docker-compose.yml</a:t>
            </a:r>
          </a:p>
          <a:p>
            <a:r>
              <a:rPr sz="900">
                <a:solidFill>
                  <a:srgbClr val="CCCCCC"/>
                </a:solidFill>
                <a:latin typeface="Courier New"/>
              </a:rPr>
              <a:t>version: "3.9"</a:t>
            </a:r>
          </a:p>
          <a:p>
            <a:r>
              <a:rPr sz="900">
                <a:solidFill>
                  <a:srgbClr val="CCCCCC"/>
                </a:solidFill>
                <a:latin typeface="Courier New"/>
              </a:rPr>
              <a:t>services:</a:t>
            </a:r>
          </a:p>
          <a:p>
            <a:r>
              <a:rPr sz="900">
                <a:solidFill>
                  <a:srgbClr val="CCCCCC"/>
                </a:solidFill>
                <a:latin typeface="Courier New"/>
              </a:rPr>
              <a:t>  flight-agent:</a:t>
            </a:r>
          </a:p>
          <a:p>
            <a:r>
              <a:rPr sz="900">
                <a:solidFill>
                  <a:srgbClr val="CCCCCC"/>
                </a:solidFill>
                <a:latin typeface="Courier New"/>
              </a:rPr>
              <a:t>    build: ./agents/flight</a:t>
            </a:r>
          </a:p>
          <a:p>
            <a:r>
              <a:rPr sz="900">
                <a:solidFill>
                  <a:srgbClr val="CCCCCC"/>
                </a:solidFill>
                <a:latin typeface="Courier New"/>
              </a:rPr>
              <a:t>    ports: ["8001:8001"]</a:t>
            </a:r>
          </a:p>
          <a:p>
            <a:r>
              <a:rPr sz="900">
                <a:solidFill>
                  <a:srgbClr val="CCCCCC"/>
                </a:solidFill>
                <a:latin typeface="Courier New"/>
              </a:rPr>
              <a:t>    environment:</a:t>
            </a:r>
          </a:p>
          <a:p>
            <a:r>
              <a:rPr sz="900">
                <a:solidFill>
                  <a:srgbClr val="CCCCCC"/>
                </a:solidFill>
                <a:latin typeface="Courier New"/>
              </a:rPr>
              <a:t>      - BEARER_TOKEN=${FLIGHT_BEARER_TOKEN}</a:t>
            </a:r>
          </a:p>
          <a:p>
            <a:r>
              <a:rPr sz="900">
                <a:solidFill>
                  <a:srgbClr val="CCCCCC"/>
                </a:solidFill>
                <a:latin typeface="Courier New"/>
              </a:rPr>
              <a:t>    command: uvicorn app:app --host 0.0.0.0 --port 8001</a:t>
            </a:r>
          </a:p>
          <a:p>
            <a:endParaRPr sz="900">
              <a:solidFill>
                <a:srgbClr val="CCCCCC"/>
              </a:solidFill>
              <a:latin typeface="Courier New"/>
            </a:endParaRPr>
          </a:p>
          <a:p>
            <a:r>
              <a:rPr sz="900">
                <a:solidFill>
                  <a:srgbClr val="CCCCCC"/>
                </a:solidFill>
                <a:latin typeface="Courier New"/>
              </a:rPr>
              <a:t>  hotel-agent:</a:t>
            </a:r>
          </a:p>
          <a:p>
            <a:r>
              <a:rPr sz="900">
                <a:solidFill>
                  <a:srgbClr val="CCCCCC"/>
                </a:solidFill>
                <a:latin typeface="Courier New"/>
              </a:rPr>
              <a:t>    build: ./agents/hotel</a:t>
            </a:r>
          </a:p>
          <a:p>
            <a:r>
              <a:rPr sz="900">
                <a:solidFill>
                  <a:srgbClr val="CCCCCC"/>
                </a:solidFill>
                <a:latin typeface="Courier New"/>
              </a:rPr>
              <a:t>    ports: ["8002:8002"]</a:t>
            </a:r>
          </a:p>
          <a:p>
            <a:r>
              <a:rPr sz="900">
                <a:solidFill>
                  <a:srgbClr val="CCCCCC"/>
                </a:solidFill>
                <a:latin typeface="Courier New"/>
              </a:rPr>
              <a:t>    environment:</a:t>
            </a:r>
          </a:p>
          <a:p>
            <a:r>
              <a:rPr sz="900">
                <a:solidFill>
                  <a:srgbClr val="CCCCCC"/>
                </a:solidFill>
                <a:latin typeface="Courier New"/>
              </a:rPr>
              <a:t>      - API_KEY=${HOTEL_API_KEY}</a:t>
            </a:r>
          </a:p>
          <a:p>
            <a:r>
              <a:rPr sz="900">
                <a:solidFill>
                  <a:srgbClr val="CCCCCC"/>
                </a:solidFill>
                <a:latin typeface="Courier New"/>
              </a:rPr>
              <a:t>    command: uvicorn app:app --host 0.0.0.0 --port 8002</a:t>
            </a:r>
          </a:p>
          <a:p>
            <a:endParaRPr sz="900">
              <a:solidFill>
                <a:srgbClr val="CCCCCC"/>
              </a:solidFill>
              <a:latin typeface="Courier New"/>
            </a:endParaRPr>
          </a:p>
          <a:p>
            <a:r>
              <a:rPr sz="900">
                <a:solidFill>
                  <a:srgbClr val="CCCCCC"/>
                </a:solidFill>
                <a:latin typeface="Courier New"/>
              </a:rPr>
              <a:t>  booking-agent:</a:t>
            </a:r>
          </a:p>
          <a:p>
            <a:r>
              <a:rPr sz="900">
                <a:solidFill>
                  <a:srgbClr val="CCCCCC"/>
                </a:solidFill>
                <a:latin typeface="Courier New"/>
              </a:rPr>
              <a:t>    build: ./agents/booking</a:t>
            </a:r>
          </a:p>
          <a:p>
            <a:r>
              <a:rPr sz="900">
                <a:solidFill>
                  <a:srgbClr val="CCCCCC"/>
                </a:solidFill>
                <a:latin typeface="Courier New"/>
              </a:rPr>
              <a:t>    ports: ["8003:8003"]</a:t>
            </a:r>
          </a:p>
          <a:p>
            <a:r>
              <a:rPr sz="900">
                <a:solidFill>
                  <a:srgbClr val="CCCCCC"/>
                </a:solidFill>
                <a:latin typeface="Courier New"/>
              </a:rPr>
              <a:t>    environment:</a:t>
            </a:r>
          </a:p>
          <a:p>
            <a:r>
              <a:rPr sz="900">
                <a:solidFill>
                  <a:srgbClr val="CCCCCC"/>
                </a:solidFill>
                <a:latin typeface="Courier New"/>
              </a:rPr>
              <a:t>      - WEBHOOK_TOKEN=${WEBHOOK_TOKEN}</a:t>
            </a:r>
          </a:p>
          <a:p>
            <a:r>
              <a:rPr sz="900">
                <a:solidFill>
                  <a:srgbClr val="CCCCCC"/>
                </a:solidFill>
                <a:latin typeface="Courier New"/>
              </a:rPr>
              <a:t>    command: uvicorn app:app --host 0.0.0.0 --port 8003</a:t>
            </a:r>
          </a:p>
          <a:p>
            <a:endParaRPr sz="900">
              <a:solidFill>
                <a:srgbClr val="CCCCCC"/>
              </a:solidFill>
              <a:latin typeface="Courier New"/>
            </a:endParaRPr>
          </a:p>
          <a:p>
            <a:r>
              <a:rPr sz="900">
                <a:solidFill>
                  <a:srgbClr val="CCCCCC"/>
                </a:solidFill>
                <a:latin typeface="Courier New"/>
              </a:rPr>
              <a:t>  weather-agent:</a:t>
            </a:r>
          </a:p>
          <a:p>
            <a:r>
              <a:rPr sz="900">
                <a:solidFill>
                  <a:srgbClr val="CCCCCC"/>
                </a:solidFill>
                <a:latin typeface="Courier New"/>
              </a:rPr>
              <a:t>    build: ./agents/weather</a:t>
            </a:r>
          </a:p>
          <a:p>
            <a:r>
              <a:rPr sz="900">
                <a:solidFill>
                  <a:srgbClr val="CCCCCC"/>
                </a:solidFill>
                <a:latin typeface="Courier New"/>
              </a:rPr>
              <a:t>    ports: ["8004:8004"]</a:t>
            </a:r>
          </a:p>
          <a:p>
            <a:r>
              <a:rPr sz="900">
                <a:solidFill>
                  <a:srgbClr val="CCCCCC"/>
                </a:solidFill>
                <a:latin typeface="Courier New"/>
              </a:rPr>
              <a:t>    command: uvicorn app:app --host 0.0.0.0 --port 8004</a:t>
            </a:r>
          </a:p>
          <a:p>
            <a:endParaRPr sz="900">
              <a:solidFill>
                <a:srgbClr val="CCCCCC"/>
              </a:solidFill>
              <a:latin typeface="Courier New"/>
            </a:endParaRPr>
          </a:p>
          <a:p>
            <a:r>
              <a:rPr sz="900">
                <a:solidFill>
                  <a:srgbClr val="CCCCCC"/>
                </a:solidFill>
                <a:latin typeface="Courier New"/>
              </a:rPr>
              <a:t>  orchestrator:</a:t>
            </a:r>
          </a:p>
          <a:p>
            <a:r>
              <a:rPr sz="900">
                <a:solidFill>
                  <a:srgbClr val="CCCCCC"/>
                </a:solidFill>
                <a:latin typeface="Courier New"/>
              </a:rPr>
              <a:t>    build: ./orchestrator</a:t>
            </a:r>
          </a:p>
          <a:p>
            <a:r>
              <a:rPr sz="900">
                <a:solidFill>
                  <a:srgbClr val="CCCCCC"/>
                </a:solidFill>
                <a:latin typeface="Courier New"/>
              </a:rPr>
              <a:t>    ports: ["8010:8010"]</a:t>
            </a:r>
          </a:p>
          <a:p>
            <a:r>
              <a:rPr sz="900">
                <a:solidFill>
                  <a:srgbClr val="CCCCCC"/>
                </a:solidFill>
                <a:latin typeface="Courier New"/>
              </a:rPr>
              <a:t>    depends_on:</a:t>
            </a:r>
          </a:p>
          <a:p>
            <a:r>
              <a:rPr sz="900">
                <a:solidFill>
                  <a:srgbClr val="CCCCCC"/>
                </a:solidFill>
                <a:latin typeface="Courier New"/>
              </a:rPr>
              <a:t>      - flight-agent</a:t>
            </a:r>
          </a:p>
          <a:p>
            <a:r>
              <a:rPr sz="900">
                <a:solidFill>
                  <a:srgbClr val="CCCCCC"/>
                </a:solidFill>
                <a:latin typeface="Courier New"/>
              </a:rPr>
              <a:t>      - hotel-agent</a:t>
            </a:r>
          </a:p>
          <a:p>
            <a:r>
              <a:rPr sz="900">
                <a:solidFill>
                  <a:srgbClr val="CCCCCC"/>
                </a:solidFill>
                <a:latin typeface="Courier New"/>
              </a:rPr>
              <a:t>      - booking-agent</a:t>
            </a:r>
          </a:p>
          <a:p>
            <a:r>
              <a:rPr sz="900">
                <a:solidFill>
                  <a:srgbClr val="CCCCCC"/>
                </a:solidFill>
                <a:latin typeface="Courier New"/>
              </a:rPr>
              <a:t>      - weather-agent</a:t>
            </a:r>
          </a:p>
          <a:p>
            <a:r>
              <a:rPr sz="900">
                <a:solidFill>
                  <a:srgbClr val="CCCCCC"/>
                </a:solidFill>
                <a:latin typeface="Courier New"/>
              </a:rPr>
              <a:t>    command: uvicorn app:app --host 0.0.0.0 --port 8010</a:t>
            </a:r>
          </a:p>
          <a:p>
            <a:endParaRPr sz="900">
              <a:solidFill>
                <a:srgbClr val="CCCCCC"/>
              </a:solidFill>
              <a:latin typeface="Courier New"/>
            </a:endParaRPr>
          </a:p>
          <a:p>
            <a:r>
              <a:rPr sz="900">
                <a:solidFill>
                  <a:srgbClr val="CCCCCC"/>
                </a:solidFill>
                <a:latin typeface="Courier New"/>
              </a:rPr>
              <a:t>  webhook-receiver:</a:t>
            </a:r>
          </a:p>
          <a:p>
            <a:r>
              <a:rPr sz="900">
                <a:solidFill>
                  <a:srgbClr val="CCCCCC"/>
                </a:solidFill>
                <a:latin typeface="Courier New"/>
              </a:rPr>
              <a:t>    build: ./webhook</a:t>
            </a:r>
          </a:p>
          <a:p>
            <a:r>
              <a:rPr sz="900">
                <a:solidFill>
                  <a:srgbClr val="CCCCCC"/>
                </a:solidFill>
                <a:latin typeface="Courier New"/>
              </a:rPr>
              <a:t>    ports: ["9000:9000"]</a:t>
            </a:r>
          </a:p>
          <a:p>
            <a:r>
              <a:rPr sz="900">
                <a:solidFill>
                  <a:srgbClr val="CCCCCC"/>
                </a:solidFill>
                <a:latin typeface="Courier New"/>
              </a:rPr>
              <a:t>    environment:</a:t>
            </a:r>
          </a:p>
          <a:p>
            <a:r>
              <a:rPr sz="900">
                <a:solidFill>
                  <a:srgbClr val="CCCCCC"/>
                </a:solidFill>
                <a:latin typeface="Courier New"/>
              </a:rPr>
              <a:t>      - WEBHOOK_TOKEN=${WEBHOOK_TOKEN}</a:t>
            </a:r>
          </a:p>
          <a:p>
            <a:r>
              <a:rPr sz="900">
                <a:solidFill>
                  <a:srgbClr val="CCCCCC"/>
                </a:solidFill>
                <a:latin typeface="Courier New"/>
              </a:rPr>
              <a:t>    command: uvicorn app:app --host 0.0.0.0 --port 9000</a:t>
            </a:r>
          </a:p>
        </p:txBody>
      </p:sp>
      <p:sp>
        <p:nvSpPr>
          <p:cNvPr id="10" name="Rectangle 9"/>
          <p:cNvSpPr/>
          <p:nvPr/>
        </p:nvSpPr>
        <p:spPr>
          <a:xfrm>
            <a:off x="274320" y="6656832"/>
            <a:ext cx="6720840" cy="228600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4320" y="6656832"/>
            <a:ext cx="672084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6684264"/>
            <a:ext cx="6537959" cy="201168"/>
          </a:xfrm>
          <a:prstGeom prst="rect">
            <a:avLst/>
          </a:prstGeom>
          <a:noFill/>
        </p:spPr>
        <p:txBody>
          <a:bodyPr wrap="square">
            <a:spAutoFit/>
          </a:bodyPr>
          <a:lstStyle/>
          <a:p>
            <a:pPr algn="l"/>
            <a:r>
              <a:rPr sz="1000" b="0">
                <a:solidFill>
                  <a:srgbClr val="F0A500"/>
                </a:solidFill>
                <a:latin typeface="Calibri"/>
              </a:rPr>
              <a:t>Agent Server Boilerplate</a:t>
            </a:r>
          </a:p>
        </p:txBody>
      </p:sp>
      <p:sp>
        <p:nvSpPr>
          <p:cNvPr id="13" name="TextBox 12"/>
          <p:cNvSpPr txBox="1"/>
          <p:nvPr/>
        </p:nvSpPr>
        <p:spPr>
          <a:xfrm>
            <a:off x="365760" y="6922008"/>
            <a:ext cx="6537959" cy="1975104"/>
          </a:xfrm>
          <a:prstGeom prst="rect">
            <a:avLst/>
          </a:prstGeom>
          <a:noFill/>
        </p:spPr>
        <p:txBody>
          <a:bodyPr wrap="none">
            <a:spAutoFit/>
          </a:bodyPr>
          <a:lstStyle/>
          <a:p>
            <a:r>
              <a:rPr sz="900">
                <a:solidFill>
                  <a:srgbClr val="CCCCCC"/>
                </a:solidFill>
                <a:latin typeface="Courier New"/>
              </a:rPr>
              <a:t># agents/flight/app.py — A2A FastAPI server</a:t>
            </a:r>
          </a:p>
          <a:p>
            <a:r>
              <a:rPr sz="900">
                <a:solidFill>
                  <a:srgbClr val="CCCCCC"/>
                </a:solidFill>
                <a:latin typeface="Courier New"/>
              </a:rPr>
              <a:t>from a2a.server.apps import A2AStarletteApplication</a:t>
            </a:r>
          </a:p>
          <a:p>
            <a:r>
              <a:rPr sz="900">
                <a:solidFill>
                  <a:srgbClr val="CCCCCC"/>
                </a:solidFill>
                <a:latin typeface="Courier New"/>
              </a:rPr>
              <a:t>from a2a.server.request_handlers import DefaultRequestHandler</a:t>
            </a:r>
          </a:p>
          <a:p>
            <a:r>
              <a:rPr sz="900">
                <a:solidFill>
                  <a:srgbClr val="CCCCCC"/>
                </a:solidFill>
                <a:latin typeface="Courier New"/>
              </a:rPr>
              <a:t>from a2a.server.tasks import InMemoryTaskStore</a:t>
            </a:r>
          </a:p>
          <a:p>
            <a:r>
              <a:rPr sz="900">
                <a:solidFill>
                  <a:srgbClr val="CCCCCC"/>
                </a:solidFill>
                <a:latin typeface="Courier New"/>
              </a:rPr>
              <a:t>from a2a.types import AgentCard, AgentCapabilities</a:t>
            </a:r>
          </a:p>
          <a:p>
            <a:endParaRPr sz="900">
              <a:solidFill>
                <a:srgbClr val="CCCCCC"/>
              </a:solidFill>
              <a:latin typeface="Courier New"/>
            </a:endParaRPr>
          </a:p>
          <a:p>
            <a:r>
              <a:rPr sz="900">
                <a:solidFill>
                  <a:srgbClr val="CCCCCC"/>
                </a:solidFill>
                <a:latin typeface="Courier New"/>
              </a:rPr>
              <a:t>from flight_executor import FlightAgentExecutor</a:t>
            </a:r>
          </a:p>
          <a:p>
            <a:endParaRPr sz="900">
              <a:solidFill>
                <a:srgbClr val="CCCCCC"/>
              </a:solidFill>
              <a:latin typeface="Courier New"/>
            </a:endParaRPr>
          </a:p>
          <a:p>
            <a:r>
              <a:rPr sz="900">
                <a:solidFill>
                  <a:srgbClr val="CCCCCC"/>
                </a:solidFill>
                <a:latin typeface="Courier New"/>
              </a:rPr>
              <a:t>agent_card = AgentCard(</a:t>
            </a:r>
          </a:p>
          <a:p>
            <a:r>
              <a:rPr sz="900">
                <a:solidFill>
                  <a:srgbClr val="CCCCCC"/>
                </a:solidFill>
                <a:latin typeface="Courier New"/>
              </a:rPr>
              <a:t>    name="Flight Search Agent",</a:t>
            </a:r>
          </a:p>
          <a:p>
            <a:r>
              <a:rPr sz="900">
                <a:solidFill>
                  <a:srgbClr val="CCCCCC"/>
                </a:solidFill>
                <a:latin typeface="Courier New"/>
              </a:rPr>
              <a:t>    url="http://localhost:8001/",</a:t>
            </a:r>
          </a:p>
          <a:p>
            <a:r>
              <a:rPr sz="900">
                <a:solidFill>
                  <a:srgbClr val="CCCCCC"/>
                </a:solidFill>
                <a:latin typeface="Courier New"/>
              </a:rPr>
              <a:t>    version="1.0.0",</a:t>
            </a:r>
          </a:p>
          <a:p>
            <a:r>
              <a:rPr sz="900">
                <a:solidFill>
                  <a:srgbClr val="CCCCCC"/>
                </a:solidFill>
                <a:latin typeface="Courier New"/>
              </a:rPr>
              <a:t>    capabilities=AgentCapabilities(</a:t>
            </a:r>
          </a:p>
          <a:p>
            <a:r>
              <a:rPr sz="900">
                <a:solidFill>
                  <a:srgbClr val="CCCCCC"/>
                </a:solidFill>
                <a:latin typeface="Courier New"/>
              </a:rPr>
              <a:t>        streaming=True,</a:t>
            </a:r>
          </a:p>
          <a:p>
            <a:r>
              <a:rPr sz="900">
                <a:solidFill>
                  <a:srgbClr val="CCCCCC"/>
                </a:solidFill>
                <a:latin typeface="Courier New"/>
              </a:rPr>
              <a:t>        pushNotifications=False</a:t>
            </a:r>
          </a:p>
          <a:p>
            <a:r>
              <a:rPr sz="900">
                <a:solidFill>
                  <a:srgbClr val="CCCCCC"/>
                </a:solidFill>
                <a:latin typeface="Courier New"/>
              </a:rPr>
              <a:t>    ),</a:t>
            </a:r>
          </a:p>
          <a:p>
            <a:r>
              <a:rPr sz="900">
                <a:solidFill>
                  <a:srgbClr val="CCCCCC"/>
                </a:solidFill>
                <a:latin typeface="Courier New"/>
              </a:rPr>
              <a:t>    ...</a:t>
            </a:r>
          </a:p>
          <a:p>
            <a:r>
              <a:rPr sz="900">
                <a:solidFill>
                  <a:srgbClr val="CCCCCC"/>
                </a:solidFill>
                <a:latin typeface="Courier New"/>
              </a:rPr>
              <a:t>)</a:t>
            </a:r>
          </a:p>
          <a:p>
            <a:r>
              <a:rPr sz="900">
                <a:solidFill>
                  <a:srgbClr val="CCCCCC"/>
                </a:solidFill>
                <a:latin typeface="Courier New"/>
              </a:rPr>
              <a:t>handler = DefaultRequestHandler(</a:t>
            </a:r>
          </a:p>
          <a:p>
            <a:r>
              <a:rPr sz="900">
                <a:solidFill>
                  <a:srgbClr val="CCCCCC"/>
                </a:solidFill>
                <a:latin typeface="Courier New"/>
              </a:rPr>
              <a:t>    agent_executor=FlightAgentExecutor(),</a:t>
            </a:r>
          </a:p>
          <a:p>
            <a:r>
              <a:rPr sz="900">
                <a:solidFill>
                  <a:srgbClr val="CCCCCC"/>
                </a:solidFill>
                <a:latin typeface="Courier New"/>
              </a:rPr>
              <a:t>    task_store=InMemoryTaskStore(),</a:t>
            </a:r>
          </a:p>
          <a:p>
            <a:r>
              <a:rPr sz="900">
                <a:solidFill>
                  <a:srgbClr val="CCCCCC"/>
                </a:solidFill>
                <a:latin typeface="Courier New"/>
              </a:rPr>
              <a:t>)</a:t>
            </a:r>
          </a:p>
          <a:p>
            <a:r>
              <a:rPr sz="900">
                <a:solidFill>
                  <a:srgbClr val="CCCCCC"/>
                </a:solidFill>
                <a:latin typeface="Courier New"/>
              </a:rPr>
              <a:t>app = A2AStarletteApplication(</a:t>
            </a:r>
          </a:p>
          <a:p>
            <a:r>
              <a:rPr sz="900">
                <a:solidFill>
                  <a:srgbClr val="CCCCCC"/>
                </a:solidFill>
                <a:latin typeface="Courier New"/>
              </a:rPr>
              <a:t>    agent_card=agent_card,</a:t>
            </a:r>
          </a:p>
          <a:p>
            <a:r>
              <a:rPr sz="900">
                <a:solidFill>
                  <a:srgbClr val="CCCCCC"/>
                </a:solidFill>
                <a:latin typeface="Courier New"/>
              </a:rPr>
              <a:t>    http_handler=handler</a:t>
            </a:r>
          </a:p>
          <a:p>
            <a:r>
              <a:rPr sz="900">
                <a:solidFill>
                  <a:srgbClr val="CCCCCC"/>
                </a:solidFill>
                <a:latin typeface="Courier New"/>
              </a:rPr>
              <a:t>).build()</a:t>
            </a:r>
          </a:p>
        </p:txBody>
      </p:sp>
      <p:sp>
        <p:nvSpPr>
          <p:cNvPr id="14" name="Rectangle 13"/>
          <p:cNvSpPr/>
          <p:nvPr/>
        </p:nvSpPr>
        <p:spPr>
          <a:xfrm>
            <a:off x="7223760" y="1115568"/>
            <a:ext cx="4663440" cy="548640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223760" y="1115568"/>
            <a:ext cx="466344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0" y="1152144"/>
            <a:ext cx="4480559" cy="274320"/>
          </a:xfrm>
          <a:prstGeom prst="rect">
            <a:avLst/>
          </a:prstGeom>
          <a:noFill/>
        </p:spPr>
        <p:txBody>
          <a:bodyPr wrap="square">
            <a:spAutoFit/>
          </a:bodyPr>
          <a:lstStyle/>
          <a:p>
            <a:pPr algn="l"/>
            <a:r>
              <a:rPr sz="1200" b="1">
                <a:solidFill>
                  <a:srgbClr val="FFFFFF"/>
                </a:solidFill>
                <a:latin typeface="Calibri"/>
              </a:rPr>
              <a:t>Project Structure</a:t>
            </a:r>
          </a:p>
        </p:txBody>
      </p:sp>
      <p:sp>
        <p:nvSpPr>
          <p:cNvPr id="17" name="TextBox 16"/>
          <p:cNvSpPr txBox="1"/>
          <p:nvPr/>
        </p:nvSpPr>
        <p:spPr>
          <a:xfrm>
            <a:off x="7333488" y="1499616"/>
            <a:ext cx="4443983" cy="5029200"/>
          </a:xfrm>
          <a:prstGeom prst="rect">
            <a:avLst/>
          </a:prstGeom>
          <a:noFill/>
        </p:spPr>
        <p:txBody>
          <a:bodyPr wrap="square">
            <a:spAutoFit/>
          </a:bodyPr>
          <a:lstStyle/>
          <a:p>
            <a:pPr>
              <a:spcBef>
                <a:spcPts val="400"/>
              </a:spcBef>
            </a:pPr>
            <a:r>
              <a:rPr sz="1100">
                <a:solidFill>
                  <a:srgbClr val="222244"/>
                </a:solidFill>
                <a:latin typeface="Calibri"/>
              </a:rPr>
              <a:t>  •  a2a-travel/</a:t>
            </a:r>
          </a:p>
          <a:p>
            <a:pPr>
              <a:spcBef>
                <a:spcPts val="400"/>
              </a:spcBef>
            </a:pPr>
            <a:r>
              <a:rPr sz="1000">
                <a:solidFill>
                  <a:srgbClr val="222244"/>
                </a:solidFill>
                <a:latin typeface="Calibri"/>
              </a:rPr>
              <a:t>       ◦  agents/</a:t>
            </a:r>
          </a:p>
          <a:p>
            <a:pPr>
              <a:spcBef>
                <a:spcPts val="400"/>
              </a:spcBef>
            </a:pPr>
            <a:r>
              <a:rPr sz="1000">
                <a:solidFill>
                  <a:srgbClr val="222244"/>
                </a:solidFill>
                <a:latin typeface="Calibri"/>
              </a:rPr>
              <a:t>       ◦  flight/   (app.py, executor.py)</a:t>
            </a:r>
          </a:p>
          <a:p>
            <a:pPr>
              <a:spcBef>
                <a:spcPts val="400"/>
              </a:spcBef>
            </a:pPr>
            <a:r>
              <a:rPr sz="1000">
                <a:solidFill>
                  <a:srgbClr val="222244"/>
                </a:solidFill>
                <a:latin typeface="Calibri"/>
              </a:rPr>
              <a:t>       ◦  hotel/    (app.py, executor.py)</a:t>
            </a:r>
          </a:p>
          <a:p>
            <a:pPr>
              <a:spcBef>
                <a:spcPts val="400"/>
              </a:spcBef>
            </a:pPr>
            <a:r>
              <a:rPr sz="1000">
                <a:solidFill>
                  <a:srgbClr val="222244"/>
                </a:solidFill>
                <a:latin typeface="Calibri"/>
              </a:rPr>
              <a:t>       ◦  booking/  (app.py, executor.py)</a:t>
            </a:r>
          </a:p>
          <a:p>
            <a:pPr>
              <a:spcBef>
                <a:spcPts val="400"/>
              </a:spcBef>
            </a:pPr>
            <a:r>
              <a:rPr sz="1000">
                <a:solidFill>
                  <a:srgbClr val="222244"/>
                </a:solidFill>
                <a:latin typeface="Calibri"/>
              </a:rPr>
              <a:t>       ◦  weather/  (app.py, executor.py)</a:t>
            </a:r>
          </a:p>
          <a:p>
            <a:pPr>
              <a:spcBef>
                <a:spcPts val="400"/>
              </a:spcBef>
            </a:pPr>
            <a:r>
              <a:rPr sz="1000">
                <a:solidFill>
                  <a:srgbClr val="222244"/>
                </a:solidFill>
                <a:latin typeface="Calibri"/>
              </a:rPr>
              <a:t>       ◦  orchestrator/ (app.py, orchestrator.py)</a:t>
            </a:r>
          </a:p>
          <a:p>
            <a:pPr>
              <a:spcBef>
                <a:spcPts val="400"/>
              </a:spcBef>
            </a:pPr>
            <a:r>
              <a:rPr sz="1000">
                <a:solidFill>
                  <a:srgbClr val="222244"/>
                </a:solidFill>
                <a:latin typeface="Calibri"/>
              </a:rPr>
              <a:t>       ◦  webhook/      (app.py)</a:t>
            </a:r>
          </a:p>
          <a:p>
            <a:pPr>
              <a:spcBef>
                <a:spcPts val="400"/>
              </a:spcBef>
            </a:pPr>
            <a:r>
              <a:rPr sz="1000">
                <a:solidFill>
                  <a:srgbClr val="222244"/>
                </a:solidFill>
                <a:latin typeface="Calibri"/>
              </a:rPr>
              <a:t>       ◦  client/       (main.py)</a:t>
            </a:r>
          </a:p>
          <a:p>
            <a:pPr>
              <a:spcBef>
                <a:spcPts val="400"/>
              </a:spcBef>
            </a:pPr>
            <a:r>
              <a:rPr sz="1000">
                <a:solidFill>
                  <a:srgbClr val="222244"/>
                </a:solidFill>
                <a:latin typeface="Calibri"/>
              </a:rPr>
              <a:t>       ◦  docker-compose.yml</a:t>
            </a:r>
          </a:p>
          <a:p>
            <a:pPr>
              <a:spcBef>
                <a:spcPts val="400"/>
              </a:spcBef>
            </a:pPr>
            <a:r>
              <a:rPr sz="1000">
                <a:solidFill>
                  <a:srgbClr val="222244"/>
                </a:solidFill>
                <a:latin typeface="Calibri"/>
              </a:rPr>
              <a:t>       ◦  .env.example</a:t>
            </a:r>
          </a:p>
          <a:p>
            <a:pPr>
              <a:spcBef>
                <a:spcPts val="400"/>
              </a:spcBef>
            </a:pPr>
            <a:r>
              <a:rPr sz="1000">
                <a:solidFill>
                  <a:srgbClr val="222244"/>
                </a:solidFill>
                <a:latin typeface="Calibri"/>
              </a:rPr>
              <a:t>       ◦  requirements.txt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12: End-to-End Request Flow</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Tracing a user query through the entire system</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82880" y="1115568"/>
            <a:ext cx="11795760" cy="3200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1133856"/>
            <a:ext cx="548640" cy="256032"/>
          </a:xfrm>
          <a:prstGeom prst="rect">
            <a:avLst/>
          </a:prstGeom>
          <a:noFill/>
        </p:spPr>
        <p:txBody>
          <a:bodyPr wrap="square">
            <a:spAutoFit/>
          </a:bodyPr>
          <a:lstStyle/>
          <a:p>
            <a:pPr algn="l"/>
            <a:r>
              <a:rPr sz="1000" b="1">
                <a:solidFill>
                  <a:srgbClr val="FFFFFF"/>
                </a:solidFill>
                <a:latin typeface="Calibri"/>
              </a:rPr>
              <a:t>Step</a:t>
            </a:r>
          </a:p>
        </p:txBody>
      </p:sp>
      <p:sp>
        <p:nvSpPr>
          <p:cNvPr id="8" name="TextBox 7"/>
          <p:cNvSpPr txBox="1"/>
          <p:nvPr/>
        </p:nvSpPr>
        <p:spPr>
          <a:xfrm>
            <a:off x="868680" y="1133856"/>
            <a:ext cx="2286000" cy="256032"/>
          </a:xfrm>
          <a:prstGeom prst="rect">
            <a:avLst/>
          </a:prstGeom>
          <a:noFill/>
        </p:spPr>
        <p:txBody>
          <a:bodyPr wrap="square">
            <a:spAutoFit/>
          </a:bodyPr>
          <a:lstStyle/>
          <a:p>
            <a:pPr algn="l"/>
            <a:r>
              <a:rPr sz="1000" b="1">
                <a:solidFill>
                  <a:srgbClr val="FFFFFF"/>
                </a:solidFill>
                <a:latin typeface="Calibri"/>
              </a:rPr>
              <a:t>Action</a:t>
            </a:r>
          </a:p>
        </p:txBody>
      </p:sp>
      <p:sp>
        <p:nvSpPr>
          <p:cNvPr id="9" name="TextBox 8"/>
          <p:cNvSpPr txBox="1"/>
          <p:nvPr/>
        </p:nvSpPr>
        <p:spPr>
          <a:xfrm>
            <a:off x="3246120" y="1133856"/>
            <a:ext cx="5943600" cy="256032"/>
          </a:xfrm>
          <a:prstGeom prst="rect">
            <a:avLst/>
          </a:prstGeom>
          <a:noFill/>
        </p:spPr>
        <p:txBody>
          <a:bodyPr wrap="square">
            <a:spAutoFit/>
          </a:bodyPr>
          <a:lstStyle/>
          <a:p>
            <a:pPr algn="l"/>
            <a:r>
              <a:rPr sz="1000" b="1">
                <a:solidFill>
                  <a:srgbClr val="FFFFFF"/>
                </a:solidFill>
                <a:latin typeface="Calibri"/>
              </a:rPr>
              <a:t>Details</a:t>
            </a:r>
          </a:p>
        </p:txBody>
      </p:sp>
      <p:sp>
        <p:nvSpPr>
          <p:cNvPr id="10" name="TextBox 9"/>
          <p:cNvSpPr txBox="1"/>
          <p:nvPr/>
        </p:nvSpPr>
        <p:spPr>
          <a:xfrm>
            <a:off x="9281160" y="1133856"/>
            <a:ext cx="1097280" cy="256032"/>
          </a:xfrm>
          <a:prstGeom prst="rect">
            <a:avLst/>
          </a:prstGeom>
          <a:noFill/>
        </p:spPr>
        <p:txBody>
          <a:bodyPr wrap="square">
            <a:spAutoFit/>
          </a:bodyPr>
          <a:lstStyle/>
          <a:p>
            <a:pPr algn="l"/>
            <a:r>
              <a:rPr sz="1000" b="1">
                <a:solidFill>
                  <a:srgbClr val="FFFFFF"/>
                </a:solidFill>
                <a:latin typeface="Calibri"/>
              </a:rPr>
              <a:t>Phase</a:t>
            </a:r>
          </a:p>
        </p:txBody>
      </p:sp>
      <p:sp>
        <p:nvSpPr>
          <p:cNvPr id="11" name="Rectangle 10"/>
          <p:cNvSpPr/>
          <p:nvPr/>
        </p:nvSpPr>
        <p:spPr>
          <a:xfrm>
            <a:off x="182880" y="1453896"/>
            <a:ext cx="11795760" cy="475488"/>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82880" y="1453896"/>
            <a:ext cx="109728" cy="4754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1481328"/>
            <a:ext cx="502920" cy="347472"/>
          </a:xfrm>
          <a:prstGeom prst="rect">
            <a:avLst/>
          </a:prstGeom>
          <a:noFill/>
        </p:spPr>
        <p:txBody>
          <a:bodyPr wrap="square">
            <a:spAutoFit/>
          </a:bodyPr>
          <a:lstStyle/>
          <a:p>
            <a:pPr algn="ctr"/>
            <a:r>
              <a:rPr sz="1100" b="1">
                <a:solidFill>
                  <a:srgbClr val="1B3A6B"/>
                </a:solidFill>
                <a:latin typeface="Calibri"/>
              </a:rPr>
              <a:t>1</a:t>
            </a:r>
          </a:p>
        </p:txBody>
      </p:sp>
      <p:sp>
        <p:nvSpPr>
          <p:cNvPr id="14" name="TextBox 13"/>
          <p:cNvSpPr txBox="1"/>
          <p:nvPr/>
        </p:nvSpPr>
        <p:spPr>
          <a:xfrm>
            <a:off x="896112" y="1481328"/>
            <a:ext cx="2240280" cy="347472"/>
          </a:xfrm>
          <a:prstGeom prst="rect">
            <a:avLst/>
          </a:prstGeom>
          <a:noFill/>
        </p:spPr>
        <p:txBody>
          <a:bodyPr wrap="square">
            <a:spAutoFit/>
          </a:bodyPr>
          <a:lstStyle/>
          <a:p>
            <a:pPr algn="l"/>
            <a:r>
              <a:rPr sz="1100" b="1">
                <a:solidFill>
                  <a:srgbClr val="222244"/>
                </a:solidFill>
                <a:latin typeface="Calibri"/>
              </a:rPr>
              <a:t>User sends query</a:t>
            </a:r>
          </a:p>
        </p:txBody>
      </p:sp>
      <p:sp>
        <p:nvSpPr>
          <p:cNvPr id="15" name="TextBox 14"/>
          <p:cNvSpPr txBox="1"/>
          <p:nvPr/>
        </p:nvSpPr>
        <p:spPr>
          <a:xfrm>
            <a:off x="3218688" y="1481328"/>
            <a:ext cx="5943600" cy="347472"/>
          </a:xfrm>
          <a:prstGeom prst="rect">
            <a:avLst/>
          </a:prstGeom>
          <a:noFill/>
        </p:spPr>
        <p:txBody>
          <a:bodyPr wrap="square">
            <a:spAutoFit/>
          </a:bodyPr>
          <a:lstStyle/>
          <a:p>
            <a:pPr algn="l"/>
            <a:r>
              <a:rPr sz="1000" b="0">
                <a:solidFill>
                  <a:srgbClr val="222244"/>
                </a:solidFill>
                <a:latin typeface="Calibri"/>
              </a:rPr>
              <a:t>python client/main.py "Plan 5-day Paris trip"</a:t>
            </a:r>
          </a:p>
        </p:txBody>
      </p:sp>
      <p:sp>
        <p:nvSpPr>
          <p:cNvPr id="16" name="Rectangle 15"/>
          <p:cNvSpPr/>
          <p:nvPr/>
        </p:nvSpPr>
        <p:spPr>
          <a:xfrm>
            <a:off x="9189720" y="1499616"/>
            <a:ext cx="2743200" cy="34747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89720" y="1499616"/>
            <a:ext cx="2743200" cy="347472"/>
          </a:xfrm>
          <a:prstGeom prst="rect">
            <a:avLst/>
          </a:prstGeom>
          <a:noFill/>
        </p:spPr>
        <p:txBody>
          <a:bodyPr wrap="square">
            <a:spAutoFit/>
          </a:bodyPr>
          <a:lstStyle/>
          <a:p>
            <a:pPr algn="ctr"/>
            <a:r>
              <a:rPr sz="1000" b="0">
                <a:solidFill>
                  <a:srgbClr val="FFFFFF"/>
                </a:solidFill>
                <a:latin typeface="Calibri"/>
              </a:rPr>
              <a:t>Client</a:t>
            </a:r>
          </a:p>
        </p:txBody>
      </p:sp>
      <p:sp>
        <p:nvSpPr>
          <p:cNvPr id="18" name="Rectangle 17"/>
          <p:cNvSpPr/>
          <p:nvPr/>
        </p:nvSpPr>
        <p:spPr>
          <a:xfrm>
            <a:off x="182880" y="1929384"/>
            <a:ext cx="11795760" cy="475488"/>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82880" y="1929384"/>
            <a:ext cx="109728" cy="475488"/>
          </a:xfrm>
          <a:prstGeom prst="rect">
            <a:avLst/>
          </a:prstGeom>
          <a:solidFill>
            <a:srgbClr val="4A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7472" y="1956816"/>
            <a:ext cx="502920" cy="347472"/>
          </a:xfrm>
          <a:prstGeom prst="rect">
            <a:avLst/>
          </a:prstGeom>
          <a:noFill/>
        </p:spPr>
        <p:txBody>
          <a:bodyPr wrap="square">
            <a:spAutoFit/>
          </a:bodyPr>
          <a:lstStyle/>
          <a:p>
            <a:pPr algn="ctr"/>
            <a:r>
              <a:rPr sz="1100" b="1">
                <a:solidFill>
                  <a:srgbClr val="4A7AB5"/>
                </a:solidFill>
                <a:latin typeface="Calibri"/>
              </a:rPr>
              <a:t>2</a:t>
            </a:r>
          </a:p>
        </p:txBody>
      </p:sp>
      <p:sp>
        <p:nvSpPr>
          <p:cNvPr id="21" name="TextBox 20"/>
          <p:cNvSpPr txBox="1"/>
          <p:nvPr/>
        </p:nvSpPr>
        <p:spPr>
          <a:xfrm>
            <a:off x="896112" y="1956816"/>
            <a:ext cx="2240280" cy="347472"/>
          </a:xfrm>
          <a:prstGeom prst="rect">
            <a:avLst/>
          </a:prstGeom>
          <a:noFill/>
        </p:spPr>
        <p:txBody>
          <a:bodyPr wrap="square">
            <a:spAutoFit/>
          </a:bodyPr>
          <a:lstStyle/>
          <a:p>
            <a:pPr algn="l"/>
            <a:r>
              <a:rPr sz="1100" b="1">
                <a:solidFill>
                  <a:srgbClr val="222244"/>
                </a:solidFill>
                <a:latin typeface="Calibri"/>
              </a:rPr>
              <a:t>Orchestrator receives</a:t>
            </a:r>
          </a:p>
        </p:txBody>
      </p:sp>
      <p:sp>
        <p:nvSpPr>
          <p:cNvPr id="22" name="TextBox 21"/>
          <p:cNvSpPr txBox="1"/>
          <p:nvPr/>
        </p:nvSpPr>
        <p:spPr>
          <a:xfrm>
            <a:off x="3218688" y="1956816"/>
            <a:ext cx="5943600" cy="347472"/>
          </a:xfrm>
          <a:prstGeom prst="rect">
            <a:avLst/>
          </a:prstGeom>
          <a:noFill/>
        </p:spPr>
        <p:txBody>
          <a:bodyPr wrap="square">
            <a:spAutoFit/>
          </a:bodyPr>
          <a:lstStyle/>
          <a:p>
            <a:pPr algn="l"/>
            <a:r>
              <a:rPr sz="1000" b="0">
                <a:solidFill>
                  <a:srgbClr val="222244"/>
                </a:solidFill>
                <a:latin typeface="Calibri"/>
              </a:rPr>
              <a:t>ADK LlmAgent parses intent, identifies 3 subtasks</a:t>
            </a:r>
          </a:p>
        </p:txBody>
      </p:sp>
      <p:sp>
        <p:nvSpPr>
          <p:cNvPr id="23" name="Rectangle 22"/>
          <p:cNvSpPr/>
          <p:nvPr/>
        </p:nvSpPr>
        <p:spPr>
          <a:xfrm>
            <a:off x="9189720" y="1975104"/>
            <a:ext cx="2743200" cy="347472"/>
          </a:xfrm>
          <a:prstGeom prst="rect">
            <a:avLst/>
          </a:prstGeom>
          <a:solidFill>
            <a:srgbClr val="4A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89720" y="1975104"/>
            <a:ext cx="2743200" cy="347472"/>
          </a:xfrm>
          <a:prstGeom prst="rect">
            <a:avLst/>
          </a:prstGeom>
          <a:noFill/>
        </p:spPr>
        <p:txBody>
          <a:bodyPr wrap="square">
            <a:spAutoFit/>
          </a:bodyPr>
          <a:lstStyle/>
          <a:p>
            <a:pPr algn="ctr"/>
            <a:r>
              <a:rPr sz="1000" b="0">
                <a:solidFill>
                  <a:srgbClr val="FFFFFF"/>
                </a:solidFill>
                <a:latin typeface="Calibri"/>
              </a:rPr>
              <a:t>Orchestrator</a:t>
            </a:r>
          </a:p>
        </p:txBody>
      </p:sp>
      <p:sp>
        <p:nvSpPr>
          <p:cNvPr id="25" name="Rectangle 24"/>
          <p:cNvSpPr/>
          <p:nvPr/>
        </p:nvSpPr>
        <p:spPr>
          <a:xfrm>
            <a:off x="182880" y="2404872"/>
            <a:ext cx="11795760" cy="475488"/>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82880" y="2404872"/>
            <a:ext cx="109728" cy="47548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7472" y="2432304"/>
            <a:ext cx="502920" cy="347472"/>
          </a:xfrm>
          <a:prstGeom prst="rect">
            <a:avLst/>
          </a:prstGeom>
          <a:noFill/>
        </p:spPr>
        <p:txBody>
          <a:bodyPr wrap="square">
            <a:spAutoFit/>
          </a:bodyPr>
          <a:lstStyle/>
          <a:p>
            <a:pPr algn="ctr"/>
            <a:r>
              <a:rPr sz="1100" b="1">
                <a:solidFill>
                  <a:srgbClr val="28A745"/>
                </a:solidFill>
                <a:latin typeface="Calibri"/>
              </a:rPr>
              <a:t>3</a:t>
            </a:r>
          </a:p>
        </p:txBody>
      </p:sp>
      <p:sp>
        <p:nvSpPr>
          <p:cNvPr id="28" name="TextBox 27"/>
          <p:cNvSpPr txBox="1"/>
          <p:nvPr/>
        </p:nvSpPr>
        <p:spPr>
          <a:xfrm>
            <a:off x="896112" y="2432304"/>
            <a:ext cx="2240280" cy="347472"/>
          </a:xfrm>
          <a:prstGeom prst="rect">
            <a:avLst/>
          </a:prstGeom>
          <a:noFill/>
        </p:spPr>
        <p:txBody>
          <a:bodyPr wrap="square">
            <a:spAutoFit/>
          </a:bodyPr>
          <a:lstStyle/>
          <a:p>
            <a:pPr algn="l"/>
            <a:r>
              <a:rPr sz="1100" b="1">
                <a:solidFill>
                  <a:srgbClr val="222244"/>
                </a:solidFill>
                <a:latin typeface="Calibri"/>
              </a:rPr>
              <a:t>Fetch Agent Cards</a:t>
            </a:r>
          </a:p>
        </p:txBody>
      </p:sp>
      <p:sp>
        <p:nvSpPr>
          <p:cNvPr id="29" name="TextBox 28"/>
          <p:cNvSpPr txBox="1"/>
          <p:nvPr/>
        </p:nvSpPr>
        <p:spPr>
          <a:xfrm>
            <a:off x="3218688" y="2432304"/>
            <a:ext cx="5943600" cy="347472"/>
          </a:xfrm>
          <a:prstGeom prst="rect">
            <a:avLst/>
          </a:prstGeom>
          <a:noFill/>
        </p:spPr>
        <p:txBody>
          <a:bodyPr wrap="square">
            <a:spAutoFit/>
          </a:bodyPr>
          <a:lstStyle/>
          <a:p>
            <a:pPr algn="l"/>
            <a:r>
              <a:rPr sz="1000" b="0">
                <a:solidFill>
                  <a:srgbClr val="222244"/>
                </a:solidFill>
                <a:latin typeface="Calibri"/>
              </a:rPr>
              <a:t>GET /.well-known/agent.json × 4 agents</a:t>
            </a:r>
          </a:p>
        </p:txBody>
      </p:sp>
      <p:sp>
        <p:nvSpPr>
          <p:cNvPr id="30" name="Rectangle 29"/>
          <p:cNvSpPr/>
          <p:nvPr/>
        </p:nvSpPr>
        <p:spPr>
          <a:xfrm>
            <a:off x="9189720" y="2450591"/>
            <a:ext cx="2743200" cy="347472"/>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89720" y="2450591"/>
            <a:ext cx="2743200" cy="347472"/>
          </a:xfrm>
          <a:prstGeom prst="rect">
            <a:avLst/>
          </a:prstGeom>
          <a:noFill/>
        </p:spPr>
        <p:txBody>
          <a:bodyPr wrap="square">
            <a:spAutoFit/>
          </a:bodyPr>
          <a:lstStyle/>
          <a:p>
            <a:pPr algn="ctr"/>
            <a:r>
              <a:rPr sz="1000" b="0">
                <a:solidFill>
                  <a:srgbClr val="FFFFFF"/>
                </a:solidFill>
                <a:latin typeface="Calibri"/>
              </a:rPr>
              <a:t>Discovery</a:t>
            </a:r>
          </a:p>
        </p:txBody>
      </p:sp>
      <p:sp>
        <p:nvSpPr>
          <p:cNvPr id="32" name="Rectangle 31"/>
          <p:cNvSpPr/>
          <p:nvPr/>
        </p:nvSpPr>
        <p:spPr>
          <a:xfrm>
            <a:off x="182880" y="2880360"/>
            <a:ext cx="11795760" cy="475488"/>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82880" y="2880360"/>
            <a:ext cx="109728" cy="475488"/>
          </a:xfrm>
          <a:prstGeom prst="rect">
            <a:avLst/>
          </a:prstGeom>
          <a:solidFill>
            <a:srgbClr val="C6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47472" y="2907792"/>
            <a:ext cx="502920" cy="347472"/>
          </a:xfrm>
          <a:prstGeom prst="rect">
            <a:avLst/>
          </a:prstGeom>
          <a:noFill/>
        </p:spPr>
        <p:txBody>
          <a:bodyPr wrap="square">
            <a:spAutoFit/>
          </a:bodyPr>
          <a:lstStyle/>
          <a:p>
            <a:pPr algn="ctr"/>
            <a:r>
              <a:rPr sz="1100" b="1">
                <a:solidFill>
                  <a:srgbClr val="C66B00"/>
                </a:solidFill>
                <a:latin typeface="Calibri"/>
              </a:rPr>
              <a:t>4</a:t>
            </a:r>
          </a:p>
        </p:txBody>
      </p:sp>
      <p:sp>
        <p:nvSpPr>
          <p:cNvPr id="35" name="TextBox 34"/>
          <p:cNvSpPr txBox="1"/>
          <p:nvPr/>
        </p:nvSpPr>
        <p:spPr>
          <a:xfrm>
            <a:off x="896112" y="2907792"/>
            <a:ext cx="2240280" cy="347472"/>
          </a:xfrm>
          <a:prstGeom prst="rect">
            <a:avLst/>
          </a:prstGeom>
          <a:noFill/>
        </p:spPr>
        <p:txBody>
          <a:bodyPr wrap="square">
            <a:spAutoFit/>
          </a:bodyPr>
          <a:lstStyle/>
          <a:p>
            <a:pPr algn="l"/>
            <a:r>
              <a:rPr sz="1100" b="1">
                <a:solidFill>
                  <a:srgbClr val="222244"/>
                </a:solidFill>
                <a:latin typeface="Calibri"/>
              </a:rPr>
              <a:t>Parallel fan-out</a:t>
            </a:r>
          </a:p>
        </p:txBody>
      </p:sp>
      <p:sp>
        <p:nvSpPr>
          <p:cNvPr id="36" name="TextBox 35"/>
          <p:cNvSpPr txBox="1"/>
          <p:nvPr/>
        </p:nvSpPr>
        <p:spPr>
          <a:xfrm>
            <a:off x="3218688" y="2907792"/>
            <a:ext cx="5943600" cy="347472"/>
          </a:xfrm>
          <a:prstGeom prst="rect">
            <a:avLst/>
          </a:prstGeom>
          <a:noFill/>
        </p:spPr>
        <p:txBody>
          <a:bodyPr wrap="square">
            <a:spAutoFit/>
          </a:bodyPr>
          <a:lstStyle/>
          <a:p>
            <a:pPr algn="l"/>
            <a:r>
              <a:rPr sz="1000" b="0">
                <a:solidFill>
                  <a:srgbClr val="222244"/>
                </a:solidFill>
                <a:latin typeface="Calibri"/>
              </a:rPr>
              <a:t>asyncio.gather(flight, hotel, weather) → 3 concurrent tasks</a:t>
            </a:r>
          </a:p>
        </p:txBody>
      </p:sp>
      <p:sp>
        <p:nvSpPr>
          <p:cNvPr id="37" name="Rectangle 36"/>
          <p:cNvSpPr/>
          <p:nvPr/>
        </p:nvSpPr>
        <p:spPr>
          <a:xfrm>
            <a:off x="9189720" y="2926080"/>
            <a:ext cx="2743200" cy="347472"/>
          </a:xfrm>
          <a:prstGeom prst="rect">
            <a:avLst/>
          </a:prstGeom>
          <a:solidFill>
            <a:srgbClr val="C6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89720" y="2926080"/>
            <a:ext cx="2743200" cy="347472"/>
          </a:xfrm>
          <a:prstGeom prst="rect">
            <a:avLst/>
          </a:prstGeom>
          <a:noFill/>
        </p:spPr>
        <p:txBody>
          <a:bodyPr wrap="square">
            <a:spAutoFit/>
          </a:bodyPr>
          <a:lstStyle/>
          <a:p>
            <a:pPr algn="ctr"/>
            <a:r>
              <a:rPr sz="1000" b="0">
                <a:solidFill>
                  <a:srgbClr val="FFFFFF"/>
                </a:solidFill>
                <a:latin typeface="Calibri"/>
              </a:rPr>
              <a:t>A2A Tasks</a:t>
            </a:r>
          </a:p>
        </p:txBody>
      </p:sp>
      <p:sp>
        <p:nvSpPr>
          <p:cNvPr id="39" name="Rectangle 38"/>
          <p:cNvSpPr/>
          <p:nvPr/>
        </p:nvSpPr>
        <p:spPr>
          <a:xfrm>
            <a:off x="182880" y="3355848"/>
            <a:ext cx="11795760" cy="475488"/>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82880" y="3355848"/>
            <a:ext cx="109728" cy="47548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3383280"/>
            <a:ext cx="502920" cy="347472"/>
          </a:xfrm>
          <a:prstGeom prst="rect">
            <a:avLst/>
          </a:prstGeom>
          <a:noFill/>
        </p:spPr>
        <p:txBody>
          <a:bodyPr wrap="square">
            <a:spAutoFit/>
          </a:bodyPr>
          <a:lstStyle/>
          <a:p>
            <a:pPr algn="ctr"/>
            <a:r>
              <a:rPr sz="1100" b="1">
                <a:solidFill>
                  <a:srgbClr val="28A745"/>
                </a:solidFill>
                <a:latin typeface="Calibri"/>
              </a:rPr>
              <a:t>5</a:t>
            </a:r>
          </a:p>
        </p:txBody>
      </p:sp>
      <p:sp>
        <p:nvSpPr>
          <p:cNvPr id="42" name="TextBox 41"/>
          <p:cNvSpPr txBox="1"/>
          <p:nvPr/>
        </p:nvSpPr>
        <p:spPr>
          <a:xfrm>
            <a:off x="896112" y="3383280"/>
            <a:ext cx="2240280" cy="347472"/>
          </a:xfrm>
          <a:prstGeom prst="rect">
            <a:avLst/>
          </a:prstGeom>
          <a:noFill/>
        </p:spPr>
        <p:txBody>
          <a:bodyPr wrap="square">
            <a:spAutoFit/>
          </a:bodyPr>
          <a:lstStyle/>
          <a:p>
            <a:pPr algn="l"/>
            <a:r>
              <a:rPr sz="1100" b="1">
                <a:solidFill>
                  <a:srgbClr val="222244"/>
                </a:solidFill>
                <a:latin typeface="Calibri"/>
              </a:rPr>
              <a:t>Flight streams</a:t>
            </a:r>
          </a:p>
        </p:txBody>
      </p:sp>
      <p:sp>
        <p:nvSpPr>
          <p:cNvPr id="43" name="TextBox 42"/>
          <p:cNvSpPr txBox="1"/>
          <p:nvPr/>
        </p:nvSpPr>
        <p:spPr>
          <a:xfrm>
            <a:off x="3218688" y="3383280"/>
            <a:ext cx="5943600" cy="347472"/>
          </a:xfrm>
          <a:prstGeom prst="rect">
            <a:avLst/>
          </a:prstGeom>
          <a:noFill/>
        </p:spPr>
        <p:txBody>
          <a:bodyPr wrap="square">
            <a:spAutoFit/>
          </a:bodyPr>
          <a:lstStyle/>
          <a:p>
            <a:pPr algn="l"/>
            <a:r>
              <a:rPr sz="1000" b="0">
                <a:solidFill>
                  <a:srgbClr val="222244"/>
                </a:solidFill>
                <a:latin typeface="Calibri"/>
              </a:rPr>
              <a:t>tasks/sendSubscribe → SSE events → collect artifact</a:t>
            </a:r>
          </a:p>
        </p:txBody>
      </p:sp>
      <p:sp>
        <p:nvSpPr>
          <p:cNvPr id="44" name="Rectangle 43"/>
          <p:cNvSpPr/>
          <p:nvPr/>
        </p:nvSpPr>
        <p:spPr>
          <a:xfrm>
            <a:off x="9189720" y="3401568"/>
            <a:ext cx="2743200" cy="347472"/>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189720" y="3401568"/>
            <a:ext cx="2743200" cy="347472"/>
          </a:xfrm>
          <a:prstGeom prst="rect">
            <a:avLst/>
          </a:prstGeom>
          <a:noFill/>
        </p:spPr>
        <p:txBody>
          <a:bodyPr wrap="square">
            <a:spAutoFit/>
          </a:bodyPr>
          <a:lstStyle/>
          <a:p>
            <a:pPr algn="ctr"/>
            <a:r>
              <a:rPr sz="1000" b="0">
                <a:solidFill>
                  <a:srgbClr val="FFFFFF"/>
                </a:solidFill>
                <a:latin typeface="Calibri"/>
              </a:rPr>
              <a:t>Streaming</a:t>
            </a:r>
          </a:p>
        </p:txBody>
      </p:sp>
      <p:sp>
        <p:nvSpPr>
          <p:cNvPr id="46" name="Rectangle 45"/>
          <p:cNvSpPr/>
          <p:nvPr/>
        </p:nvSpPr>
        <p:spPr>
          <a:xfrm>
            <a:off x="182880" y="3831336"/>
            <a:ext cx="11795760" cy="475488"/>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182880" y="3831336"/>
            <a:ext cx="109728" cy="475488"/>
          </a:xfrm>
          <a:prstGeom prst="rect">
            <a:avLst/>
          </a:prstGeom>
          <a:solidFill>
            <a:srgbClr val="176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47472" y="3858768"/>
            <a:ext cx="502920" cy="347472"/>
          </a:xfrm>
          <a:prstGeom prst="rect">
            <a:avLst/>
          </a:prstGeom>
          <a:noFill/>
        </p:spPr>
        <p:txBody>
          <a:bodyPr wrap="square">
            <a:spAutoFit/>
          </a:bodyPr>
          <a:lstStyle/>
          <a:p>
            <a:pPr algn="ctr"/>
            <a:r>
              <a:rPr sz="1100" b="1">
                <a:solidFill>
                  <a:srgbClr val="176AA0"/>
                </a:solidFill>
                <a:latin typeface="Calibri"/>
              </a:rPr>
              <a:t>6</a:t>
            </a:r>
          </a:p>
        </p:txBody>
      </p:sp>
      <p:sp>
        <p:nvSpPr>
          <p:cNvPr id="49" name="TextBox 48"/>
          <p:cNvSpPr txBox="1"/>
          <p:nvPr/>
        </p:nvSpPr>
        <p:spPr>
          <a:xfrm>
            <a:off x="896112" y="3858768"/>
            <a:ext cx="2240280" cy="347472"/>
          </a:xfrm>
          <a:prstGeom prst="rect">
            <a:avLst/>
          </a:prstGeom>
          <a:noFill/>
        </p:spPr>
        <p:txBody>
          <a:bodyPr wrap="square">
            <a:spAutoFit/>
          </a:bodyPr>
          <a:lstStyle/>
          <a:p>
            <a:pPr algn="l"/>
            <a:r>
              <a:rPr sz="1100" b="1">
                <a:solidFill>
                  <a:srgbClr val="222244"/>
                </a:solidFill>
                <a:latin typeface="Calibri"/>
              </a:rPr>
              <a:t>Hotel multimodal</a:t>
            </a:r>
          </a:p>
        </p:txBody>
      </p:sp>
      <p:sp>
        <p:nvSpPr>
          <p:cNvPr id="50" name="TextBox 49"/>
          <p:cNvSpPr txBox="1"/>
          <p:nvPr/>
        </p:nvSpPr>
        <p:spPr>
          <a:xfrm>
            <a:off x="3218688" y="3858768"/>
            <a:ext cx="5943600" cy="347472"/>
          </a:xfrm>
          <a:prstGeom prst="rect">
            <a:avLst/>
          </a:prstGeom>
          <a:noFill/>
        </p:spPr>
        <p:txBody>
          <a:bodyPr wrap="square">
            <a:spAutoFit/>
          </a:bodyPr>
          <a:lstStyle/>
          <a:p>
            <a:pPr algn="l"/>
            <a:r>
              <a:rPr sz="1000" b="0">
                <a:solidFill>
                  <a:srgbClr val="222244"/>
                </a:solidFill>
                <a:latin typeface="Calibri"/>
              </a:rPr>
              <a:t>tasks/send + PDF brochure → structured hotel list</a:t>
            </a:r>
          </a:p>
        </p:txBody>
      </p:sp>
      <p:sp>
        <p:nvSpPr>
          <p:cNvPr id="51" name="Rectangle 50"/>
          <p:cNvSpPr/>
          <p:nvPr/>
        </p:nvSpPr>
        <p:spPr>
          <a:xfrm>
            <a:off x="9189720" y="3877056"/>
            <a:ext cx="2743200" cy="347472"/>
          </a:xfrm>
          <a:prstGeom prst="rect">
            <a:avLst/>
          </a:prstGeom>
          <a:solidFill>
            <a:srgbClr val="176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189720" y="3877056"/>
            <a:ext cx="2743200" cy="347472"/>
          </a:xfrm>
          <a:prstGeom prst="rect">
            <a:avLst/>
          </a:prstGeom>
          <a:noFill/>
        </p:spPr>
        <p:txBody>
          <a:bodyPr wrap="square">
            <a:spAutoFit/>
          </a:bodyPr>
          <a:lstStyle/>
          <a:p>
            <a:pPr algn="ctr"/>
            <a:r>
              <a:rPr sz="1000" b="0">
                <a:solidFill>
                  <a:srgbClr val="FFFFFF"/>
                </a:solidFill>
                <a:latin typeface="Calibri"/>
              </a:rPr>
              <a:t>Multimodal</a:t>
            </a:r>
          </a:p>
        </p:txBody>
      </p:sp>
      <p:sp>
        <p:nvSpPr>
          <p:cNvPr id="53" name="Rectangle 52"/>
          <p:cNvSpPr/>
          <p:nvPr/>
        </p:nvSpPr>
        <p:spPr>
          <a:xfrm>
            <a:off x="182880" y="4306824"/>
            <a:ext cx="11795760" cy="475488"/>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182880" y="4306824"/>
            <a:ext cx="109728" cy="475488"/>
          </a:xfrm>
          <a:prstGeom prst="rect">
            <a:avLst/>
          </a:prstGeom>
          <a:solidFill>
            <a:srgbClr val="C6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47472" y="4334256"/>
            <a:ext cx="502920" cy="347472"/>
          </a:xfrm>
          <a:prstGeom prst="rect">
            <a:avLst/>
          </a:prstGeom>
          <a:noFill/>
        </p:spPr>
        <p:txBody>
          <a:bodyPr wrap="square">
            <a:spAutoFit/>
          </a:bodyPr>
          <a:lstStyle/>
          <a:p>
            <a:pPr algn="ctr"/>
            <a:r>
              <a:rPr sz="1100" b="1">
                <a:solidFill>
                  <a:srgbClr val="C66B00"/>
                </a:solidFill>
                <a:latin typeface="Calibri"/>
              </a:rPr>
              <a:t>7</a:t>
            </a:r>
          </a:p>
        </p:txBody>
      </p:sp>
      <p:sp>
        <p:nvSpPr>
          <p:cNvPr id="56" name="TextBox 55"/>
          <p:cNvSpPr txBox="1"/>
          <p:nvPr/>
        </p:nvSpPr>
        <p:spPr>
          <a:xfrm>
            <a:off x="896112" y="4334256"/>
            <a:ext cx="2240280" cy="347472"/>
          </a:xfrm>
          <a:prstGeom prst="rect">
            <a:avLst/>
          </a:prstGeom>
          <a:noFill/>
        </p:spPr>
        <p:txBody>
          <a:bodyPr wrap="square">
            <a:spAutoFit/>
          </a:bodyPr>
          <a:lstStyle/>
          <a:p>
            <a:pPr algn="l"/>
            <a:r>
              <a:rPr sz="1100" b="1">
                <a:solidFill>
                  <a:srgbClr val="222244"/>
                </a:solidFill>
                <a:latin typeface="Calibri"/>
              </a:rPr>
              <a:t>Weather streams</a:t>
            </a:r>
          </a:p>
        </p:txBody>
      </p:sp>
      <p:sp>
        <p:nvSpPr>
          <p:cNvPr id="57" name="TextBox 56"/>
          <p:cNvSpPr txBox="1"/>
          <p:nvPr/>
        </p:nvSpPr>
        <p:spPr>
          <a:xfrm>
            <a:off x="3218688" y="4334256"/>
            <a:ext cx="5943600" cy="347472"/>
          </a:xfrm>
          <a:prstGeom prst="rect">
            <a:avLst/>
          </a:prstGeom>
          <a:noFill/>
        </p:spPr>
        <p:txBody>
          <a:bodyPr wrap="square">
            <a:spAutoFit/>
          </a:bodyPr>
          <a:lstStyle/>
          <a:p>
            <a:pPr algn="l"/>
            <a:r>
              <a:rPr sz="1000" b="0">
                <a:solidFill>
                  <a:srgbClr val="222244"/>
                </a:solidFill>
                <a:latin typeface="Calibri"/>
              </a:rPr>
              <a:t>tasks/sendSubscribe → SSE → 5-day forecast artifact</a:t>
            </a:r>
          </a:p>
        </p:txBody>
      </p:sp>
      <p:sp>
        <p:nvSpPr>
          <p:cNvPr id="58" name="Rectangle 57"/>
          <p:cNvSpPr/>
          <p:nvPr/>
        </p:nvSpPr>
        <p:spPr>
          <a:xfrm>
            <a:off x="9189720" y="4352544"/>
            <a:ext cx="2743200" cy="347472"/>
          </a:xfrm>
          <a:prstGeom prst="rect">
            <a:avLst/>
          </a:prstGeom>
          <a:solidFill>
            <a:srgbClr val="C6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189720" y="4352544"/>
            <a:ext cx="2743200" cy="347472"/>
          </a:xfrm>
          <a:prstGeom prst="rect">
            <a:avLst/>
          </a:prstGeom>
          <a:noFill/>
        </p:spPr>
        <p:txBody>
          <a:bodyPr wrap="square">
            <a:spAutoFit/>
          </a:bodyPr>
          <a:lstStyle/>
          <a:p>
            <a:pPr algn="ctr"/>
            <a:r>
              <a:rPr sz="1000" b="0">
                <a:solidFill>
                  <a:srgbClr val="FFFFFF"/>
                </a:solidFill>
                <a:latin typeface="Calibri"/>
              </a:rPr>
              <a:t>Streaming</a:t>
            </a:r>
          </a:p>
        </p:txBody>
      </p:sp>
      <p:sp>
        <p:nvSpPr>
          <p:cNvPr id="60" name="Rectangle 59"/>
          <p:cNvSpPr/>
          <p:nvPr/>
        </p:nvSpPr>
        <p:spPr>
          <a:xfrm>
            <a:off x="182880" y="4782312"/>
            <a:ext cx="11795760" cy="475488"/>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182880" y="4782312"/>
            <a:ext cx="109728" cy="475488"/>
          </a:xfrm>
          <a:prstGeom prst="rect">
            <a:avLst/>
          </a:prstGeom>
          <a:solidFill>
            <a:srgbClr val="7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347472" y="4809744"/>
            <a:ext cx="502920" cy="347472"/>
          </a:xfrm>
          <a:prstGeom prst="rect">
            <a:avLst/>
          </a:prstGeom>
          <a:noFill/>
        </p:spPr>
        <p:txBody>
          <a:bodyPr wrap="square">
            <a:spAutoFit/>
          </a:bodyPr>
          <a:lstStyle/>
          <a:p>
            <a:pPr algn="ctr"/>
            <a:r>
              <a:rPr sz="1100" b="1">
                <a:solidFill>
                  <a:srgbClr val="7B2D8B"/>
                </a:solidFill>
                <a:latin typeface="Calibri"/>
              </a:rPr>
              <a:t>8</a:t>
            </a:r>
          </a:p>
        </p:txBody>
      </p:sp>
      <p:sp>
        <p:nvSpPr>
          <p:cNvPr id="63" name="TextBox 62"/>
          <p:cNvSpPr txBox="1"/>
          <p:nvPr/>
        </p:nvSpPr>
        <p:spPr>
          <a:xfrm>
            <a:off x="896112" y="4809744"/>
            <a:ext cx="2240280" cy="347472"/>
          </a:xfrm>
          <a:prstGeom prst="rect">
            <a:avLst/>
          </a:prstGeom>
          <a:noFill/>
        </p:spPr>
        <p:txBody>
          <a:bodyPr wrap="square">
            <a:spAutoFit/>
          </a:bodyPr>
          <a:lstStyle/>
          <a:p>
            <a:pPr algn="l"/>
            <a:r>
              <a:rPr sz="1100" b="1">
                <a:solidFill>
                  <a:srgbClr val="222244"/>
                </a:solidFill>
                <a:latin typeface="Calibri"/>
              </a:rPr>
              <a:t>Booking: input loop</a:t>
            </a:r>
          </a:p>
        </p:txBody>
      </p:sp>
      <p:sp>
        <p:nvSpPr>
          <p:cNvPr id="64" name="TextBox 63"/>
          <p:cNvSpPr txBox="1"/>
          <p:nvPr/>
        </p:nvSpPr>
        <p:spPr>
          <a:xfrm>
            <a:off x="3218688" y="4809744"/>
            <a:ext cx="5943600" cy="347472"/>
          </a:xfrm>
          <a:prstGeom prst="rect">
            <a:avLst/>
          </a:prstGeom>
          <a:noFill/>
        </p:spPr>
        <p:txBody>
          <a:bodyPr wrap="square">
            <a:spAutoFit/>
          </a:bodyPr>
          <a:lstStyle/>
          <a:p>
            <a:pPr algn="l"/>
            <a:r>
              <a:rPr sz="1000" b="0">
                <a:solidFill>
                  <a:srgbClr val="222244"/>
                </a:solidFill>
                <a:latin typeface="Calibri"/>
              </a:rPr>
              <a:t>tasks/send → input-required × 3 → completed</a:t>
            </a:r>
          </a:p>
        </p:txBody>
      </p:sp>
      <p:sp>
        <p:nvSpPr>
          <p:cNvPr id="65" name="Rectangle 64"/>
          <p:cNvSpPr/>
          <p:nvPr/>
        </p:nvSpPr>
        <p:spPr>
          <a:xfrm>
            <a:off x="9189720" y="4828032"/>
            <a:ext cx="2743200" cy="347472"/>
          </a:xfrm>
          <a:prstGeom prst="rect">
            <a:avLst/>
          </a:prstGeom>
          <a:solidFill>
            <a:srgbClr val="7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189720" y="4828032"/>
            <a:ext cx="2743200" cy="347472"/>
          </a:xfrm>
          <a:prstGeom prst="rect">
            <a:avLst/>
          </a:prstGeom>
          <a:noFill/>
        </p:spPr>
        <p:txBody>
          <a:bodyPr wrap="square">
            <a:spAutoFit/>
          </a:bodyPr>
          <a:lstStyle/>
          <a:p>
            <a:pPr algn="ctr"/>
            <a:r>
              <a:rPr sz="1000" b="0">
                <a:solidFill>
                  <a:srgbClr val="FFFFFF"/>
                </a:solidFill>
                <a:latin typeface="Calibri"/>
              </a:rPr>
              <a:t>Input Loop</a:t>
            </a:r>
          </a:p>
        </p:txBody>
      </p:sp>
      <p:sp>
        <p:nvSpPr>
          <p:cNvPr id="67" name="Rectangle 66"/>
          <p:cNvSpPr/>
          <p:nvPr/>
        </p:nvSpPr>
        <p:spPr>
          <a:xfrm>
            <a:off x="182880" y="5257800"/>
            <a:ext cx="11795760" cy="475488"/>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82880" y="5257800"/>
            <a:ext cx="109728" cy="47548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47472" y="5285232"/>
            <a:ext cx="502920" cy="347472"/>
          </a:xfrm>
          <a:prstGeom prst="rect">
            <a:avLst/>
          </a:prstGeom>
          <a:noFill/>
        </p:spPr>
        <p:txBody>
          <a:bodyPr wrap="square">
            <a:spAutoFit/>
          </a:bodyPr>
          <a:lstStyle/>
          <a:p>
            <a:pPr algn="ctr"/>
            <a:r>
              <a:rPr sz="1100" b="1">
                <a:solidFill>
                  <a:srgbClr val="28A745"/>
                </a:solidFill>
                <a:latin typeface="Calibri"/>
              </a:rPr>
              <a:t>9</a:t>
            </a:r>
          </a:p>
        </p:txBody>
      </p:sp>
      <p:sp>
        <p:nvSpPr>
          <p:cNvPr id="70" name="TextBox 69"/>
          <p:cNvSpPr txBox="1"/>
          <p:nvPr/>
        </p:nvSpPr>
        <p:spPr>
          <a:xfrm>
            <a:off x="896112" y="5285232"/>
            <a:ext cx="2240280" cy="347472"/>
          </a:xfrm>
          <a:prstGeom prst="rect">
            <a:avLst/>
          </a:prstGeom>
          <a:noFill/>
        </p:spPr>
        <p:txBody>
          <a:bodyPr wrap="square">
            <a:spAutoFit/>
          </a:bodyPr>
          <a:lstStyle/>
          <a:p>
            <a:pPr algn="l"/>
            <a:r>
              <a:rPr sz="1100" b="1">
                <a:solidFill>
                  <a:srgbClr val="222244"/>
                </a:solidFill>
                <a:latin typeface="Calibri"/>
              </a:rPr>
              <a:t>Aggregate</a:t>
            </a:r>
          </a:p>
        </p:txBody>
      </p:sp>
      <p:sp>
        <p:nvSpPr>
          <p:cNvPr id="71" name="TextBox 70"/>
          <p:cNvSpPr txBox="1"/>
          <p:nvPr/>
        </p:nvSpPr>
        <p:spPr>
          <a:xfrm>
            <a:off x="3218688" y="5285232"/>
            <a:ext cx="5943600" cy="347472"/>
          </a:xfrm>
          <a:prstGeom prst="rect">
            <a:avLst/>
          </a:prstGeom>
          <a:noFill/>
        </p:spPr>
        <p:txBody>
          <a:bodyPr wrap="square">
            <a:spAutoFit/>
          </a:bodyPr>
          <a:lstStyle/>
          <a:p>
            <a:pPr algn="l"/>
            <a:r>
              <a:rPr sz="1000" b="0">
                <a:solidFill>
                  <a:srgbClr val="222244"/>
                </a:solidFill>
                <a:latin typeface="Calibri"/>
              </a:rPr>
              <a:t>Combine all 4 artifacts → unified itinerary dict</a:t>
            </a:r>
          </a:p>
        </p:txBody>
      </p:sp>
      <p:sp>
        <p:nvSpPr>
          <p:cNvPr id="72" name="Rectangle 71"/>
          <p:cNvSpPr/>
          <p:nvPr/>
        </p:nvSpPr>
        <p:spPr>
          <a:xfrm>
            <a:off x="9189720" y="5303520"/>
            <a:ext cx="2743200" cy="347472"/>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189720" y="5303520"/>
            <a:ext cx="2743200" cy="347472"/>
          </a:xfrm>
          <a:prstGeom prst="rect">
            <a:avLst/>
          </a:prstGeom>
          <a:noFill/>
        </p:spPr>
        <p:txBody>
          <a:bodyPr wrap="square">
            <a:spAutoFit/>
          </a:bodyPr>
          <a:lstStyle/>
          <a:p>
            <a:pPr algn="ctr"/>
            <a:r>
              <a:rPr sz="1000" b="0">
                <a:solidFill>
                  <a:srgbClr val="FFFFFF"/>
                </a:solidFill>
                <a:latin typeface="Calibri"/>
              </a:rPr>
              <a:t>Aggregate</a:t>
            </a:r>
          </a:p>
        </p:txBody>
      </p:sp>
      <p:sp>
        <p:nvSpPr>
          <p:cNvPr id="74" name="Rectangle 73"/>
          <p:cNvSpPr/>
          <p:nvPr/>
        </p:nvSpPr>
        <p:spPr>
          <a:xfrm>
            <a:off x="182880" y="5733288"/>
            <a:ext cx="11795760" cy="475488"/>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182880" y="5733288"/>
            <a:ext cx="109728" cy="4754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347472" y="5760720"/>
            <a:ext cx="502920" cy="347472"/>
          </a:xfrm>
          <a:prstGeom prst="rect">
            <a:avLst/>
          </a:prstGeom>
          <a:noFill/>
        </p:spPr>
        <p:txBody>
          <a:bodyPr wrap="square">
            <a:spAutoFit/>
          </a:bodyPr>
          <a:lstStyle/>
          <a:p>
            <a:pPr algn="ctr"/>
            <a:r>
              <a:rPr sz="1100" b="1">
                <a:solidFill>
                  <a:srgbClr val="1B3A6B"/>
                </a:solidFill>
                <a:latin typeface="Calibri"/>
              </a:rPr>
              <a:t>10</a:t>
            </a:r>
          </a:p>
        </p:txBody>
      </p:sp>
      <p:sp>
        <p:nvSpPr>
          <p:cNvPr id="77" name="TextBox 76"/>
          <p:cNvSpPr txBox="1"/>
          <p:nvPr/>
        </p:nvSpPr>
        <p:spPr>
          <a:xfrm>
            <a:off x="896112" y="5760720"/>
            <a:ext cx="2240280" cy="347472"/>
          </a:xfrm>
          <a:prstGeom prst="rect">
            <a:avLst/>
          </a:prstGeom>
          <a:noFill/>
        </p:spPr>
        <p:txBody>
          <a:bodyPr wrap="square">
            <a:spAutoFit/>
          </a:bodyPr>
          <a:lstStyle/>
          <a:p>
            <a:pPr algn="l"/>
            <a:r>
              <a:rPr sz="1100" b="1">
                <a:solidFill>
                  <a:srgbClr val="222244"/>
                </a:solidFill>
                <a:latin typeface="Calibri"/>
              </a:rPr>
              <a:t>Return to user</a:t>
            </a:r>
          </a:p>
        </p:txBody>
      </p:sp>
      <p:sp>
        <p:nvSpPr>
          <p:cNvPr id="78" name="TextBox 77"/>
          <p:cNvSpPr txBox="1"/>
          <p:nvPr/>
        </p:nvSpPr>
        <p:spPr>
          <a:xfrm>
            <a:off x="3218688" y="5760720"/>
            <a:ext cx="5943600" cy="347472"/>
          </a:xfrm>
          <a:prstGeom prst="rect">
            <a:avLst/>
          </a:prstGeom>
          <a:noFill/>
        </p:spPr>
        <p:txBody>
          <a:bodyPr wrap="square">
            <a:spAutoFit/>
          </a:bodyPr>
          <a:lstStyle/>
          <a:p>
            <a:pPr algn="l"/>
            <a:r>
              <a:rPr sz="1000" b="0">
                <a:solidFill>
                  <a:srgbClr val="222244"/>
                </a:solidFill>
                <a:latin typeface="Calibri"/>
              </a:rPr>
              <a:t>Print formatted travel plan with booking ref</a:t>
            </a:r>
          </a:p>
        </p:txBody>
      </p:sp>
      <p:sp>
        <p:nvSpPr>
          <p:cNvPr id="79" name="Rectangle 78"/>
          <p:cNvSpPr/>
          <p:nvPr/>
        </p:nvSpPr>
        <p:spPr>
          <a:xfrm>
            <a:off x="9189720" y="5779007"/>
            <a:ext cx="2743200" cy="34747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9189720" y="5779007"/>
            <a:ext cx="2743200" cy="347472"/>
          </a:xfrm>
          <a:prstGeom prst="rect">
            <a:avLst/>
          </a:prstGeom>
          <a:noFill/>
        </p:spPr>
        <p:txBody>
          <a:bodyPr wrap="square">
            <a:spAutoFit/>
          </a:bodyPr>
          <a:lstStyle/>
          <a:p>
            <a:pPr algn="ctr"/>
            <a:r>
              <a:rPr sz="1000" b="0">
                <a:solidFill>
                  <a:srgbClr val="FFFFFF"/>
                </a:solidFill>
                <a:latin typeface="Calibri"/>
              </a:rPr>
              <a:t>Response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Complete A2A Feature Coverage</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Every protocol feature demonstrated in this tutorial</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82880" y="1115568"/>
            <a:ext cx="11795760" cy="3200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1133856"/>
            <a:ext cx="5029200" cy="256032"/>
          </a:xfrm>
          <a:prstGeom prst="rect">
            <a:avLst/>
          </a:prstGeom>
          <a:noFill/>
        </p:spPr>
        <p:txBody>
          <a:bodyPr wrap="square">
            <a:spAutoFit/>
          </a:bodyPr>
          <a:lstStyle/>
          <a:p>
            <a:pPr algn="l"/>
            <a:r>
              <a:rPr sz="1000" b="1">
                <a:solidFill>
                  <a:srgbClr val="FFFFFF"/>
                </a:solidFill>
                <a:latin typeface="Calibri"/>
              </a:rPr>
              <a:t>A2A Feature</a:t>
            </a:r>
          </a:p>
        </p:txBody>
      </p:sp>
      <p:sp>
        <p:nvSpPr>
          <p:cNvPr id="8" name="TextBox 7"/>
          <p:cNvSpPr txBox="1"/>
          <p:nvPr/>
        </p:nvSpPr>
        <p:spPr>
          <a:xfrm>
            <a:off x="5394960" y="1133856"/>
            <a:ext cx="1828800" cy="256032"/>
          </a:xfrm>
          <a:prstGeom prst="rect">
            <a:avLst/>
          </a:prstGeom>
          <a:noFill/>
        </p:spPr>
        <p:txBody>
          <a:bodyPr wrap="square">
            <a:spAutoFit/>
          </a:bodyPr>
          <a:lstStyle/>
          <a:p>
            <a:pPr algn="l"/>
            <a:r>
              <a:rPr sz="1000" b="1">
                <a:solidFill>
                  <a:srgbClr val="FFFFFF"/>
                </a:solidFill>
                <a:latin typeface="Calibri"/>
              </a:rPr>
              <a:t>Section(s)</a:t>
            </a:r>
          </a:p>
        </p:txBody>
      </p:sp>
      <p:sp>
        <p:nvSpPr>
          <p:cNvPr id="9" name="TextBox 8"/>
          <p:cNvSpPr txBox="1"/>
          <p:nvPr/>
        </p:nvSpPr>
        <p:spPr>
          <a:xfrm>
            <a:off x="7315200" y="1133856"/>
            <a:ext cx="2743200" cy="256032"/>
          </a:xfrm>
          <a:prstGeom prst="rect">
            <a:avLst/>
          </a:prstGeom>
          <a:noFill/>
        </p:spPr>
        <p:txBody>
          <a:bodyPr wrap="square">
            <a:spAutoFit/>
          </a:bodyPr>
          <a:lstStyle/>
          <a:p>
            <a:pPr algn="l"/>
            <a:r>
              <a:rPr sz="1000" b="1">
                <a:solidFill>
                  <a:srgbClr val="FFFFFF"/>
                </a:solidFill>
                <a:latin typeface="Calibri"/>
              </a:rPr>
              <a:t>Agent/Component</a:t>
            </a:r>
          </a:p>
        </p:txBody>
      </p:sp>
      <p:sp>
        <p:nvSpPr>
          <p:cNvPr id="10" name="TextBox 9"/>
          <p:cNvSpPr txBox="1"/>
          <p:nvPr/>
        </p:nvSpPr>
        <p:spPr>
          <a:xfrm>
            <a:off x="10149840" y="1133856"/>
            <a:ext cx="1737360" cy="256032"/>
          </a:xfrm>
          <a:prstGeom prst="rect">
            <a:avLst/>
          </a:prstGeom>
          <a:noFill/>
        </p:spPr>
        <p:txBody>
          <a:bodyPr wrap="square">
            <a:spAutoFit/>
          </a:bodyPr>
          <a:lstStyle/>
          <a:p>
            <a:pPr algn="l"/>
            <a:r>
              <a:rPr sz="1000" b="1">
                <a:solidFill>
                  <a:srgbClr val="FFFFFF"/>
                </a:solidFill>
                <a:latin typeface="Calibri"/>
              </a:rPr>
              <a:t>Status</a:t>
            </a:r>
          </a:p>
        </p:txBody>
      </p:sp>
      <p:sp>
        <p:nvSpPr>
          <p:cNvPr id="11" name="Rectangle 10"/>
          <p:cNvSpPr/>
          <p:nvPr/>
        </p:nvSpPr>
        <p:spPr>
          <a:xfrm>
            <a:off x="182880" y="1453896"/>
            <a:ext cx="11795760" cy="260603"/>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4320" y="1463040"/>
            <a:ext cx="4983480" cy="228600"/>
          </a:xfrm>
          <a:prstGeom prst="rect">
            <a:avLst/>
          </a:prstGeom>
          <a:noFill/>
        </p:spPr>
        <p:txBody>
          <a:bodyPr wrap="square">
            <a:spAutoFit/>
          </a:bodyPr>
          <a:lstStyle/>
          <a:p>
            <a:pPr algn="l"/>
            <a:r>
              <a:rPr sz="950" b="0">
                <a:solidFill>
                  <a:srgbClr val="222244"/>
                </a:solidFill>
                <a:latin typeface="Calibri"/>
              </a:rPr>
              <a:t>Agent Cards (/.well-known/agent.json)</a:t>
            </a:r>
          </a:p>
        </p:txBody>
      </p:sp>
      <p:sp>
        <p:nvSpPr>
          <p:cNvPr id="13" name="TextBox 12"/>
          <p:cNvSpPr txBox="1"/>
          <p:nvPr/>
        </p:nvSpPr>
        <p:spPr>
          <a:xfrm>
            <a:off x="5394960" y="1463040"/>
            <a:ext cx="1737360" cy="228600"/>
          </a:xfrm>
          <a:prstGeom prst="rect">
            <a:avLst/>
          </a:prstGeom>
          <a:noFill/>
        </p:spPr>
        <p:txBody>
          <a:bodyPr wrap="square">
            <a:spAutoFit/>
          </a:bodyPr>
          <a:lstStyle/>
          <a:p>
            <a:pPr algn="ctr"/>
            <a:r>
              <a:rPr sz="950" b="0">
                <a:solidFill>
                  <a:srgbClr val="1B3A6B"/>
                </a:solidFill>
                <a:latin typeface="Calibri"/>
              </a:rPr>
              <a:t>Section 2</a:t>
            </a:r>
          </a:p>
        </p:txBody>
      </p:sp>
      <p:sp>
        <p:nvSpPr>
          <p:cNvPr id="14" name="TextBox 13"/>
          <p:cNvSpPr txBox="1"/>
          <p:nvPr/>
        </p:nvSpPr>
        <p:spPr>
          <a:xfrm>
            <a:off x="7315200" y="1463040"/>
            <a:ext cx="2651760" cy="228600"/>
          </a:xfrm>
          <a:prstGeom prst="rect">
            <a:avLst/>
          </a:prstGeom>
          <a:noFill/>
        </p:spPr>
        <p:txBody>
          <a:bodyPr wrap="square">
            <a:spAutoFit/>
          </a:bodyPr>
          <a:lstStyle/>
          <a:p>
            <a:pPr algn="l"/>
            <a:r>
              <a:rPr sz="950" b="0">
                <a:solidFill>
                  <a:srgbClr val="222244"/>
                </a:solidFill>
                <a:latin typeface="Calibri"/>
              </a:rPr>
              <a:t>All 4 agents</a:t>
            </a:r>
          </a:p>
        </p:txBody>
      </p:sp>
      <p:sp>
        <p:nvSpPr>
          <p:cNvPr id="15" name="TextBox 14"/>
          <p:cNvSpPr txBox="1"/>
          <p:nvPr/>
        </p:nvSpPr>
        <p:spPr>
          <a:xfrm>
            <a:off x="10149840" y="1463040"/>
            <a:ext cx="1691640" cy="228600"/>
          </a:xfrm>
          <a:prstGeom prst="rect">
            <a:avLst/>
          </a:prstGeom>
          <a:noFill/>
        </p:spPr>
        <p:txBody>
          <a:bodyPr wrap="square">
            <a:spAutoFit/>
          </a:bodyPr>
          <a:lstStyle/>
          <a:p>
            <a:pPr algn="ctr"/>
            <a:r>
              <a:rPr sz="950" b="1">
                <a:solidFill>
                  <a:srgbClr val="28A745"/>
                </a:solidFill>
                <a:latin typeface="Calibri"/>
              </a:rPr>
              <a:t>✓</a:t>
            </a:r>
          </a:p>
        </p:txBody>
      </p:sp>
      <p:sp>
        <p:nvSpPr>
          <p:cNvPr id="16" name="Rectangle 15"/>
          <p:cNvSpPr/>
          <p:nvPr/>
        </p:nvSpPr>
        <p:spPr>
          <a:xfrm>
            <a:off x="182880" y="1714500"/>
            <a:ext cx="11795760" cy="260603"/>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4320" y="1723644"/>
            <a:ext cx="4983480" cy="228600"/>
          </a:xfrm>
          <a:prstGeom prst="rect">
            <a:avLst/>
          </a:prstGeom>
          <a:noFill/>
        </p:spPr>
        <p:txBody>
          <a:bodyPr wrap="square">
            <a:spAutoFit/>
          </a:bodyPr>
          <a:lstStyle/>
          <a:p>
            <a:pPr algn="l"/>
            <a:r>
              <a:rPr sz="950" b="0">
                <a:solidFill>
                  <a:srgbClr val="222244"/>
                </a:solidFill>
                <a:latin typeface="Calibri"/>
              </a:rPr>
              <a:t>tasks/send (synchronous)</a:t>
            </a:r>
          </a:p>
        </p:txBody>
      </p:sp>
      <p:sp>
        <p:nvSpPr>
          <p:cNvPr id="18" name="TextBox 17"/>
          <p:cNvSpPr txBox="1"/>
          <p:nvPr/>
        </p:nvSpPr>
        <p:spPr>
          <a:xfrm>
            <a:off x="5394960" y="1723644"/>
            <a:ext cx="1737360" cy="228600"/>
          </a:xfrm>
          <a:prstGeom prst="rect">
            <a:avLst/>
          </a:prstGeom>
          <a:noFill/>
        </p:spPr>
        <p:txBody>
          <a:bodyPr wrap="square">
            <a:spAutoFit/>
          </a:bodyPr>
          <a:lstStyle/>
          <a:p>
            <a:pPr algn="ctr"/>
            <a:r>
              <a:rPr sz="950" b="0">
                <a:solidFill>
                  <a:srgbClr val="1B3A6B"/>
                </a:solidFill>
                <a:latin typeface="Calibri"/>
              </a:rPr>
              <a:t>Section 3</a:t>
            </a:r>
          </a:p>
        </p:txBody>
      </p:sp>
      <p:sp>
        <p:nvSpPr>
          <p:cNvPr id="19" name="TextBox 18"/>
          <p:cNvSpPr txBox="1"/>
          <p:nvPr/>
        </p:nvSpPr>
        <p:spPr>
          <a:xfrm>
            <a:off x="7315200" y="1723644"/>
            <a:ext cx="2651760" cy="228600"/>
          </a:xfrm>
          <a:prstGeom prst="rect">
            <a:avLst/>
          </a:prstGeom>
          <a:noFill/>
        </p:spPr>
        <p:txBody>
          <a:bodyPr wrap="square">
            <a:spAutoFit/>
          </a:bodyPr>
          <a:lstStyle/>
          <a:p>
            <a:pPr algn="l"/>
            <a:r>
              <a:rPr sz="950" b="0">
                <a:solidFill>
                  <a:srgbClr val="222244"/>
                </a:solidFill>
                <a:latin typeface="Calibri"/>
              </a:rPr>
              <a:t>Hotel, Booking</a:t>
            </a:r>
          </a:p>
        </p:txBody>
      </p:sp>
      <p:sp>
        <p:nvSpPr>
          <p:cNvPr id="20" name="TextBox 19"/>
          <p:cNvSpPr txBox="1"/>
          <p:nvPr/>
        </p:nvSpPr>
        <p:spPr>
          <a:xfrm>
            <a:off x="10149840" y="1723644"/>
            <a:ext cx="1691640" cy="228600"/>
          </a:xfrm>
          <a:prstGeom prst="rect">
            <a:avLst/>
          </a:prstGeom>
          <a:noFill/>
        </p:spPr>
        <p:txBody>
          <a:bodyPr wrap="square">
            <a:spAutoFit/>
          </a:bodyPr>
          <a:lstStyle/>
          <a:p>
            <a:pPr algn="ctr"/>
            <a:r>
              <a:rPr sz="950" b="1">
                <a:solidFill>
                  <a:srgbClr val="28A745"/>
                </a:solidFill>
                <a:latin typeface="Calibri"/>
              </a:rPr>
              <a:t>✓</a:t>
            </a:r>
          </a:p>
        </p:txBody>
      </p:sp>
      <p:sp>
        <p:nvSpPr>
          <p:cNvPr id="21" name="Rectangle 20"/>
          <p:cNvSpPr/>
          <p:nvPr/>
        </p:nvSpPr>
        <p:spPr>
          <a:xfrm>
            <a:off x="182880" y="1975104"/>
            <a:ext cx="11795760" cy="260603"/>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74320" y="1984248"/>
            <a:ext cx="4983480" cy="228600"/>
          </a:xfrm>
          <a:prstGeom prst="rect">
            <a:avLst/>
          </a:prstGeom>
          <a:noFill/>
        </p:spPr>
        <p:txBody>
          <a:bodyPr wrap="square">
            <a:spAutoFit/>
          </a:bodyPr>
          <a:lstStyle/>
          <a:p>
            <a:pPr algn="l"/>
            <a:r>
              <a:rPr sz="950" b="0">
                <a:solidFill>
                  <a:srgbClr val="222244"/>
                </a:solidFill>
                <a:latin typeface="Calibri"/>
              </a:rPr>
              <a:t>tasks/sendSubscribe (SSE streaming)</a:t>
            </a:r>
          </a:p>
        </p:txBody>
      </p:sp>
      <p:sp>
        <p:nvSpPr>
          <p:cNvPr id="23" name="TextBox 22"/>
          <p:cNvSpPr txBox="1"/>
          <p:nvPr/>
        </p:nvSpPr>
        <p:spPr>
          <a:xfrm>
            <a:off x="5394960" y="1984248"/>
            <a:ext cx="1737360" cy="228600"/>
          </a:xfrm>
          <a:prstGeom prst="rect">
            <a:avLst/>
          </a:prstGeom>
          <a:noFill/>
        </p:spPr>
        <p:txBody>
          <a:bodyPr wrap="square">
            <a:spAutoFit/>
          </a:bodyPr>
          <a:lstStyle/>
          <a:p>
            <a:pPr algn="ctr"/>
            <a:r>
              <a:rPr sz="950" b="0">
                <a:solidFill>
                  <a:srgbClr val="1B3A6B"/>
                </a:solidFill>
                <a:latin typeface="Calibri"/>
              </a:rPr>
              <a:t>Section 5</a:t>
            </a:r>
          </a:p>
        </p:txBody>
      </p:sp>
      <p:sp>
        <p:nvSpPr>
          <p:cNvPr id="24" name="TextBox 23"/>
          <p:cNvSpPr txBox="1"/>
          <p:nvPr/>
        </p:nvSpPr>
        <p:spPr>
          <a:xfrm>
            <a:off x="7315200" y="1984248"/>
            <a:ext cx="2651760" cy="228600"/>
          </a:xfrm>
          <a:prstGeom prst="rect">
            <a:avLst/>
          </a:prstGeom>
          <a:noFill/>
        </p:spPr>
        <p:txBody>
          <a:bodyPr wrap="square">
            <a:spAutoFit/>
          </a:bodyPr>
          <a:lstStyle/>
          <a:p>
            <a:pPr algn="l"/>
            <a:r>
              <a:rPr sz="950" b="0">
                <a:solidFill>
                  <a:srgbClr val="222244"/>
                </a:solidFill>
                <a:latin typeface="Calibri"/>
              </a:rPr>
              <a:t>Flight, Weather</a:t>
            </a:r>
          </a:p>
        </p:txBody>
      </p:sp>
      <p:sp>
        <p:nvSpPr>
          <p:cNvPr id="25" name="TextBox 24"/>
          <p:cNvSpPr txBox="1"/>
          <p:nvPr/>
        </p:nvSpPr>
        <p:spPr>
          <a:xfrm>
            <a:off x="10149840" y="1984248"/>
            <a:ext cx="1691640" cy="228600"/>
          </a:xfrm>
          <a:prstGeom prst="rect">
            <a:avLst/>
          </a:prstGeom>
          <a:noFill/>
        </p:spPr>
        <p:txBody>
          <a:bodyPr wrap="square">
            <a:spAutoFit/>
          </a:bodyPr>
          <a:lstStyle/>
          <a:p>
            <a:pPr algn="ctr"/>
            <a:r>
              <a:rPr sz="950" b="1">
                <a:solidFill>
                  <a:srgbClr val="28A745"/>
                </a:solidFill>
                <a:latin typeface="Calibri"/>
              </a:rPr>
              <a:t>✓</a:t>
            </a:r>
          </a:p>
        </p:txBody>
      </p:sp>
      <p:sp>
        <p:nvSpPr>
          <p:cNvPr id="26" name="Rectangle 25"/>
          <p:cNvSpPr/>
          <p:nvPr/>
        </p:nvSpPr>
        <p:spPr>
          <a:xfrm>
            <a:off x="182880" y="2235708"/>
            <a:ext cx="11795760" cy="260603"/>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74320" y="2244852"/>
            <a:ext cx="4983480" cy="228600"/>
          </a:xfrm>
          <a:prstGeom prst="rect">
            <a:avLst/>
          </a:prstGeom>
          <a:noFill/>
        </p:spPr>
        <p:txBody>
          <a:bodyPr wrap="square">
            <a:spAutoFit/>
          </a:bodyPr>
          <a:lstStyle/>
          <a:p>
            <a:pPr algn="l"/>
            <a:r>
              <a:rPr sz="950" b="0">
                <a:solidFill>
                  <a:srgbClr val="222244"/>
                </a:solidFill>
                <a:latin typeface="Calibri"/>
              </a:rPr>
              <a:t>tasks/get (polling)</a:t>
            </a:r>
          </a:p>
        </p:txBody>
      </p:sp>
      <p:sp>
        <p:nvSpPr>
          <p:cNvPr id="28" name="TextBox 27"/>
          <p:cNvSpPr txBox="1"/>
          <p:nvPr/>
        </p:nvSpPr>
        <p:spPr>
          <a:xfrm>
            <a:off x="5394960" y="2244852"/>
            <a:ext cx="1737360" cy="228600"/>
          </a:xfrm>
          <a:prstGeom prst="rect">
            <a:avLst/>
          </a:prstGeom>
          <a:noFill/>
        </p:spPr>
        <p:txBody>
          <a:bodyPr wrap="square">
            <a:spAutoFit/>
          </a:bodyPr>
          <a:lstStyle/>
          <a:p>
            <a:pPr algn="ctr"/>
            <a:r>
              <a:rPr sz="950" b="0">
                <a:solidFill>
                  <a:srgbClr val="1B3A6B"/>
                </a:solidFill>
                <a:latin typeface="Calibri"/>
              </a:rPr>
              <a:t>Section 4</a:t>
            </a:r>
          </a:p>
        </p:txBody>
      </p:sp>
      <p:sp>
        <p:nvSpPr>
          <p:cNvPr id="29" name="TextBox 28"/>
          <p:cNvSpPr txBox="1"/>
          <p:nvPr/>
        </p:nvSpPr>
        <p:spPr>
          <a:xfrm>
            <a:off x="7315200" y="2244852"/>
            <a:ext cx="2651760" cy="228600"/>
          </a:xfrm>
          <a:prstGeom prst="rect">
            <a:avLst/>
          </a:prstGeom>
          <a:noFill/>
        </p:spPr>
        <p:txBody>
          <a:bodyPr wrap="square">
            <a:spAutoFit/>
          </a:bodyPr>
          <a:lstStyle/>
          <a:p>
            <a:pPr algn="l"/>
            <a:r>
              <a:rPr sz="950" b="0">
                <a:solidFill>
                  <a:srgbClr val="222244"/>
                </a:solidFill>
                <a:latin typeface="Calibri"/>
              </a:rPr>
              <a:t>All agents</a:t>
            </a:r>
          </a:p>
        </p:txBody>
      </p:sp>
      <p:sp>
        <p:nvSpPr>
          <p:cNvPr id="30" name="TextBox 29"/>
          <p:cNvSpPr txBox="1"/>
          <p:nvPr/>
        </p:nvSpPr>
        <p:spPr>
          <a:xfrm>
            <a:off x="10149840" y="2244852"/>
            <a:ext cx="1691640" cy="228600"/>
          </a:xfrm>
          <a:prstGeom prst="rect">
            <a:avLst/>
          </a:prstGeom>
          <a:noFill/>
        </p:spPr>
        <p:txBody>
          <a:bodyPr wrap="square">
            <a:spAutoFit/>
          </a:bodyPr>
          <a:lstStyle/>
          <a:p>
            <a:pPr algn="ctr"/>
            <a:r>
              <a:rPr sz="950" b="1">
                <a:solidFill>
                  <a:srgbClr val="28A745"/>
                </a:solidFill>
                <a:latin typeface="Calibri"/>
              </a:rPr>
              <a:t>✓</a:t>
            </a:r>
          </a:p>
        </p:txBody>
      </p:sp>
      <p:sp>
        <p:nvSpPr>
          <p:cNvPr id="31" name="Rectangle 30"/>
          <p:cNvSpPr/>
          <p:nvPr/>
        </p:nvSpPr>
        <p:spPr>
          <a:xfrm>
            <a:off x="182880" y="2496312"/>
            <a:ext cx="11795760" cy="260603"/>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74320" y="2505456"/>
            <a:ext cx="4983480" cy="228600"/>
          </a:xfrm>
          <a:prstGeom prst="rect">
            <a:avLst/>
          </a:prstGeom>
          <a:noFill/>
        </p:spPr>
        <p:txBody>
          <a:bodyPr wrap="square">
            <a:spAutoFit/>
          </a:bodyPr>
          <a:lstStyle/>
          <a:p>
            <a:pPr algn="l"/>
            <a:r>
              <a:rPr sz="950" b="0">
                <a:solidFill>
                  <a:srgbClr val="222244"/>
                </a:solidFill>
                <a:latin typeface="Calibri"/>
              </a:rPr>
              <a:t>tasks/cancel</a:t>
            </a:r>
          </a:p>
        </p:txBody>
      </p:sp>
      <p:sp>
        <p:nvSpPr>
          <p:cNvPr id="33" name="TextBox 32"/>
          <p:cNvSpPr txBox="1"/>
          <p:nvPr/>
        </p:nvSpPr>
        <p:spPr>
          <a:xfrm>
            <a:off x="5394960" y="2505456"/>
            <a:ext cx="1737360" cy="228600"/>
          </a:xfrm>
          <a:prstGeom prst="rect">
            <a:avLst/>
          </a:prstGeom>
          <a:noFill/>
        </p:spPr>
        <p:txBody>
          <a:bodyPr wrap="square">
            <a:spAutoFit/>
          </a:bodyPr>
          <a:lstStyle/>
          <a:p>
            <a:pPr algn="ctr"/>
            <a:r>
              <a:rPr sz="950" b="0">
                <a:solidFill>
                  <a:srgbClr val="1B3A6B"/>
                </a:solidFill>
                <a:latin typeface="Calibri"/>
              </a:rPr>
              <a:t>Section 4</a:t>
            </a:r>
          </a:p>
        </p:txBody>
      </p:sp>
      <p:sp>
        <p:nvSpPr>
          <p:cNvPr id="34" name="TextBox 33"/>
          <p:cNvSpPr txBox="1"/>
          <p:nvPr/>
        </p:nvSpPr>
        <p:spPr>
          <a:xfrm>
            <a:off x="7315200" y="2505456"/>
            <a:ext cx="2651760" cy="228600"/>
          </a:xfrm>
          <a:prstGeom prst="rect">
            <a:avLst/>
          </a:prstGeom>
          <a:noFill/>
        </p:spPr>
        <p:txBody>
          <a:bodyPr wrap="square">
            <a:spAutoFit/>
          </a:bodyPr>
          <a:lstStyle/>
          <a:p>
            <a:pPr algn="l"/>
            <a:r>
              <a:rPr sz="950" b="0">
                <a:solidFill>
                  <a:srgbClr val="222244"/>
                </a:solidFill>
                <a:latin typeface="Calibri"/>
              </a:rPr>
              <a:t>All agents</a:t>
            </a:r>
          </a:p>
        </p:txBody>
      </p:sp>
      <p:sp>
        <p:nvSpPr>
          <p:cNvPr id="35" name="TextBox 34"/>
          <p:cNvSpPr txBox="1"/>
          <p:nvPr/>
        </p:nvSpPr>
        <p:spPr>
          <a:xfrm>
            <a:off x="10149840" y="2505456"/>
            <a:ext cx="1691640" cy="228600"/>
          </a:xfrm>
          <a:prstGeom prst="rect">
            <a:avLst/>
          </a:prstGeom>
          <a:noFill/>
        </p:spPr>
        <p:txBody>
          <a:bodyPr wrap="square">
            <a:spAutoFit/>
          </a:bodyPr>
          <a:lstStyle/>
          <a:p>
            <a:pPr algn="ctr"/>
            <a:r>
              <a:rPr sz="950" b="1">
                <a:solidFill>
                  <a:srgbClr val="28A745"/>
                </a:solidFill>
                <a:latin typeface="Calibri"/>
              </a:rPr>
              <a:t>✓</a:t>
            </a:r>
          </a:p>
        </p:txBody>
      </p:sp>
      <p:sp>
        <p:nvSpPr>
          <p:cNvPr id="36" name="Rectangle 35"/>
          <p:cNvSpPr/>
          <p:nvPr/>
        </p:nvSpPr>
        <p:spPr>
          <a:xfrm>
            <a:off x="182880" y="2756915"/>
            <a:ext cx="11795760" cy="260603"/>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4320" y="2766060"/>
            <a:ext cx="4983480" cy="228600"/>
          </a:xfrm>
          <a:prstGeom prst="rect">
            <a:avLst/>
          </a:prstGeom>
          <a:noFill/>
        </p:spPr>
        <p:txBody>
          <a:bodyPr wrap="square">
            <a:spAutoFit/>
          </a:bodyPr>
          <a:lstStyle/>
          <a:p>
            <a:pPr algn="l"/>
            <a:r>
              <a:rPr sz="950" b="0">
                <a:solidFill>
                  <a:srgbClr val="222244"/>
                </a:solidFill>
                <a:latin typeface="Calibri"/>
              </a:rPr>
              <a:t>TextPart</a:t>
            </a:r>
          </a:p>
        </p:txBody>
      </p:sp>
      <p:sp>
        <p:nvSpPr>
          <p:cNvPr id="38" name="TextBox 37"/>
          <p:cNvSpPr txBox="1"/>
          <p:nvPr/>
        </p:nvSpPr>
        <p:spPr>
          <a:xfrm>
            <a:off x="5394960" y="2766060"/>
            <a:ext cx="1737360" cy="228600"/>
          </a:xfrm>
          <a:prstGeom prst="rect">
            <a:avLst/>
          </a:prstGeom>
          <a:noFill/>
        </p:spPr>
        <p:txBody>
          <a:bodyPr wrap="square">
            <a:spAutoFit/>
          </a:bodyPr>
          <a:lstStyle/>
          <a:p>
            <a:pPr algn="ctr"/>
            <a:r>
              <a:rPr sz="950" b="0">
                <a:solidFill>
                  <a:srgbClr val="1B3A6B"/>
                </a:solidFill>
                <a:latin typeface="Calibri"/>
              </a:rPr>
              <a:t>Section 3</a:t>
            </a:r>
          </a:p>
        </p:txBody>
      </p:sp>
      <p:sp>
        <p:nvSpPr>
          <p:cNvPr id="39" name="TextBox 38"/>
          <p:cNvSpPr txBox="1"/>
          <p:nvPr/>
        </p:nvSpPr>
        <p:spPr>
          <a:xfrm>
            <a:off x="7315200" y="2766060"/>
            <a:ext cx="2651760" cy="228600"/>
          </a:xfrm>
          <a:prstGeom prst="rect">
            <a:avLst/>
          </a:prstGeom>
          <a:noFill/>
        </p:spPr>
        <p:txBody>
          <a:bodyPr wrap="square">
            <a:spAutoFit/>
          </a:bodyPr>
          <a:lstStyle/>
          <a:p>
            <a:pPr algn="l"/>
            <a:r>
              <a:rPr sz="950" b="0">
                <a:solidFill>
                  <a:srgbClr val="222244"/>
                </a:solidFill>
                <a:latin typeface="Calibri"/>
              </a:rPr>
              <a:t>All agents</a:t>
            </a:r>
          </a:p>
        </p:txBody>
      </p:sp>
      <p:sp>
        <p:nvSpPr>
          <p:cNvPr id="40" name="TextBox 39"/>
          <p:cNvSpPr txBox="1"/>
          <p:nvPr/>
        </p:nvSpPr>
        <p:spPr>
          <a:xfrm>
            <a:off x="10149840" y="2766060"/>
            <a:ext cx="1691640" cy="228600"/>
          </a:xfrm>
          <a:prstGeom prst="rect">
            <a:avLst/>
          </a:prstGeom>
          <a:noFill/>
        </p:spPr>
        <p:txBody>
          <a:bodyPr wrap="square">
            <a:spAutoFit/>
          </a:bodyPr>
          <a:lstStyle/>
          <a:p>
            <a:pPr algn="ctr"/>
            <a:r>
              <a:rPr sz="950" b="1">
                <a:solidFill>
                  <a:srgbClr val="28A745"/>
                </a:solidFill>
                <a:latin typeface="Calibri"/>
              </a:rPr>
              <a:t>✓</a:t>
            </a:r>
          </a:p>
        </p:txBody>
      </p:sp>
      <p:sp>
        <p:nvSpPr>
          <p:cNvPr id="41" name="Rectangle 40"/>
          <p:cNvSpPr/>
          <p:nvPr/>
        </p:nvSpPr>
        <p:spPr>
          <a:xfrm>
            <a:off x="182880" y="3017520"/>
            <a:ext cx="11795760" cy="260603"/>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74320" y="3026664"/>
            <a:ext cx="4983480" cy="228600"/>
          </a:xfrm>
          <a:prstGeom prst="rect">
            <a:avLst/>
          </a:prstGeom>
          <a:noFill/>
        </p:spPr>
        <p:txBody>
          <a:bodyPr wrap="square">
            <a:spAutoFit/>
          </a:bodyPr>
          <a:lstStyle/>
          <a:p>
            <a:pPr algn="l"/>
            <a:r>
              <a:rPr sz="950" b="0">
                <a:solidFill>
                  <a:srgbClr val="222244"/>
                </a:solidFill>
                <a:latin typeface="Calibri"/>
              </a:rPr>
              <a:t>FilePart — inline bytes (PDF)</a:t>
            </a:r>
          </a:p>
        </p:txBody>
      </p:sp>
      <p:sp>
        <p:nvSpPr>
          <p:cNvPr id="43" name="TextBox 42"/>
          <p:cNvSpPr txBox="1"/>
          <p:nvPr/>
        </p:nvSpPr>
        <p:spPr>
          <a:xfrm>
            <a:off x="5394960" y="3026664"/>
            <a:ext cx="1737360" cy="228600"/>
          </a:xfrm>
          <a:prstGeom prst="rect">
            <a:avLst/>
          </a:prstGeom>
          <a:noFill/>
        </p:spPr>
        <p:txBody>
          <a:bodyPr wrap="square">
            <a:spAutoFit/>
          </a:bodyPr>
          <a:lstStyle/>
          <a:p>
            <a:pPr algn="ctr"/>
            <a:r>
              <a:rPr sz="950" b="0">
                <a:solidFill>
                  <a:srgbClr val="1B3A6B"/>
                </a:solidFill>
                <a:latin typeface="Calibri"/>
              </a:rPr>
              <a:t>Section 6</a:t>
            </a:r>
          </a:p>
        </p:txBody>
      </p:sp>
      <p:sp>
        <p:nvSpPr>
          <p:cNvPr id="44" name="TextBox 43"/>
          <p:cNvSpPr txBox="1"/>
          <p:nvPr/>
        </p:nvSpPr>
        <p:spPr>
          <a:xfrm>
            <a:off x="7315200" y="3026664"/>
            <a:ext cx="2651760" cy="228600"/>
          </a:xfrm>
          <a:prstGeom prst="rect">
            <a:avLst/>
          </a:prstGeom>
          <a:noFill/>
        </p:spPr>
        <p:txBody>
          <a:bodyPr wrap="square">
            <a:spAutoFit/>
          </a:bodyPr>
          <a:lstStyle/>
          <a:p>
            <a:pPr algn="l"/>
            <a:r>
              <a:rPr sz="950" b="0">
                <a:solidFill>
                  <a:srgbClr val="222244"/>
                </a:solidFill>
                <a:latin typeface="Calibri"/>
              </a:rPr>
              <a:t>Hotel Agent</a:t>
            </a:r>
          </a:p>
        </p:txBody>
      </p:sp>
      <p:sp>
        <p:nvSpPr>
          <p:cNvPr id="45" name="TextBox 44"/>
          <p:cNvSpPr txBox="1"/>
          <p:nvPr/>
        </p:nvSpPr>
        <p:spPr>
          <a:xfrm>
            <a:off x="10149840" y="3026664"/>
            <a:ext cx="1691640" cy="228600"/>
          </a:xfrm>
          <a:prstGeom prst="rect">
            <a:avLst/>
          </a:prstGeom>
          <a:noFill/>
        </p:spPr>
        <p:txBody>
          <a:bodyPr wrap="square">
            <a:spAutoFit/>
          </a:bodyPr>
          <a:lstStyle/>
          <a:p>
            <a:pPr algn="ctr"/>
            <a:r>
              <a:rPr sz="950" b="1">
                <a:solidFill>
                  <a:srgbClr val="28A745"/>
                </a:solidFill>
                <a:latin typeface="Calibri"/>
              </a:rPr>
              <a:t>✓</a:t>
            </a:r>
          </a:p>
        </p:txBody>
      </p:sp>
      <p:sp>
        <p:nvSpPr>
          <p:cNvPr id="46" name="Rectangle 45"/>
          <p:cNvSpPr/>
          <p:nvPr/>
        </p:nvSpPr>
        <p:spPr>
          <a:xfrm>
            <a:off x="182880" y="3278124"/>
            <a:ext cx="11795760" cy="260603"/>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74320" y="3287268"/>
            <a:ext cx="4983480" cy="228600"/>
          </a:xfrm>
          <a:prstGeom prst="rect">
            <a:avLst/>
          </a:prstGeom>
          <a:noFill/>
        </p:spPr>
        <p:txBody>
          <a:bodyPr wrap="square">
            <a:spAutoFit/>
          </a:bodyPr>
          <a:lstStyle/>
          <a:p>
            <a:pPr algn="l"/>
            <a:r>
              <a:rPr sz="950" b="0">
                <a:solidFill>
                  <a:srgbClr val="222244"/>
                </a:solidFill>
                <a:latin typeface="Calibri"/>
              </a:rPr>
              <a:t>FilePart — hosted URI</a:t>
            </a:r>
          </a:p>
        </p:txBody>
      </p:sp>
      <p:sp>
        <p:nvSpPr>
          <p:cNvPr id="48" name="TextBox 47"/>
          <p:cNvSpPr txBox="1"/>
          <p:nvPr/>
        </p:nvSpPr>
        <p:spPr>
          <a:xfrm>
            <a:off x="5394960" y="3287268"/>
            <a:ext cx="1737360" cy="228600"/>
          </a:xfrm>
          <a:prstGeom prst="rect">
            <a:avLst/>
          </a:prstGeom>
          <a:noFill/>
        </p:spPr>
        <p:txBody>
          <a:bodyPr wrap="square">
            <a:spAutoFit/>
          </a:bodyPr>
          <a:lstStyle/>
          <a:p>
            <a:pPr algn="ctr"/>
            <a:r>
              <a:rPr sz="950" b="0">
                <a:solidFill>
                  <a:srgbClr val="1B3A6B"/>
                </a:solidFill>
                <a:latin typeface="Calibri"/>
              </a:rPr>
              <a:t>Section 6</a:t>
            </a:r>
          </a:p>
        </p:txBody>
      </p:sp>
      <p:sp>
        <p:nvSpPr>
          <p:cNvPr id="49" name="TextBox 48"/>
          <p:cNvSpPr txBox="1"/>
          <p:nvPr/>
        </p:nvSpPr>
        <p:spPr>
          <a:xfrm>
            <a:off x="7315200" y="3287268"/>
            <a:ext cx="2651760" cy="228600"/>
          </a:xfrm>
          <a:prstGeom prst="rect">
            <a:avLst/>
          </a:prstGeom>
          <a:noFill/>
        </p:spPr>
        <p:txBody>
          <a:bodyPr wrap="square">
            <a:spAutoFit/>
          </a:bodyPr>
          <a:lstStyle/>
          <a:p>
            <a:pPr algn="l"/>
            <a:r>
              <a:rPr sz="950" b="0">
                <a:solidFill>
                  <a:srgbClr val="222244"/>
                </a:solidFill>
                <a:latin typeface="Calibri"/>
              </a:rPr>
              <a:t>Hotel Agent</a:t>
            </a:r>
          </a:p>
        </p:txBody>
      </p:sp>
      <p:sp>
        <p:nvSpPr>
          <p:cNvPr id="50" name="TextBox 49"/>
          <p:cNvSpPr txBox="1"/>
          <p:nvPr/>
        </p:nvSpPr>
        <p:spPr>
          <a:xfrm>
            <a:off x="10149840" y="3287268"/>
            <a:ext cx="1691640" cy="228600"/>
          </a:xfrm>
          <a:prstGeom prst="rect">
            <a:avLst/>
          </a:prstGeom>
          <a:noFill/>
        </p:spPr>
        <p:txBody>
          <a:bodyPr wrap="square">
            <a:spAutoFit/>
          </a:bodyPr>
          <a:lstStyle/>
          <a:p>
            <a:pPr algn="ctr"/>
            <a:r>
              <a:rPr sz="950" b="1">
                <a:solidFill>
                  <a:srgbClr val="28A745"/>
                </a:solidFill>
                <a:latin typeface="Calibri"/>
              </a:rPr>
              <a:t>✓</a:t>
            </a:r>
          </a:p>
        </p:txBody>
      </p:sp>
      <p:sp>
        <p:nvSpPr>
          <p:cNvPr id="51" name="Rectangle 50"/>
          <p:cNvSpPr/>
          <p:nvPr/>
        </p:nvSpPr>
        <p:spPr>
          <a:xfrm>
            <a:off x="182880" y="3538728"/>
            <a:ext cx="11795760" cy="260603"/>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4320" y="3547872"/>
            <a:ext cx="4983480" cy="228600"/>
          </a:xfrm>
          <a:prstGeom prst="rect">
            <a:avLst/>
          </a:prstGeom>
          <a:noFill/>
        </p:spPr>
        <p:txBody>
          <a:bodyPr wrap="square">
            <a:spAutoFit/>
          </a:bodyPr>
          <a:lstStyle/>
          <a:p>
            <a:pPr algn="l"/>
            <a:r>
              <a:rPr sz="950" b="0">
                <a:solidFill>
                  <a:srgbClr val="222244"/>
                </a:solidFill>
                <a:latin typeface="Calibri"/>
              </a:rPr>
              <a:t>DataPart — structured JSON</a:t>
            </a:r>
          </a:p>
        </p:txBody>
      </p:sp>
      <p:sp>
        <p:nvSpPr>
          <p:cNvPr id="53" name="TextBox 52"/>
          <p:cNvSpPr txBox="1"/>
          <p:nvPr/>
        </p:nvSpPr>
        <p:spPr>
          <a:xfrm>
            <a:off x="5394960" y="3547872"/>
            <a:ext cx="1737360" cy="228600"/>
          </a:xfrm>
          <a:prstGeom prst="rect">
            <a:avLst/>
          </a:prstGeom>
          <a:noFill/>
        </p:spPr>
        <p:txBody>
          <a:bodyPr wrap="square">
            <a:spAutoFit/>
          </a:bodyPr>
          <a:lstStyle/>
          <a:p>
            <a:pPr algn="ctr"/>
            <a:r>
              <a:rPr sz="950" b="0">
                <a:solidFill>
                  <a:srgbClr val="1B3A6B"/>
                </a:solidFill>
                <a:latin typeface="Calibri"/>
              </a:rPr>
              <a:t>Section 3,6</a:t>
            </a:r>
          </a:p>
        </p:txBody>
      </p:sp>
      <p:sp>
        <p:nvSpPr>
          <p:cNvPr id="54" name="TextBox 53"/>
          <p:cNvSpPr txBox="1"/>
          <p:nvPr/>
        </p:nvSpPr>
        <p:spPr>
          <a:xfrm>
            <a:off x="7315200" y="3547872"/>
            <a:ext cx="2651760" cy="228600"/>
          </a:xfrm>
          <a:prstGeom prst="rect">
            <a:avLst/>
          </a:prstGeom>
          <a:noFill/>
        </p:spPr>
        <p:txBody>
          <a:bodyPr wrap="square">
            <a:spAutoFit/>
          </a:bodyPr>
          <a:lstStyle/>
          <a:p>
            <a:pPr algn="l"/>
            <a:r>
              <a:rPr sz="950" b="0">
                <a:solidFill>
                  <a:srgbClr val="222244"/>
                </a:solidFill>
                <a:latin typeface="Calibri"/>
              </a:rPr>
              <a:t>Hotel, Booking</a:t>
            </a:r>
          </a:p>
        </p:txBody>
      </p:sp>
      <p:sp>
        <p:nvSpPr>
          <p:cNvPr id="55" name="TextBox 54"/>
          <p:cNvSpPr txBox="1"/>
          <p:nvPr/>
        </p:nvSpPr>
        <p:spPr>
          <a:xfrm>
            <a:off x="10149840" y="3547872"/>
            <a:ext cx="1691640" cy="228600"/>
          </a:xfrm>
          <a:prstGeom prst="rect">
            <a:avLst/>
          </a:prstGeom>
          <a:noFill/>
        </p:spPr>
        <p:txBody>
          <a:bodyPr wrap="square">
            <a:spAutoFit/>
          </a:bodyPr>
          <a:lstStyle/>
          <a:p>
            <a:pPr algn="ctr"/>
            <a:r>
              <a:rPr sz="950" b="1">
                <a:solidFill>
                  <a:srgbClr val="28A745"/>
                </a:solidFill>
                <a:latin typeface="Calibri"/>
              </a:rPr>
              <a:t>✓</a:t>
            </a:r>
          </a:p>
        </p:txBody>
      </p:sp>
      <p:sp>
        <p:nvSpPr>
          <p:cNvPr id="56" name="Rectangle 55"/>
          <p:cNvSpPr/>
          <p:nvPr/>
        </p:nvSpPr>
        <p:spPr>
          <a:xfrm>
            <a:off x="182880" y="3799332"/>
            <a:ext cx="11795760" cy="260603"/>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74320" y="3808476"/>
            <a:ext cx="4983480" cy="228600"/>
          </a:xfrm>
          <a:prstGeom prst="rect">
            <a:avLst/>
          </a:prstGeom>
          <a:noFill/>
        </p:spPr>
        <p:txBody>
          <a:bodyPr wrap="square">
            <a:spAutoFit/>
          </a:bodyPr>
          <a:lstStyle/>
          <a:p>
            <a:pPr algn="l"/>
            <a:r>
              <a:rPr sz="950" b="0">
                <a:solidFill>
                  <a:srgbClr val="222244"/>
                </a:solidFill>
                <a:latin typeface="Calibri"/>
              </a:rPr>
              <a:t>Task state: input-required</a:t>
            </a:r>
          </a:p>
        </p:txBody>
      </p:sp>
      <p:sp>
        <p:nvSpPr>
          <p:cNvPr id="58" name="TextBox 57"/>
          <p:cNvSpPr txBox="1"/>
          <p:nvPr/>
        </p:nvSpPr>
        <p:spPr>
          <a:xfrm>
            <a:off x="5394960" y="3808476"/>
            <a:ext cx="1737360" cy="228600"/>
          </a:xfrm>
          <a:prstGeom prst="rect">
            <a:avLst/>
          </a:prstGeom>
          <a:noFill/>
        </p:spPr>
        <p:txBody>
          <a:bodyPr wrap="square">
            <a:spAutoFit/>
          </a:bodyPr>
          <a:lstStyle/>
          <a:p>
            <a:pPr algn="ctr"/>
            <a:r>
              <a:rPr sz="950" b="0">
                <a:solidFill>
                  <a:srgbClr val="1B3A6B"/>
                </a:solidFill>
                <a:latin typeface="Calibri"/>
              </a:rPr>
              <a:t>Section 7</a:t>
            </a:r>
          </a:p>
        </p:txBody>
      </p:sp>
      <p:sp>
        <p:nvSpPr>
          <p:cNvPr id="59" name="TextBox 58"/>
          <p:cNvSpPr txBox="1"/>
          <p:nvPr/>
        </p:nvSpPr>
        <p:spPr>
          <a:xfrm>
            <a:off x="7315200" y="3808476"/>
            <a:ext cx="2651760" cy="228600"/>
          </a:xfrm>
          <a:prstGeom prst="rect">
            <a:avLst/>
          </a:prstGeom>
          <a:noFill/>
        </p:spPr>
        <p:txBody>
          <a:bodyPr wrap="square">
            <a:spAutoFit/>
          </a:bodyPr>
          <a:lstStyle/>
          <a:p>
            <a:pPr algn="l"/>
            <a:r>
              <a:rPr sz="950" b="0">
                <a:solidFill>
                  <a:srgbClr val="222244"/>
                </a:solidFill>
                <a:latin typeface="Calibri"/>
              </a:rPr>
              <a:t>Booking Agent</a:t>
            </a:r>
          </a:p>
        </p:txBody>
      </p:sp>
      <p:sp>
        <p:nvSpPr>
          <p:cNvPr id="60" name="TextBox 59"/>
          <p:cNvSpPr txBox="1"/>
          <p:nvPr/>
        </p:nvSpPr>
        <p:spPr>
          <a:xfrm>
            <a:off x="10149840" y="3808476"/>
            <a:ext cx="1691640" cy="228600"/>
          </a:xfrm>
          <a:prstGeom prst="rect">
            <a:avLst/>
          </a:prstGeom>
          <a:noFill/>
        </p:spPr>
        <p:txBody>
          <a:bodyPr wrap="square">
            <a:spAutoFit/>
          </a:bodyPr>
          <a:lstStyle/>
          <a:p>
            <a:pPr algn="ctr"/>
            <a:r>
              <a:rPr sz="950" b="1">
                <a:solidFill>
                  <a:srgbClr val="28A745"/>
                </a:solidFill>
                <a:latin typeface="Calibri"/>
              </a:rPr>
              <a:t>✓</a:t>
            </a:r>
          </a:p>
        </p:txBody>
      </p:sp>
      <p:sp>
        <p:nvSpPr>
          <p:cNvPr id="61" name="Rectangle 60"/>
          <p:cNvSpPr/>
          <p:nvPr/>
        </p:nvSpPr>
        <p:spPr>
          <a:xfrm>
            <a:off x="182880" y="4059935"/>
            <a:ext cx="11795760" cy="260603"/>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74320" y="4069079"/>
            <a:ext cx="4983480" cy="228600"/>
          </a:xfrm>
          <a:prstGeom prst="rect">
            <a:avLst/>
          </a:prstGeom>
          <a:noFill/>
        </p:spPr>
        <p:txBody>
          <a:bodyPr wrap="square">
            <a:spAutoFit/>
          </a:bodyPr>
          <a:lstStyle/>
          <a:p>
            <a:pPr algn="l"/>
            <a:r>
              <a:rPr sz="950" b="0">
                <a:solidFill>
                  <a:srgbClr val="222244"/>
                </a:solidFill>
                <a:latin typeface="Calibri"/>
              </a:rPr>
              <a:t>Push notifications (webhook)</a:t>
            </a:r>
          </a:p>
        </p:txBody>
      </p:sp>
      <p:sp>
        <p:nvSpPr>
          <p:cNvPr id="63" name="TextBox 62"/>
          <p:cNvSpPr txBox="1"/>
          <p:nvPr/>
        </p:nvSpPr>
        <p:spPr>
          <a:xfrm>
            <a:off x="5394960" y="4069079"/>
            <a:ext cx="1737360" cy="228600"/>
          </a:xfrm>
          <a:prstGeom prst="rect">
            <a:avLst/>
          </a:prstGeom>
          <a:noFill/>
        </p:spPr>
        <p:txBody>
          <a:bodyPr wrap="square">
            <a:spAutoFit/>
          </a:bodyPr>
          <a:lstStyle/>
          <a:p>
            <a:pPr algn="ctr"/>
            <a:r>
              <a:rPr sz="950" b="0">
                <a:solidFill>
                  <a:srgbClr val="1B3A6B"/>
                </a:solidFill>
                <a:latin typeface="Calibri"/>
              </a:rPr>
              <a:t>Section 8</a:t>
            </a:r>
          </a:p>
        </p:txBody>
      </p:sp>
      <p:sp>
        <p:nvSpPr>
          <p:cNvPr id="64" name="TextBox 63"/>
          <p:cNvSpPr txBox="1"/>
          <p:nvPr/>
        </p:nvSpPr>
        <p:spPr>
          <a:xfrm>
            <a:off x="7315200" y="4069079"/>
            <a:ext cx="2651760" cy="228600"/>
          </a:xfrm>
          <a:prstGeom prst="rect">
            <a:avLst/>
          </a:prstGeom>
          <a:noFill/>
        </p:spPr>
        <p:txBody>
          <a:bodyPr wrap="square">
            <a:spAutoFit/>
          </a:bodyPr>
          <a:lstStyle/>
          <a:p>
            <a:pPr algn="l"/>
            <a:r>
              <a:rPr sz="950" b="0">
                <a:solidFill>
                  <a:srgbClr val="222244"/>
                </a:solidFill>
                <a:latin typeface="Calibri"/>
              </a:rPr>
              <a:t>Booking Agent</a:t>
            </a:r>
          </a:p>
        </p:txBody>
      </p:sp>
      <p:sp>
        <p:nvSpPr>
          <p:cNvPr id="65" name="TextBox 64"/>
          <p:cNvSpPr txBox="1"/>
          <p:nvPr/>
        </p:nvSpPr>
        <p:spPr>
          <a:xfrm>
            <a:off x="10149840" y="4069079"/>
            <a:ext cx="1691640" cy="228600"/>
          </a:xfrm>
          <a:prstGeom prst="rect">
            <a:avLst/>
          </a:prstGeom>
          <a:noFill/>
        </p:spPr>
        <p:txBody>
          <a:bodyPr wrap="square">
            <a:spAutoFit/>
          </a:bodyPr>
          <a:lstStyle/>
          <a:p>
            <a:pPr algn="ctr"/>
            <a:r>
              <a:rPr sz="950" b="1">
                <a:solidFill>
                  <a:srgbClr val="28A745"/>
                </a:solidFill>
                <a:latin typeface="Calibri"/>
              </a:rPr>
              <a:t>✓</a:t>
            </a:r>
          </a:p>
        </p:txBody>
      </p:sp>
      <p:sp>
        <p:nvSpPr>
          <p:cNvPr id="66" name="Rectangle 65"/>
          <p:cNvSpPr/>
          <p:nvPr/>
        </p:nvSpPr>
        <p:spPr>
          <a:xfrm>
            <a:off x="182880" y="4320540"/>
            <a:ext cx="11795760" cy="260603"/>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74320" y="4329683"/>
            <a:ext cx="4983480" cy="228600"/>
          </a:xfrm>
          <a:prstGeom prst="rect">
            <a:avLst/>
          </a:prstGeom>
          <a:noFill/>
        </p:spPr>
        <p:txBody>
          <a:bodyPr wrap="square">
            <a:spAutoFit/>
          </a:bodyPr>
          <a:lstStyle/>
          <a:p>
            <a:pPr algn="l"/>
            <a:r>
              <a:rPr sz="950" b="0">
                <a:solidFill>
                  <a:srgbClr val="222244"/>
                </a:solidFill>
                <a:latin typeface="Calibri"/>
              </a:rPr>
              <a:t>tasks/pushNotification/set</a:t>
            </a:r>
          </a:p>
        </p:txBody>
      </p:sp>
      <p:sp>
        <p:nvSpPr>
          <p:cNvPr id="68" name="TextBox 67"/>
          <p:cNvSpPr txBox="1"/>
          <p:nvPr/>
        </p:nvSpPr>
        <p:spPr>
          <a:xfrm>
            <a:off x="5394960" y="4329683"/>
            <a:ext cx="1737360" cy="228600"/>
          </a:xfrm>
          <a:prstGeom prst="rect">
            <a:avLst/>
          </a:prstGeom>
          <a:noFill/>
        </p:spPr>
        <p:txBody>
          <a:bodyPr wrap="square">
            <a:spAutoFit/>
          </a:bodyPr>
          <a:lstStyle/>
          <a:p>
            <a:pPr algn="ctr"/>
            <a:r>
              <a:rPr sz="950" b="0">
                <a:solidFill>
                  <a:srgbClr val="1B3A6B"/>
                </a:solidFill>
                <a:latin typeface="Calibri"/>
              </a:rPr>
              <a:t>Section 8</a:t>
            </a:r>
          </a:p>
        </p:txBody>
      </p:sp>
      <p:sp>
        <p:nvSpPr>
          <p:cNvPr id="69" name="TextBox 68"/>
          <p:cNvSpPr txBox="1"/>
          <p:nvPr/>
        </p:nvSpPr>
        <p:spPr>
          <a:xfrm>
            <a:off x="7315200" y="4329683"/>
            <a:ext cx="2651760" cy="228600"/>
          </a:xfrm>
          <a:prstGeom prst="rect">
            <a:avLst/>
          </a:prstGeom>
          <a:noFill/>
        </p:spPr>
        <p:txBody>
          <a:bodyPr wrap="square">
            <a:spAutoFit/>
          </a:bodyPr>
          <a:lstStyle/>
          <a:p>
            <a:pPr algn="l"/>
            <a:r>
              <a:rPr sz="950" b="0">
                <a:solidFill>
                  <a:srgbClr val="222244"/>
                </a:solidFill>
                <a:latin typeface="Calibri"/>
              </a:rPr>
              <a:t>Booking Agent</a:t>
            </a:r>
          </a:p>
        </p:txBody>
      </p:sp>
      <p:sp>
        <p:nvSpPr>
          <p:cNvPr id="70" name="TextBox 69"/>
          <p:cNvSpPr txBox="1"/>
          <p:nvPr/>
        </p:nvSpPr>
        <p:spPr>
          <a:xfrm>
            <a:off x="10149840" y="4329683"/>
            <a:ext cx="1691640" cy="228600"/>
          </a:xfrm>
          <a:prstGeom prst="rect">
            <a:avLst/>
          </a:prstGeom>
          <a:noFill/>
        </p:spPr>
        <p:txBody>
          <a:bodyPr wrap="square">
            <a:spAutoFit/>
          </a:bodyPr>
          <a:lstStyle/>
          <a:p>
            <a:pPr algn="ctr"/>
            <a:r>
              <a:rPr sz="950" b="1">
                <a:solidFill>
                  <a:srgbClr val="28A745"/>
                </a:solidFill>
                <a:latin typeface="Calibri"/>
              </a:rPr>
              <a:t>✓</a:t>
            </a:r>
          </a:p>
        </p:txBody>
      </p:sp>
      <p:sp>
        <p:nvSpPr>
          <p:cNvPr id="71" name="Rectangle 70"/>
          <p:cNvSpPr/>
          <p:nvPr/>
        </p:nvSpPr>
        <p:spPr>
          <a:xfrm>
            <a:off x="182880" y="4581144"/>
            <a:ext cx="11795760" cy="260603"/>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274320" y="4590288"/>
            <a:ext cx="4983480" cy="228600"/>
          </a:xfrm>
          <a:prstGeom prst="rect">
            <a:avLst/>
          </a:prstGeom>
          <a:noFill/>
        </p:spPr>
        <p:txBody>
          <a:bodyPr wrap="square">
            <a:spAutoFit/>
          </a:bodyPr>
          <a:lstStyle/>
          <a:p>
            <a:pPr algn="l"/>
            <a:r>
              <a:rPr sz="950" b="0">
                <a:solidFill>
                  <a:srgbClr val="222244"/>
                </a:solidFill>
                <a:latin typeface="Calibri"/>
              </a:rPr>
              <a:t>Bearer Token authentication</a:t>
            </a:r>
          </a:p>
        </p:txBody>
      </p:sp>
      <p:sp>
        <p:nvSpPr>
          <p:cNvPr id="73" name="TextBox 72"/>
          <p:cNvSpPr txBox="1"/>
          <p:nvPr/>
        </p:nvSpPr>
        <p:spPr>
          <a:xfrm>
            <a:off x="5394960" y="4590288"/>
            <a:ext cx="1737360" cy="228600"/>
          </a:xfrm>
          <a:prstGeom prst="rect">
            <a:avLst/>
          </a:prstGeom>
          <a:noFill/>
        </p:spPr>
        <p:txBody>
          <a:bodyPr wrap="square">
            <a:spAutoFit/>
          </a:bodyPr>
          <a:lstStyle/>
          <a:p>
            <a:pPr algn="ctr"/>
            <a:r>
              <a:rPr sz="950" b="0">
                <a:solidFill>
                  <a:srgbClr val="1B3A6B"/>
                </a:solidFill>
                <a:latin typeface="Calibri"/>
              </a:rPr>
              <a:t>Section 9</a:t>
            </a:r>
          </a:p>
        </p:txBody>
      </p:sp>
      <p:sp>
        <p:nvSpPr>
          <p:cNvPr id="74" name="TextBox 73"/>
          <p:cNvSpPr txBox="1"/>
          <p:nvPr/>
        </p:nvSpPr>
        <p:spPr>
          <a:xfrm>
            <a:off x="7315200" y="4590288"/>
            <a:ext cx="2651760" cy="228600"/>
          </a:xfrm>
          <a:prstGeom prst="rect">
            <a:avLst/>
          </a:prstGeom>
          <a:noFill/>
        </p:spPr>
        <p:txBody>
          <a:bodyPr wrap="square">
            <a:spAutoFit/>
          </a:bodyPr>
          <a:lstStyle/>
          <a:p>
            <a:pPr algn="l"/>
            <a:r>
              <a:rPr sz="950" b="0">
                <a:solidFill>
                  <a:srgbClr val="222244"/>
                </a:solidFill>
                <a:latin typeface="Calibri"/>
              </a:rPr>
              <a:t>Flight Agent</a:t>
            </a:r>
          </a:p>
        </p:txBody>
      </p:sp>
      <p:sp>
        <p:nvSpPr>
          <p:cNvPr id="75" name="TextBox 74"/>
          <p:cNvSpPr txBox="1"/>
          <p:nvPr/>
        </p:nvSpPr>
        <p:spPr>
          <a:xfrm>
            <a:off x="10149840" y="4590288"/>
            <a:ext cx="1691640" cy="228600"/>
          </a:xfrm>
          <a:prstGeom prst="rect">
            <a:avLst/>
          </a:prstGeom>
          <a:noFill/>
        </p:spPr>
        <p:txBody>
          <a:bodyPr wrap="square">
            <a:spAutoFit/>
          </a:bodyPr>
          <a:lstStyle/>
          <a:p>
            <a:pPr algn="ctr"/>
            <a:r>
              <a:rPr sz="950" b="1">
                <a:solidFill>
                  <a:srgbClr val="28A745"/>
                </a:solidFill>
                <a:latin typeface="Calibri"/>
              </a:rPr>
              <a:t>✓</a:t>
            </a:r>
          </a:p>
        </p:txBody>
      </p:sp>
      <p:sp>
        <p:nvSpPr>
          <p:cNvPr id="76" name="Rectangle 75"/>
          <p:cNvSpPr/>
          <p:nvPr/>
        </p:nvSpPr>
        <p:spPr>
          <a:xfrm>
            <a:off x="182880" y="4841748"/>
            <a:ext cx="11795760" cy="260603"/>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274320" y="4850892"/>
            <a:ext cx="4983480" cy="228600"/>
          </a:xfrm>
          <a:prstGeom prst="rect">
            <a:avLst/>
          </a:prstGeom>
          <a:noFill/>
        </p:spPr>
        <p:txBody>
          <a:bodyPr wrap="square">
            <a:spAutoFit/>
          </a:bodyPr>
          <a:lstStyle/>
          <a:p>
            <a:pPr algn="l"/>
            <a:r>
              <a:rPr sz="950" b="0">
                <a:solidFill>
                  <a:srgbClr val="222244"/>
                </a:solidFill>
                <a:latin typeface="Calibri"/>
              </a:rPr>
              <a:t>API Key authentication</a:t>
            </a:r>
          </a:p>
        </p:txBody>
      </p:sp>
      <p:sp>
        <p:nvSpPr>
          <p:cNvPr id="78" name="TextBox 77"/>
          <p:cNvSpPr txBox="1"/>
          <p:nvPr/>
        </p:nvSpPr>
        <p:spPr>
          <a:xfrm>
            <a:off x="5394960" y="4850892"/>
            <a:ext cx="1737360" cy="228600"/>
          </a:xfrm>
          <a:prstGeom prst="rect">
            <a:avLst/>
          </a:prstGeom>
          <a:noFill/>
        </p:spPr>
        <p:txBody>
          <a:bodyPr wrap="square">
            <a:spAutoFit/>
          </a:bodyPr>
          <a:lstStyle/>
          <a:p>
            <a:pPr algn="ctr"/>
            <a:r>
              <a:rPr sz="950" b="0">
                <a:solidFill>
                  <a:srgbClr val="1B3A6B"/>
                </a:solidFill>
                <a:latin typeface="Calibri"/>
              </a:rPr>
              <a:t>Section 9</a:t>
            </a:r>
          </a:p>
        </p:txBody>
      </p:sp>
      <p:sp>
        <p:nvSpPr>
          <p:cNvPr id="79" name="TextBox 78"/>
          <p:cNvSpPr txBox="1"/>
          <p:nvPr/>
        </p:nvSpPr>
        <p:spPr>
          <a:xfrm>
            <a:off x="7315200" y="4850892"/>
            <a:ext cx="2651760" cy="228600"/>
          </a:xfrm>
          <a:prstGeom prst="rect">
            <a:avLst/>
          </a:prstGeom>
          <a:noFill/>
        </p:spPr>
        <p:txBody>
          <a:bodyPr wrap="square">
            <a:spAutoFit/>
          </a:bodyPr>
          <a:lstStyle/>
          <a:p>
            <a:pPr algn="l"/>
            <a:r>
              <a:rPr sz="950" b="0">
                <a:solidFill>
                  <a:srgbClr val="222244"/>
                </a:solidFill>
                <a:latin typeface="Calibri"/>
              </a:rPr>
              <a:t>Hotel Agent</a:t>
            </a:r>
          </a:p>
        </p:txBody>
      </p:sp>
      <p:sp>
        <p:nvSpPr>
          <p:cNvPr id="80" name="TextBox 79"/>
          <p:cNvSpPr txBox="1"/>
          <p:nvPr/>
        </p:nvSpPr>
        <p:spPr>
          <a:xfrm>
            <a:off x="10149840" y="4850892"/>
            <a:ext cx="1691640" cy="228600"/>
          </a:xfrm>
          <a:prstGeom prst="rect">
            <a:avLst/>
          </a:prstGeom>
          <a:noFill/>
        </p:spPr>
        <p:txBody>
          <a:bodyPr wrap="square">
            <a:spAutoFit/>
          </a:bodyPr>
          <a:lstStyle/>
          <a:p>
            <a:pPr algn="ctr"/>
            <a:r>
              <a:rPr sz="950" b="1">
                <a:solidFill>
                  <a:srgbClr val="28A745"/>
                </a:solidFill>
                <a:latin typeface="Calibri"/>
              </a:rPr>
              <a:t>✓</a:t>
            </a:r>
          </a:p>
        </p:txBody>
      </p:sp>
      <p:sp>
        <p:nvSpPr>
          <p:cNvPr id="81" name="Rectangle 80"/>
          <p:cNvSpPr/>
          <p:nvPr/>
        </p:nvSpPr>
        <p:spPr>
          <a:xfrm>
            <a:off x="182880" y="5102352"/>
            <a:ext cx="11795760" cy="260603"/>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274320" y="5111496"/>
            <a:ext cx="4983480" cy="228600"/>
          </a:xfrm>
          <a:prstGeom prst="rect">
            <a:avLst/>
          </a:prstGeom>
          <a:noFill/>
        </p:spPr>
        <p:txBody>
          <a:bodyPr wrap="square">
            <a:spAutoFit/>
          </a:bodyPr>
          <a:lstStyle/>
          <a:p>
            <a:pPr algn="l"/>
            <a:r>
              <a:rPr sz="950" b="0">
                <a:solidFill>
                  <a:srgbClr val="222244"/>
                </a:solidFill>
                <a:latin typeface="Calibri"/>
              </a:rPr>
              <a:t>capabilities.streaming: true</a:t>
            </a:r>
          </a:p>
        </p:txBody>
      </p:sp>
      <p:sp>
        <p:nvSpPr>
          <p:cNvPr id="83" name="TextBox 82"/>
          <p:cNvSpPr txBox="1"/>
          <p:nvPr/>
        </p:nvSpPr>
        <p:spPr>
          <a:xfrm>
            <a:off x="5394960" y="5111496"/>
            <a:ext cx="1737360" cy="228600"/>
          </a:xfrm>
          <a:prstGeom prst="rect">
            <a:avLst/>
          </a:prstGeom>
          <a:noFill/>
        </p:spPr>
        <p:txBody>
          <a:bodyPr wrap="square">
            <a:spAutoFit/>
          </a:bodyPr>
          <a:lstStyle/>
          <a:p>
            <a:pPr algn="ctr"/>
            <a:r>
              <a:rPr sz="950" b="0">
                <a:solidFill>
                  <a:srgbClr val="1B3A6B"/>
                </a:solidFill>
                <a:latin typeface="Calibri"/>
              </a:rPr>
              <a:t>Section 5</a:t>
            </a:r>
          </a:p>
        </p:txBody>
      </p:sp>
      <p:sp>
        <p:nvSpPr>
          <p:cNvPr id="84" name="TextBox 83"/>
          <p:cNvSpPr txBox="1"/>
          <p:nvPr/>
        </p:nvSpPr>
        <p:spPr>
          <a:xfrm>
            <a:off x="7315200" y="5111496"/>
            <a:ext cx="2651760" cy="228600"/>
          </a:xfrm>
          <a:prstGeom prst="rect">
            <a:avLst/>
          </a:prstGeom>
          <a:noFill/>
        </p:spPr>
        <p:txBody>
          <a:bodyPr wrap="square">
            <a:spAutoFit/>
          </a:bodyPr>
          <a:lstStyle/>
          <a:p>
            <a:pPr algn="l"/>
            <a:r>
              <a:rPr sz="950" b="0">
                <a:solidFill>
                  <a:srgbClr val="222244"/>
                </a:solidFill>
                <a:latin typeface="Calibri"/>
              </a:rPr>
              <a:t>Flight, Weather</a:t>
            </a:r>
          </a:p>
        </p:txBody>
      </p:sp>
      <p:sp>
        <p:nvSpPr>
          <p:cNvPr id="85" name="TextBox 84"/>
          <p:cNvSpPr txBox="1"/>
          <p:nvPr/>
        </p:nvSpPr>
        <p:spPr>
          <a:xfrm>
            <a:off x="10149840" y="5111496"/>
            <a:ext cx="1691640" cy="228600"/>
          </a:xfrm>
          <a:prstGeom prst="rect">
            <a:avLst/>
          </a:prstGeom>
          <a:noFill/>
        </p:spPr>
        <p:txBody>
          <a:bodyPr wrap="square">
            <a:spAutoFit/>
          </a:bodyPr>
          <a:lstStyle/>
          <a:p>
            <a:pPr algn="ctr"/>
            <a:r>
              <a:rPr sz="950" b="1">
                <a:solidFill>
                  <a:srgbClr val="28A745"/>
                </a:solidFill>
                <a:latin typeface="Calibri"/>
              </a:rPr>
              <a:t>✓</a:t>
            </a:r>
          </a:p>
        </p:txBody>
      </p:sp>
      <p:sp>
        <p:nvSpPr>
          <p:cNvPr id="86" name="Rectangle 85"/>
          <p:cNvSpPr/>
          <p:nvPr/>
        </p:nvSpPr>
        <p:spPr>
          <a:xfrm>
            <a:off x="182880" y="5362955"/>
            <a:ext cx="11795760" cy="260603"/>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274320" y="5372100"/>
            <a:ext cx="4983480" cy="228600"/>
          </a:xfrm>
          <a:prstGeom prst="rect">
            <a:avLst/>
          </a:prstGeom>
          <a:noFill/>
        </p:spPr>
        <p:txBody>
          <a:bodyPr wrap="square">
            <a:spAutoFit/>
          </a:bodyPr>
          <a:lstStyle/>
          <a:p>
            <a:pPr algn="l"/>
            <a:r>
              <a:rPr sz="950" b="0">
                <a:solidFill>
                  <a:srgbClr val="222244"/>
                </a:solidFill>
                <a:latin typeface="Calibri"/>
              </a:rPr>
              <a:t>capabilities.pushNotifications: true</a:t>
            </a:r>
          </a:p>
        </p:txBody>
      </p:sp>
      <p:sp>
        <p:nvSpPr>
          <p:cNvPr id="88" name="TextBox 87"/>
          <p:cNvSpPr txBox="1"/>
          <p:nvPr/>
        </p:nvSpPr>
        <p:spPr>
          <a:xfrm>
            <a:off x="5394960" y="5372100"/>
            <a:ext cx="1737360" cy="228600"/>
          </a:xfrm>
          <a:prstGeom prst="rect">
            <a:avLst/>
          </a:prstGeom>
          <a:noFill/>
        </p:spPr>
        <p:txBody>
          <a:bodyPr wrap="square">
            <a:spAutoFit/>
          </a:bodyPr>
          <a:lstStyle/>
          <a:p>
            <a:pPr algn="ctr"/>
            <a:r>
              <a:rPr sz="950" b="0">
                <a:solidFill>
                  <a:srgbClr val="1B3A6B"/>
                </a:solidFill>
                <a:latin typeface="Calibri"/>
              </a:rPr>
              <a:t>Section 8</a:t>
            </a:r>
          </a:p>
        </p:txBody>
      </p:sp>
      <p:sp>
        <p:nvSpPr>
          <p:cNvPr id="89" name="TextBox 88"/>
          <p:cNvSpPr txBox="1"/>
          <p:nvPr/>
        </p:nvSpPr>
        <p:spPr>
          <a:xfrm>
            <a:off x="7315200" y="5372100"/>
            <a:ext cx="2651760" cy="228600"/>
          </a:xfrm>
          <a:prstGeom prst="rect">
            <a:avLst/>
          </a:prstGeom>
          <a:noFill/>
        </p:spPr>
        <p:txBody>
          <a:bodyPr wrap="square">
            <a:spAutoFit/>
          </a:bodyPr>
          <a:lstStyle/>
          <a:p>
            <a:pPr algn="l"/>
            <a:r>
              <a:rPr sz="950" b="0">
                <a:solidFill>
                  <a:srgbClr val="222244"/>
                </a:solidFill>
                <a:latin typeface="Calibri"/>
              </a:rPr>
              <a:t>Booking Agent</a:t>
            </a:r>
          </a:p>
        </p:txBody>
      </p:sp>
      <p:sp>
        <p:nvSpPr>
          <p:cNvPr id="90" name="TextBox 89"/>
          <p:cNvSpPr txBox="1"/>
          <p:nvPr/>
        </p:nvSpPr>
        <p:spPr>
          <a:xfrm>
            <a:off x="10149840" y="5372100"/>
            <a:ext cx="1691640" cy="228600"/>
          </a:xfrm>
          <a:prstGeom prst="rect">
            <a:avLst/>
          </a:prstGeom>
          <a:noFill/>
        </p:spPr>
        <p:txBody>
          <a:bodyPr wrap="square">
            <a:spAutoFit/>
          </a:bodyPr>
          <a:lstStyle/>
          <a:p>
            <a:pPr algn="ctr"/>
            <a:r>
              <a:rPr sz="950" b="1">
                <a:solidFill>
                  <a:srgbClr val="28A745"/>
                </a:solidFill>
                <a:latin typeface="Calibri"/>
              </a:rPr>
              <a:t>✓</a:t>
            </a:r>
          </a:p>
        </p:txBody>
      </p:sp>
      <p:sp>
        <p:nvSpPr>
          <p:cNvPr id="91" name="Rectangle 90"/>
          <p:cNvSpPr/>
          <p:nvPr/>
        </p:nvSpPr>
        <p:spPr>
          <a:xfrm>
            <a:off x="182880" y="5623559"/>
            <a:ext cx="11795760" cy="260603"/>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274320" y="5632704"/>
            <a:ext cx="4983480" cy="228600"/>
          </a:xfrm>
          <a:prstGeom prst="rect">
            <a:avLst/>
          </a:prstGeom>
          <a:noFill/>
        </p:spPr>
        <p:txBody>
          <a:bodyPr wrap="square">
            <a:spAutoFit/>
          </a:bodyPr>
          <a:lstStyle/>
          <a:p>
            <a:pPr algn="l"/>
            <a:r>
              <a:rPr sz="950" b="0">
                <a:solidFill>
                  <a:srgbClr val="222244"/>
                </a:solidFill>
                <a:latin typeface="Calibri"/>
              </a:rPr>
              <a:t>stateTransitionHistory</a:t>
            </a:r>
          </a:p>
        </p:txBody>
      </p:sp>
      <p:sp>
        <p:nvSpPr>
          <p:cNvPr id="93" name="TextBox 92"/>
          <p:cNvSpPr txBox="1"/>
          <p:nvPr/>
        </p:nvSpPr>
        <p:spPr>
          <a:xfrm>
            <a:off x="5394960" y="5632704"/>
            <a:ext cx="1737360" cy="228600"/>
          </a:xfrm>
          <a:prstGeom prst="rect">
            <a:avLst/>
          </a:prstGeom>
          <a:noFill/>
        </p:spPr>
        <p:txBody>
          <a:bodyPr wrap="square">
            <a:spAutoFit/>
          </a:bodyPr>
          <a:lstStyle/>
          <a:p>
            <a:pPr algn="ctr"/>
            <a:r>
              <a:rPr sz="950" b="0">
                <a:solidFill>
                  <a:srgbClr val="1B3A6B"/>
                </a:solidFill>
                <a:latin typeface="Calibri"/>
              </a:rPr>
              <a:t>Section 4</a:t>
            </a:r>
          </a:p>
        </p:txBody>
      </p:sp>
      <p:sp>
        <p:nvSpPr>
          <p:cNvPr id="94" name="TextBox 93"/>
          <p:cNvSpPr txBox="1"/>
          <p:nvPr/>
        </p:nvSpPr>
        <p:spPr>
          <a:xfrm>
            <a:off x="7315200" y="5632704"/>
            <a:ext cx="2651760" cy="228600"/>
          </a:xfrm>
          <a:prstGeom prst="rect">
            <a:avLst/>
          </a:prstGeom>
          <a:noFill/>
        </p:spPr>
        <p:txBody>
          <a:bodyPr wrap="square">
            <a:spAutoFit/>
          </a:bodyPr>
          <a:lstStyle/>
          <a:p>
            <a:pPr algn="l"/>
            <a:r>
              <a:rPr sz="950" b="0">
                <a:solidFill>
                  <a:srgbClr val="222244"/>
                </a:solidFill>
                <a:latin typeface="Calibri"/>
              </a:rPr>
              <a:t>Flight Agent</a:t>
            </a:r>
          </a:p>
        </p:txBody>
      </p:sp>
      <p:sp>
        <p:nvSpPr>
          <p:cNvPr id="95" name="TextBox 94"/>
          <p:cNvSpPr txBox="1"/>
          <p:nvPr/>
        </p:nvSpPr>
        <p:spPr>
          <a:xfrm>
            <a:off x="10149840" y="5632704"/>
            <a:ext cx="1691640" cy="228600"/>
          </a:xfrm>
          <a:prstGeom prst="rect">
            <a:avLst/>
          </a:prstGeom>
          <a:noFill/>
        </p:spPr>
        <p:txBody>
          <a:bodyPr wrap="square">
            <a:spAutoFit/>
          </a:bodyPr>
          <a:lstStyle/>
          <a:p>
            <a:pPr algn="ctr"/>
            <a:r>
              <a:rPr sz="950" b="1">
                <a:solidFill>
                  <a:srgbClr val="28A745"/>
                </a:solidFill>
                <a:latin typeface="Calibri"/>
              </a:rPr>
              <a:t>✓</a:t>
            </a:r>
          </a:p>
        </p:txBody>
      </p:sp>
      <p:sp>
        <p:nvSpPr>
          <p:cNvPr id="96" name="Rectangle 95"/>
          <p:cNvSpPr/>
          <p:nvPr/>
        </p:nvSpPr>
        <p:spPr>
          <a:xfrm>
            <a:off x="182880" y="5884164"/>
            <a:ext cx="11795760" cy="260603"/>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274320" y="5893308"/>
            <a:ext cx="4983480" cy="228600"/>
          </a:xfrm>
          <a:prstGeom prst="rect">
            <a:avLst/>
          </a:prstGeom>
          <a:noFill/>
        </p:spPr>
        <p:txBody>
          <a:bodyPr wrap="square">
            <a:spAutoFit/>
          </a:bodyPr>
          <a:lstStyle/>
          <a:p>
            <a:pPr algn="l"/>
            <a:r>
              <a:rPr sz="950" b="0">
                <a:solidFill>
                  <a:srgbClr val="222244"/>
                </a:solidFill>
                <a:latin typeface="Calibri"/>
              </a:rPr>
              <a:t>Parallel fan-out (asyncio.gather)</a:t>
            </a:r>
          </a:p>
        </p:txBody>
      </p:sp>
      <p:sp>
        <p:nvSpPr>
          <p:cNvPr id="98" name="TextBox 97"/>
          <p:cNvSpPr txBox="1"/>
          <p:nvPr/>
        </p:nvSpPr>
        <p:spPr>
          <a:xfrm>
            <a:off x="5394960" y="5893308"/>
            <a:ext cx="1737360" cy="228600"/>
          </a:xfrm>
          <a:prstGeom prst="rect">
            <a:avLst/>
          </a:prstGeom>
          <a:noFill/>
        </p:spPr>
        <p:txBody>
          <a:bodyPr wrap="square">
            <a:spAutoFit/>
          </a:bodyPr>
          <a:lstStyle/>
          <a:p>
            <a:pPr algn="ctr"/>
            <a:r>
              <a:rPr sz="950" b="0">
                <a:solidFill>
                  <a:srgbClr val="1B3A6B"/>
                </a:solidFill>
                <a:latin typeface="Calibri"/>
              </a:rPr>
              <a:t>Section 11</a:t>
            </a:r>
          </a:p>
        </p:txBody>
      </p:sp>
      <p:sp>
        <p:nvSpPr>
          <p:cNvPr id="99" name="TextBox 98"/>
          <p:cNvSpPr txBox="1"/>
          <p:nvPr/>
        </p:nvSpPr>
        <p:spPr>
          <a:xfrm>
            <a:off x="7315200" y="5893308"/>
            <a:ext cx="2651760" cy="228600"/>
          </a:xfrm>
          <a:prstGeom prst="rect">
            <a:avLst/>
          </a:prstGeom>
          <a:noFill/>
        </p:spPr>
        <p:txBody>
          <a:bodyPr wrap="square">
            <a:spAutoFit/>
          </a:bodyPr>
          <a:lstStyle/>
          <a:p>
            <a:pPr algn="l"/>
            <a:r>
              <a:rPr sz="950" b="0">
                <a:solidFill>
                  <a:srgbClr val="222244"/>
                </a:solidFill>
                <a:latin typeface="Calibri"/>
              </a:rPr>
              <a:t>Orchestrator</a:t>
            </a:r>
          </a:p>
        </p:txBody>
      </p:sp>
      <p:sp>
        <p:nvSpPr>
          <p:cNvPr id="100" name="TextBox 99"/>
          <p:cNvSpPr txBox="1"/>
          <p:nvPr/>
        </p:nvSpPr>
        <p:spPr>
          <a:xfrm>
            <a:off x="10149840" y="5893308"/>
            <a:ext cx="1691640" cy="228600"/>
          </a:xfrm>
          <a:prstGeom prst="rect">
            <a:avLst/>
          </a:prstGeom>
          <a:noFill/>
        </p:spPr>
        <p:txBody>
          <a:bodyPr wrap="square">
            <a:spAutoFit/>
          </a:bodyPr>
          <a:lstStyle/>
          <a:p>
            <a:pPr algn="ctr"/>
            <a:r>
              <a:rPr sz="950" b="1">
                <a:solidFill>
                  <a:srgbClr val="28A745"/>
                </a:solidFill>
                <a:latin typeface="Calibri"/>
              </a:rPr>
              <a:t>✓</a:t>
            </a:r>
          </a:p>
        </p:txBody>
      </p:sp>
      <p:sp>
        <p:nvSpPr>
          <p:cNvPr id="101" name="Rectangle 100"/>
          <p:cNvSpPr/>
          <p:nvPr/>
        </p:nvSpPr>
        <p:spPr>
          <a:xfrm>
            <a:off x="182880" y="6144768"/>
            <a:ext cx="11795760" cy="260603"/>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274320" y="6153912"/>
            <a:ext cx="4983480" cy="228600"/>
          </a:xfrm>
          <a:prstGeom prst="rect">
            <a:avLst/>
          </a:prstGeom>
          <a:noFill/>
        </p:spPr>
        <p:txBody>
          <a:bodyPr wrap="square">
            <a:spAutoFit/>
          </a:bodyPr>
          <a:lstStyle/>
          <a:p>
            <a:pPr algn="l"/>
            <a:r>
              <a:rPr sz="950" b="0">
                <a:solidFill>
                  <a:srgbClr val="222244"/>
                </a:solidFill>
                <a:latin typeface="Calibri"/>
              </a:rPr>
              <a:t>Sequential chaining</a:t>
            </a:r>
          </a:p>
        </p:txBody>
      </p:sp>
      <p:sp>
        <p:nvSpPr>
          <p:cNvPr id="103" name="TextBox 102"/>
          <p:cNvSpPr txBox="1"/>
          <p:nvPr/>
        </p:nvSpPr>
        <p:spPr>
          <a:xfrm>
            <a:off x="5394960" y="6153912"/>
            <a:ext cx="1737360" cy="228600"/>
          </a:xfrm>
          <a:prstGeom prst="rect">
            <a:avLst/>
          </a:prstGeom>
          <a:noFill/>
        </p:spPr>
        <p:txBody>
          <a:bodyPr wrap="square">
            <a:spAutoFit/>
          </a:bodyPr>
          <a:lstStyle/>
          <a:p>
            <a:pPr algn="ctr"/>
            <a:r>
              <a:rPr sz="950" b="0">
                <a:solidFill>
                  <a:srgbClr val="1B3A6B"/>
                </a:solidFill>
                <a:latin typeface="Calibri"/>
              </a:rPr>
              <a:t>Section 11</a:t>
            </a:r>
          </a:p>
        </p:txBody>
      </p:sp>
      <p:sp>
        <p:nvSpPr>
          <p:cNvPr id="104" name="TextBox 103"/>
          <p:cNvSpPr txBox="1"/>
          <p:nvPr/>
        </p:nvSpPr>
        <p:spPr>
          <a:xfrm>
            <a:off x="7315200" y="6153912"/>
            <a:ext cx="2651760" cy="228600"/>
          </a:xfrm>
          <a:prstGeom prst="rect">
            <a:avLst/>
          </a:prstGeom>
          <a:noFill/>
        </p:spPr>
        <p:txBody>
          <a:bodyPr wrap="square">
            <a:spAutoFit/>
          </a:bodyPr>
          <a:lstStyle/>
          <a:p>
            <a:pPr algn="l"/>
            <a:r>
              <a:rPr sz="950" b="0">
                <a:solidFill>
                  <a:srgbClr val="222244"/>
                </a:solidFill>
                <a:latin typeface="Calibri"/>
              </a:rPr>
              <a:t>Orchestrator</a:t>
            </a:r>
          </a:p>
        </p:txBody>
      </p:sp>
      <p:sp>
        <p:nvSpPr>
          <p:cNvPr id="105" name="TextBox 104"/>
          <p:cNvSpPr txBox="1"/>
          <p:nvPr/>
        </p:nvSpPr>
        <p:spPr>
          <a:xfrm>
            <a:off x="10149840" y="6153912"/>
            <a:ext cx="1691640" cy="228600"/>
          </a:xfrm>
          <a:prstGeom prst="rect">
            <a:avLst/>
          </a:prstGeom>
          <a:noFill/>
        </p:spPr>
        <p:txBody>
          <a:bodyPr wrap="square">
            <a:spAutoFit/>
          </a:bodyPr>
          <a:lstStyle/>
          <a:p>
            <a:pPr algn="ctr"/>
            <a:r>
              <a:rPr sz="950" b="1">
                <a:solidFill>
                  <a:srgbClr val="28A745"/>
                </a:solidFill>
                <a:latin typeface="Calibri"/>
              </a:rPr>
              <a:t>✓</a:t>
            </a:r>
          </a:p>
        </p:txBody>
      </p:sp>
      <p:sp>
        <p:nvSpPr>
          <p:cNvPr id="106" name="Rectangle 105"/>
          <p:cNvSpPr/>
          <p:nvPr/>
        </p:nvSpPr>
        <p:spPr>
          <a:xfrm>
            <a:off x="182880" y="6405371"/>
            <a:ext cx="11795760" cy="260603"/>
          </a:xfrm>
          <a:prstGeom prst="rect">
            <a:avLst/>
          </a:prstGeom>
          <a:solidFill>
            <a:srgbClr val="EEF2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274320" y="6414515"/>
            <a:ext cx="4983480" cy="228600"/>
          </a:xfrm>
          <a:prstGeom prst="rect">
            <a:avLst/>
          </a:prstGeom>
          <a:noFill/>
        </p:spPr>
        <p:txBody>
          <a:bodyPr wrap="square">
            <a:spAutoFit/>
          </a:bodyPr>
          <a:lstStyle/>
          <a:p>
            <a:pPr algn="l"/>
            <a:r>
              <a:rPr sz="950" b="0">
                <a:solidFill>
                  <a:srgbClr val="222244"/>
                </a:solidFill>
                <a:latin typeface="Calibri"/>
              </a:rPr>
              <a:t>Error codes + retry patterns</a:t>
            </a:r>
          </a:p>
        </p:txBody>
      </p:sp>
      <p:sp>
        <p:nvSpPr>
          <p:cNvPr id="108" name="TextBox 107"/>
          <p:cNvSpPr txBox="1"/>
          <p:nvPr/>
        </p:nvSpPr>
        <p:spPr>
          <a:xfrm>
            <a:off x="5394960" y="6414515"/>
            <a:ext cx="1737360" cy="228600"/>
          </a:xfrm>
          <a:prstGeom prst="rect">
            <a:avLst/>
          </a:prstGeom>
          <a:noFill/>
        </p:spPr>
        <p:txBody>
          <a:bodyPr wrap="square">
            <a:spAutoFit/>
          </a:bodyPr>
          <a:lstStyle/>
          <a:p>
            <a:pPr algn="ctr"/>
            <a:r>
              <a:rPr sz="950" b="0">
                <a:solidFill>
                  <a:srgbClr val="1B3A6B"/>
                </a:solidFill>
                <a:latin typeface="Calibri"/>
              </a:rPr>
              <a:t>Section 10</a:t>
            </a:r>
          </a:p>
        </p:txBody>
      </p:sp>
      <p:sp>
        <p:nvSpPr>
          <p:cNvPr id="109" name="TextBox 108"/>
          <p:cNvSpPr txBox="1"/>
          <p:nvPr/>
        </p:nvSpPr>
        <p:spPr>
          <a:xfrm>
            <a:off x="7315200" y="6414515"/>
            <a:ext cx="2651760" cy="228600"/>
          </a:xfrm>
          <a:prstGeom prst="rect">
            <a:avLst/>
          </a:prstGeom>
          <a:noFill/>
        </p:spPr>
        <p:txBody>
          <a:bodyPr wrap="square">
            <a:spAutoFit/>
          </a:bodyPr>
          <a:lstStyle/>
          <a:p>
            <a:pPr algn="l"/>
            <a:r>
              <a:rPr sz="950" b="0">
                <a:solidFill>
                  <a:srgbClr val="222244"/>
                </a:solidFill>
                <a:latin typeface="Calibri"/>
              </a:rPr>
              <a:t>Client</a:t>
            </a:r>
          </a:p>
        </p:txBody>
      </p:sp>
      <p:sp>
        <p:nvSpPr>
          <p:cNvPr id="110" name="TextBox 109"/>
          <p:cNvSpPr txBox="1"/>
          <p:nvPr/>
        </p:nvSpPr>
        <p:spPr>
          <a:xfrm>
            <a:off x="10149840" y="6414515"/>
            <a:ext cx="1691640" cy="228600"/>
          </a:xfrm>
          <a:prstGeom prst="rect">
            <a:avLst/>
          </a:prstGeom>
          <a:noFill/>
        </p:spPr>
        <p:txBody>
          <a:bodyPr wrap="square">
            <a:spAutoFit/>
          </a:bodyPr>
          <a:lstStyle/>
          <a:p>
            <a:pPr algn="ctr"/>
            <a:r>
              <a:rPr sz="950" b="1">
                <a:solidFill>
                  <a:srgbClr val="28A745"/>
                </a:solidFill>
                <a:latin typeface="Calibri"/>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Section 12: Sample Client Run</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What you see when running client/main.py</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11612880" cy="553212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15568"/>
            <a:ext cx="1161288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43000"/>
            <a:ext cx="11430000" cy="201168"/>
          </a:xfrm>
          <a:prstGeom prst="rect">
            <a:avLst/>
          </a:prstGeom>
          <a:noFill/>
        </p:spPr>
        <p:txBody>
          <a:bodyPr wrap="square">
            <a:spAutoFit/>
          </a:bodyPr>
          <a:lstStyle/>
          <a:p>
            <a:pPr algn="l"/>
            <a:r>
              <a:rPr sz="1000" b="0">
                <a:solidFill>
                  <a:srgbClr val="F0A500"/>
                </a:solidFill>
                <a:latin typeface="Calibri"/>
              </a:rPr>
              <a:t>Terminal Output — python client/main.py</a:t>
            </a:r>
          </a:p>
        </p:txBody>
      </p:sp>
      <p:sp>
        <p:nvSpPr>
          <p:cNvPr id="9" name="TextBox 8"/>
          <p:cNvSpPr txBox="1"/>
          <p:nvPr/>
        </p:nvSpPr>
        <p:spPr>
          <a:xfrm>
            <a:off x="365760" y="1380744"/>
            <a:ext cx="11430000" cy="5221224"/>
          </a:xfrm>
          <a:prstGeom prst="rect">
            <a:avLst/>
          </a:prstGeom>
          <a:noFill/>
        </p:spPr>
        <p:txBody>
          <a:bodyPr wrap="none">
            <a:spAutoFit/>
          </a:bodyPr>
          <a:lstStyle/>
          <a:p>
            <a:r>
              <a:rPr sz="950">
                <a:solidFill>
                  <a:srgbClr val="CCCCCC"/>
                </a:solidFill>
                <a:latin typeface="Courier New"/>
              </a:rPr>
              <a:t>$ python client/main.py "Plan a 5-day trip to Paris in December"</a:t>
            </a:r>
          </a:p>
          <a:p>
            <a:endParaRPr sz="950">
              <a:solidFill>
                <a:srgbClr val="CCCCCC"/>
              </a:solidFill>
              <a:latin typeface="Courier New"/>
            </a:endParaRPr>
          </a:p>
          <a:p>
            <a:r>
              <a:rPr sz="950">
                <a:solidFill>
                  <a:srgbClr val="CCCCCC"/>
                </a:solidFill>
                <a:latin typeface="Courier New"/>
              </a:rPr>
              <a:t>[Orchestrator] Fetching agent cards...</a:t>
            </a:r>
          </a:p>
          <a:p>
            <a:r>
              <a:rPr sz="950">
                <a:solidFill>
                  <a:srgbClr val="CCCCCC"/>
                </a:solidFill>
                <a:latin typeface="Courier New"/>
              </a:rPr>
              <a:t>  ✓ Flight Agent  (streaming=True,  auth=Bearer)</a:t>
            </a:r>
          </a:p>
          <a:p>
            <a:r>
              <a:rPr sz="950">
                <a:solidFill>
                  <a:srgbClr val="CCCCCC"/>
                </a:solidFill>
                <a:latin typeface="Courier New"/>
              </a:rPr>
              <a:t>  ✓ Hotel Agent   (streaming=False, auth=ApiKey)</a:t>
            </a:r>
          </a:p>
          <a:p>
            <a:r>
              <a:rPr sz="950">
                <a:solidFill>
                  <a:srgbClr val="CCCCCC"/>
                </a:solidFill>
                <a:latin typeface="Courier New"/>
              </a:rPr>
              <a:t>  ✓ Booking Agent (streaming=False, auth=None, push=True)</a:t>
            </a:r>
          </a:p>
          <a:p>
            <a:r>
              <a:rPr sz="950">
                <a:solidFill>
                  <a:srgbClr val="CCCCCC"/>
                </a:solidFill>
                <a:latin typeface="Courier New"/>
              </a:rPr>
              <a:t>  ✓ Weather Agent (streaming=True,  auth=None)</a:t>
            </a:r>
          </a:p>
          <a:p>
            <a:endParaRPr sz="950">
              <a:solidFill>
                <a:srgbClr val="CCCCCC"/>
              </a:solidFill>
              <a:latin typeface="Courier New"/>
            </a:endParaRPr>
          </a:p>
          <a:p>
            <a:r>
              <a:rPr sz="950">
                <a:solidFill>
                  <a:srgbClr val="CCCCCC"/>
                </a:solidFill>
                <a:latin typeface="Courier New"/>
              </a:rPr>
              <a:t>[Orchestrator] Fanning out to 3 agents in parallel...</a:t>
            </a:r>
          </a:p>
          <a:p>
            <a:endParaRPr sz="950">
              <a:solidFill>
                <a:srgbClr val="CCCCCC"/>
              </a:solidFill>
              <a:latin typeface="Courier New"/>
            </a:endParaRPr>
          </a:p>
          <a:p>
            <a:r>
              <a:rPr sz="950">
                <a:solidFill>
                  <a:srgbClr val="CCCCCC"/>
                </a:solidFill>
                <a:latin typeface="Courier New"/>
              </a:rPr>
              <a:t>[Flight  → streaming] AF 001 NYC→CDG  Dec 15  $842  (14h 05m) ▌</a:t>
            </a:r>
          </a:p>
          <a:p>
            <a:r>
              <a:rPr sz="950">
                <a:solidFill>
                  <a:srgbClr val="CCCCCC"/>
                </a:solidFill>
                <a:latin typeface="Courier New"/>
              </a:rPr>
              <a:t>[Flight  → streaming] UA 088 NYC→CDG  Dec 15  $919  (11h 45m) ▌</a:t>
            </a:r>
          </a:p>
          <a:p>
            <a:r>
              <a:rPr sz="950">
                <a:solidFill>
                  <a:srgbClr val="CCCCCC"/>
                </a:solidFill>
                <a:latin typeface="Courier New"/>
              </a:rPr>
              <a:t>[Weather → streaming] Paris Dec 15-20: 8°C, light rain, wind 12km/h ▌</a:t>
            </a:r>
          </a:p>
          <a:p>
            <a:endParaRPr sz="950">
              <a:solidFill>
                <a:srgbClr val="CCCCCC"/>
              </a:solidFill>
              <a:latin typeface="Courier New"/>
            </a:endParaRPr>
          </a:p>
          <a:p>
            <a:r>
              <a:rPr sz="950">
                <a:solidFill>
                  <a:srgbClr val="CCCCCC"/>
                </a:solidFill>
                <a:latin typeface="Courier New"/>
              </a:rPr>
              <a:t>[Hotel] Sent PDF brochure. Received structured hotel list.</a:t>
            </a:r>
          </a:p>
          <a:p>
            <a:r>
              <a:rPr sz="950">
                <a:solidFill>
                  <a:srgbClr val="CCCCCC"/>
                </a:solidFill>
                <a:latin typeface="Courier New"/>
              </a:rPr>
              <a:t>  - Le Marais Boutique Hotel: €145/night, 4.6★, central Paris</a:t>
            </a:r>
          </a:p>
          <a:p>
            <a:r>
              <a:rPr sz="950">
                <a:solidFill>
                  <a:srgbClr val="CCCCCC"/>
                </a:solidFill>
                <a:latin typeface="Courier New"/>
              </a:rPr>
              <a:t>  - Opera Grand Hotel:        €210/night, 4.8★, near Louvre</a:t>
            </a:r>
          </a:p>
          <a:p>
            <a:endParaRPr sz="950">
              <a:solidFill>
                <a:srgbClr val="CCCCCC"/>
              </a:solidFill>
              <a:latin typeface="Courier New"/>
            </a:endParaRPr>
          </a:p>
          <a:p>
            <a:r>
              <a:rPr sz="950">
                <a:solidFill>
                  <a:srgbClr val="CCCCCC"/>
                </a:solidFill>
                <a:latin typeface="Courier New"/>
              </a:rPr>
              <a:t>[Orchestrator] Sending to Booking Agent...</a:t>
            </a:r>
          </a:p>
          <a:p>
            <a:r>
              <a:rPr sz="950">
                <a:solidFill>
                  <a:srgbClr val="CCCCCC"/>
                </a:solidFill>
                <a:latin typeface="Courier New"/>
              </a:rPr>
              <a:t>[Booking] Status: input-required</a:t>
            </a:r>
          </a:p>
          <a:p>
            <a:r>
              <a:rPr sz="950">
                <a:solidFill>
                  <a:srgbClr val="CCCCCC"/>
                </a:solidFill>
                <a:latin typeface="Courier New"/>
              </a:rPr>
              <a:t>  Agent: "Which seat class? (economy / business / first)"</a:t>
            </a:r>
          </a:p>
          <a:p>
            <a:r>
              <a:rPr sz="950">
                <a:solidFill>
                  <a:srgbClr val="CCCCCC"/>
                </a:solidFill>
                <a:latin typeface="Courier New"/>
              </a:rPr>
              <a:t>  → economy</a:t>
            </a:r>
          </a:p>
          <a:p>
            <a:endParaRPr sz="950">
              <a:solidFill>
                <a:srgbClr val="CCCCCC"/>
              </a:solidFill>
              <a:latin typeface="Courier New"/>
            </a:endParaRPr>
          </a:p>
          <a:p>
            <a:r>
              <a:rPr sz="950">
                <a:solidFill>
                  <a:srgbClr val="CCCCCC"/>
                </a:solidFill>
                <a:latin typeface="Courier New"/>
              </a:rPr>
              <a:t>[Booking] Status: input-required</a:t>
            </a:r>
          </a:p>
          <a:p>
            <a:r>
              <a:rPr sz="950">
                <a:solidFill>
                  <a:srgbClr val="CCCCCC"/>
                </a:solidFill>
                <a:latin typeface="Courier New"/>
              </a:rPr>
              <a:t>  Agent: "Meal preference? (standard / vegetarian / vegan)"</a:t>
            </a:r>
          </a:p>
          <a:p>
            <a:r>
              <a:rPr sz="950">
                <a:solidFill>
                  <a:srgbClr val="CCCCCC"/>
                </a:solidFill>
                <a:latin typeface="Courier New"/>
              </a:rPr>
              <a:t>  → vegetarian</a:t>
            </a:r>
          </a:p>
          <a:p>
            <a:endParaRPr sz="950">
              <a:solidFill>
                <a:srgbClr val="CCCCCC"/>
              </a:solidFill>
              <a:latin typeface="Courier New"/>
            </a:endParaRPr>
          </a:p>
          <a:p>
            <a:r>
              <a:rPr sz="950">
                <a:solidFill>
                  <a:srgbClr val="CCCCCC"/>
                </a:solidFill>
                <a:latin typeface="Courier New"/>
              </a:rPr>
              <a:t>[Booking] Status: input-required</a:t>
            </a:r>
          </a:p>
          <a:p>
            <a:r>
              <a:rPr sz="950">
                <a:solidFill>
                  <a:srgbClr val="CCCCCC"/>
                </a:solidFill>
                <a:latin typeface="Courier New"/>
              </a:rPr>
              <a:t>  Agent: "Loyalty number? (enter number or 'none')"</a:t>
            </a:r>
          </a:p>
          <a:p>
            <a:r>
              <a:rPr sz="950">
                <a:solidFill>
                  <a:srgbClr val="CCCCCC"/>
                </a:solidFill>
                <a:latin typeface="Courier New"/>
              </a:rPr>
              <a:t>  → none</a:t>
            </a:r>
          </a:p>
          <a:p>
            <a:endParaRPr sz="950">
              <a:solidFill>
                <a:srgbClr val="CCCCCC"/>
              </a:solidFill>
              <a:latin typeface="Courier New"/>
            </a:endParaRPr>
          </a:p>
          <a:p>
            <a:r>
              <a:rPr sz="950">
                <a:solidFill>
                  <a:srgbClr val="CCCCCC"/>
                </a:solidFill>
                <a:latin typeface="Courier New"/>
              </a:rPr>
              <a:t>[Booking] Status: completed ✓</a:t>
            </a:r>
          </a:p>
          <a:p>
            <a:endParaRPr sz="950">
              <a:solidFill>
                <a:srgbClr val="CCCCCC"/>
              </a:solidFill>
              <a:latin typeface="Courier New"/>
            </a:endParaRPr>
          </a:p>
          <a:p>
            <a:r>
              <a:rPr sz="950">
                <a:solidFill>
                  <a:srgbClr val="CCCCCC"/>
                </a:solidFill>
                <a:latin typeface="Courier New"/>
              </a:rPr>
              <a:t>━━━━━━━━━━━━━━━ TRAVEL ITINERARY ━━━━━━━━━━━━━━━</a:t>
            </a:r>
          </a:p>
          <a:p>
            <a:r>
              <a:rPr sz="950">
                <a:solidFill>
                  <a:srgbClr val="CCCCCC"/>
                </a:solidFill>
                <a:latin typeface="Courier New"/>
              </a:rPr>
              <a:t>Flight:  AF 001 NYC→CDG Dec 15 | Economy | $842</a:t>
            </a:r>
          </a:p>
          <a:p>
            <a:r>
              <a:rPr sz="950">
                <a:solidFill>
                  <a:srgbClr val="CCCCCC"/>
                </a:solidFill>
                <a:latin typeface="Courier New"/>
              </a:rPr>
              <a:t>Hotel:   Le Marais Boutique Hotel | 5 nights | €725</a:t>
            </a:r>
          </a:p>
          <a:p>
            <a:r>
              <a:rPr sz="950">
                <a:solidFill>
                  <a:srgbClr val="CCCCCC"/>
                </a:solidFill>
                <a:latin typeface="Courier New"/>
              </a:rPr>
              <a:t>Weather: 8°C, light rain — pack layers and umbrella</a:t>
            </a:r>
          </a:p>
          <a:p>
            <a:r>
              <a:rPr sz="950">
                <a:solidFill>
                  <a:srgbClr val="CCCCCC"/>
                </a:solidFill>
                <a:latin typeface="Courier New"/>
              </a:rPr>
              <a:t>Booking: CONF-2024-PAR-00142 | Total: ~$1,600</a:t>
            </a:r>
          </a:p>
          <a:p>
            <a:r>
              <a:rPr sz="950">
                <a:solidFill>
                  <a:srgbClr val="CCCCCC"/>
                </a:solidFill>
                <a:latin typeface="Courier New"/>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Deep Dive: AgentExecutor Pattern</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How to implement any A2A-compliant agent</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6949440" cy="553212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15568"/>
            <a:ext cx="694944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43000"/>
            <a:ext cx="6766559" cy="201168"/>
          </a:xfrm>
          <a:prstGeom prst="rect">
            <a:avLst/>
          </a:prstGeom>
          <a:noFill/>
        </p:spPr>
        <p:txBody>
          <a:bodyPr wrap="square">
            <a:spAutoFit/>
          </a:bodyPr>
          <a:lstStyle/>
          <a:p>
            <a:pPr algn="l"/>
            <a:r>
              <a:rPr sz="1000" b="0">
                <a:solidFill>
                  <a:srgbClr val="F0A500"/>
                </a:solidFill>
                <a:latin typeface="Calibri"/>
              </a:rPr>
              <a:t>HotelAgentExecutor — complete implementation</a:t>
            </a:r>
          </a:p>
        </p:txBody>
      </p:sp>
      <p:sp>
        <p:nvSpPr>
          <p:cNvPr id="9" name="TextBox 8"/>
          <p:cNvSpPr txBox="1"/>
          <p:nvPr/>
        </p:nvSpPr>
        <p:spPr>
          <a:xfrm>
            <a:off x="365760" y="1380744"/>
            <a:ext cx="6766559" cy="5221224"/>
          </a:xfrm>
          <a:prstGeom prst="rect">
            <a:avLst/>
          </a:prstGeom>
          <a:noFill/>
        </p:spPr>
        <p:txBody>
          <a:bodyPr wrap="none">
            <a:spAutoFit/>
          </a:bodyPr>
          <a:lstStyle/>
          <a:p>
            <a:r>
              <a:rPr sz="880">
                <a:solidFill>
                  <a:srgbClr val="CCCCCC"/>
                </a:solidFill>
                <a:latin typeface="Courier New"/>
              </a:rPr>
              <a:t>from a2a.server.agent_execution import (</a:t>
            </a:r>
          </a:p>
          <a:p>
            <a:r>
              <a:rPr sz="880">
                <a:solidFill>
                  <a:srgbClr val="CCCCCC"/>
                </a:solidFill>
                <a:latin typeface="Courier New"/>
              </a:rPr>
              <a:t>    AgentExecutor, RequestContext</a:t>
            </a:r>
          </a:p>
          <a:p>
            <a:r>
              <a:rPr sz="880">
                <a:solidFill>
                  <a:srgbClr val="CCCCCC"/>
                </a:solidFill>
                <a:latin typeface="Courier New"/>
              </a:rPr>
              <a:t>)</a:t>
            </a:r>
          </a:p>
          <a:p>
            <a:r>
              <a:rPr sz="880">
                <a:solidFill>
                  <a:srgbClr val="CCCCCC"/>
                </a:solidFill>
                <a:latin typeface="Courier New"/>
              </a:rPr>
              <a:t>from a2a.server.events import EventQueue</a:t>
            </a:r>
          </a:p>
          <a:p>
            <a:r>
              <a:rPr sz="880">
                <a:solidFill>
                  <a:srgbClr val="CCCCCC"/>
                </a:solidFill>
                <a:latin typeface="Courier New"/>
              </a:rPr>
              <a:t>from a2a.types import (</a:t>
            </a:r>
          </a:p>
          <a:p>
            <a:r>
              <a:rPr sz="880">
                <a:solidFill>
                  <a:srgbClr val="CCCCCC"/>
                </a:solidFill>
                <a:latin typeface="Courier New"/>
              </a:rPr>
              <a:t>    TaskStatus, TaskStatusUpdateEvent,</a:t>
            </a:r>
          </a:p>
          <a:p>
            <a:r>
              <a:rPr sz="880">
                <a:solidFill>
                  <a:srgbClr val="CCCCCC"/>
                </a:solidFill>
                <a:latin typeface="Courier New"/>
              </a:rPr>
              <a:t>    TaskArtifactUpdateEvent, Artifact, DataPart</a:t>
            </a:r>
          </a:p>
          <a:p>
            <a:r>
              <a:rPr sz="880">
                <a:solidFill>
                  <a:srgbClr val="CCCCCC"/>
                </a:solidFill>
                <a:latin typeface="Courier New"/>
              </a:rPr>
              <a:t>)</a:t>
            </a:r>
          </a:p>
          <a:p>
            <a:endParaRPr sz="880">
              <a:solidFill>
                <a:srgbClr val="CCCCCC"/>
              </a:solidFill>
              <a:latin typeface="Courier New"/>
            </a:endParaRPr>
          </a:p>
          <a:p>
            <a:r>
              <a:rPr sz="880">
                <a:solidFill>
                  <a:srgbClr val="CCCCCC"/>
                </a:solidFill>
                <a:latin typeface="Courier New"/>
              </a:rPr>
              <a:t>class HotelAgentExecutor(AgentExecutor):</a:t>
            </a:r>
          </a:p>
          <a:p>
            <a:r>
              <a:rPr sz="880">
                <a:solidFill>
                  <a:srgbClr val="CCCCCC"/>
                </a:solidFill>
                <a:latin typeface="Courier New"/>
              </a:rPr>
              <a:t>    """Hotel Agent: accepts text + PDF, returns JSON."""</a:t>
            </a:r>
          </a:p>
          <a:p>
            <a:endParaRPr sz="880">
              <a:solidFill>
                <a:srgbClr val="CCCCCC"/>
              </a:solidFill>
              <a:latin typeface="Courier New"/>
            </a:endParaRPr>
          </a:p>
          <a:p>
            <a:r>
              <a:rPr sz="880">
                <a:solidFill>
                  <a:srgbClr val="CCCCCC"/>
                </a:solidFill>
                <a:latin typeface="Courier New"/>
              </a:rPr>
              <a:t>    async def execute(self,</a:t>
            </a:r>
          </a:p>
          <a:p>
            <a:r>
              <a:rPr sz="880">
                <a:solidFill>
                  <a:srgbClr val="CCCCCC"/>
                </a:solidFill>
                <a:latin typeface="Courier New"/>
              </a:rPr>
              <a:t>                      context: RequestContext,</a:t>
            </a:r>
          </a:p>
          <a:p>
            <a:r>
              <a:rPr sz="880">
                <a:solidFill>
                  <a:srgbClr val="CCCCCC"/>
                </a:solidFill>
                <a:latin typeface="Courier New"/>
              </a:rPr>
              <a:t>                      event_queue: EventQueue) -&gt; None:</a:t>
            </a:r>
          </a:p>
          <a:p>
            <a:endParaRPr sz="880">
              <a:solidFill>
                <a:srgbClr val="CCCCCC"/>
              </a:solidFill>
              <a:latin typeface="Courier New"/>
            </a:endParaRPr>
          </a:p>
          <a:p>
            <a:r>
              <a:rPr sz="880">
                <a:solidFill>
                  <a:srgbClr val="CCCCCC"/>
                </a:solidFill>
                <a:latin typeface="Courier New"/>
              </a:rPr>
              <a:t>        # ── Extract parts from request ─────────────────</a:t>
            </a:r>
          </a:p>
          <a:p>
            <a:r>
              <a:rPr sz="880">
                <a:solidFill>
                  <a:srgbClr val="CCCCCC"/>
                </a:solidFill>
                <a:latin typeface="Courier New"/>
              </a:rPr>
              <a:t>        text_query = ""</a:t>
            </a:r>
          </a:p>
          <a:p>
            <a:r>
              <a:rPr sz="880">
                <a:solidFill>
                  <a:srgbClr val="CCCCCC"/>
                </a:solidFill>
                <a:latin typeface="Courier New"/>
              </a:rPr>
              <a:t>        pdf_bytes  = None</a:t>
            </a:r>
          </a:p>
          <a:p>
            <a:endParaRPr sz="880">
              <a:solidFill>
                <a:srgbClr val="CCCCCC"/>
              </a:solidFill>
              <a:latin typeface="Courier New"/>
            </a:endParaRPr>
          </a:p>
          <a:p>
            <a:r>
              <a:rPr sz="880">
                <a:solidFill>
                  <a:srgbClr val="CCCCCC"/>
                </a:solidFill>
                <a:latin typeface="Courier New"/>
              </a:rPr>
              <a:t>        for part in context.message.parts:</a:t>
            </a:r>
          </a:p>
          <a:p>
            <a:r>
              <a:rPr sz="880">
                <a:solidFill>
                  <a:srgbClr val="CCCCCC"/>
                </a:solidFill>
                <a:latin typeface="Courier New"/>
              </a:rPr>
              <a:t>            if hasattr(part, "text"):</a:t>
            </a:r>
          </a:p>
          <a:p>
            <a:r>
              <a:rPr sz="880">
                <a:solidFill>
                  <a:srgbClr val="CCCCCC"/>
                </a:solidFill>
                <a:latin typeface="Courier New"/>
              </a:rPr>
              <a:t>                text_query = part.text</a:t>
            </a:r>
          </a:p>
          <a:p>
            <a:r>
              <a:rPr sz="880">
                <a:solidFill>
                  <a:srgbClr val="CCCCCC"/>
                </a:solidFill>
                <a:latin typeface="Courier New"/>
              </a:rPr>
              <a:t>            elif hasattr(part, "file"):</a:t>
            </a:r>
          </a:p>
          <a:p>
            <a:r>
              <a:rPr sz="880">
                <a:solidFill>
                  <a:srgbClr val="CCCCCC"/>
                </a:solidFill>
                <a:latin typeface="Courier New"/>
              </a:rPr>
              <a:t>                if part.file.mimeType == "application/pdf":</a:t>
            </a:r>
          </a:p>
          <a:p>
            <a:r>
              <a:rPr sz="880">
                <a:solidFill>
                  <a:srgbClr val="CCCCCC"/>
                </a:solidFill>
                <a:latin typeface="Courier New"/>
              </a:rPr>
              <a:t>                    pdf_bytes = part.file.bytes</a:t>
            </a:r>
          </a:p>
          <a:p>
            <a:endParaRPr sz="880">
              <a:solidFill>
                <a:srgbClr val="CCCCCC"/>
              </a:solidFill>
              <a:latin typeface="Courier New"/>
            </a:endParaRPr>
          </a:p>
          <a:p>
            <a:r>
              <a:rPr sz="880">
                <a:solidFill>
                  <a:srgbClr val="CCCCCC"/>
                </a:solidFill>
                <a:latin typeface="Courier New"/>
              </a:rPr>
              <a:t>        # ── Signal working ─────────────────────────────</a:t>
            </a:r>
          </a:p>
          <a:p>
            <a:r>
              <a:rPr sz="880">
                <a:solidFill>
                  <a:srgbClr val="CCCCCC"/>
                </a:solidFill>
                <a:latin typeface="Courier New"/>
              </a:rPr>
              <a:t>        await event_queue.enqueue_event(</a:t>
            </a:r>
          </a:p>
          <a:p>
            <a:r>
              <a:rPr sz="880">
                <a:solidFill>
                  <a:srgbClr val="CCCCCC"/>
                </a:solidFill>
                <a:latin typeface="Courier New"/>
              </a:rPr>
              <a:t>            TaskStatusUpdateEvent(</a:t>
            </a:r>
          </a:p>
          <a:p>
            <a:r>
              <a:rPr sz="880">
                <a:solidFill>
                  <a:srgbClr val="CCCCCC"/>
                </a:solidFill>
                <a:latin typeface="Courier New"/>
              </a:rPr>
              <a:t>                status=TaskStatus(state="working"),</a:t>
            </a:r>
          </a:p>
          <a:p>
            <a:r>
              <a:rPr sz="880">
                <a:solidFill>
                  <a:srgbClr val="CCCCCC"/>
                </a:solidFill>
                <a:latin typeface="Courier New"/>
              </a:rPr>
              <a:t>                final=False</a:t>
            </a:r>
          </a:p>
          <a:p>
            <a:r>
              <a:rPr sz="880">
                <a:solidFill>
                  <a:srgbClr val="CCCCCC"/>
                </a:solidFill>
                <a:latin typeface="Courier New"/>
              </a:rPr>
              <a:t>            )</a:t>
            </a:r>
          </a:p>
          <a:p>
            <a:r>
              <a:rPr sz="880">
                <a:solidFill>
                  <a:srgbClr val="CCCCCC"/>
                </a:solidFill>
                <a:latin typeface="Courier New"/>
              </a:rPr>
              <a:t>        )</a:t>
            </a:r>
          </a:p>
          <a:p>
            <a:endParaRPr sz="880">
              <a:solidFill>
                <a:srgbClr val="CCCCCC"/>
              </a:solidFill>
              <a:latin typeface="Courier New"/>
            </a:endParaRPr>
          </a:p>
          <a:p>
            <a:r>
              <a:rPr sz="880">
                <a:solidFill>
                  <a:srgbClr val="CCCCCC"/>
                </a:solidFill>
                <a:latin typeface="Courier New"/>
              </a:rPr>
              <a:t>        # ── Do actual work ─────────────────────────────</a:t>
            </a:r>
          </a:p>
          <a:p>
            <a:r>
              <a:rPr sz="880">
                <a:solidFill>
                  <a:srgbClr val="CCCCCC"/>
                </a:solidFill>
                <a:latin typeface="Courier New"/>
              </a:rPr>
              <a:t>        hotels = await self._search_hotels(</a:t>
            </a:r>
          </a:p>
          <a:p>
            <a:r>
              <a:rPr sz="880">
                <a:solidFill>
                  <a:srgbClr val="CCCCCC"/>
                </a:solidFill>
                <a:latin typeface="Courier New"/>
              </a:rPr>
              <a:t>            query=text_query,</a:t>
            </a:r>
          </a:p>
          <a:p>
            <a:r>
              <a:rPr sz="880">
                <a:solidFill>
                  <a:srgbClr val="CCCCCC"/>
                </a:solidFill>
                <a:latin typeface="Courier New"/>
              </a:rPr>
              <a:t>            brochure_pdf=pdf_bytes</a:t>
            </a:r>
          </a:p>
          <a:p>
            <a:r>
              <a:rPr sz="880">
                <a:solidFill>
                  <a:srgbClr val="CCCCCC"/>
                </a:solidFill>
                <a:latin typeface="Courier New"/>
              </a:rPr>
              <a:t>        )</a:t>
            </a:r>
          </a:p>
          <a:p>
            <a:endParaRPr sz="880">
              <a:solidFill>
                <a:srgbClr val="CCCCCC"/>
              </a:solidFill>
              <a:latin typeface="Courier New"/>
            </a:endParaRPr>
          </a:p>
          <a:p>
            <a:r>
              <a:rPr sz="880">
                <a:solidFill>
                  <a:srgbClr val="CCCCCC"/>
                </a:solidFill>
                <a:latin typeface="Courier New"/>
              </a:rPr>
              <a:t>        # ── Return structured result ───────────────────</a:t>
            </a:r>
          </a:p>
          <a:p>
            <a:r>
              <a:rPr sz="880">
                <a:solidFill>
                  <a:srgbClr val="CCCCCC"/>
                </a:solidFill>
                <a:latin typeface="Courier New"/>
              </a:rPr>
              <a:t>        await event_queue.enqueue_event(</a:t>
            </a:r>
          </a:p>
          <a:p>
            <a:r>
              <a:rPr sz="880">
                <a:solidFill>
                  <a:srgbClr val="CCCCCC"/>
                </a:solidFill>
                <a:latin typeface="Courier New"/>
              </a:rPr>
              <a:t>            TaskArtifactUpdateEvent(</a:t>
            </a:r>
          </a:p>
          <a:p>
            <a:r>
              <a:rPr sz="880">
                <a:solidFill>
                  <a:srgbClr val="CCCCCC"/>
                </a:solidFill>
                <a:latin typeface="Courier New"/>
              </a:rPr>
              <a:t>                artifact=Artifact(</a:t>
            </a:r>
          </a:p>
          <a:p>
            <a:r>
              <a:rPr sz="880">
                <a:solidFill>
                  <a:srgbClr val="CCCCCC"/>
                </a:solidFill>
                <a:latin typeface="Courier New"/>
              </a:rPr>
              <a:t>                    name="hotel_results",</a:t>
            </a:r>
          </a:p>
          <a:p>
            <a:r>
              <a:rPr sz="880">
                <a:solidFill>
                  <a:srgbClr val="CCCCCC"/>
                </a:solidFill>
                <a:latin typeface="Courier New"/>
              </a:rPr>
              <a:t>                    index=0,</a:t>
            </a:r>
          </a:p>
          <a:p>
            <a:r>
              <a:rPr sz="880">
                <a:solidFill>
                  <a:srgbClr val="CCCCCC"/>
                </a:solidFill>
                <a:latin typeface="Courier New"/>
              </a:rPr>
              <a:t>                    lastChunk=True,</a:t>
            </a:r>
          </a:p>
          <a:p>
            <a:r>
              <a:rPr sz="880">
                <a:solidFill>
                  <a:srgbClr val="CCCCCC"/>
                </a:solidFill>
                <a:latin typeface="Courier New"/>
              </a:rPr>
              <a:t>                    parts=[DataPart(type="data", data=hotels)]</a:t>
            </a:r>
          </a:p>
          <a:p>
            <a:r>
              <a:rPr sz="880">
                <a:solidFill>
                  <a:srgbClr val="CCCCCC"/>
                </a:solidFill>
                <a:latin typeface="Courier New"/>
              </a:rPr>
              <a:t>                )</a:t>
            </a:r>
          </a:p>
          <a:p>
            <a:r>
              <a:rPr sz="880">
                <a:solidFill>
                  <a:srgbClr val="CCCCCC"/>
                </a:solidFill>
                <a:latin typeface="Courier New"/>
              </a:rPr>
              <a:t>            )</a:t>
            </a:r>
          </a:p>
          <a:p>
            <a:r>
              <a:rPr sz="880">
                <a:solidFill>
                  <a:srgbClr val="CCCCCC"/>
                </a:solidFill>
                <a:latin typeface="Courier New"/>
              </a:rPr>
              <a:t>        )</a:t>
            </a:r>
          </a:p>
          <a:p>
            <a:endParaRPr sz="880">
              <a:solidFill>
                <a:srgbClr val="CCCCCC"/>
              </a:solidFill>
              <a:latin typeface="Courier New"/>
            </a:endParaRPr>
          </a:p>
          <a:p>
            <a:r>
              <a:rPr sz="880">
                <a:solidFill>
                  <a:srgbClr val="CCCCCC"/>
                </a:solidFill>
                <a:latin typeface="Courier New"/>
              </a:rPr>
              <a:t>        # ── Signal completion ──────────────────────────</a:t>
            </a:r>
          </a:p>
          <a:p>
            <a:r>
              <a:rPr sz="880">
                <a:solidFill>
                  <a:srgbClr val="CCCCCC"/>
                </a:solidFill>
                <a:latin typeface="Courier New"/>
              </a:rPr>
              <a:t>        await event_queue.enqueue_event(</a:t>
            </a:r>
          </a:p>
          <a:p>
            <a:r>
              <a:rPr sz="880">
                <a:solidFill>
                  <a:srgbClr val="CCCCCC"/>
                </a:solidFill>
                <a:latin typeface="Courier New"/>
              </a:rPr>
              <a:t>            TaskStatusUpdateEvent(</a:t>
            </a:r>
          </a:p>
          <a:p>
            <a:r>
              <a:rPr sz="880">
                <a:solidFill>
                  <a:srgbClr val="CCCCCC"/>
                </a:solidFill>
                <a:latin typeface="Courier New"/>
              </a:rPr>
              <a:t>                status=TaskStatus(state="completed"),</a:t>
            </a:r>
          </a:p>
          <a:p>
            <a:r>
              <a:rPr sz="880">
                <a:solidFill>
                  <a:srgbClr val="CCCCCC"/>
                </a:solidFill>
                <a:latin typeface="Courier New"/>
              </a:rPr>
              <a:t>                final=True</a:t>
            </a:r>
          </a:p>
          <a:p>
            <a:r>
              <a:rPr sz="880">
                <a:solidFill>
                  <a:srgbClr val="CCCCCC"/>
                </a:solidFill>
                <a:latin typeface="Courier New"/>
              </a:rPr>
              <a:t>            )</a:t>
            </a:r>
          </a:p>
          <a:p>
            <a:r>
              <a:rPr sz="880">
                <a:solidFill>
                  <a:srgbClr val="CCCCCC"/>
                </a:solidFill>
                <a:latin typeface="Courier New"/>
              </a:rPr>
              <a:t>        )</a:t>
            </a:r>
          </a:p>
        </p:txBody>
      </p:sp>
      <p:sp>
        <p:nvSpPr>
          <p:cNvPr id="10" name="Rectangle 9"/>
          <p:cNvSpPr/>
          <p:nvPr/>
        </p:nvSpPr>
        <p:spPr>
          <a:xfrm>
            <a:off x="7406640" y="1115568"/>
            <a:ext cx="4480560" cy="553212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406640" y="1115568"/>
            <a:ext cx="448056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79" y="1152144"/>
            <a:ext cx="4297680" cy="274320"/>
          </a:xfrm>
          <a:prstGeom prst="rect">
            <a:avLst/>
          </a:prstGeom>
          <a:noFill/>
        </p:spPr>
        <p:txBody>
          <a:bodyPr wrap="square">
            <a:spAutoFit/>
          </a:bodyPr>
          <a:lstStyle/>
          <a:p>
            <a:pPr algn="l"/>
            <a:r>
              <a:rPr sz="1200" b="1">
                <a:solidFill>
                  <a:srgbClr val="FFFFFF"/>
                </a:solidFill>
                <a:latin typeface="Calibri"/>
              </a:rPr>
              <a:t>AgentExecutor Interface</a:t>
            </a:r>
          </a:p>
        </p:txBody>
      </p:sp>
      <p:sp>
        <p:nvSpPr>
          <p:cNvPr id="13" name="TextBox 12"/>
          <p:cNvSpPr txBox="1"/>
          <p:nvPr/>
        </p:nvSpPr>
        <p:spPr>
          <a:xfrm>
            <a:off x="7516367" y="1499616"/>
            <a:ext cx="4261104" cy="5074920"/>
          </a:xfrm>
          <a:prstGeom prst="rect">
            <a:avLst/>
          </a:prstGeom>
          <a:noFill/>
        </p:spPr>
        <p:txBody>
          <a:bodyPr wrap="square">
            <a:spAutoFit/>
          </a:bodyPr>
          <a:lstStyle/>
          <a:p>
            <a:pPr>
              <a:spcBef>
                <a:spcPts val="400"/>
              </a:spcBef>
            </a:pPr>
            <a:r>
              <a:rPr sz="1000">
                <a:solidFill>
                  <a:srgbClr val="222244"/>
                </a:solidFill>
                <a:latin typeface="Calibri"/>
              </a:rPr>
              <a:t>  •  async execute(context, event_queue)</a:t>
            </a:r>
          </a:p>
          <a:p>
            <a:pPr>
              <a:spcBef>
                <a:spcPts val="400"/>
              </a:spcBef>
            </a:pPr>
            <a:r>
              <a:rPr sz="900">
                <a:solidFill>
                  <a:srgbClr val="222244"/>
                </a:solidFill>
                <a:latin typeface="Calibri"/>
              </a:rPr>
              <a:t>       ◦  context.message — incoming Message</a:t>
            </a:r>
          </a:p>
          <a:p>
            <a:pPr>
              <a:spcBef>
                <a:spcPts val="400"/>
              </a:spcBef>
            </a:pPr>
            <a:r>
              <a:rPr sz="900">
                <a:solidFill>
                  <a:srgbClr val="222244"/>
                </a:solidFill>
                <a:latin typeface="Calibri"/>
              </a:rPr>
              <a:t>       ◦  context.task_id — current task ID</a:t>
            </a:r>
          </a:p>
          <a:p>
            <a:pPr>
              <a:spcBef>
                <a:spcPts val="400"/>
              </a:spcBef>
            </a:pPr>
            <a:r>
              <a:rPr sz="900">
                <a:solidFill>
                  <a:srgbClr val="222244"/>
                </a:solidFill>
                <a:latin typeface="Calibri"/>
              </a:rPr>
              <a:t>       ◦  context.session_id — session ID</a:t>
            </a:r>
          </a:p>
          <a:p>
            <a:pPr>
              <a:spcBef>
                <a:spcPts val="400"/>
              </a:spcBef>
            </a:pPr>
            <a:r>
              <a:rPr sz="900">
                <a:solidFill>
                  <a:srgbClr val="222244"/>
                </a:solidFill>
                <a:latin typeface="Calibri"/>
              </a:rPr>
              <a:t>       ◦  event_queue.enqueue_event() — emit</a:t>
            </a:r>
          </a:p>
          <a:p>
            <a:pPr>
              <a:spcBef>
                <a:spcPts val="400"/>
              </a:spcBef>
            </a:pPr>
            <a:r>
              <a:rPr sz="1000">
                <a:solidFill>
                  <a:srgbClr val="222244"/>
                </a:solidFill>
                <a:latin typeface="Calibri"/>
              </a:rPr>
              <a:t>  •  </a:t>
            </a:r>
          </a:p>
          <a:p>
            <a:pPr>
              <a:spcBef>
                <a:spcPts val="400"/>
              </a:spcBef>
            </a:pPr>
            <a:r>
              <a:rPr sz="1000">
                <a:solidFill>
                  <a:srgbClr val="222244"/>
                </a:solidFill>
                <a:latin typeface="Calibri"/>
              </a:rPr>
              <a:t>  •  Always emit in this order:</a:t>
            </a:r>
          </a:p>
          <a:p>
            <a:pPr>
              <a:spcBef>
                <a:spcPts val="400"/>
              </a:spcBef>
            </a:pPr>
            <a:r>
              <a:rPr sz="900">
                <a:solidFill>
                  <a:srgbClr val="222244"/>
                </a:solidFill>
                <a:latin typeface="Calibri"/>
              </a:rPr>
              <a:t>       ◦  1. working status (non-final)</a:t>
            </a:r>
          </a:p>
          <a:p>
            <a:pPr>
              <a:spcBef>
                <a:spcPts val="400"/>
              </a:spcBef>
            </a:pPr>
            <a:r>
              <a:rPr sz="900">
                <a:solidFill>
                  <a:srgbClr val="222244"/>
                </a:solidFill>
                <a:latin typeface="Calibri"/>
              </a:rPr>
              <a:t>       ◦  2. artifact event(s) with content</a:t>
            </a:r>
          </a:p>
          <a:p>
            <a:pPr>
              <a:spcBef>
                <a:spcPts val="400"/>
              </a:spcBef>
            </a:pPr>
            <a:r>
              <a:rPr sz="900">
                <a:solidFill>
                  <a:srgbClr val="222244"/>
                </a:solidFill>
                <a:latin typeface="Calibri"/>
              </a:rPr>
              <a:t>       ◦  3. completed/failed status (final=True)</a:t>
            </a:r>
          </a:p>
          <a:p>
            <a:pPr>
              <a:spcBef>
                <a:spcPts val="400"/>
              </a:spcBef>
            </a:pPr>
            <a:r>
              <a:rPr sz="1000">
                <a:solidFill>
                  <a:srgbClr val="222244"/>
                </a:solidFill>
                <a:latin typeface="Calibri"/>
              </a:rPr>
              <a:t>  •  </a:t>
            </a:r>
          </a:p>
          <a:p>
            <a:pPr>
              <a:spcBef>
                <a:spcPts val="400"/>
              </a:spcBef>
            </a:pPr>
            <a:r>
              <a:rPr sz="1000">
                <a:solidFill>
                  <a:srgbClr val="222244"/>
                </a:solidFill>
                <a:latin typeface="Calibri"/>
              </a:rPr>
              <a:t>  •  For input-required:</a:t>
            </a:r>
          </a:p>
          <a:p>
            <a:pPr>
              <a:spcBef>
                <a:spcPts val="400"/>
              </a:spcBef>
            </a:pPr>
            <a:r>
              <a:rPr sz="900">
                <a:solidFill>
                  <a:srgbClr val="222244"/>
                </a:solidFill>
                <a:latin typeface="Calibri"/>
              </a:rPr>
              <a:t>       ◦  Emit input-required status</a:t>
            </a:r>
          </a:p>
          <a:p>
            <a:pPr>
              <a:spcBef>
                <a:spcPts val="400"/>
              </a:spcBef>
            </a:pPr>
            <a:r>
              <a:rPr sz="900">
                <a:solidFill>
                  <a:srgbClr val="222244"/>
                </a:solidFill>
                <a:latin typeface="Calibri"/>
              </a:rPr>
              <a:t>       ◦  Include question in status.message</a:t>
            </a:r>
          </a:p>
          <a:p>
            <a:pPr>
              <a:spcBef>
                <a:spcPts val="400"/>
              </a:spcBef>
            </a:pPr>
            <a:r>
              <a:rPr sz="900">
                <a:solidFill>
                  <a:srgbClr val="222244"/>
                </a:solidFill>
                <a:latin typeface="Calibri"/>
              </a:rPr>
              <a:t>       ◦  Client resumes with same task_id</a:t>
            </a:r>
          </a:p>
          <a:p>
            <a:pPr>
              <a:spcBef>
                <a:spcPts val="400"/>
              </a:spcBef>
            </a:pPr>
            <a:r>
              <a:rPr sz="1000">
                <a:solidFill>
                  <a:srgbClr val="222244"/>
                </a:solidFill>
                <a:latin typeface="Calibri"/>
              </a:rPr>
              <a:t>  •  </a:t>
            </a:r>
          </a:p>
          <a:p>
            <a:pPr>
              <a:spcBef>
                <a:spcPts val="400"/>
              </a:spcBef>
            </a:pPr>
            <a:r>
              <a:rPr sz="1000">
                <a:solidFill>
                  <a:srgbClr val="222244"/>
                </a:solidFill>
                <a:latin typeface="Calibri"/>
              </a:rPr>
              <a:t>  •  Framework handles:</a:t>
            </a:r>
          </a:p>
          <a:p>
            <a:pPr>
              <a:spcBef>
                <a:spcPts val="400"/>
              </a:spcBef>
            </a:pPr>
            <a:r>
              <a:rPr sz="900">
                <a:solidFill>
                  <a:srgbClr val="222244"/>
                </a:solidFill>
                <a:latin typeface="Calibri"/>
              </a:rPr>
              <a:t>       ◦  JSON-RPC wrapping</a:t>
            </a:r>
          </a:p>
          <a:p>
            <a:pPr>
              <a:spcBef>
                <a:spcPts val="400"/>
              </a:spcBef>
            </a:pPr>
            <a:r>
              <a:rPr sz="900">
                <a:solidFill>
                  <a:srgbClr val="222244"/>
                </a:solidFill>
                <a:latin typeface="Calibri"/>
              </a:rPr>
              <a:t>       ◦  SSE formatting</a:t>
            </a:r>
          </a:p>
          <a:p>
            <a:pPr>
              <a:spcBef>
                <a:spcPts val="400"/>
              </a:spcBef>
            </a:pPr>
            <a:r>
              <a:rPr sz="900">
                <a:solidFill>
                  <a:srgbClr val="222244"/>
                </a:solidFill>
                <a:latin typeface="Calibri"/>
              </a:rPr>
              <a:t>       ◦  Task store (InMemoryTaskStore)</a:t>
            </a:r>
          </a:p>
          <a:p>
            <a:pPr>
              <a:spcBef>
                <a:spcPts val="400"/>
              </a:spcBef>
            </a:pPr>
            <a:r>
              <a:rPr sz="900">
                <a:solidFill>
                  <a:srgbClr val="222244"/>
                </a:solidFill>
                <a:latin typeface="Calibri"/>
              </a:rPr>
              <a:t>       ◦  Agent Card serving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Deep Dive: Booking Agent — Input-Required Server</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Multi-step conversation state on the server side</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7132320" cy="553212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15568"/>
            <a:ext cx="713232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43000"/>
            <a:ext cx="6949440" cy="201168"/>
          </a:xfrm>
          <a:prstGeom prst="rect">
            <a:avLst/>
          </a:prstGeom>
          <a:noFill/>
        </p:spPr>
        <p:txBody>
          <a:bodyPr wrap="square">
            <a:spAutoFit/>
          </a:bodyPr>
          <a:lstStyle/>
          <a:p>
            <a:pPr algn="l"/>
            <a:r>
              <a:rPr sz="1000" b="0">
                <a:solidFill>
                  <a:srgbClr val="F0A500"/>
                </a:solidFill>
                <a:latin typeface="Calibri"/>
              </a:rPr>
              <a:t>BookingAgentExecutor — input-required server</a:t>
            </a:r>
          </a:p>
        </p:txBody>
      </p:sp>
      <p:sp>
        <p:nvSpPr>
          <p:cNvPr id="9" name="TextBox 8"/>
          <p:cNvSpPr txBox="1"/>
          <p:nvPr/>
        </p:nvSpPr>
        <p:spPr>
          <a:xfrm>
            <a:off x="365760" y="1380744"/>
            <a:ext cx="6949440" cy="5221224"/>
          </a:xfrm>
          <a:prstGeom prst="rect">
            <a:avLst/>
          </a:prstGeom>
          <a:noFill/>
        </p:spPr>
        <p:txBody>
          <a:bodyPr wrap="none">
            <a:spAutoFit/>
          </a:bodyPr>
          <a:lstStyle/>
          <a:p>
            <a:r>
              <a:rPr sz="850">
                <a:solidFill>
                  <a:srgbClr val="CCCCCC"/>
                </a:solidFill>
                <a:latin typeface="Courier New"/>
              </a:rPr>
              <a:t>from a2a.server.agent_execution import AgentExecutor</a:t>
            </a:r>
          </a:p>
          <a:p>
            <a:r>
              <a:rPr sz="850">
                <a:solidFill>
                  <a:srgbClr val="CCCCCC"/>
                </a:solidFill>
                <a:latin typeface="Courier New"/>
              </a:rPr>
              <a:t>from a2a.types import (</a:t>
            </a:r>
          </a:p>
          <a:p>
            <a:r>
              <a:rPr sz="850">
                <a:solidFill>
                  <a:srgbClr val="CCCCCC"/>
                </a:solidFill>
                <a:latin typeface="Courier New"/>
              </a:rPr>
              <a:t>    TaskStatus, TaskStatusUpdateEvent, TaskArtifactUpdateEvent,</a:t>
            </a:r>
          </a:p>
          <a:p>
            <a:r>
              <a:rPr sz="850">
                <a:solidFill>
                  <a:srgbClr val="CCCCCC"/>
                </a:solidFill>
                <a:latin typeface="Courier New"/>
              </a:rPr>
              <a:t>    Artifact, DataPart, Message, TextPart</a:t>
            </a:r>
          </a:p>
          <a:p>
            <a:r>
              <a:rPr sz="850">
                <a:solidFill>
                  <a:srgbClr val="CCCCCC"/>
                </a:solidFill>
                <a:latin typeface="Courier New"/>
              </a:rPr>
              <a:t>)</a:t>
            </a:r>
          </a:p>
          <a:p>
            <a:endParaRPr sz="850">
              <a:solidFill>
                <a:srgbClr val="CCCCCC"/>
              </a:solidFill>
              <a:latin typeface="Courier New"/>
            </a:endParaRPr>
          </a:p>
          <a:p>
            <a:r>
              <a:rPr sz="850">
                <a:solidFill>
                  <a:srgbClr val="CCCCCC"/>
                </a:solidFill>
                <a:latin typeface="Courier New"/>
              </a:rPr>
              <a:t>class BookingAgentExecutor(AgentExecutor):</a:t>
            </a:r>
          </a:p>
          <a:p>
            <a:endParaRPr sz="850">
              <a:solidFill>
                <a:srgbClr val="CCCCCC"/>
              </a:solidFill>
              <a:latin typeface="Courier New"/>
            </a:endParaRPr>
          </a:p>
          <a:p>
            <a:r>
              <a:rPr sz="850">
                <a:solidFill>
                  <a:srgbClr val="CCCCCC"/>
                </a:solidFill>
                <a:latin typeface="Courier New"/>
              </a:rPr>
              <a:t>    # In-memory session state (use Redis in production)</a:t>
            </a:r>
          </a:p>
          <a:p>
            <a:r>
              <a:rPr sz="850">
                <a:solidFill>
                  <a:srgbClr val="CCCCCC"/>
                </a:solidFill>
                <a:latin typeface="Courier New"/>
              </a:rPr>
              <a:t>    _sessions: dict = {}</a:t>
            </a:r>
          </a:p>
          <a:p>
            <a:endParaRPr sz="850">
              <a:solidFill>
                <a:srgbClr val="CCCCCC"/>
              </a:solidFill>
              <a:latin typeface="Courier New"/>
            </a:endParaRPr>
          </a:p>
          <a:p>
            <a:r>
              <a:rPr sz="850">
                <a:solidFill>
                  <a:srgbClr val="CCCCCC"/>
                </a:solidFill>
                <a:latin typeface="Courier New"/>
              </a:rPr>
              <a:t>    async def execute(self, context, event_queue):</a:t>
            </a:r>
          </a:p>
          <a:p>
            <a:r>
              <a:rPr sz="850">
                <a:solidFill>
                  <a:srgbClr val="CCCCCC"/>
                </a:solidFill>
                <a:latin typeface="Courier New"/>
              </a:rPr>
              <a:t>        session_id = context.session_id</a:t>
            </a:r>
          </a:p>
          <a:p>
            <a:r>
              <a:rPr sz="850">
                <a:solidFill>
                  <a:srgbClr val="CCCCCC"/>
                </a:solidFill>
                <a:latin typeface="Courier New"/>
              </a:rPr>
              <a:t>        task_id    = context.task_id</a:t>
            </a:r>
          </a:p>
          <a:p>
            <a:r>
              <a:rPr sz="850">
                <a:solidFill>
                  <a:srgbClr val="CCCCCC"/>
                </a:solidFill>
                <a:latin typeface="Courier New"/>
              </a:rPr>
              <a:t>        state      = self._sessions.get(session_id, {})</a:t>
            </a:r>
          </a:p>
          <a:p>
            <a:endParaRPr sz="850">
              <a:solidFill>
                <a:srgbClr val="CCCCCC"/>
              </a:solidFill>
              <a:latin typeface="Courier New"/>
            </a:endParaRPr>
          </a:p>
          <a:p>
            <a:r>
              <a:rPr sz="850">
                <a:solidFill>
                  <a:srgbClr val="CCCCCC"/>
                </a:solidFill>
                <a:latin typeface="Courier New"/>
              </a:rPr>
              <a:t>        user_text = self._get_text(context.message)</a:t>
            </a:r>
          </a:p>
          <a:p>
            <a:endParaRPr sz="850">
              <a:solidFill>
                <a:srgbClr val="CCCCCC"/>
              </a:solidFill>
              <a:latin typeface="Courier New"/>
            </a:endParaRPr>
          </a:p>
          <a:p>
            <a:r>
              <a:rPr sz="850">
                <a:solidFill>
                  <a:srgbClr val="CCCCCC"/>
                </a:solidFill>
                <a:latin typeface="Courier New"/>
              </a:rPr>
              <a:t>        # ── Step 1: Need seat class ────────────────────</a:t>
            </a:r>
          </a:p>
          <a:p>
            <a:r>
              <a:rPr sz="850">
                <a:solidFill>
                  <a:srgbClr val="CCCCCC"/>
                </a:solidFill>
                <a:latin typeface="Courier New"/>
              </a:rPr>
              <a:t>        if "seat_class" not in state:</a:t>
            </a:r>
          </a:p>
          <a:p>
            <a:r>
              <a:rPr sz="850">
                <a:solidFill>
                  <a:srgbClr val="CCCCCC"/>
                </a:solidFill>
                <a:latin typeface="Courier New"/>
              </a:rPr>
              <a:t>            state["booking_data"] = self._get_data(context.message)</a:t>
            </a:r>
          </a:p>
          <a:p>
            <a:r>
              <a:rPr sz="850">
                <a:solidFill>
                  <a:srgbClr val="CCCCCC"/>
                </a:solidFill>
                <a:latin typeface="Courier New"/>
              </a:rPr>
              <a:t>            self._sessions[session_id] = state</a:t>
            </a:r>
          </a:p>
          <a:p>
            <a:r>
              <a:rPr sz="850">
                <a:solidFill>
                  <a:srgbClr val="CCCCCC"/>
                </a:solidFill>
                <a:latin typeface="Courier New"/>
              </a:rPr>
              <a:t>            await event_queue.enqueue_event(</a:t>
            </a:r>
          </a:p>
          <a:p>
            <a:r>
              <a:rPr sz="850">
                <a:solidFill>
                  <a:srgbClr val="CCCCCC"/>
                </a:solidFill>
                <a:latin typeface="Courier New"/>
              </a:rPr>
              <a:t>                TaskStatusUpdateEvent(</a:t>
            </a:r>
          </a:p>
          <a:p>
            <a:r>
              <a:rPr sz="850">
                <a:solidFill>
                  <a:srgbClr val="CCCCCC"/>
                </a:solidFill>
                <a:latin typeface="Courier New"/>
              </a:rPr>
              <a:t>                    status=TaskStatus(</a:t>
            </a:r>
          </a:p>
          <a:p>
            <a:r>
              <a:rPr sz="850">
                <a:solidFill>
                  <a:srgbClr val="CCCCCC"/>
                </a:solidFill>
                <a:latin typeface="Courier New"/>
              </a:rPr>
              <a:t>                        state="input-required",</a:t>
            </a:r>
          </a:p>
          <a:p>
            <a:r>
              <a:rPr sz="850">
                <a:solidFill>
                  <a:srgbClr val="CCCCCC"/>
                </a:solidFill>
                <a:latin typeface="Courier New"/>
              </a:rPr>
              <a:t>                        message=Message(role="agent", parts=[</a:t>
            </a:r>
          </a:p>
          <a:p>
            <a:r>
              <a:rPr sz="850">
                <a:solidFill>
                  <a:srgbClr val="CCCCCC"/>
                </a:solidFill>
                <a:latin typeface="Courier New"/>
              </a:rPr>
              <a:t>                            TextPart(type="text",</a:t>
            </a:r>
          </a:p>
          <a:p>
            <a:r>
              <a:rPr sz="850">
                <a:solidFill>
                  <a:srgbClr val="CCCCCC"/>
                </a:solidFill>
                <a:latin typeface="Courier New"/>
              </a:rPr>
              <a:t>                                     text="Which seat class? "</a:t>
            </a:r>
          </a:p>
          <a:p>
            <a:r>
              <a:rPr sz="850">
                <a:solidFill>
                  <a:srgbClr val="CCCCCC"/>
                </a:solidFill>
                <a:latin typeface="Courier New"/>
              </a:rPr>
              <a:t>                                          "(economy/business/first)")</a:t>
            </a:r>
          </a:p>
          <a:p>
            <a:r>
              <a:rPr sz="850">
                <a:solidFill>
                  <a:srgbClr val="CCCCCC"/>
                </a:solidFill>
                <a:latin typeface="Courier New"/>
              </a:rPr>
              <a:t>                        ])</a:t>
            </a:r>
          </a:p>
          <a:p>
            <a:r>
              <a:rPr sz="850">
                <a:solidFill>
                  <a:srgbClr val="CCCCCC"/>
                </a:solidFill>
                <a:latin typeface="Courier New"/>
              </a:rPr>
              <a:t>                    ), final=True</a:t>
            </a:r>
          </a:p>
          <a:p>
            <a:r>
              <a:rPr sz="850">
                <a:solidFill>
                  <a:srgbClr val="CCCCCC"/>
                </a:solidFill>
                <a:latin typeface="Courier New"/>
              </a:rPr>
              <a:t>                )</a:t>
            </a:r>
          </a:p>
          <a:p>
            <a:r>
              <a:rPr sz="850">
                <a:solidFill>
                  <a:srgbClr val="CCCCCC"/>
                </a:solidFill>
                <a:latin typeface="Courier New"/>
              </a:rPr>
              <a:t>            )</a:t>
            </a:r>
          </a:p>
          <a:p>
            <a:r>
              <a:rPr sz="850">
                <a:solidFill>
                  <a:srgbClr val="CCCCCC"/>
                </a:solidFill>
                <a:latin typeface="Courier New"/>
              </a:rPr>
              <a:t>            return</a:t>
            </a:r>
          </a:p>
          <a:p>
            <a:endParaRPr sz="850">
              <a:solidFill>
                <a:srgbClr val="CCCCCC"/>
              </a:solidFill>
              <a:latin typeface="Courier New"/>
            </a:endParaRPr>
          </a:p>
          <a:p>
            <a:r>
              <a:rPr sz="850">
                <a:solidFill>
                  <a:srgbClr val="CCCCCC"/>
                </a:solidFill>
                <a:latin typeface="Courier New"/>
              </a:rPr>
              <a:t>        # ── Step 2: Need meal preference ──────────────</a:t>
            </a:r>
          </a:p>
          <a:p>
            <a:r>
              <a:rPr sz="850">
                <a:solidFill>
                  <a:srgbClr val="CCCCCC"/>
                </a:solidFill>
                <a:latin typeface="Courier New"/>
              </a:rPr>
              <a:t>        if "seat_class" in state and "meal" not in state:</a:t>
            </a:r>
          </a:p>
          <a:p>
            <a:r>
              <a:rPr sz="850">
                <a:solidFill>
                  <a:srgbClr val="CCCCCC"/>
                </a:solidFill>
                <a:latin typeface="Courier New"/>
              </a:rPr>
              <a:t>            state["seat_class"] = user_text</a:t>
            </a:r>
          </a:p>
          <a:p>
            <a:r>
              <a:rPr sz="850">
                <a:solidFill>
                  <a:srgbClr val="CCCCCC"/>
                </a:solidFill>
                <a:latin typeface="Courier New"/>
              </a:rPr>
              <a:t>            self._sessions[session_id] = state</a:t>
            </a:r>
          </a:p>
          <a:p>
            <a:r>
              <a:rPr sz="850">
                <a:solidFill>
                  <a:srgbClr val="CCCCCC"/>
                </a:solidFill>
                <a:latin typeface="Courier New"/>
              </a:rPr>
              <a:t>            await event_queue.enqueue_event(</a:t>
            </a:r>
          </a:p>
          <a:p>
            <a:r>
              <a:rPr sz="850">
                <a:solidFill>
                  <a:srgbClr val="CCCCCC"/>
                </a:solidFill>
                <a:latin typeface="Courier New"/>
              </a:rPr>
              <a:t>                TaskStatusUpdateEvent(</a:t>
            </a:r>
          </a:p>
          <a:p>
            <a:r>
              <a:rPr sz="850">
                <a:solidFill>
                  <a:srgbClr val="CCCCCC"/>
                </a:solidFill>
                <a:latin typeface="Courier New"/>
              </a:rPr>
              <a:t>                    status=TaskStatus(</a:t>
            </a:r>
          </a:p>
          <a:p>
            <a:r>
              <a:rPr sz="850">
                <a:solidFill>
                  <a:srgbClr val="CCCCCC"/>
                </a:solidFill>
                <a:latin typeface="Courier New"/>
              </a:rPr>
              <a:t>                        state="input-required",</a:t>
            </a:r>
          </a:p>
          <a:p>
            <a:r>
              <a:rPr sz="850">
                <a:solidFill>
                  <a:srgbClr val="CCCCCC"/>
                </a:solidFill>
                <a:latin typeface="Courier New"/>
              </a:rPr>
              <a:t>                        message=Message(role="agent", parts=[</a:t>
            </a:r>
          </a:p>
          <a:p>
            <a:r>
              <a:rPr sz="850">
                <a:solidFill>
                  <a:srgbClr val="CCCCCC"/>
                </a:solidFill>
                <a:latin typeface="Courier New"/>
              </a:rPr>
              <a:t>                            TextPart(type="text",</a:t>
            </a:r>
          </a:p>
          <a:p>
            <a:r>
              <a:rPr sz="850">
                <a:solidFill>
                  <a:srgbClr val="CCCCCC"/>
                </a:solidFill>
                <a:latin typeface="Courier New"/>
              </a:rPr>
              <a:t>                                     text="Meal preference? "</a:t>
            </a:r>
          </a:p>
          <a:p>
            <a:r>
              <a:rPr sz="850">
                <a:solidFill>
                  <a:srgbClr val="CCCCCC"/>
                </a:solidFill>
                <a:latin typeface="Courier New"/>
              </a:rPr>
              <a:t>                                          "(standard/vegetarian/vegan)")</a:t>
            </a:r>
          </a:p>
          <a:p>
            <a:r>
              <a:rPr sz="850">
                <a:solidFill>
                  <a:srgbClr val="CCCCCC"/>
                </a:solidFill>
                <a:latin typeface="Courier New"/>
              </a:rPr>
              <a:t>                        ])</a:t>
            </a:r>
          </a:p>
          <a:p>
            <a:r>
              <a:rPr sz="850">
                <a:solidFill>
                  <a:srgbClr val="CCCCCC"/>
                </a:solidFill>
                <a:latin typeface="Courier New"/>
              </a:rPr>
              <a:t>                    ), final=True</a:t>
            </a:r>
          </a:p>
          <a:p>
            <a:r>
              <a:rPr sz="850">
                <a:solidFill>
                  <a:srgbClr val="CCCCCC"/>
                </a:solidFill>
                <a:latin typeface="Courier New"/>
              </a:rPr>
              <a:t>                )</a:t>
            </a:r>
          </a:p>
          <a:p>
            <a:r>
              <a:rPr sz="850">
                <a:solidFill>
                  <a:srgbClr val="CCCCCC"/>
                </a:solidFill>
                <a:latin typeface="Courier New"/>
              </a:rPr>
              <a:t>            )</a:t>
            </a:r>
          </a:p>
          <a:p>
            <a:r>
              <a:rPr sz="850">
                <a:solidFill>
                  <a:srgbClr val="CCCCCC"/>
                </a:solidFill>
                <a:latin typeface="Courier New"/>
              </a:rPr>
              <a:t>            return</a:t>
            </a:r>
          </a:p>
          <a:p>
            <a:endParaRPr sz="850">
              <a:solidFill>
                <a:srgbClr val="CCCCCC"/>
              </a:solidFill>
              <a:latin typeface="Courier New"/>
            </a:endParaRPr>
          </a:p>
          <a:p>
            <a:r>
              <a:rPr sz="850">
                <a:solidFill>
                  <a:srgbClr val="CCCCCC"/>
                </a:solidFill>
                <a:latin typeface="Courier New"/>
              </a:rPr>
              <a:t>        # ── (additional steps omitted for brevity) ────</a:t>
            </a:r>
          </a:p>
          <a:p>
            <a:r>
              <a:rPr sz="850">
                <a:solidFill>
                  <a:srgbClr val="CCCCCC"/>
                </a:solidFill>
                <a:latin typeface="Courier New"/>
              </a:rPr>
              <a:t>        # Step 3: loyalty number, then complete booking</a:t>
            </a:r>
          </a:p>
          <a:p>
            <a:r>
              <a:rPr sz="850">
                <a:solidFill>
                  <a:srgbClr val="CCCCCC"/>
                </a:solidFill>
                <a:latin typeface="Courier New"/>
              </a:rPr>
              <a:t>        booking_ref = await self._confirm_booking(state)</a:t>
            </a:r>
          </a:p>
          <a:p>
            <a:r>
              <a:rPr sz="850">
                <a:solidFill>
                  <a:srgbClr val="CCCCCC"/>
                </a:solidFill>
                <a:latin typeface="Courier New"/>
              </a:rPr>
              <a:t>        await event_queue.enqueue_event(</a:t>
            </a:r>
          </a:p>
          <a:p>
            <a:r>
              <a:rPr sz="850">
                <a:solidFill>
                  <a:srgbClr val="CCCCCC"/>
                </a:solidFill>
                <a:latin typeface="Courier New"/>
              </a:rPr>
              <a:t>            TaskArtifactUpdateEvent(</a:t>
            </a:r>
          </a:p>
          <a:p>
            <a:r>
              <a:rPr sz="850">
                <a:solidFill>
                  <a:srgbClr val="CCCCCC"/>
                </a:solidFill>
                <a:latin typeface="Courier New"/>
              </a:rPr>
              <a:t>                artifact=Artifact(name="booking", index=0,</a:t>
            </a:r>
          </a:p>
          <a:p>
            <a:r>
              <a:rPr sz="850">
                <a:solidFill>
                  <a:srgbClr val="CCCCCC"/>
                </a:solidFill>
                <a:latin typeface="Courier New"/>
              </a:rPr>
              <a:t>                    lastChunk=True,</a:t>
            </a:r>
          </a:p>
          <a:p>
            <a:r>
              <a:rPr sz="850">
                <a:solidFill>
                  <a:srgbClr val="CCCCCC"/>
                </a:solidFill>
                <a:latin typeface="Courier New"/>
              </a:rPr>
              <a:t>                    parts=[DataPart(type="data",</a:t>
            </a:r>
          </a:p>
          <a:p>
            <a:r>
              <a:rPr sz="850">
                <a:solidFill>
                  <a:srgbClr val="CCCCCC"/>
                </a:solidFill>
                <a:latin typeface="Courier New"/>
              </a:rPr>
              <a:t>                                    data=booking_ref)])</a:t>
            </a:r>
          </a:p>
          <a:p>
            <a:r>
              <a:rPr sz="850">
                <a:solidFill>
                  <a:srgbClr val="CCCCCC"/>
                </a:solidFill>
                <a:latin typeface="Courier New"/>
              </a:rPr>
              <a:t>            )</a:t>
            </a:r>
          </a:p>
          <a:p>
            <a:r>
              <a:rPr sz="850">
                <a:solidFill>
                  <a:srgbClr val="CCCCCC"/>
                </a:solidFill>
                <a:latin typeface="Courier New"/>
              </a:rPr>
              <a:t>        )</a:t>
            </a:r>
          </a:p>
          <a:p>
            <a:r>
              <a:rPr sz="850">
                <a:solidFill>
                  <a:srgbClr val="CCCCCC"/>
                </a:solidFill>
                <a:latin typeface="Courier New"/>
              </a:rPr>
              <a:t>        await event_queue.enqueue_event(</a:t>
            </a:r>
          </a:p>
          <a:p>
            <a:r>
              <a:rPr sz="850">
                <a:solidFill>
                  <a:srgbClr val="CCCCCC"/>
                </a:solidFill>
                <a:latin typeface="Courier New"/>
              </a:rPr>
              <a:t>            TaskStatusUpdateEvent(</a:t>
            </a:r>
          </a:p>
          <a:p>
            <a:r>
              <a:rPr sz="850">
                <a:solidFill>
                  <a:srgbClr val="CCCCCC"/>
                </a:solidFill>
                <a:latin typeface="Courier New"/>
              </a:rPr>
              <a:t>                status=TaskStatus(state="completed"),</a:t>
            </a:r>
          </a:p>
          <a:p>
            <a:r>
              <a:rPr sz="850">
                <a:solidFill>
                  <a:srgbClr val="CCCCCC"/>
                </a:solidFill>
                <a:latin typeface="Courier New"/>
              </a:rPr>
              <a:t>                final=True</a:t>
            </a:r>
          </a:p>
          <a:p>
            <a:r>
              <a:rPr sz="850">
                <a:solidFill>
                  <a:srgbClr val="CCCCCC"/>
                </a:solidFill>
                <a:latin typeface="Courier New"/>
              </a:rPr>
              <a:t>            )</a:t>
            </a:r>
          </a:p>
          <a:p>
            <a:r>
              <a:rPr sz="850">
                <a:solidFill>
                  <a:srgbClr val="CCCCCC"/>
                </a:solidFill>
                <a:latin typeface="Courier New"/>
              </a:rPr>
              <a:t>        )</a:t>
            </a:r>
          </a:p>
          <a:p>
            <a:r>
              <a:rPr sz="850">
                <a:solidFill>
                  <a:srgbClr val="CCCCCC"/>
                </a:solidFill>
                <a:latin typeface="Courier New"/>
              </a:rPr>
              <a:t>        del self._sessions[session_id]</a:t>
            </a:r>
          </a:p>
        </p:txBody>
      </p:sp>
      <p:sp>
        <p:nvSpPr>
          <p:cNvPr id="10" name="Rectangle 9"/>
          <p:cNvSpPr/>
          <p:nvPr/>
        </p:nvSpPr>
        <p:spPr>
          <a:xfrm>
            <a:off x="7452360" y="1115568"/>
            <a:ext cx="4480560" cy="553212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452360" y="1115568"/>
            <a:ext cx="448056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43800" y="1152144"/>
            <a:ext cx="4297680" cy="274320"/>
          </a:xfrm>
          <a:prstGeom prst="rect">
            <a:avLst/>
          </a:prstGeom>
          <a:noFill/>
        </p:spPr>
        <p:txBody>
          <a:bodyPr wrap="square">
            <a:spAutoFit/>
          </a:bodyPr>
          <a:lstStyle/>
          <a:p>
            <a:pPr algn="l"/>
            <a:r>
              <a:rPr sz="1200" b="1">
                <a:solidFill>
                  <a:srgbClr val="FFFFFF"/>
                </a:solidFill>
                <a:latin typeface="Calibri"/>
              </a:rPr>
              <a:t>Server-Side State Machine</a:t>
            </a:r>
          </a:p>
        </p:txBody>
      </p:sp>
      <p:sp>
        <p:nvSpPr>
          <p:cNvPr id="13" name="TextBox 12"/>
          <p:cNvSpPr txBox="1"/>
          <p:nvPr/>
        </p:nvSpPr>
        <p:spPr>
          <a:xfrm>
            <a:off x="7562088" y="1499616"/>
            <a:ext cx="4261104" cy="5074920"/>
          </a:xfrm>
          <a:prstGeom prst="rect">
            <a:avLst/>
          </a:prstGeom>
          <a:noFill/>
        </p:spPr>
        <p:txBody>
          <a:bodyPr wrap="square">
            <a:spAutoFit/>
          </a:bodyPr>
          <a:lstStyle/>
          <a:p>
            <a:pPr>
              <a:spcBef>
                <a:spcPts val="400"/>
              </a:spcBef>
            </a:pPr>
            <a:r>
              <a:rPr sz="1100">
                <a:solidFill>
                  <a:srgbClr val="222244"/>
                </a:solidFill>
                <a:latin typeface="Calibri"/>
              </a:rPr>
              <a:t>  •  Use session_id as state key</a:t>
            </a:r>
          </a:p>
          <a:p>
            <a:pPr>
              <a:spcBef>
                <a:spcPts val="400"/>
              </a:spcBef>
            </a:pPr>
            <a:r>
              <a:rPr sz="1100">
                <a:solidFill>
                  <a:srgbClr val="222244"/>
                </a:solidFill>
                <a:latin typeface="Calibri"/>
              </a:rPr>
              <a:t>  •  Store partial answers in _sessions dict</a:t>
            </a:r>
          </a:p>
          <a:p>
            <a:pPr>
              <a:spcBef>
                <a:spcPts val="400"/>
              </a:spcBef>
            </a:pPr>
            <a:r>
              <a:rPr sz="1100">
                <a:solidFill>
                  <a:srgbClr val="222244"/>
                </a:solidFill>
                <a:latin typeface="Calibri"/>
              </a:rPr>
              <a:t>  •  Check what data is missing each call</a:t>
            </a:r>
          </a:p>
          <a:p>
            <a:pPr>
              <a:spcBef>
                <a:spcPts val="400"/>
              </a:spcBef>
            </a:pPr>
            <a:r>
              <a:rPr sz="1100">
                <a:solidFill>
                  <a:srgbClr val="222244"/>
                </a:solidFill>
                <a:latin typeface="Calibri"/>
              </a:rPr>
              <a:t>  •  Emit input-required with question message</a:t>
            </a:r>
          </a:p>
          <a:p>
            <a:pPr>
              <a:spcBef>
                <a:spcPts val="400"/>
              </a:spcBef>
            </a:pPr>
            <a:r>
              <a:rPr sz="1100">
                <a:solidFill>
                  <a:srgbClr val="222244"/>
                </a:solidFill>
                <a:latin typeface="Calibri"/>
              </a:rPr>
              <a:t>  •  Set final=True to end current SSE stream</a:t>
            </a:r>
          </a:p>
          <a:p>
            <a:pPr>
              <a:spcBef>
                <a:spcPts val="400"/>
              </a:spcBef>
            </a:pPr>
            <a:r>
              <a:rPr sz="1100">
                <a:solidFill>
                  <a:srgbClr val="222244"/>
                </a:solidFill>
                <a:latin typeface="Calibri"/>
              </a:rPr>
              <a:t>  •  Client reuses same task_id to resume</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Production Considerations:</a:t>
            </a:r>
          </a:p>
          <a:p>
            <a:pPr>
              <a:spcBef>
                <a:spcPts val="400"/>
              </a:spcBef>
            </a:pPr>
            <a:r>
              <a:rPr sz="1000">
                <a:solidFill>
                  <a:srgbClr val="222244"/>
                </a:solidFill>
                <a:latin typeface="Calibri"/>
              </a:rPr>
              <a:t>       ◦  Use Redis for _sessions (not in-memory)</a:t>
            </a:r>
          </a:p>
          <a:p>
            <a:pPr>
              <a:spcBef>
                <a:spcPts val="400"/>
              </a:spcBef>
            </a:pPr>
            <a:r>
              <a:rPr sz="1000">
                <a:solidFill>
                  <a:srgbClr val="222244"/>
                </a:solidFill>
                <a:latin typeface="Calibri"/>
              </a:rPr>
              <a:t>       ◦  Set TTL on session state (e.g. 30 min)</a:t>
            </a:r>
          </a:p>
          <a:p>
            <a:pPr>
              <a:spcBef>
                <a:spcPts val="400"/>
              </a:spcBef>
            </a:pPr>
            <a:r>
              <a:rPr sz="1000">
                <a:solidFill>
                  <a:srgbClr val="222244"/>
                </a:solidFill>
                <a:latin typeface="Calibri"/>
              </a:rPr>
              <a:t>       ◦  Handle task_id collisions gracefully</a:t>
            </a:r>
          </a:p>
          <a:p>
            <a:pPr>
              <a:spcBef>
                <a:spcPts val="400"/>
              </a:spcBef>
            </a:pPr>
            <a:r>
              <a:rPr sz="1000">
                <a:solidFill>
                  <a:srgbClr val="222244"/>
                </a:solidFill>
                <a:latin typeface="Calibri"/>
              </a:rPr>
              <a:t>       ◦  Validate each answer before proceeding</a:t>
            </a:r>
          </a:p>
          <a:p>
            <a:pPr>
              <a:spcBef>
                <a:spcPts val="400"/>
              </a:spcBef>
            </a:pPr>
            <a:r>
              <a:rPr sz="1000">
                <a:solidFill>
                  <a:srgbClr val="222244"/>
                </a:solidFill>
                <a:latin typeface="Calibri"/>
              </a:rPr>
              <a:t>       ◦  Sanitize user input before using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Deep Dive: SessionId and Task History</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Grouping tasks and accessing conversation history</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15568"/>
            <a:ext cx="6858000" cy="5532120"/>
          </a:xfrm>
          <a:prstGeom prst="rect">
            <a:avLst/>
          </a:prstGeom>
          <a:solidFill>
            <a:srgbClr val="2D2D2D"/>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15568"/>
            <a:ext cx="6858000" cy="246888"/>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43000"/>
            <a:ext cx="6675120" cy="201168"/>
          </a:xfrm>
          <a:prstGeom prst="rect">
            <a:avLst/>
          </a:prstGeom>
          <a:noFill/>
        </p:spPr>
        <p:txBody>
          <a:bodyPr wrap="square">
            <a:spAutoFit/>
          </a:bodyPr>
          <a:lstStyle/>
          <a:p>
            <a:pPr algn="l"/>
            <a:r>
              <a:rPr sz="1000" b="0">
                <a:solidFill>
                  <a:srgbClr val="F0A500"/>
                </a:solidFill>
                <a:latin typeface="Calibri"/>
              </a:rPr>
              <a:t>SessionId Grouping + Task History</a:t>
            </a:r>
          </a:p>
        </p:txBody>
      </p:sp>
      <p:sp>
        <p:nvSpPr>
          <p:cNvPr id="9" name="TextBox 8"/>
          <p:cNvSpPr txBox="1"/>
          <p:nvPr/>
        </p:nvSpPr>
        <p:spPr>
          <a:xfrm>
            <a:off x="365760" y="1380744"/>
            <a:ext cx="6675120" cy="5221224"/>
          </a:xfrm>
          <a:prstGeom prst="rect">
            <a:avLst/>
          </a:prstGeom>
          <a:noFill/>
        </p:spPr>
        <p:txBody>
          <a:bodyPr wrap="none">
            <a:spAutoFit/>
          </a:bodyPr>
          <a:lstStyle/>
          <a:p>
            <a:r>
              <a:rPr sz="900">
                <a:solidFill>
                  <a:srgbClr val="CCCCCC"/>
                </a:solidFill>
                <a:latin typeface="Courier New"/>
              </a:rPr>
              <a:t>import uuid</a:t>
            </a:r>
          </a:p>
          <a:p>
            <a:r>
              <a:rPr sz="900">
                <a:solidFill>
                  <a:srgbClr val="CCCCCC"/>
                </a:solidFill>
                <a:latin typeface="Courier New"/>
              </a:rPr>
              <a:t>from a2a.types import (</a:t>
            </a:r>
          </a:p>
          <a:p>
            <a:r>
              <a:rPr sz="900">
                <a:solidFill>
                  <a:srgbClr val="CCCCCC"/>
                </a:solidFill>
                <a:latin typeface="Courier New"/>
              </a:rPr>
              <a:t>    GetTaskRequest, TaskQueryParams,</a:t>
            </a:r>
          </a:p>
          <a:p>
            <a:r>
              <a:rPr sz="900">
                <a:solidFill>
                  <a:srgbClr val="CCCCCC"/>
                </a:solidFill>
                <a:latin typeface="Courier New"/>
              </a:rPr>
              <a:t>    SendTaskRequest, TaskSendParams, Message, TextPart</a:t>
            </a:r>
          </a:p>
          <a:p>
            <a:r>
              <a:rPr sz="900">
                <a:solidFill>
                  <a:srgbClr val="CCCCCC"/>
                </a:solidFill>
                <a:latin typeface="Courier New"/>
              </a:rPr>
              <a:t>)</a:t>
            </a:r>
          </a:p>
          <a:p>
            <a:endParaRPr sz="900">
              <a:solidFill>
                <a:srgbClr val="CCCCCC"/>
              </a:solidFill>
              <a:latin typeface="Courier New"/>
            </a:endParaRPr>
          </a:p>
          <a:p>
            <a:r>
              <a:rPr sz="900">
                <a:solidFill>
                  <a:srgbClr val="CCCCCC"/>
                </a:solidFill>
                <a:latin typeface="Courier New"/>
              </a:rPr>
              <a:t># ── Session groups related tasks ──────────────────────</a:t>
            </a:r>
          </a:p>
          <a:p>
            <a:r>
              <a:rPr sz="900">
                <a:solidFill>
                  <a:srgbClr val="CCCCCC"/>
                </a:solidFill>
                <a:latin typeface="Courier New"/>
              </a:rPr>
              <a:t>SESSION_ID = f"travel-session-{uuid.uuid4()}"</a:t>
            </a:r>
          </a:p>
          <a:p>
            <a:endParaRPr sz="900">
              <a:solidFill>
                <a:srgbClr val="CCCCCC"/>
              </a:solidFill>
              <a:latin typeface="Courier New"/>
            </a:endParaRPr>
          </a:p>
          <a:p>
            <a:r>
              <a:rPr sz="900">
                <a:solidFill>
                  <a:srgbClr val="CCCCCC"/>
                </a:solidFill>
                <a:latin typeface="Courier New"/>
              </a:rPr>
              <a:t># ── Task 1: Search flights ────────────────────────────</a:t>
            </a:r>
          </a:p>
          <a:p>
            <a:r>
              <a:rPr sz="900">
                <a:solidFill>
                  <a:srgbClr val="CCCCCC"/>
                </a:solidFill>
                <a:latin typeface="Courier New"/>
              </a:rPr>
              <a:t>flight_task_id = str(uuid.uuid4())</a:t>
            </a:r>
          </a:p>
          <a:p>
            <a:r>
              <a:rPr sz="900">
                <a:solidFill>
                  <a:srgbClr val="CCCCCC"/>
                </a:solidFill>
                <a:latin typeface="Courier New"/>
              </a:rPr>
              <a:t>flight_resp = await flight_client.send_task(</a:t>
            </a:r>
          </a:p>
          <a:p>
            <a:r>
              <a:rPr sz="900">
                <a:solidFill>
                  <a:srgbClr val="CCCCCC"/>
                </a:solidFill>
                <a:latin typeface="Courier New"/>
              </a:rPr>
              <a:t>    SendTaskRequest(id=flight_task_id, params=TaskSendParams(</a:t>
            </a:r>
          </a:p>
          <a:p>
            <a:r>
              <a:rPr sz="900">
                <a:solidFill>
                  <a:srgbClr val="CCCCCC"/>
                </a:solidFill>
                <a:latin typeface="Courier New"/>
              </a:rPr>
              <a:t>        id=flight_task_id,</a:t>
            </a:r>
          </a:p>
          <a:p>
            <a:r>
              <a:rPr sz="900">
                <a:solidFill>
                  <a:srgbClr val="CCCCCC"/>
                </a:solidFill>
                <a:latin typeface="Courier New"/>
              </a:rPr>
              <a:t>        sessionId=SESSION_ID,</a:t>
            </a:r>
          </a:p>
          <a:p>
            <a:r>
              <a:rPr sz="900">
                <a:solidFill>
                  <a:srgbClr val="CCCCCC"/>
                </a:solidFill>
                <a:latin typeface="Courier New"/>
              </a:rPr>
              <a:t>        message=Message(role="user", parts=[</a:t>
            </a:r>
          </a:p>
          <a:p>
            <a:r>
              <a:rPr sz="900">
                <a:solidFill>
                  <a:srgbClr val="CCCCCC"/>
                </a:solidFill>
                <a:latin typeface="Courier New"/>
              </a:rPr>
              <a:t>            TextPart(type="text", text="NYC to Paris Dec 15")</a:t>
            </a:r>
          </a:p>
          <a:p>
            <a:r>
              <a:rPr sz="900">
                <a:solidFill>
                  <a:srgbClr val="CCCCCC"/>
                </a:solidFill>
                <a:latin typeface="Courier New"/>
              </a:rPr>
              <a:t>        ])</a:t>
            </a:r>
          </a:p>
          <a:p>
            <a:r>
              <a:rPr sz="900">
                <a:solidFill>
                  <a:srgbClr val="CCCCCC"/>
                </a:solidFill>
                <a:latin typeface="Courier New"/>
              </a:rPr>
              <a:t>    ))</a:t>
            </a:r>
          </a:p>
          <a:p>
            <a:r>
              <a:rPr sz="900">
                <a:solidFill>
                  <a:srgbClr val="CCCCCC"/>
                </a:solidFill>
                <a:latin typeface="Courier New"/>
              </a:rPr>
              <a:t>)</a:t>
            </a:r>
          </a:p>
          <a:p>
            <a:endParaRPr sz="900">
              <a:solidFill>
                <a:srgbClr val="CCCCCC"/>
              </a:solidFill>
              <a:latin typeface="Courier New"/>
            </a:endParaRPr>
          </a:p>
          <a:p>
            <a:r>
              <a:rPr sz="900">
                <a:solidFill>
                  <a:srgbClr val="CCCCCC"/>
                </a:solidFill>
                <a:latin typeface="Courier New"/>
              </a:rPr>
              <a:t># ── Task 2: Search hotels (same session) ─────────────</a:t>
            </a:r>
          </a:p>
          <a:p>
            <a:r>
              <a:rPr sz="900">
                <a:solidFill>
                  <a:srgbClr val="CCCCCC"/>
                </a:solidFill>
                <a:latin typeface="Courier New"/>
              </a:rPr>
              <a:t>hotel_task_id = str(uuid.uuid4())</a:t>
            </a:r>
          </a:p>
          <a:p>
            <a:r>
              <a:rPr sz="900">
                <a:solidFill>
                  <a:srgbClr val="CCCCCC"/>
                </a:solidFill>
                <a:latin typeface="Courier New"/>
              </a:rPr>
              <a:t>hotel_resp = await hotel_client.send_task(</a:t>
            </a:r>
          </a:p>
          <a:p>
            <a:r>
              <a:rPr sz="900">
                <a:solidFill>
                  <a:srgbClr val="CCCCCC"/>
                </a:solidFill>
                <a:latin typeface="Courier New"/>
              </a:rPr>
              <a:t>    SendTaskRequest(id=hotel_task_id, params=TaskSendParams(</a:t>
            </a:r>
          </a:p>
          <a:p>
            <a:r>
              <a:rPr sz="900">
                <a:solidFill>
                  <a:srgbClr val="CCCCCC"/>
                </a:solidFill>
                <a:latin typeface="Courier New"/>
              </a:rPr>
              <a:t>        id=hotel_task_id,</a:t>
            </a:r>
          </a:p>
          <a:p>
            <a:r>
              <a:rPr sz="900">
                <a:solidFill>
                  <a:srgbClr val="CCCCCC"/>
                </a:solidFill>
                <a:latin typeface="Courier New"/>
              </a:rPr>
              <a:t>        sessionId=SESSION_ID,           # same session!</a:t>
            </a:r>
          </a:p>
          <a:p>
            <a:r>
              <a:rPr sz="900">
                <a:solidFill>
                  <a:srgbClr val="CCCCCC"/>
                </a:solidFill>
                <a:latin typeface="Courier New"/>
              </a:rPr>
              <a:t>        message=Message(role="user", parts=[</a:t>
            </a:r>
          </a:p>
          <a:p>
            <a:r>
              <a:rPr sz="900">
                <a:solidFill>
                  <a:srgbClr val="CCCCCC"/>
                </a:solidFill>
                <a:latin typeface="Courier New"/>
              </a:rPr>
              <a:t>            TextPart(type="text", text="Hotels in Paris Dec 15-20")</a:t>
            </a:r>
          </a:p>
          <a:p>
            <a:r>
              <a:rPr sz="900">
                <a:solidFill>
                  <a:srgbClr val="CCCCCC"/>
                </a:solidFill>
                <a:latin typeface="Courier New"/>
              </a:rPr>
              <a:t>        ])</a:t>
            </a:r>
          </a:p>
          <a:p>
            <a:r>
              <a:rPr sz="900">
                <a:solidFill>
                  <a:srgbClr val="CCCCCC"/>
                </a:solidFill>
                <a:latin typeface="Courier New"/>
              </a:rPr>
              <a:t>    ))</a:t>
            </a:r>
          </a:p>
          <a:p>
            <a:r>
              <a:rPr sz="900">
                <a:solidFill>
                  <a:srgbClr val="CCCCCC"/>
                </a:solidFill>
                <a:latin typeface="Courier New"/>
              </a:rPr>
              <a:t>)</a:t>
            </a:r>
          </a:p>
          <a:p>
            <a:endParaRPr sz="900">
              <a:solidFill>
                <a:srgbClr val="CCCCCC"/>
              </a:solidFill>
              <a:latin typeface="Courier New"/>
            </a:endParaRPr>
          </a:p>
          <a:p>
            <a:r>
              <a:rPr sz="900">
                <a:solidFill>
                  <a:srgbClr val="CCCCCC"/>
                </a:solidFill>
                <a:latin typeface="Courier New"/>
              </a:rPr>
              <a:t># ── Retrieve task with history ─────────────────────────</a:t>
            </a:r>
          </a:p>
          <a:p>
            <a:r>
              <a:rPr sz="900">
                <a:solidFill>
                  <a:srgbClr val="CCCCCC"/>
                </a:solidFill>
                <a:latin typeface="Courier New"/>
              </a:rPr>
              <a:t>detailed = await flight_client.get_task(</a:t>
            </a:r>
          </a:p>
          <a:p>
            <a:r>
              <a:rPr sz="900">
                <a:solidFill>
                  <a:srgbClr val="CCCCCC"/>
                </a:solidFill>
                <a:latin typeface="Courier New"/>
              </a:rPr>
              <a:t>    GetTaskRequest(id=flight_task_id, params=TaskQueryParams(</a:t>
            </a:r>
          </a:p>
          <a:p>
            <a:r>
              <a:rPr sz="900">
                <a:solidFill>
                  <a:srgbClr val="CCCCCC"/>
                </a:solidFill>
                <a:latin typeface="Courier New"/>
              </a:rPr>
              <a:t>        id=flight_task_id,</a:t>
            </a:r>
          </a:p>
          <a:p>
            <a:r>
              <a:rPr sz="900">
                <a:solidFill>
                  <a:srgbClr val="CCCCCC"/>
                </a:solidFill>
                <a:latin typeface="Courier New"/>
              </a:rPr>
              <a:t>        historyLength=10    # return last 10 message turns</a:t>
            </a:r>
          </a:p>
          <a:p>
            <a:r>
              <a:rPr sz="900">
                <a:solidFill>
                  <a:srgbClr val="CCCCCC"/>
                </a:solidFill>
                <a:latin typeface="Courier New"/>
              </a:rPr>
              <a:t>    ))</a:t>
            </a:r>
          </a:p>
          <a:p>
            <a:r>
              <a:rPr sz="900">
                <a:solidFill>
                  <a:srgbClr val="CCCCCC"/>
                </a:solidFill>
                <a:latin typeface="Courier New"/>
              </a:rPr>
              <a:t>)</a:t>
            </a:r>
          </a:p>
          <a:p>
            <a:endParaRPr sz="900">
              <a:solidFill>
                <a:srgbClr val="CCCCCC"/>
              </a:solidFill>
              <a:latin typeface="Courier New"/>
            </a:endParaRPr>
          </a:p>
          <a:p>
            <a:r>
              <a:rPr sz="900">
                <a:solidFill>
                  <a:srgbClr val="CCCCCC"/>
                </a:solidFill>
                <a:latin typeface="Courier New"/>
              </a:rPr>
              <a:t># task.history is list[Message]</a:t>
            </a:r>
          </a:p>
          <a:p>
            <a:r>
              <a:rPr sz="900">
                <a:solidFill>
                  <a:srgbClr val="CCCCCC"/>
                </a:solidFill>
                <a:latin typeface="Courier New"/>
              </a:rPr>
              <a:t>for msg in detailed.result.history:</a:t>
            </a:r>
          </a:p>
          <a:p>
            <a:r>
              <a:rPr sz="900">
                <a:solidFill>
                  <a:srgbClr val="CCCCCC"/>
                </a:solidFill>
                <a:latin typeface="Courier New"/>
              </a:rPr>
              <a:t>    print(f"[{msg.role}] {msg.parts[0].text[:80]}")</a:t>
            </a:r>
          </a:p>
        </p:txBody>
      </p:sp>
      <p:sp>
        <p:nvSpPr>
          <p:cNvPr id="10" name="Rectangle 9"/>
          <p:cNvSpPr/>
          <p:nvPr/>
        </p:nvSpPr>
        <p:spPr>
          <a:xfrm>
            <a:off x="7315200" y="1115568"/>
            <a:ext cx="4572000" cy="553212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0" y="1115568"/>
            <a:ext cx="457200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06640" y="1152144"/>
            <a:ext cx="4389120" cy="274320"/>
          </a:xfrm>
          <a:prstGeom prst="rect">
            <a:avLst/>
          </a:prstGeom>
          <a:noFill/>
        </p:spPr>
        <p:txBody>
          <a:bodyPr wrap="square">
            <a:spAutoFit/>
          </a:bodyPr>
          <a:lstStyle/>
          <a:p>
            <a:pPr algn="l"/>
            <a:r>
              <a:rPr sz="1200" b="1">
                <a:solidFill>
                  <a:srgbClr val="FFFFFF"/>
                </a:solidFill>
                <a:latin typeface="Calibri"/>
              </a:rPr>
              <a:t>SessionId Semantics</a:t>
            </a:r>
          </a:p>
        </p:txBody>
      </p:sp>
      <p:sp>
        <p:nvSpPr>
          <p:cNvPr id="13" name="TextBox 12"/>
          <p:cNvSpPr txBox="1"/>
          <p:nvPr/>
        </p:nvSpPr>
        <p:spPr>
          <a:xfrm>
            <a:off x="7424927" y="1499616"/>
            <a:ext cx="4352544" cy="5074920"/>
          </a:xfrm>
          <a:prstGeom prst="rect">
            <a:avLst/>
          </a:prstGeom>
          <a:noFill/>
        </p:spPr>
        <p:txBody>
          <a:bodyPr wrap="square">
            <a:spAutoFit/>
          </a:bodyPr>
          <a:lstStyle/>
          <a:p>
            <a:pPr>
              <a:spcBef>
                <a:spcPts val="400"/>
              </a:spcBef>
            </a:pPr>
            <a:r>
              <a:rPr sz="1100">
                <a:solidFill>
                  <a:srgbClr val="222244"/>
                </a:solidFill>
                <a:latin typeface="Calibri"/>
              </a:rPr>
              <a:t>  •  Client-generated string (any format)</a:t>
            </a:r>
          </a:p>
          <a:p>
            <a:pPr>
              <a:spcBef>
                <a:spcPts val="400"/>
              </a:spcBef>
            </a:pPr>
            <a:r>
              <a:rPr sz="1100">
                <a:solidFill>
                  <a:srgbClr val="222244"/>
                </a:solidFill>
                <a:latin typeface="Calibri"/>
              </a:rPr>
              <a:t>  •  Groups logically related tasks</a:t>
            </a:r>
          </a:p>
          <a:p>
            <a:pPr>
              <a:spcBef>
                <a:spcPts val="400"/>
              </a:spcBef>
            </a:pPr>
            <a:r>
              <a:rPr sz="1100">
                <a:solidFill>
                  <a:srgbClr val="222244"/>
                </a:solidFill>
                <a:latin typeface="Calibri"/>
              </a:rPr>
              <a:t>  •  Passed to every task in a conversation</a:t>
            </a:r>
          </a:p>
          <a:p>
            <a:pPr>
              <a:spcBef>
                <a:spcPts val="400"/>
              </a:spcBef>
            </a:pPr>
            <a:r>
              <a:rPr sz="1100">
                <a:solidFill>
                  <a:srgbClr val="222244"/>
                </a:solidFill>
                <a:latin typeface="Calibri"/>
              </a:rPr>
              <a:t>  •  Agents can share session context</a:t>
            </a:r>
          </a:p>
          <a:p>
            <a:pPr>
              <a:spcBef>
                <a:spcPts val="400"/>
              </a:spcBef>
            </a:pPr>
            <a:r>
              <a:rPr sz="1100">
                <a:solidFill>
                  <a:srgbClr val="222244"/>
                </a:solidFill>
                <a:latin typeface="Calibri"/>
              </a:rPr>
              <a:t>  •  Useful for multi-turn dialogues</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Task History (historyLength):</a:t>
            </a:r>
          </a:p>
          <a:p>
            <a:pPr>
              <a:spcBef>
                <a:spcPts val="400"/>
              </a:spcBef>
            </a:pPr>
            <a:r>
              <a:rPr sz="1000">
                <a:solidFill>
                  <a:srgbClr val="222244"/>
                </a:solidFill>
                <a:latin typeface="Calibri"/>
              </a:rPr>
              <a:t>       ◦  Returned via tasks/get</a:t>
            </a:r>
          </a:p>
          <a:p>
            <a:pPr>
              <a:spcBef>
                <a:spcPts val="400"/>
              </a:spcBef>
            </a:pPr>
            <a:r>
              <a:rPr sz="1000">
                <a:solidFill>
                  <a:srgbClr val="222244"/>
                </a:solidFill>
                <a:latin typeface="Calibri"/>
              </a:rPr>
              <a:t>       ◦  List of Message objects</a:t>
            </a:r>
          </a:p>
          <a:p>
            <a:pPr>
              <a:spcBef>
                <a:spcPts val="400"/>
              </a:spcBef>
            </a:pPr>
            <a:r>
              <a:rPr sz="1000">
                <a:solidFill>
                  <a:srgbClr val="222244"/>
                </a:solidFill>
                <a:latin typeface="Calibri"/>
              </a:rPr>
              <a:t>       ◦  Most recent N turns</a:t>
            </a:r>
          </a:p>
          <a:p>
            <a:pPr>
              <a:spcBef>
                <a:spcPts val="400"/>
              </a:spcBef>
            </a:pPr>
            <a:r>
              <a:rPr sz="1000">
                <a:solidFill>
                  <a:srgbClr val="222244"/>
                </a:solidFill>
                <a:latin typeface="Calibri"/>
              </a:rPr>
              <a:t>       ◦  Requires stateTransitionHistory:true</a:t>
            </a:r>
          </a:p>
          <a:p>
            <a:pPr>
              <a:spcBef>
                <a:spcPts val="400"/>
              </a:spcBef>
            </a:pPr>
            <a:r>
              <a:rPr sz="1000">
                <a:solidFill>
                  <a:srgbClr val="222244"/>
                </a:solidFill>
                <a:latin typeface="Calibri"/>
              </a:rPr>
              <a:t>       ◦  in Agent Card capabilities</a:t>
            </a:r>
          </a:p>
          <a:p>
            <a:pPr>
              <a:spcBef>
                <a:spcPts val="400"/>
              </a:spcBef>
            </a:pPr>
            <a:r>
              <a:rPr sz="1100">
                <a:solidFill>
                  <a:srgbClr val="222244"/>
                </a:solidFill>
                <a:latin typeface="Calibri"/>
              </a:rPr>
              <a:t>  •  </a:t>
            </a:r>
          </a:p>
          <a:p>
            <a:pPr>
              <a:spcBef>
                <a:spcPts val="400"/>
              </a:spcBef>
            </a:pPr>
            <a:r>
              <a:rPr sz="1100">
                <a:solidFill>
                  <a:srgbClr val="222244"/>
                </a:solidFill>
                <a:latin typeface="Calibri"/>
              </a:rPr>
              <a:t>  •  History vs Artifacts:</a:t>
            </a:r>
          </a:p>
          <a:p>
            <a:pPr>
              <a:spcBef>
                <a:spcPts val="400"/>
              </a:spcBef>
            </a:pPr>
            <a:r>
              <a:rPr sz="1000">
                <a:solidFill>
                  <a:srgbClr val="222244"/>
                </a:solidFill>
                <a:latin typeface="Calibri"/>
              </a:rPr>
              <a:t>       ◦  history — conversation messages</a:t>
            </a:r>
          </a:p>
          <a:p>
            <a:pPr>
              <a:spcBef>
                <a:spcPts val="400"/>
              </a:spcBef>
            </a:pPr>
            <a:r>
              <a:rPr sz="1000">
                <a:solidFill>
                  <a:srgbClr val="222244"/>
                </a:solidFill>
                <a:latin typeface="Calibri"/>
              </a:rPr>
              <a:t>       ◦  artifacts — deliverable outputs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Summary and Key Takeaways</a:t>
            </a:r>
          </a:p>
        </p:txBody>
      </p:sp>
      <p:sp>
        <p:nvSpPr>
          <p:cNvPr id="4" name="TextBox 3"/>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What you've learned in this tutorial</a:t>
            </a:r>
          </a:p>
        </p:txBody>
      </p:sp>
      <p:sp>
        <p:nvSpPr>
          <p:cNvPr id="5" name="Rectangle 4"/>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43000"/>
            <a:ext cx="5669280" cy="169164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43000"/>
            <a:ext cx="5669280" cy="34747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1188720"/>
            <a:ext cx="5394960" cy="274320"/>
          </a:xfrm>
          <a:prstGeom prst="rect">
            <a:avLst/>
          </a:prstGeom>
          <a:noFill/>
        </p:spPr>
        <p:txBody>
          <a:bodyPr wrap="square">
            <a:spAutoFit/>
          </a:bodyPr>
          <a:lstStyle/>
          <a:p>
            <a:pPr algn="l"/>
            <a:r>
              <a:rPr sz="1300" b="1">
                <a:solidFill>
                  <a:srgbClr val="FFFFFF"/>
                </a:solidFill>
                <a:latin typeface="Calibri"/>
              </a:rPr>
              <a:t>A2A Protocol</a:t>
            </a:r>
          </a:p>
        </p:txBody>
      </p:sp>
      <p:sp>
        <p:nvSpPr>
          <p:cNvPr id="9" name="TextBox 8"/>
          <p:cNvSpPr txBox="1"/>
          <p:nvPr/>
        </p:nvSpPr>
        <p:spPr>
          <a:xfrm>
            <a:off x="411479" y="1545336"/>
            <a:ext cx="5394960" cy="1234440"/>
          </a:xfrm>
          <a:prstGeom prst="rect">
            <a:avLst/>
          </a:prstGeom>
          <a:noFill/>
        </p:spPr>
        <p:txBody>
          <a:bodyPr wrap="square">
            <a:spAutoFit/>
          </a:bodyPr>
          <a:lstStyle/>
          <a:p>
            <a:pPr>
              <a:spcBef>
                <a:spcPts val="400"/>
              </a:spcBef>
            </a:pPr>
            <a:r>
              <a:rPr sz="1200">
                <a:solidFill>
                  <a:srgbClr val="222244"/>
                </a:solidFill>
                <a:latin typeface="Calibri"/>
              </a:rPr>
              <a:t>  •  Open HTTP + JSON-RPC 2.0 standard</a:t>
            </a:r>
          </a:p>
          <a:p>
            <a:pPr>
              <a:spcBef>
                <a:spcPts val="400"/>
              </a:spcBef>
            </a:pPr>
            <a:r>
              <a:rPr sz="1200">
                <a:solidFill>
                  <a:srgbClr val="222244"/>
                </a:solidFill>
                <a:latin typeface="Calibri"/>
              </a:rPr>
              <a:t>  •  Framework-agnostic: works with any agent framework</a:t>
            </a:r>
          </a:p>
          <a:p>
            <a:pPr>
              <a:spcBef>
                <a:spcPts val="400"/>
              </a:spcBef>
            </a:pPr>
            <a:r>
              <a:rPr sz="1200">
                <a:solidFill>
                  <a:srgbClr val="222244"/>
                </a:solidFill>
                <a:latin typeface="Calibri"/>
              </a:rPr>
              <a:t>  •  Agent Cards enable automatic discovery</a:t>
            </a:r>
          </a:p>
        </p:txBody>
      </p:sp>
      <p:sp>
        <p:nvSpPr>
          <p:cNvPr id="10" name="Rectangle 9"/>
          <p:cNvSpPr/>
          <p:nvPr/>
        </p:nvSpPr>
        <p:spPr>
          <a:xfrm>
            <a:off x="6217920" y="1143000"/>
            <a:ext cx="5669280" cy="169164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143000"/>
            <a:ext cx="5669280" cy="347472"/>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27648" y="1188720"/>
            <a:ext cx="5394960" cy="274320"/>
          </a:xfrm>
          <a:prstGeom prst="rect">
            <a:avLst/>
          </a:prstGeom>
          <a:noFill/>
        </p:spPr>
        <p:txBody>
          <a:bodyPr wrap="square">
            <a:spAutoFit/>
          </a:bodyPr>
          <a:lstStyle/>
          <a:p>
            <a:pPr algn="l"/>
            <a:r>
              <a:rPr sz="1300" b="1">
                <a:solidFill>
                  <a:srgbClr val="FFFFFF"/>
                </a:solidFill>
                <a:latin typeface="Calibri"/>
              </a:rPr>
              <a:t>Tasks &amp; Lifecycle</a:t>
            </a:r>
          </a:p>
        </p:txBody>
      </p:sp>
      <p:sp>
        <p:nvSpPr>
          <p:cNvPr id="13" name="TextBox 12"/>
          <p:cNvSpPr txBox="1"/>
          <p:nvPr/>
        </p:nvSpPr>
        <p:spPr>
          <a:xfrm>
            <a:off x="6355080" y="1545336"/>
            <a:ext cx="5394960" cy="1234440"/>
          </a:xfrm>
          <a:prstGeom prst="rect">
            <a:avLst/>
          </a:prstGeom>
          <a:noFill/>
        </p:spPr>
        <p:txBody>
          <a:bodyPr wrap="square">
            <a:spAutoFit/>
          </a:bodyPr>
          <a:lstStyle/>
          <a:p>
            <a:pPr>
              <a:spcBef>
                <a:spcPts val="400"/>
              </a:spcBef>
            </a:pPr>
            <a:r>
              <a:rPr sz="1200">
                <a:solidFill>
                  <a:srgbClr val="222244"/>
                </a:solidFill>
                <a:latin typeface="Calibri"/>
              </a:rPr>
              <a:t>  •  Every interaction is a Task with a unique UUID</a:t>
            </a:r>
          </a:p>
          <a:p>
            <a:pPr>
              <a:spcBef>
                <a:spcPts val="400"/>
              </a:spcBef>
            </a:pPr>
            <a:r>
              <a:rPr sz="1200">
                <a:solidFill>
                  <a:srgbClr val="222244"/>
                </a:solidFill>
                <a:latin typeface="Calibri"/>
              </a:rPr>
              <a:t>  •  6 states: submitted→working→completed/failed/canceled/input-required</a:t>
            </a:r>
          </a:p>
          <a:p>
            <a:pPr>
              <a:spcBef>
                <a:spcPts val="400"/>
              </a:spcBef>
            </a:pPr>
            <a:r>
              <a:rPr sz="1200">
                <a:solidFill>
                  <a:srgbClr val="222244"/>
                </a:solidFill>
                <a:latin typeface="Calibri"/>
              </a:rPr>
              <a:t>  •  Poll with tasks/get or stream with tasks/sendSubscribe</a:t>
            </a:r>
          </a:p>
        </p:txBody>
      </p:sp>
      <p:sp>
        <p:nvSpPr>
          <p:cNvPr id="14" name="Rectangle 13"/>
          <p:cNvSpPr/>
          <p:nvPr/>
        </p:nvSpPr>
        <p:spPr>
          <a:xfrm>
            <a:off x="274320" y="2971800"/>
            <a:ext cx="5669280" cy="169164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74320" y="2971800"/>
            <a:ext cx="5669280" cy="347472"/>
          </a:xfrm>
          <a:prstGeom prst="rect">
            <a:avLst/>
          </a:prstGeom>
          <a:solidFill>
            <a:srgbClr val="176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4048" y="3017520"/>
            <a:ext cx="5394960" cy="274320"/>
          </a:xfrm>
          <a:prstGeom prst="rect">
            <a:avLst/>
          </a:prstGeom>
          <a:noFill/>
        </p:spPr>
        <p:txBody>
          <a:bodyPr wrap="square">
            <a:spAutoFit/>
          </a:bodyPr>
          <a:lstStyle/>
          <a:p>
            <a:pPr algn="l"/>
            <a:r>
              <a:rPr sz="1300" b="1">
                <a:solidFill>
                  <a:srgbClr val="FFFFFF"/>
                </a:solidFill>
                <a:latin typeface="Calibri"/>
              </a:rPr>
              <a:t>Content Types</a:t>
            </a:r>
          </a:p>
        </p:txBody>
      </p:sp>
      <p:sp>
        <p:nvSpPr>
          <p:cNvPr id="17" name="TextBox 16"/>
          <p:cNvSpPr txBox="1"/>
          <p:nvPr/>
        </p:nvSpPr>
        <p:spPr>
          <a:xfrm>
            <a:off x="411479" y="3374136"/>
            <a:ext cx="5394960" cy="1234440"/>
          </a:xfrm>
          <a:prstGeom prst="rect">
            <a:avLst/>
          </a:prstGeom>
          <a:noFill/>
        </p:spPr>
        <p:txBody>
          <a:bodyPr wrap="square">
            <a:spAutoFit/>
          </a:bodyPr>
          <a:lstStyle/>
          <a:p>
            <a:pPr>
              <a:spcBef>
                <a:spcPts val="400"/>
              </a:spcBef>
            </a:pPr>
            <a:r>
              <a:rPr sz="1200">
                <a:solidFill>
                  <a:srgbClr val="222244"/>
                </a:solidFill>
                <a:latin typeface="Calibri"/>
              </a:rPr>
              <a:t>  •  TextPart: plain text</a:t>
            </a:r>
          </a:p>
          <a:p>
            <a:pPr>
              <a:spcBef>
                <a:spcPts val="400"/>
              </a:spcBef>
            </a:pPr>
            <a:r>
              <a:rPr sz="1200">
                <a:solidFill>
                  <a:srgbClr val="222244"/>
                </a:solidFill>
                <a:latin typeface="Calibri"/>
              </a:rPr>
              <a:t>  •  FilePart: inline bytes (base64) or hosted URI</a:t>
            </a:r>
          </a:p>
          <a:p>
            <a:pPr>
              <a:spcBef>
                <a:spcPts val="400"/>
              </a:spcBef>
            </a:pPr>
            <a:r>
              <a:rPr sz="1200">
                <a:solidFill>
                  <a:srgbClr val="222244"/>
                </a:solidFill>
                <a:latin typeface="Calibri"/>
              </a:rPr>
              <a:t>  •  DataPart: structured JSON for machine consumption</a:t>
            </a:r>
          </a:p>
        </p:txBody>
      </p:sp>
      <p:sp>
        <p:nvSpPr>
          <p:cNvPr id="18" name="Rectangle 17"/>
          <p:cNvSpPr/>
          <p:nvPr/>
        </p:nvSpPr>
        <p:spPr>
          <a:xfrm>
            <a:off x="6217920" y="2971800"/>
            <a:ext cx="5669280" cy="169164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17920" y="2971800"/>
            <a:ext cx="5669280" cy="347472"/>
          </a:xfrm>
          <a:prstGeom prst="rect">
            <a:avLst/>
          </a:prstGeom>
          <a:solidFill>
            <a:srgbClr val="C6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27648" y="3017520"/>
            <a:ext cx="5394960" cy="274320"/>
          </a:xfrm>
          <a:prstGeom prst="rect">
            <a:avLst/>
          </a:prstGeom>
          <a:noFill/>
        </p:spPr>
        <p:txBody>
          <a:bodyPr wrap="square">
            <a:spAutoFit/>
          </a:bodyPr>
          <a:lstStyle/>
          <a:p>
            <a:pPr algn="l"/>
            <a:r>
              <a:rPr sz="1300" b="1">
                <a:solidFill>
                  <a:srgbClr val="FFFFFF"/>
                </a:solidFill>
                <a:latin typeface="Calibri"/>
              </a:rPr>
              <a:t>Advanced Features</a:t>
            </a:r>
          </a:p>
        </p:txBody>
      </p:sp>
      <p:sp>
        <p:nvSpPr>
          <p:cNvPr id="21" name="TextBox 20"/>
          <p:cNvSpPr txBox="1"/>
          <p:nvPr/>
        </p:nvSpPr>
        <p:spPr>
          <a:xfrm>
            <a:off x="6355080" y="3374136"/>
            <a:ext cx="5394960" cy="1234440"/>
          </a:xfrm>
          <a:prstGeom prst="rect">
            <a:avLst/>
          </a:prstGeom>
          <a:noFill/>
        </p:spPr>
        <p:txBody>
          <a:bodyPr wrap="square">
            <a:spAutoFit/>
          </a:bodyPr>
          <a:lstStyle/>
          <a:p>
            <a:pPr>
              <a:spcBef>
                <a:spcPts val="400"/>
              </a:spcBef>
            </a:pPr>
            <a:r>
              <a:rPr sz="1200">
                <a:solidFill>
                  <a:srgbClr val="222244"/>
                </a:solidFill>
                <a:latin typeface="Calibri"/>
              </a:rPr>
              <a:t>  •  SSE streaming: real-time chunked output</a:t>
            </a:r>
          </a:p>
          <a:p>
            <a:pPr>
              <a:spcBef>
                <a:spcPts val="400"/>
              </a:spcBef>
            </a:pPr>
            <a:r>
              <a:rPr sz="1200">
                <a:solidFill>
                  <a:srgbClr val="222244"/>
                </a:solidFill>
                <a:latin typeface="Calibri"/>
              </a:rPr>
              <a:t>  •  Input-required: human-in-the-loop multi-step</a:t>
            </a:r>
          </a:p>
          <a:p>
            <a:pPr>
              <a:spcBef>
                <a:spcPts val="400"/>
              </a:spcBef>
            </a:pPr>
            <a:r>
              <a:rPr sz="1200">
                <a:solidFill>
                  <a:srgbClr val="222244"/>
                </a:solidFill>
                <a:latin typeface="Calibri"/>
              </a:rPr>
              <a:t>  •  Push notifications: webhook for long tasks</a:t>
            </a:r>
          </a:p>
        </p:txBody>
      </p:sp>
      <p:sp>
        <p:nvSpPr>
          <p:cNvPr id="22" name="Rectangle 21"/>
          <p:cNvSpPr/>
          <p:nvPr/>
        </p:nvSpPr>
        <p:spPr>
          <a:xfrm>
            <a:off x="274320" y="4800600"/>
            <a:ext cx="5669280" cy="169164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74320" y="4800600"/>
            <a:ext cx="5669280" cy="347472"/>
          </a:xfrm>
          <a:prstGeom prst="rect">
            <a:avLst/>
          </a:prstGeom>
          <a:solidFill>
            <a:srgbClr val="7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84048" y="4846320"/>
            <a:ext cx="5394960" cy="274320"/>
          </a:xfrm>
          <a:prstGeom prst="rect">
            <a:avLst/>
          </a:prstGeom>
          <a:noFill/>
        </p:spPr>
        <p:txBody>
          <a:bodyPr wrap="square">
            <a:spAutoFit/>
          </a:bodyPr>
          <a:lstStyle/>
          <a:p>
            <a:pPr algn="l"/>
            <a:r>
              <a:rPr sz="1300" b="1">
                <a:solidFill>
                  <a:srgbClr val="FFFFFF"/>
                </a:solidFill>
                <a:latin typeface="Calibri"/>
              </a:rPr>
              <a:t>Security</a:t>
            </a:r>
          </a:p>
        </p:txBody>
      </p:sp>
      <p:sp>
        <p:nvSpPr>
          <p:cNvPr id="25" name="TextBox 24"/>
          <p:cNvSpPr txBox="1"/>
          <p:nvPr/>
        </p:nvSpPr>
        <p:spPr>
          <a:xfrm>
            <a:off x="411479" y="5202936"/>
            <a:ext cx="5394960" cy="1234440"/>
          </a:xfrm>
          <a:prstGeom prst="rect">
            <a:avLst/>
          </a:prstGeom>
          <a:noFill/>
        </p:spPr>
        <p:txBody>
          <a:bodyPr wrap="square">
            <a:spAutoFit/>
          </a:bodyPr>
          <a:lstStyle/>
          <a:p>
            <a:pPr>
              <a:spcBef>
                <a:spcPts val="400"/>
              </a:spcBef>
            </a:pPr>
            <a:r>
              <a:rPr sz="1200">
                <a:solidFill>
                  <a:srgbClr val="222244"/>
                </a:solidFill>
                <a:latin typeface="Calibri"/>
              </a:rPr>
              <a:t>  •  Bearer tokens and API Keys declared in Agent Card</a:t>
            </a:r>
          </a:p>
          <a:p>
            <a:pPr>
              <a:spcBef>
                <a:spcPts val="400"/>
              </a:spcBef>
            </a:pPr>
            <a:r>
              <a:rPr sz="1200">
                <a:solidFill>
                  <a:srgbClr val="222244"/>
                </a:solidFill>
                <a:latin typeface="Calibri"/>
              </a:rPr>
              <a:t>  •  Clients auto-discover and inject credentials</a:t>
            </a:r>
          </a:p>
          <a:p>
            <a:pPr>
              <a:spcBef>
                <a:spcPts val="400"/>
              </a:spcBef>
            </a:pPr>
            <a:r>
              <a:rPr sz="1200">
                <a:solidFill>
                  <a:srgbClr val="222244"/>
                </a:solidFill>
                <a:latin typeface="Calibri"/>
              </a:rPr>
              <a:t>  •  Always validate on every server request</a:t>
            </a:r>
          </a:p>
        </p:txBody>
      </p:sp>
      <p:sp>
        <p:nvSpPr>
          <p:cNvPr id="26" name="Rectangle 25"/>
          <p:cNvSpPr/>
          <p:nvPr/>
        </p:nvSpPr>
        <p:spPr>
          <a:xfrm>
            <a:off x="6217920" y="4800600"/>
            <a:ext cx="5669280" cy="169164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17920" y="4800600"/>
            <a:ext cx="5669280" cy="347472"/>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27648" y="4846320"/>
            <a:ext cx="5394960" cy="274320"/>
          </a:xfrm>
          <a:prstGeom prst="rect">
            <a:avLst/>
          </a:prstGeom>
          <a:noFill/>
        </p:spPr>
        <p:txBody>
          <a:bodyPr wrap="square">
            <a:spAutoFit/>
          </a:bodyPr>
          <a:lstStyle/>
          <a:p>
            <a:pPr algn="l"/>
            <a:r>
              <a:rPr sz="1300" b="1">
                <a:solidFill>
                  <a:srgbClr val="FFFFFF"/>
                </a:solidFill>
                <a:latin typeface="Calibri"/>
              </a:rPr>
              <a:t>Orchestration</a:t>
            </a:r>
          </a:p>
        </p:txBody>
      </p:sp>
      <p:sp>
        <p:nvSpPr>
          <p:cNvPr id="29" name="TextBox 28"/>
          <p:cNvSpPr txBox="1"/>
          <p:nvPr/>
        </p:nvSpPr>
        <p:spPr>
          <a:xfrm>
            <a:off x="6355080" y="5202936"/>
            <a:ext cx="5394960" cy="1234440"/>
          </a:xfrm>
          <a:prstGeom prst="rect">
            <a:avLst/>
          </a:prstGeom>
          <a:noFill/>
        </p:spPr>
        <p:txBody>
          <a:bodyPr wrap="square">
            <a:spAutoFit/>
          </a:bodyPr>
          <a:lstStyle/>
          <a:p>
            <a:pPr>
              <a:spcBef>
                <a:spcPts val="400"/>
              </a:spcBef>
            </a:pPr>
            <a:r>
              <a:rPr sz="1200">
                <a:solidFill>
                  <a:srgbClr val="222244"/>
                </a:solidFill>
                <a:latin typeface="Calibri"/>
              </a:rPr>
              <a:t>  •  Parallel fan-out with asyncio.gather()</a:t>
            </a:r>
          </a:p>
          <a:p>
            <a:pPr>
              <a:spcBef>
                <a:spcPts val="400"/>
              </a:spcBef>
            </a:pPr>
            <a:r>
              <a:rPr sz="1200">
                <a:solidFill>
                  <a:srgbClr val="222244"/>
                </a:solidFill>
                <a:latin typeface="Calibri"/>
              </a:rPr>
              <a:t>  •  Sequential chaining for dependent tasks</a:t>
            </a:r>
          </a:p>
          <a:p>
            <a:pPr>
              <a:spcBef>
                <a:spcPts val="400"/>
              </a:spcBef>
            </a:pPr>
            <a:r>
              <a:rPr sz="1200">
                <a:solidFill>
                  <a:srgbClr val="222244"/>
                </a:solidFill>
                <a:latin typeface="Calibri"/>
              </a:rPr>
              <a:t>  •  Graceful degradation on agent failure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2" name="Rectangle 1"/>
          <p:cNvSpPr/>
          <p:nvPr/>
        </p:nvSpPr>
        <p:spPr>
          <a:xfrm>
            <a:off x="0" y="0"/>
            <a:ext cx="457200" cy="685800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54864"/>
            <a:ext cx="10058400" cy="566928"/>
          </a:xfrm>
          <a:prstGeom prst="rect">
            <a:avLst/>
          </a:prstGeom>
          <a:noFill/>
        </p:spPr>
        <p:txBody>
          <a:bodyPr wrap="square">
            <a:spAutoFit/>
          </a:bodyPr>
          <a:lstStyle/>
          <a:p>
            <a:pPr algn="l"/>
            <a:r>
              <a:rPr sz="2400" b="1">
                <a:solidFill>
                  <a:srgbClr val="FFFFFF"/>
                </a:solidFill>
                <a:latin typeface="Calibri"/>
              </a:rPr>
              <a:t>Next Steps and Resources</a:t>
            </a:r>
          </a:p>
        </p:txBody>
      </p:sp>
      <p:sp>
        <p:nvSpPr>
          <p:cNvPr id="5" name="TextBox 4"/>
          <p:cNvSpPr txBox="1"/>
          <p:nvPr/>
        </p:nvSpPr>
        <p:spPr>
          <a:xfrm>
            <a:off x="274320" y="621792"/>
            <a:ext cx="10058400" cy="320040"/>
          </a:xfrm>
          <a:prstGeom prst="rect">
            <a:avLst/>
          </a:prstGeom>
          <a:noFill/>
        </p:spPr>
        <p:txBody>
          <a:bodyPr wrap="square">
            <a:spAutoFit/>
          </a:bodyPr>
          <a:lstStyle/>
          <a:p>
            <a:pPr algn="l"/>
            <a:r>
              <a:rPr sz="1200" b="0">
                <a:solidFill>
                  <a:srgbClr val="F0A500"/>
                </a:solidFill>
                <a:latin typeface="Calibri"/>
              </a:rPr>
              <a:t>Where to go from here</a:t>
            </a:r>
          </a:p>
        </p:txBody>
      </p:sp>
      <p:sp>
        <p:nvSpPr>
          <p:cNvPr id="6" name="Rectangle 5"/>
          <p:cNvSpPr/>
          <p:nvPr/>
        </p:nvSpPr>
        <p:spPr>
          <a:xfrm>
            <a:off x="0" y="100584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115568"/>
            <a:ext cx="5120640" cy="228600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115568"/>
            <a:ext cx="512064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19" y="1152144"/>
            <a:ext cx="4937759" cy="274320"/>
          </a:xfrm>
          <a:prstGeom prst="rect">
            <a:avLst/>
          </a:prstGeom>
          <a:noFill/>
        </p:spPr>
        <p:txBody>
          <a:bodyPr wrap="square">
            <a:spAutoFit/>
          </a:bodyPr>
          <a:lstStyle/>
          <a:p>
            <a:pPr algn="l"/>
            <a:r>
              <a:rPr sz="1200" b="1">
                <a:solidFill>
                  <a:srgbClr val="FFFFFF"/>
                </a:solidFill>
                <a:latin typeface="Calibri"/>
              </a:rPr>
              <a:t>Official Resources</a:t>
            </a:r>
          </a:p>
        </p:txBody>
      </p:sp>
      <p:sp>
        <p:nvSpPr>
          <p:cNvPr id="10" name="TextBox 9"/>
          <p:cNvSpPr txBox="1"/>
          <p:nvPr/>
        </p:nvSpPr>
        <p:spPr>
          <a:xfrm>
            <a:off x="749808" y="1499616"/>
            <a:ext cx="4901183" cy="1828800"/>
          </a:xfrm>
          <a:prstGeom prst="rect">
            <a:avLst/>
          </a:prstGeom>
          <a:noFill/>
        </p:spPr>
        <p:txBody>
          <a:bodyPr wrap="square">
            <a:spAutoFit/>
          </a:bodyPr>
          <a:lstStyle/>
          <a:p>
            <a:pPr>
              <a:spcBef>
                <a:spcPts val="400"/>
              </a:spcBef>
            </a:pPr>
            <a:r>
              <a:rPr sz="1200">
                <a:solidFill>
                  <a:srgbClr val="222244"/>
                </a:solidFill>
                <a:latin typeface="Calibri"/>
              </a:rPr>
              <a:t>  •  A2A Spec:    github.com/google/A2A</a:t>
            </a:r>
          </a:p>
          <a:p>
            <a:pPr>
              <a:spcBef>
                <a:spcPts val="400"/>
              </a:spcBef>
            </a:pPr>
            <a:r>
              <a:rPr sz="1200">
                <a:solidFill>
                  <a:srgbClr val="222244"/>
                </a:solidFill>
                <a:latin typeface="Calibri"/>
              </a:rPr>
              <a:t>  •  ADK Docs:    google.github.io/adk-docs</a:t>
            </a:r>
          </a:p>
          <a:p>
            <a:pPr>
              <a:spcBef>
                <a:spcPts val="400"/>
              </a:spcBef>
            </a:pPr>
            <a:r>
              <a:rPr sz="1200">
                <a:solidFill>
                  <a:srgbClr val="222244"/>
                </a:solidFill>
                <a:latin typeface="Calibri"/>
              </a:rPr>
              <a:t>  •  ADK Samples: github.com/google/adk-samples</a:t>
            </a:r>
          </a:p>
          <a:p>
            <a:pPr>
              <a:spcBef>
                <a:spcPts val="400"/>
              </a:spcBef>
            </a:pPr>
            <a:r>
              <a:rPr sz="1200">
                <a:solidFill>
                  <a:srgbClr val="222244"/>
                </a:solidFill>
                <a:latin typeface="Calibri"/>
              </a:rPr>
              <a:t>  •  A2A Python:  pip install google-a2a</a:t>
            </a:r>
          </a:p>
          <a:p>
            <a:pPr>
              <a:spcBef>
                <a:spcPts val="400"/>
              </a:spcBef>
            </a:pPr>
            <a:r>
              <a:rPr sz="1200">
                <a:solidFill>
                  <a:srgbClr val="222244"/>
                </a:solidFill>
                <a:latin typeface="Calibri"/>
              </a:rPr>
              <a:t>  •  PyPI:        pypi.org/project/google-a2a</a:t>
            </a:r>
          </a:p>
        </p:txBody>
      </p:sp>
      <p:sp>
        <p:nvSpPr>
          <p:cNvPr id="11" name="Rectangle 10"/>
          <p:cNvSpPr/>
          <p:nvPr/>
        </p:nvSpPr>
        <p:spPr>
          <a:xfrm>
            <a:off x="5989320" y="1115568"/>
            <a:ext cx="5897880" cy="228600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89320" y="1115568"/>
            <a:ext cx="589788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80759" y="1152144"/>
            <a:ext cx="5715000" cy="274320"/>
          </a:xfrm>
          <a:prstGeom prst="rect">
            <a:avLst/>
          </a:prstGeom>
          <a:noFill/>
        </p:spPr>
        <p:txBody>
          <a:bodyPr wrap="square">
            <a:spAutoFit/>
          </a:bodyPr>
          <a:lstStyle/>
          <a:p>
            <a:pPr algn="l"/>
            <a:r>
              <a:rPr sz="1200" b="1">
                <a:solidFill>
                  <a:srgbClr val="FFFFFF"/>
                </a:solidFill>
                <a:latin typeface="Calibri"/>
              </a:rPr>
              <a:t>This Tutorial's Code</a:t>
            </a:r>
          </a:p>
        </p:txBody>
      </p:sp>
      <p:sp>
        <p:nvSpPr>
          <p:cNvPr id="14" name="TextBox 13"/>
          <p:cNvSpPr txBox="1"/>
          <p:nvPr/>
        </p:nvSpPr>
        <p:spPr>
          <a:xfrm>
            <a:off x="6099048" y="1499616"/>
            <a:ext cx="5678424" cy="1828800"/>
          </a:xfrm>
          <a:prstGeom prst="rect">
            <a:avLst/>
          </a:prstGeom>
          <a:noFill/>
        </p:spPr>
        <p:txBody>
          <a:bodyPr wrap="square">
            <a:spAutoFit/>
          </a:bodyPr>
          <a:lstStyle/>
          <a:p>
            <a:pPr>
              <a:spcBef>
                <a:spcPts val="400"/>
              </a:spcBef>
            </a:pPr>
            <a:r>
              <a:rPr sz="1200">
                <a:solidFill>
                  <a:srgbClr val="222244"/>
                </a:solidFill>
                <a:latin typeface="Calibri"/>
              </a:rPr>
              <a:t>  •  All 4 agent executors (Flight/Hotel/Booking/Weather)</a:t>
            </a:r>
          </a:p>
          <a:p>
            <a:pPr>
              <a:spcBef>
                <a:spcPts val="400"/>
              </a:spcBef>
            </a:pPr>
            <a:r>
              <a:rPr sz="1200">
                <a:solidFill>
                  <a:srgbClr val="222244"/>
                </a:solidFill>
                <a:latin typeface="Calibri"/>
              </a:rPr>
              <a:t>  •  TravelOrchestrator with parallel fan-out</a:t>
            </a:r>
          </a:p>
          <a:p>
            <a:pPr>
              <a:spcBef>
                <a:spcPts val="400"/>
              </a:spcBef>
            </a:pPr>
            <a:r>
              <a:rPr sz="1200">
                <a:solidFill>
                  <a:srgbClr val="222244"/>
                </a:solidFill>
                <a:latin typeface="Calibri"/>
              </a:rPr>
              <a:t>  •  Webhook receiver (FastAPI)</a:t>
            </a:r>
          </a:p>
          <a:p>
            <a:pPr>
              <a:spcBef>
                <a:spcPts val="400"/>
              </a:spcBef>
            </a:pPr>
            <a:r>
              <a:rPr sz="1200">
                <a:solidFill>
                  <a:srgbClr val="222244"/>
                </a:solidFill>
                <a:latin typeface="Calibri"/>
              </a:rPr>
              <a:t>  •  Docker Compose for full system</a:t>
            </a:r>
          </a:p>
          <a:p>
            <a:pPr>
              <a:spcBef>
                <a:spcPts val="400"/>
              </a:spcBef>
            </a:pPr>
            <a:r>
              <a:rPr sz="1200">
                <a:solidFill>
                  <a:srgbClr val="222244"/>
                </a:solidFill>
                <a:latin typeface="Calibri"/>
              </a:rPr>
              <a:t>  •  Client with input-required loop handling</a:t>
            </a:r>
          </a:p>
          <a:p>
            <a:pPr>
              <a:spcBef>
                <a:spcPts val="400"/>
              </a:spcBef>
            </a:pPr>
            <a:r>
              <a:rPr sz="1200">
                <a:solidFill>
                  <a:srgbClr val="222244"/>
                </a:solidFill>
                <a:latin typeface="Calibri"/>
              </a:rPr>
              <a:t>  •  Complete error handling and retry logic</a:t>
            </a:r>
          </a:p>
        </p:txBody>
      </p:sp>
      <p:sp>
        <p:nvSpPr>
          <p:cNvPr id="15" name="Rectangle 14"/>
          <p:cNvSpPr/>
          <p:nvPr/>
        </p:nvSpPr>
        <p:spPr>
          <a:xfrm>
            <a:off x="640080" y="3520440"/>
            <a:ext cx="5120640" cy="274320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3520440"/>
            <a:ext cx="512064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19" y="3557016"/>
            <a:ext cx="4937759" cy="274320"/>
          </a:xfrm>
          <a:prstGeom prst="rect">
            <a:avLst/>
          </a:prstGeom>
          <a:noFill/>
        </p:spPr>
        <p:txBody>
          <a:bodyPr wrap="square">
            <a:spAutoFit/>
          </a:bodyPr>
          <a:lstStyle/>
          <a:p>
            <a:pPr algn="l"/>
            <a:r>
              <a:rPr sz="1200" b="1">
                <a:solidFill>
                  <a:srgbClr val="FFFFFF"/>
                </a:solidFill>
                <a:latin typeface="Calibri"/>
              </a:rPr>
              <a:t>Extend This Project</a:t>
            </a:r>
          </a:p>
        </p:txBody>
      </p:sp>
      <p:sp>
        <p:nvSpPr>
          <p:cNvPr id="18" name="TextBox 17"/>
          <p:cNvSpPr txBox="1"/>
          <p:nvPr/>
        </p:nvSpPr>
        <p:spPr>
          <a:xfrm>
            <a:off x="749808" y="3904488"/>
            <a:ext cx="4901183" cy="2286000"/>
          </a:xfrm>
          <a:prstGeom prst="rect">
            <a:avLst/>
          </a:prstGeom>
          <a:noFill/>
        </p:spPr>
        <p:txBody>
          <a:bodyPr wrap="square">
            <a:spAutoFit/>
          </a:bodyPr>
          <a:lstStyle/>
          <a:p>
            <a:pPr>
              <a:spcBef>
                <a:spcPts val="400"/>
              </a:spcBef>
            </a:pPr>
            <a:r>
              <a:rPr sz="1200">
                <a:solidFill>
                  <a:srgbClr val="222244"/>
                </a:solidFill>
                <a:latin typeface="Calibri"/>
              </a:rPr>
              <a:t>  •  Add a Car Rental agent (new A2A skill)</a:t>
            </a:r>
          </a:p>
          <a:p>
            <a:pPr>
              <a:spcBef>
                <a:spcPts val="400"/>
              </a:spcBef>
            </a:pPr>
            <a:r>
              <a:rPr sz="1200">
                <a:solidFill>
                  <a:srgbClr val="222244"/>
                </a:solidFill>
                <a:latin typeface="Calibri"/>
              </a:rPr>
              <a:t>  •  Add OAuth2 authentication to Booking Agent</a:t>
            </a:r>
          </a:p>
          <a:p>
            <a:pPr>
              <a:spcBef>
                <a:spcPts val="400"/>
              </a:spcBef>
            </a:pPr>
            <a:r>
              <a:rPr sz="1200">
                <a:solidFill>
                  <a:srgbClr val="222244"/>
                </a:solidFill>
                <a:latin typeface="Calibri"/>
              </a:rPr>
              <a:t>  •  Replace InMemoryTaskStore with Redis</a:t>
            </a:r>
          </a:p>
          <a:p>
            <a:pPr>
              <a:spcBef>
                <a:spcPts val="400"/>
              </a:spcBef>
            </a:pPr>
            <a:r>
              <a:rPr sz="1200">
                <a:solidFill>
                  <a:srgbClr val="222244"/>
                </a:solidFill>
                <a:latin typeface="Calibri"/>
              </a:rPr>
              <a:t>  •  Add OpenTelemetry tracing across agents</a:t>
            </a:r>
          </a:p>
          <a:p>
            <a:pPr>
              <a:spcBef>
                <a:spcPts val="400"/>
              </a:spcBef>
            </a:pPr>
            <a:r>
              <a:rPr sz="1200">
                <a:solidFill>
                  <a:srgbClr val="222244"/>
                </a:solidFill>
                <a:latin typeface="Calibri"/>
              </a:rPr>
              <a:t>  •  Build a web UI on top of the orchestrator</a:t>
            </a:r>
          </a:p>
          <a:p>
            <a:pPr>
              <a:spcBef>
                <a:spcPts val="400"/>
              </a:spcBef>
            </a:pPr>
            <a:r>
              <a:rPr sz="1200">
                <a:solidFill>
                  <a:srgbClr val="222244"/>
                </a:solidFill>
                <a:latin typeface="Calibri"/>
              </a:rPr>
              <a:t>  •  Deploy to Cloud Run with real APIs</a:t>
            </a:r>
          </a:p>
          <a:p>
            <a:pPr>
              <a:spcBef>
                <a:spcPts val="400"/>
              </a:spcBef>
            </a:pPr>
            <a:r>
              <a:rPr sz="1200">
                <a:solidFill>
                  <a:srgbClr val="222244"/>
                </a:solidFill>
                <a:latin typeface="Calibri"/>
              </a:rPr>
              <a:t>  •  Add a recommendation agent using RAG</a:t>
            </a:r>
          </a:p>
        </p:txBody>
      </p:sp>
      <p:sp>
        <p:nvSpPr>
          <p:cNvPr id="19" name="Rectangle 18"/>
          <p:cNvSpPr/>
          <p:nvPr/>
        </p:nvSpPr>
        <p:spPr>
          <a:xfrm>
            <a:off x="5989320" y="3520440"/>
            <a:ext cx="5897880" cy="2743200"/>
          </a:xfrm>
          <a:prstGeom prst="rect">
            <a:avLst/>
          </a:prstGeom>
          <a:solidFill>
            <a:srgbClr val="FFFFFF"/>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989320" y="3520440"/>
            <a:ext cx="589788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80759" y="3557016"/>
            <a:ext cx="5715000" cy="274320"/>
          </a:xfrm>
          <a:prstGeom prst="rect">
            <a:avLst/>
          </a:prstGeom>
          <a:noFill/>
        </p:spPr>
        <p:txBody>
          <a:bodyPr wrap="square">
            <a:spAutoFit/>
          </a:bodyPr>
          <a:lstStyle/>
          <a:p>
            <a:pPr algn="l"/>
            <a:r>
              <a:rPr sz="1200" b="1">
                <a:solidFill>
                  <a:srgbClr val="FFFFFF"/>
                </a:solidFill>
                <a:latin typeface="Calibri"/>
              </a:rPr>
              <a:t>Key A2A Best Practices</a:t>
            </a:r>
          </a:p>
        </p:txBody>
      </p:sp>
      <p:sp>
        <p:nvSpPr>
          <p:cNvPr id="22" name="TextBox 21"/>
          <p:cNvSpPr txBox="1"/>
          <p:nvPr/>
        </p:nvSpPr>
        <p:spPr>
          <a:xfrm>
            <a:off x="6099048" y="3904488"/>
            <a:ext cx="5678424" cy="2286000"/>
          </a:xfrm>
          <a:prstGeom prst="rect">
            <a:avLst/>
          </a:prstGeom>
          <a:noFill/>
        </p:spPr>
        <p:txBody>
          <a:bodyPr wrap="square">
            <a:spAutoFit/>
          </a:bodyPr>
          <a:lstStyle/>
          <a:p>
            <a:pPr>
              <a:spcBef>
                <a:spcPts val="400"/>
              </a:spcBef>
            </a:pPr>
            <a:r>
              <a:rPr sz="1200">
                <a:solidFill>
                  <a:srgbClr val="222244"/>
                </a:solidFill>
                <a:latin typeface="Calibri"/>
              </a:rPr>
              <a:t>  •  Always validate Agent Cards before sending</a:t>
            </a:r>
          </a:p>
          <a:p>
            <a:pPr>
              <a:spcBef>
                <a:spcPts val="400"/>
              </a:spcBef>
            </a:pPr>
            <a:r>
              <a:rPr sz="1200">
                <a:solidFill>
                  <a:srgbClr val="222244"/>
                </a:solidFill>
                <a:latin typeface="Calibri"/>
              </a:rPr>
              <a:t>  •  Use asyncio.gather() for parallel tasks</a:t>
            </a:r>
          </a:p>
          <a:p>
            <a:pPr>
              <a:spcBef>
                <a:spcPts val="400"/>
              </a:spcBef>
            </a:pPr>
            <a:r>
              <a:rPr sz="1200">
                <a:solidFill>
                  <a:srgbClr val="222244"/>
                </a:solidFill>
                <a:latin typeface="Calibri"/>
              </a:rPr>
              <a:t>  •  Handle ALL task states including input-required</a:t>
            </a:r>
          </a:p>
          <a:p>
            <a:pPr>
              <a:spcBef>
                <a:spcPts val="400"/>
              </a:spcBef>
            </a:pPr>
            <a:r>
              <a:rPr sz="1200">
                <a:solidFill>
                  <a:srgbClr val="222244"/>
                </a:solidFill>
                <a:latin typeface="Calibri"/>
              </a:rPr>
              <a:t>  •  Set timeouts and cancel on timeout</a:t>
            </a:r>
          </a:p>
          <a:p>
            <a:pPr>
              <a:spcBef>
                <a:spcPts val="400"/>
              </a:spcBef>
            </a:pPr>
            <a:r>
              <a:rPr sz="1200">
                <a:solidFill>
                  <a:srgbClr val="222244"/>
                </a:solidFill>
                <a:latin typeface="Calibri"/>
              </a:rPr>
              <a:t>  •  Use DataPart for machine-readable outputs</a:t>
            </a:r>
          </a:p>
          <a:p>
            <a:pPr>
              <a:spcBef>
                <a:spcPts val="400"/>
              </a:spcBef>
            </a:pPr>
            <a:r>
              <a:rPr sz="1200">
                <a:solidFill>
                  <a:srgbClr val="222244"/>
                </a:solidFill>
                <a:latin typeface="Calibri"/>
              </a:rPr>
              <a:t>  •  Declare capabilities accurately in Agent Card</a:t>
            </a:r>
          </a:p>
          <a:p>
            <a:pPr>
              <a:spcBef>
                <a:spcPts val="400"/>
              </a:spcBef>
            </a:pPr>
            <a:r>
              <a:rPr sz="1200">
                <a:solidFill>
                  <a:srgbClr val="222244"/>
                </a:solidFill>
                <a:latin typeface="Calibri"/>
              </a:rPr>
              <a:t>  •  Never store sensitive data in task history</a:t>
            </a:r>
          </a:p>
          <a:p>
            <a:pPr>
              <a:spcBef>
                <a:spcPts val="400"/>
              </a:spcBef>
            </a:pPr>
            <a:r>
              <a:rPr sz="1200">
                <a:solidFill>
                  <a:srgbClr val="222244"/>
                </a:solidFill>
                <a:latin typeface="Calibri"/>
              </a:rPr>
              <a:t>  •  Use sessionId for multi-turn conversations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11250</Words>
  <Application>Microsoft Office PowerPoint</Application>
  <PresentationFormat>Custom</PresentationFormat>
  <Paragraphs>1666</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Rajan Rayappan</cp:lastModifiedBy>
  <cp:revision>3</cp:revision>
  <dcterms:created xsi:type="dcterms:W3CDTF">2013-01-27T09:14:16Z</dcterms:created>
  <dcterms:modified xsi:type="dcterms:W3CDTF">2026-02-22T11:20:53Z</dcterms:modified>
  <cp:category/>
</cp:coreProperties>
</file>