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slide. A2A is an open protocol enabling AI agents built on different frameworks to discover, communicate, and collaborate. Originally developed by Google, now stewarded by the Linux Foundation for open governance.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Overview of all 18 topic slides in this deck. The presentation covers the full A2A protocol from motivation through specification details and SDK support.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without a standard protocol, AI agent integration requires custom point-to-point connections that scale poorly. Wrapping agents as tools loses the native negotiation and multi-turn reasoning capabilities agents provide. A2A solves all of these issues through standardization.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A2A is an open protocol standard that gives AI agents a common language for communication. Born at Google and now managed by the Linux Foundation, it enables any agent — regardless of the underlying framework or vendor — to discover and collaborate with any other A2A-compliant agent.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stack has three layers. At the bottom, MCP (Model Context Protocol) connects models to tools and data. In the middle, A2A enables agent-to-agent communication — multi-turn reasoning, negotiation, and task delegation. At the top, frameworks like ADK, LangChain, and CrewAI build the actual agents. A2A is the glue between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A2A was designed around five core principles. Simplicity ensures developers can adopt it using skills they already have. Enterprise Readiness means it handles auth, security, tracing, and monitoring out of the box. Async Operations supports long-running and human-in-the-loop workflows. Modality Independence allows rich content beyond text. Opaque Execution means agents never need to reveal their internal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A2A interaction involves three actors. The User sets the goal. The A2A Client (Client Agent) acts on the user's behalf, initiating tasks and managing the communication flow. The A2A Server (Remote Agent) receives and processes tasks, returning results. The server's internal logic is completely opaque — clients only see inputs and outputs.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core concepts underpin the entire A2A protocol. The Agent Card provides discovery and capability metadata. A Task is the stateful unit of work. A Message is a single turn in a conversation. A Part is the smallest content unit inside a message. An Artifact is the tangible output produced by an agent during task processing.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Agent Card is the discovery mechanism at the heart of A2A. It lives at a well-known URL and describes everything a client needs to know before connecting: who the agent is, what it can do, how to authenticate, and where to send requests. An extended card with additional capabilities is available after authentication.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task in A2A goes through a well-defined lifecycle. It starts as 'submitted', moves to 'working' when the agent begins processing, and then reaches a terminal state: 'completed' (success), 'failed' (error), or 'canceled' (client-initiated). The 'input-required' state enables multi-turn interactions where the agent needs more information before it can continue.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Message is a single turn in a conversation, identified by messageId, linked to a Task, and tagged with a role (user or agent). It contains one or more Parts. TextPart carries plain text. FilePart carries files by URL or raw bytes. DataPart carries structured JSON. Artifacts are agent-generated outputs composed of Parts — they represent the final deliverable of a task.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A2A supports three interaction patterns. Request/Response with Polling is the simplest: send a message, poll for updates. Streaming via Server-Sent Events delivers real-time incremental updates over a persistent connection — ideal for long responses. Push Notifications use webhooks for fully asynchronous delivery, best for very long operations or human-in-the-loop workflows where maintaining a connection isn't practical.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A2A defines exactly 11 operations across four categories. The two Messaging operations are the primary workhorses. The four Task Management operations handle the full task lifecycle. The four Push Notification operations manage webhooks. The single Discovery operation retrieves extended agent capabilities after authentication.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A2A supports three protocol bindings. JSON-RPC 2.0 is the primary binding used by most SDKs — it maps naturally to A2A operations and is easy to debug. gRPC provides high performance with binary encoding and native streaming, ideal for high-throughput microservices. HTTP+JSON/REST is the most familiar option, compatible with standard web tooling and API gateways.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A2A supports five authentication schemes to cover all enterprise use cases. API Key is the simplest. Bearer tokens cover most web use cases. OAuth 2.0 provides full delegated authorization with multiple grant types. OpenID Connect adds identity. Mutual TLS provides the strongest guarantee for regulated industries. Auth schemes are declared in the Agent Card and credentials are passed via HTTP headers.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Multi-turn interactions are central to A2A. The contextId groups all related tasks and messages, giving the server the context it needs to maintain conversation state. The input-required task state enables the agent to pause and ask for more information. The referenceTaskIds field lets messages explicitly reference related work, enabling complex chained agent workflows.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A2A interaction follows a four-stage lifecycle. Stage 1 is discovery: the client fetches the Agent Card to learn about the agent's capabilities and auth requirements. Stage 2 is authentication: the client obtains credentials. Stage 3 is the sendMessage API: a synchronous request that creates or continues a task. Stage 4 is the streaming API: an SSE connection for real-time task updates.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A2A has official SDKs for the five most popular languages: Python, JavaScript, Java, C#/.NET, and Go. All SDKs are open source and maintained on GitHub. The protocol works with major agent frameworks including Google ADK (first-class support), LangChain, CrewAI, Semantic Kernel, AutoGen, and any custom platform that implements the HTTP-based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key takeaways. A2A is an open, Linux Foundation-governed standard — not a proprietary protocol. It elevates agents from tools to first-class autonomous entities. It is enterprise-ready with full security and observability built in. It complements MCP in a layered AI stack. It has minimal adoption cost since it builds on familiar web standards. And it lays the foundation for the multi-agent AI systems that will power the next generation of AI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resources for getting started with A2A. The official site at a2a-protocol.org has the full specification, topic guides, and tutorials. The Linux Foundation site has governance and community information. Official SDKs are on GitHub under google-a2a. DeepLearning.AI offers a free short course on building agents with A2A and the Google Agent Development Kit.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537960"/>
            <a:ext cx="12188952" cy="32004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10058400" cy="1097280"/>
          </a:xfrm>
          <a:prstGeom prst="rect">
            <a:avLst/>
          </a:prstGeom>
          <a:noFill/>
        </p:spPr>
        <p:txBody>
          <a:bodyPr wrap="square">
            <a:spAutoFit/>
          </a:bodyPr>
          <a:lstStyle/>
          <a:p>
            <a:pPr algn="l"/>
            <a:r>
              <a:rPr sz="4400" b="1" i="0">
                <a:solidFill>
                  <a:srgbClr val="FFFFFF"/>
                </a:solidFill>
                <a:latin typeface="Calibri"/>
              </a:rPr>
              <a:t>Agent2Agent (A2A) Protocol</a:t>
            </a:r>
          </a:p>
        </p:txBody>
      </p:sp>
      <p:sp>
        <p:nvSpPr>
          <p:cNvPr id="6" name="TextBox 5"/>
          <p:cNvSpPr txBox="1"/>
          <p:nvPr/>
        </p:nvSpPr>
        <p:spPr>
          <a:xfrm>
            <a:off x="914400" y="2606040"/>
            <a:ext cx="10058400" cy="548640"/>
          </a:xfrm>
          <a:prstGeom prst="rect">
            <a:avLst/>
          </a:prstGeom>
          <a:noFill/>
        </p:spPr>
        <p:txBody>
          <a:bodyPr wrap="square">
            <a:spAutoFit/>
          </a:bodyPr>
          <a:lstStyle/>
          <a:p>
            <a:pPr algn="l"/>
            <a:r>
              <a:rPr sz="2400" b="0" i="0">
                <a:solidFill>
                  <a:srgbClr val="FFB300"/>
                </a:solidFill>
                <a:latin typeface="Calibri"/>
              </a:rPr>
              <a:t>An Open Standard for AI Agent Interoperability</a:t>
            </a:r>
          </a:p>
        </p:txBody>
      </p:sp>
      <p:sp>
        <p:nvSpPr>
          <p:cNvPr id="7" name="Rectangle 6"/>
          <p:cNvSpPr/>
          <p:nvPr/>
        </p:nvSpPr>
        <p:spPr>
          <a:xfrm>
            <a:off x="914400" y="3246120"/>
            <a:ext cx="9144000" cy="36576"/>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29000"/>
            <a:ext cx="10058400" cy="365760"/>
          </a:xfrm>
          <a:prstGeom prst="rect">
            <a:avLst/>
          </a:prstGeom>
          <a:noFill/>
        </p:spPr>
        <p:txBody>
          <a:bodyPr wrap="square">
            <a:spAutoFit/>
          </a:bodyPr>
          <a:lstStyle/>
          <a:p>
            <a:pPr algn="l"/>
            <a:r>
              <a:rPr sz="1500" b="0" i="0">
                <a:solidFill>
                  <a:srgbClr val="FFFFFF"/>
                </a:solidFill>
                <a:latin typeface="Calibri"/>
              </a:rPr>
              <a:t>Originally created by Google  |  Now managed by the Linux Foundation</a:t>
            </a:r>
          </a:p>
        </p:txBody>
      </p:sp>
      <p:sp>
        <p:nvSpPr>
          <p:cNvPr id="9" name="TextBox 8"/>
          <p:cNvSpPr txBox="1"/>
          <p:nvPr/>
        </p:nvSpPr>
        <p:spPr>
          <a:xfrm>
            <a:off x="914400" y="3886200"/>
            <a:ext cx="3657600" cy="320040"/>
          </a:xfrm>
          <a:prstGeom prst="rect">
            <a:avLst/>
          </a:prstGeom>
          <a:noFill/>
        </p:spPr>
        <p:txBody>
          <a:bodyPr wrap="square">
            <a:spAutoFit/>
          </a:bodyPr>
          <a:lstStyle/>
          <a:p>
            <a:pPr algn="l"/>
            <a:r>
              <a:rPr sz="1400" b="0" i="0">
                <a:solidFill>
                  <a:srgbClr val="FFB300"/>
                </a:solidFill>
                <a:latin typeface="Calibri"/>
              </a:rPr>
              <a:t>2026</a:t>
            </a:r>
          </a:p>
        </p:txBody>
      </p:sp>
      <p:sp>
        <p:nvSpPr>
          <p:cNvPr id="10" name="TextBox 9"/>
          <p:cNvSpPr txBox="1"/>
          <p:nvPr/>
        </p:nvSpPr>
        <p:spPr>
          <a:xfrm>
            <a:off x="914400" y="4754880"/>
            <a:ext cx="10058400" cy="457200"/>
          </a:xfrm>
          <a:prstGeom prst="rect">
            <a:avLst/>
          </a:prstGeom>
          <a:noFill/>
        </p:spPr>
        <p:txBody>
          <a:bodyPr wrap="square">
            <a:spAutoFit/>
          </a:bodyPr>
          <a:lstStyle/>
          <a:p>
            <a:pPr algn="l"/>
            <a:r>
              <a:rPr sz="1600" b="0" i="1">
                <a:solidFill>
                  <a:srgbClr val="B0C4DE"/>
                </a:solidFill>
                <a:latin typeface="Calibri"/>
              </a:rPr>
              <a:t>"A common language for AI agents across frameworks, vendors, and clouds"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Agenda</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What we'll cover today</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97280"/>
            <a:ext cx="5394960" cy="5120640"/>
          </a:xfrm>
          <a:prstGeom prst="rect">
            <a:avLst/>
          </a:prstGeom>
          <a:solidFill>
            <a:srgbClr val="FFFFFF"/>
          </a:solidFill>
          <a:ln w="127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80160"/>
            <a:ext cx="5120640" cy="384048"/>
          </a:xfrm>
          <a:prstGeom prst="rect">
            <a:avLst/>
          </a:prstGeom>
          <a:noFill/>
        </p:spPr>
        <p:txBody>
          <a:bodyPr wrap="square">
            <a:spAutoFit/>
          </a:bodyPr>
          <a:lstStyle/>
          <a:p>
            <a:pPr algn="l"/>
            <a:r>
              <a:rPr sz="1350" b="0" i="0">
                <a:solidFill>
                  <a:srgbClr val="000000"/>
                </a:solidFill>
                <a:latin typeface="Calibri"/>
              </a:rPr>
              <a:t>1.  The Problem — Before A2A</a:t>
            </a:r>
          </a:p>
        </p:txBody>
      </p:sp>
      <p:sp>
        <p:nvSpPr>
          <p:cNvPr id="9" name="TextBox 8"/>
          <p:cNvSpPr txBox="1"/>
          <p:nvPr/>
        </p:nvSpPr>
        <p:spPr>
          <a:xfrm>
            <a:off x="502920" y="1719072"/>
            <a:ext cx="5120640" cy="384048"/>
          </a:xfrm>
          <a:prstGeom prst="rect">
            <a:avLst/>
          </a:prstGeom>
          <a:noFill/>
        </p:spPr>
        <p:txBody>
          <a:bodyPr wrap="square">
            <a:spAutoFit/>
          </a:bodyPr>
          <a:lstStyle/>
          <a:p>
            <a:pPr algn="l"/>
            <a:r>
              <a:rPr sz="1350" b="0" i="0">
                <a:solidFill>
                  <a:srgbClr val="000000"/>
                </a:solidFill>
                <a:latin typeface="Calibri"/>
              </a:rPr>
              <a:t>2.  What is A2A?</a:t>
            </a:r>
          </a:p>
        </p:txBody>
      </p:sp>
      <p:sp>
        <p:nvSpPr>
          <p:cNvPr id="10" name="TextBox 9"/>
          <p:cNvSpPr txBox="1"/>
          <p:nvPr/>
        </p:nvSpPr>
        <p:spPr>
          <a:xfrm>
            <a:off x="502920" y="2157984"/>
            <a:ext cx="5120640" cy="384048"/>
          </a:xfrm>
          <a:prstGeom prst="rect">
            <a:avLst/>
          </a:prstGeom>
          <a:noFill/>
        </p:spPr>
        <p:txBody>
          <a:bodyPr wrap="square">
            <a:spAutoFit/>
          </a:bodyPr>
          <a:lstStyle/>
          <a:p>
            <a:pPr algn="l"/>
            <a:r>
              <a:rPr sz="1350" b="0" i="0">
                <a:solidFill>
                  <a:srgbClr val="000000"/>
                </a:solidFill>
                <a:latin typeface="Calibri"/>
              </a:rPr>
              <a:t>3.  A2A in the AI Stack</a:t>
            </a:r>
          </a:p>
        </p:txBody>
      </p:sp>
      <p:sp>
        <p:nvSpPr>
          <p:cNvPr id="11" name="TextBox 10"/>
          <p:cNvSpPr txBox="1"/>
          <p:nvPr/>
        </p:nvSpPr>
        <p:spPr>
          <a:xfrm>
            <a:off x="502920" y="2596896"/>
            <a:ext cx="5120640" cy="384048"/>
          </a:xfrm>
          <a:prstGeom prst="rect">
            <a:avLst/>
          </a:prstGeom>
          <a:noFill/>
        </p:spPr>
        <p:txBody>
          <a:bodyPr wrap="square">
            <a:spAutoFit/>
          </a:bodyPr>
          <a:lstStyle/>
          <a:p>
            <a:pPr algn="l"/>
            <a:r>
              <a:rPr sz="1350" b="0" i="0">
                <a:solidFill>
                  <a:srgbClr val="000000"/>
                </a:solidFill>
                <a:latin typeface="Calibri"/>
              </a:rPr>
              <a:t>4.  Key Design Principles</a:t>
            </a:r>
          </a:p>
        </p:txBody>
      </p:sp>
      <p:sp>
        <p:nvSpPr>
          <p:cNvPr id="12" name="TextBox 11"/>
          <p:cNvSpPr txBox="1"/>
          <p:nvPr/>
        </p:nvSpPr>
        <p:spPr>
          <a:xfrm>
            <a:off x="502920" y="3035808"/>
            <a:ext cx="5120640" cy="384048"/>
          </a:xfrm>
          <a:prstGeom prst="rect">
            <a:avLst/>
          </a:prstGeom>
          <a:noFill/>
        </p:spPr>
        <p:txBody>
          <a:bodyPr wrap="square">
            <a:spAutoFit/>
          </a:bodyPr>
          <a:lstStyle/>
          <a:p>
            <a:pPr algn="l"/>
            <a:r>
              <a:rPr sz="1350" b="0" i="0">
                <a:solidFill>
                  <a:srgbClr val="000000"/>
                </a:solidFill>
                <a:latin typeface="Calibri"/>
              </a:rPr>
              <a:t>5.  Core Actors</a:t>
            </a:r>
          </a:p>
        </p:txBody>
      </p:sp>
      <p:sp>
        <p:nvSpPr>
          <p:cNvPr id="13" name="TextBox 12"/>
          <p:cNvSpPr txBox="1"/>
          <p:nvPr/>
        </p:nvSpPr>
        <p:spPr>
          <a:xfrm>
            <a:off x="502920" y="3474720"/>
            <a:ext cx="5120640" cy="384048"/>
          </a:xfrm>
          <a:prstGeom prst="rect">
            <a:avLst/>
          </a:prstGeom>
          <a:noFill/>
        </p:spPr>
        <p:txBody>
          <a:bodyPr wrap="square">
            <a:spAutoFit/>
          </a:bodyPr>
          <a:lstStyle/>
          <a:p>
            <a:pPr algn="l"/>
            <a:r>
              <a:rPr sz="1350" b="0" i="0">
                <a:solidFill>
                  <a:srgbClr val="000000"/>
                </a:solidFill>
                <a:latin typeface="Calibri"/>
              </a:rPr>
              <a:t>6.  Fundamental Concepts</a:t>
            </a:r>
          </a:p>
        </p:txBody>
      </p:sp>
      <p:sp>
        <p:nvSpPr>
          <p:cNvPr id="14" name="TextBox 13"/>
          <p:cNvSpPr txBox="1"/>
          <p:nvPr/>
        </p:nvSpPr>
        <p:spPr>
          <a:xfrm>
            <a:off x="502920" y="3913632"/>
            <a:ext cx="5120640" cy="384048"/>
          </a:xfrm>
          <a:prstGeom prst="rect">
            <a:avLst/>
          </a:prstGeom>
          <a:noFill/>
        </p:spPr>
        <p:txBody>
          <a:bodyPr wrap="square">
            <a:spAutoFit/>
          </a:bodyPr>
          <a:lstStyle/>
          <a:p>
            <a:pPr algn="l"/>
            <a:r>
              <a:rPr sz="1350" b="0" i="0">
                <a:solidFill>
                  <a:srgbClr val="000000"/>
                </a:solidFill>
                <a:latin typeface="Calibri"/>
              </a:rPr>
              <a:t>7.  Agent Card Deep Dive</a:t>
            </a:r>
          </a:p>
        </p:txBody>
      </p:sp>
      <p:sp>
        <p:nvSpPr>
          <p:cNvPr id="15" name="TextBox 14"/>
          <p:cNvSpPr txBox="1"/>
          <p:nvPr/>
        </p:nvSpPr>
        <p:spPr>
          <a:xfrm>
            <a:off x="502920" y="4352544"/>
            <a:ext cx="5120640" cy="384048"/>
          </a:xfrm>
          <a:prstGeom prst="rect">
            <a:avLst/>
          </a:prstGeom>
          <a:noFill/>
        </p:spPr>
        <p:txBody>
          <a:bodyPr wrap="square">
            <a:spAutoFit/>
          </a:bodyPr>
          <a:lstStyle/>
          <a:p>
            <a:pPr algn="l"/>
            <a:r>
              <a:rPr sz="1350" b="0" i="0">
                <a:solidFill>
                  <a:srgbClr val="000000"/>
                </a:solidFill>
                <a:latin typeface="Calibri"/>
              </a:rPr>
              <a:t>8.  The Task Lifecycle</a:t>
            </a:r>
          </a:p>
        </p:txBody>
      </p:sp>
      <p:sp>
        <p:nvSpPr>
          <p:cNvPr id="16" name="TextBox 15"/>
          <p:cNvSpPr txBox="1"/>
          <p:nvPr/>
        </p:nvSpPr>
        <p:spPr>
          <a:xfrm>
            <a:off x="502920" y="4791456"/>
            <a:ext cx="5120640" cy="384048"/>
          </a:xfrm>
          <a:prstGeom prst="rect">
            <a:avLst/>
          </a:prstGeom>
          <a:noFill/>
        </p:spPr>
        <p:txBody>
          <a:bodyPr wrap="square">
            <a:spAutoFit/>
          </a:bodyPr>
          <a:lstStyle/>
          <a:p>
            <a:pPr algn="l"/>
            <a:r>
              <a:rPr sz="1350" b="0" i="0">
                <a:solidFill>
                  <a:srgbClr val="000000"/>
                </a:solidFill>
                <a:latin typeface="Calibri"/>
              </a:rPr>
              <a:t>9.  Messages &amp; Parts</a:t>
            </a:r>
          </a:p>
        </p:txBody>
      </p:sp>
      <p:sp>
        <p:nvSpPr>
          <p:cNvPr id="17" name="TextBox 16"/>
          <p:cNvSpPr txBox="1"/>
          <p:nvPr/>
        </p:nvSpPr>
        <p:spPr>
          <a:xfrm>
            <a:off x="502920" y="5230368"/>
            <a:ext cx="5120640" cy="384048"/>
          </a:xfrm>
          <a:prstGeom prst="rect">
            <a:avLst/>
          </a:prstGeom>
          <a:noFill/>
        </p:spPr>
        <p:txBody>
          <a:bodyPr wrap="square">
            <a:spAutoFit/>
          </a:bodyPr>
          <a:lstStyle/>
          <a:p>
            <a:pPr algn="l"/>
            <a:r>
              <a:rPr sz="1350" b="0" i="0">
                <a:solidFill>
                  <a:srgbClr val="000000"/>
                </a:solidFill>
                <a:latin typeface="Calibri"/>
              </a:rPr>
              <a:t>10. Interaction Patterns</a:t>
            </a:r>
          </a:p>
        </p:txBody>
      </p:sp>
      <p:sp>
        <p:nvSpPr>
          <p:cNvPr id="18" name="Rectangle 17"/>
          <p:cNvSpPr/>
          <p:nvPr/>
        </p:nvSpPr>
        <p:spPr>
          <a:xfrm>
            <a:off x="6217920" y="1097280"/>
            <a:ext cx="5394960" cy="5120640"/>
          </a:xfrm>
          <a:prstGeom prst="rect">
            <a:avLst/>
          </a:prstGeom>
          <a:solidFill>
            <a:srgbClr val="FFFFFF"/>
          </a:solidFill>
          <a:ln w="127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1280160"/>
            <a:ext cx="5120640" cy="384048"/>
          </a:xfrm>
          <a:prstGeom prst="rect">
            <a:avLst/>
          </a:prstGeom>
          <a:noFill/>
        </p:spPr>
        <p:txBody>
          <a:bodyPr wrap="square">
            <a:spAutoFit/>
          </a:bodyPr>
          <a:lstStyle/>
          <a:p>
            <a:pPr algn="l"/>
            <a:r>
              <a:rPr sz="1350" b="0" i="0">
                <a:solidFill>
                  <a:srgbClr val="000000"/>
                </a:solidFill>
                <a:latin typeface="Calibri"/>
              </a:rPr>
              <a:t>11. The 11 Core Operations</a:t>
            </a:r>
          </a:p>
        </p:txBody>
      </p:sp>
      <p:sp>
        <p:nvSpPr>
          <p:cNvPr id="20" name="TextBox 19"/>
          <p:cNvSpPr txBox="1"/>
          <p:nvPr/>
        </p:nvSpPr>
        <p:spPr>
          <a:xfrm>
            <a:off x="6400800" y="1719072"/>
            <a:ext cx="5120640" cy="384048"/>
          </a:xfrm>
          <a:prstGeom prst="rect">
            <a:avLst/>
          </a:prstGeom>
          <a:noFill/>
        </p:spPr>
        <p:txBody>
          <a:bodyPr wrap="square">
            <a:spAutoFit/>
          </a:bodyPr>
          <a:lstStyle/>
          <a:p>
            <a:pPr algn="l"/>
            <a:r>
              <a:rPr sz="1350" b="0" i="0">
                <a:solidFill>
                  <a:srgbClr val="000000"/>
                </a:solidFill>
                <a:latin typeface="Calibri"/>
              </a:rPr>
              <a:t>12. Protocol Bindings</a:t>
            </a:r>
          </a:p>
        </p:txBody>
      </p:sp>
      <p:sp>
        <p:nvSpPr>
          <p:cNvPr id="21" name="TextBox 20"/>
          <p:cNvSpPr txBox="1"/>
          <p:nvPr/>
        </p:nvSpPr>
        <p:spPr>
          <a:xfrm>
            <a:off x="6400800" y="2157984"/>
            <a:ext cx="5120640" cy="384048"/>
          </a:xfrm>
          <a:prstGeom prst="rect">
            <a:avLst/>
          </a:prstGeom>
          <a:noFill/>
        </p:spPr>
        <p:txBody>
          <a:bodyPr wrap="square">
            <a:spAutoFit/>
          </a:bodyPr>
          <a:lstStyle/>
          <a:p>
            <a:pPr algn="l"/>
            <a:r>
              <a:rPr sz="1350" b="0" i="0">
                <a:solidFill>
                  <a:srgbClr val="000000"/>
                </a:solidFill>
                <a:latin typeface="Calibri"/>
              </a:rPr>
              <a:t>13. Authentication &amp; Security</a:t>
            </a:r>
          </a:p>
        </p:txBody>
      </p:sp>
      <p:sp>
        <p:nvSpPr>
          <p:cNvPr id="22" name="TextBox 21"/>
          <p:cNvSpPr txBox="1"/>
          <p:nvPr/>
        </p:nvSpPr>
        <p:spPr>
          <a:xfrm>
            <a:off x="6400800" y="2596896"/>
            <a:ext cx="5120640" cy="384048"/>
          </a:xfrm>
          <a:prstGeom prst="rect">
            <a:avLst/>
          </a:prstGeom>
          <a:noFill/>
        </p:spPr>
        <p:txBody>
          <a:bodyPr wrap="square">
            <a:spAutoFit/>
          </a:bodyPr>
          <a:lstStyle/>
          <a:p>
            <a:pPr algn="l"/>
            <a:r>
              <a:rPr sz="1350" b="0" i="0">
                <a:solidFill>
                  <a:srgbClr val="000000"/>
                </a:solidFill>
                <a:latin typeface="Calibri"/>
              </a:rPr>
              <a:t>14. Multi-Turn Interactions</a:t>
            </a:r>
          </a:p>
        </p:txBody>
      </p:sp>
      <p:sp>
        <p:nvSpPr>
          <p:cNvPr id="23" name="TextBox 22"/>
          <p:cNvSpPr txBox="1"/>
          <p:nvPr/>
        </p:nvSpPr>
        <p:spPr>
          <a:xfrm>
            <a:off x="6400800" y="3035808"/>
            <a:ext cx="5120640" cy="384048"/>
          </a:xfrm>
          <a:prstGeom prst="rect">
            <a:avLst/>
          </a:prstGeom>
          <a:noFill/>
        </p:spPr>
        <p:txBody>
          <a:bodyPr wrap="square">
            <a:spAutoFit/>
          </a:bodyPr>
          <a:lstStyle/>
          <a:p>
            <a:pPr algn="l"/>
            <a:r>
              <a:rPr sz="1350" b="0" i="0">
                <a:solidFill>
                  <a:srgbClr val="000000"/>
                </a:solidFill>
                <a:latin typeface="Calibri"/>
              </a:rPr>
              <a:t>15. Request Lifecycle</a:t>
            </a:r>
          </a:p>
        </p:txBody>
      </p:sp>
      <p:sp>
        <p:nvSpPr>
          <p:cNvPr id="24" name="TextBox 23"/>
          <p:cNvSpPr txBox="1"/>
          <p:nvPr/>
        </p:nvSpPr>
        <p:spPr>
          <a:xfrm>
            <a:off x="6400800" y="3474720"/>
            <a:ext cx="5120640" cy="384048"/>
          </a:xfrm>
          <a:prstGeom prst="rect">
            <a:avLst/>
          </a:prstGeom>
          <a:noFill/>
        </p:spPr>
        <p:txBody>
          <a:bodyPr wrap="square">
            <a:spAutoFit/>
          </a:bodyPr>
          <a:lstStyle/>
          <a:p>
            <a:pPr algn="l"/>
            <a:r>
              <a:rPr sz="1350" b="0" i="0">
                <a:solidFill>
                  <a:srgbClr val="000000"/>
                </a:solidFill>
                <a:latin typeface="Calibri"/>
              </a:rPr>
              <a:t>16. SDK &amp; Framework Support</a:t>
            </a:r>
          </a:p>
        </p:txBody>
      </p:sp>
      <p:sp>
        <p:nvSpPr>
          <p:cNvPr id="25" name="TextBox 24"/>
          <p:cNvSpPr txBox="1"/>
          <p:nvPr/>
        </p:nvSpPr>
        <p:spPr>
          <a:xfrm>
            <a:off x="6400800" y="3913632"/>
            <a:ext cx="5120640" cy="384048"/>
          </a:xfrm>
          <a:prstGeom prst="rect">
            <a:avLst/>
          </a:prstGeom>
          <a:noFill/>
        </p:spPr>
        <p:txBody>
          <a:bodyPr wrap="square">
            <a:spAutoFit/>
          </a:bodyPr>
          <a:lstStyle/>
          <a:p>
            <a:pPr algn="l"/>
            <a:r>
              <a:rPr sz="1350" b="0" i="0">
                <a:solidFill>
                  <a:srgbClr val="000000"/>
                </a:solidFill>
                <a:latin typeface="Calibri"/>
              </a:rPr>
              <a:t>17. Key Takeaways</a:t>
            </a:r>
          </a:p>
        </p:txBody>
      </p:sp>
      <p:sp>
        <p:nvSpPr>
          <p:cNvPr id="26" name="TextBox 25"/>
          <p:cNvSpPr txBox="1"/>
          <p:nvPr/>
        </p:nvSpPr>
        <p:spPr>
          <a:xfrm>
            <a:off x="6400800" y="4352544"/>
            <a:ext cx="5120640" cy="384048"/>
          </a:xfrm>
          <a:prstGeom prst="rect">
            <a:avLst/>
          </a:prstGeom>
          <a:noFill/>
        </p:spPr>
        <p:txBody>
          <a:bodyPr wrap="square">
            <a:spAutoFit/>
          </a:bodyPr>
          <a:lstStyle/>
          <a:p>
            <a:pPr algn="l"/>
            <a:r>
              <a:rPr sz="1350" b="0" i="0">
                <a:solidFill>
                  <a:srgbClr val="000000"/>
                </a:solidFill>
                <a:latin typeface="Calibri"/>
              </a:rPr>
              <a:t>18. Resources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The Problem</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Before A2A: the integration mess</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5303520" cy="5303520"/>
          </a:xfrm>
          <a:prstGeom prst="rect">
            <a:avLst/>
          </a:prstGeom>
          <a:solidFill>
            <a:srgbClr val="FFEBEB"/>
          </a:solidFill>
          <a:ln w="254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234440"/>
            <a:ext cx="5029200" cy="365760"/>
          </a:xfrm>
          <a:prstGeom prst="rect">
            <a:avLst/>
          </a:prstGeom>
          <a:noFill/>
        </p:spPr>
        <p:txBody>
          <a:bodyPr wrap="square">
            <a:spAutoFit/>
          </a:bodyPr>
          <a:lstStyle/>
          <a:p>
            <a:pPr algn="l"/>
            <a:r>
              <a:rPr sz="1600" b="1" i="0">
                <a:solidFill>
                  <a:srgbClr val="C62828"/>
                </a:solidFill>
                <a:latin typeface="Calibri"/>
              </a:rPr>
              <a:t>BEFORE A2A</a:t>
            </a:r>
          </a:p>
        </p:txBody>
      </p:sp>
      <p:sp>
        <p:nvSpPr>
          <p:cNvPr id="9" name="TextBox 8"/>
          <p:cNvSpPr txBox="1"/>
          <p:nvPr/>
        </p:nvSpPr>
        <p:spPr>
          <a:xfrm>
            <a:off x="548640" y="1691640"/>
            <a:ext cx="4937760" cy="274320"/>
          </a:xfrm>
          <a:prstGeom prst="rect">
            <a:avLst/>
          </a:prstGeom>
          <a:noFill/>
        </p:spPr>
        <p:txBody>
          <a:bodyPr wrap="square">
            <a:spAutoFit/>
          </a:bodyPr>
          <a:lstStyle/>
          <a:p>
            <a:pPr algn="l"/>
            <a:r>
              <a:rPr sz="1200" b="0" i="0">
                <a:solidFill>
                  <a:srgbClr val="000000"/>
                </a:solidFill>
                <a:latin typeface="Calibri"/>
              </a:rPr>
              <a:t>Agents wrapped as 'tools' — loses</a:t>
            </a:r>
          </a:p>
        </p:txBody>
      </p:sp>
      <p:sp>
        <p:nvSpPr>
          <p:cNvPr id="10" name="TextBox 9"/>
          <p:cNvSpPr txBox="1"/>
          <p:nvPr/>
        </p:nvSpPr>
        <p:spPr>
          <a:xfrm>
            <a:off x="548640" y="1956816"/>
            <a:ext cx="4937760" cy="274320"/>
          </a:xfrm>
          <a:prstGeom prst="rect">
            <a:avLst/>
          </a:prstGeom>
          <a:noFill/>
        </p:spPr>
        <p:txBody>
          <a:bodyPr wrap="square">
            <a:spAutoFit/>
          </a:bodyPr>
          <a:lstStyle/>
          <a:p>
            <a:pPr algn="l"/>
            <a:r>
              <a:rPr sz="1200" b="0" i="0">
                <a:solidFill>
                  <a:srgbClr val="000000"/>
                </a:solidFill>
                <a:latin typeface="Calibri"/>
              </a:rPr>
              <a:t>  agent negotiation capabilities</a:t>
            </a:r>
          </a:p>
        </p:txBody>
      </p:sp>
      <p:sp>
        <p:nvSpPr>
          <p:cNvPr id="11" name="TextBox 10"/>
          <p:cNvSpPr txBox="1"/>
          <p:nvPr/>
        </p:nvSpPr>
        <p:spPr>
          <a:xfrm>
            <a:off x="548640" y="2487168"/>
            <a:ext cx="4937760" cy="274320"/>
          </a:xfrm>
          <a:prstGeom prst="rect">
            <a:avLst/>
          </a:prstGeom>
          <a:noFill/>
        </p:spPr>
        <p:txBody>
          <a:bodyPr wrap="square">
            <a:spAutoFit/>
          </a:bodyPr>
          <a:lstStyle/>
          <a:p>
            <a:pPr algn="l"/>
            <a:r>
              <a:rPr sz="1200" b="0" i="0">
                <a:solidFill>
                  <a:srgbClr val="000000"/>
                </a:solidFill>
                <a:latin typeface="Calibri"/>
              </a:rPr>
              <a:t>Custom point-to-point integrations</a:t>
            </a:r>
          </a:p>
        </p:txBody>
      </p:sp>
      <p:sp>
        <p:nvSpPr>
          <p:cNvPr id="12" name="TextBox 11"/>
          <p:cNvSpPr txBox="1"/>
          <p:nvPr/>
        </p:nvSpPr>
        <p:spPr>
          <a:xfrm>
            <a:off x="548640" y="2752344"/>
            <a:ext cx="4937760" cy="274320"/>
          </a:xfrm>
          <a:prstGeom prst="rect">
            <a:avLst/>
          </a:prstGeom>
          <a:noFill/>
        </p:spPr>
        <p:txBody>
          <a:bodyPr wrap="square">
            <a:spAutoFit/>
          </a:bodyPr>
          <a:lstStyle/>
          <a:p>
            <a:pPr algn="l"/>
            <a:r>
              <a:rPr sz="1200" b="0" i="0">
                <a:solidFill>
                  <a:srgbClr val="000000"/>
                </a:solidFill>
                <a:latin typeface="Calibri"/>
              </a:rPr>
              <a:t>  for every agent pair</a:t>
            </a:r>
          </a:p>
        </p:txBody>
      </p:sp>
      <p:sp>
        <p:nvSpPr>
          <p:cNvPr id="13" name="TextBox 12"/>
          <p:cNvSpPr txBox="1"/>
          <p:nvPr/>
        </p:nvSpPr>
        <p:spPr>
          <a:xfrm>
            <a:off x="548640" y="3282696"/>
            <a:ext cx="4937760" cy="274320"/>
          </a:xfrm>
          <a:prstGeom prst="rect">
            <a:avLst/>
          </a:prstGeom>
          <a:noFill/>
        </p:spPr>
        <p:txBody>
          <a:bodyPr wrap="square">
            <a:spAutoFit/>
          </a:bodyPr>
          <a:lstStyle/>
          <a:p>
            <a:pPr algn="l"/>
            <a:r>
              <a:rPr sz="1200" b="0" i="0">
                <a:solidFill>
                  <a:srgbClr val="000000"/>
                </a:solidFill>
                <a:latin typeface="Calibri"/>
              </a:rPr>
              <a:t>Engineering overhead grows O(n²)</a:t>
            </a:r>
          </a:p>
        </p:txBody>
      </p:sp>
      <p:sp>
        <p:nvSpPr>
          <p:cNvPr id="14" name="TextBox 13"/>
          <p:cNvSpPr txBox="1"/>
          <p:nvPr/>
        </p:nvSpPr>
        <p:spPr>
          <a:xfrm>
            <a:off x="548640" y="3547872"/>
            <a:ext cx="4937760" cy="274320"/>
          </a:xfrm>
          <a:prstGeom prst="rect">
            <a:avLst/>
          </a:prstGeom>
          <a:noFill/>
        </p:spPr>
        <p:txBody>
          <a:bodyPr wrap="square">
            <a:spAutoFit/>
          </a:bodyPr>
          <a:lstStyle/>
          <a:p>
            <a:pPr algn="l"/>
            <a:r>
              <a:rPr sz="1200" b="0" i="0">
                <a:solidFill>
                  <a:srgbClr val="000000"/>
                </a:solidFill>
                <a:latin typeface="Calibri"/>
              </a:rPr>
              <a:t>  with agent network size</a:t>
            </a:r>
          </a:p>
        </p:txBody>
      </p:sp>
      <p:sp>
        <p:nvSpPr>
          <p:cNvPr id="15" name="TextBox 14"/>
          <p:cNvSpPr txBox="1"/>
          <p:nvPr/>
        </p:nvSpPr>
        <p:spPr>
          <a:xfrm>
            <a:off x="548640" y="4078224"/>
            <a:ext cx="4937760" cy="274320"/>
          </a:xfrm>
          <a:prstGeom prst="rect">
            <a:avLst/>
          </a:prstGeom>
          <a:noFill/>
        </p:spPr>
        <p:txBody>
          <a:bodyPr wrap="square">
            <a:spAutoFit/>
          </a:bodyPr>
          <a:lstStyle/>
          <a:p>
            <a:pPr algn="l"/>
            <a:r>
              <a:rPr sz="1200" b="0" i="0">
                <a:solidFill>
                  <a:srgbClr val="000000"/>
                </a:solidFill>
                <a:latin typeface="Calibri"/>
              </a:rPr>
              <a:t>No standard security model —</a:t>
            </a:r>
          </a:p>
        </p:txBody>
      </p:sp>
      <p:sp>
        <p:nvSpPr>
          <p:cNvPr id="16" name="TextBox 15"/>
          <p:cNvSpPr txBox="1"/>
          <p:nvPr/>
        </p:nvSpPr>
        <p:spPr>
          <a:xfrm>
            <a:off x="548640" y="4343400"/>
            <a:ext cx="4937760" cy="274320"/>
          </a:xfrm>
          <a:prstGeom prst="rect">
            <a:avLst/>
          </a:prstGeom>
          <a:noFill/>
        </p:spPr>
        <p:txBody>
          <a:bodyPr wrap="square">
            <a:spAutoFit/>
          </a:bodyPr>
          <a:lstStyle/>
          <a:p>
            <a:pPr algn="l"/>
            <a:r>
              <a:rPr sz="1200" b="0" i="0">
                <a:solidFill>
                  <a:srgbClr val="000000"/>
                </a:solidFill>
                <a:latin typeface="Calibri"/>
              </a:rPr>
              <a:t>  ad-hoc auth &amp; gaps</a:t>
            </a:r>
          </a:p>
        </p:txBody>
      </p:sp>
      <p:sp>
        <p:nvSpPr>
          <p:cNvPr id="17" name="TextBox 16"/>
          <p:cNvSpPr txBox="1"/>
          <p:nvPr/>
        </p:nvSpPr>
        <p:spPr>
          <a:xfrm>
            <a:off x="548640" y="4873752"/>
            <a:ext cx="4937760" cy="274320"/>
          </a:xfrm>
          <a:prstGeom prst="rect">
            <a:avLst/>
          </a:prstGeom>
          <a:noFill/>
        </p:spPr>
        <p:txBody>
          <a:bodyPr wrap="square">
            <a:spAutoFit/>
          </a:bodyPr>
          <a:lstStyle/>
          <a:p>
            <a:pPr algn="l"/>
            <a:r>
              <a:rPr sz="1200" b="0" i="0">
                <a:solidFill>
                  <a:srgbClr val="000000"/>
                </a:solidFill>
                <a:latin typeface="Calibri"/>
              </a:rPr>
              <a:t>Vendor &amp; framework lock-in</a:t>
            </a:r>
          </a:p>
        </p:txBody>
      </p:sp>
      <p:sp>
        <p:nvSpPr>
          <p:cNvPr id="18" name="TextBox 17"/>
          <p:cNvSpPr txBox="1"/>
          <p:nvPr/>
        </p:nvSpPr>
        <p:spPr>
          <a:xfrm>
            <a:off x="548640" y="5404104"/>
            <a:ext cx="4937760" cy="274320"/>
          </a:xfrm>
          <a:prstGeom prst="rect">
            <a:avLst/>
          </a:prstGeom>
          <a:noFill/>
        </p:spPr>
        <p:txBody>
          <a:bodyPr wrap="square">
            <a:spAutoFit/>
          </a:bodyPr>
          <a:lstStyle/>
          <a:p>
            <a:pPr algn="l"/>
            <a:r>
              <a:rPr sz="1200" b="0" i="0">
                <a:solidFill>
                  <a:srgbClr val="000000"/>
                </a:solidFill>
                <a:latin typeface="Calibri"/>
              </a:rPr>
              <a:t>Example: Trip planning requires</a:t>
            </a:r>
          </a:p>
        </p:txBody>
      </p:sp>
      <p:sp>
        <p:nvSpPr>
          <p:cNvPr id="19" name="TextBox 18"/>
          <p:cNvSpPr txBox="1"/>
          <p:nvPr/>
        </p:nvSpPr>
        <p:spPr>
          <a:xfrm>
            <a:off x="548640" y="5669280"/>
            <a:ext cx="4937760" cy="274320"/>
          </a:xfrm>
          <a:prstGeom prst="rect">
            <a:avLst/>
          </a:prstGeom>
          <a:noFill/>
        </p:spPr>
        <p:txBody>
          <a:bodyPr wrap="square">
            <a:spAutoFit/>
          </a:bodyPr>
          <a:lstStyle/>
          <a:p>
            <a:pPr algn="l"/>
            <a:r>
              <a:rPr sz="1200" b="0" i="0">
                <a:solidFill>
                  <a:srgbClr val="000000"/>
                </a:solidFill>
                <a:latin typeface="Calibri"/>
              </a:rPr>
              <a:t>  flight + hotel + currency + tour</a:t>
            </a:r>
          </a:p>
        </p:txBody>
      </p:sp>
      <p:sp>
        <p:nvSpPr>
          <p:cNvPr id="20" name="TextBox 19"/>
          <p:cNvSpPr txBox="1"/>
          <p:nvPr/>
        </p:nvSpPr>
        <p:spPr>
          <a:xfrm>
            <a:off x="548640" y="5934456"/>
            <a:ext cx="4937760" cy="274320"/>
          </a:xfrm>
          <a:prstGeom prst="rect">
            <a:avLst/>
          </a:prstGeom>
          <a:noFill/>
        </p:spPr>
        <p:txBody>
          <a:bodyPr wrap="square">
            <a:spAutoFit/>
          </a:bodyPr>
          <a:lstStyle/>
          <a:p>
            <a:pPr algn="l"/>
            <a:r>
              <a:rPr sz="1200" b="0" i="0">
                <a:solidFill>
                  <a:srgbClr val="000000"/>
                </a:solidFill>
                <a:latin typeface="Calibri"/>
              </a:rPr>
              <a:t>  agents — no shared protocol!</a:t>
            </a:r>
          </a:p>
        </p:txBody>
      </p:sp>
      <p:sp>
        <p:nvSpPr>
          <p:cNvPr id="21" name="Rectangle 20"/>
          <p:cNvSpPr/>
          <p:nvPr/>
        </p:nvSpPr>
        <p:spPr>
          <a:xfrm>
            <a:off x="6263640" y="1143000"/>
            <a:ext cx="5577840" cy="5303520"/>
          </a:xfrm>
          <a:prstGeom prst="rect">
            <a:avLst/>
          </a:prstGeom>
          <a:solidFill>
            <a:srgbClr val="E8F5E9"/>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1234440"/>
            <a:ext cx="5303520" cy="365760"/>
          </a:xfrm>
          <a:prstGeom prst="rect">
            <a:avLst/>
          </a:prstGeom>
          <a:noFill/>
        </p:spPr>
        <p:txBody>
          <a:bodyPr wrap="square">
            <a:spAutoFit/>
          </a:bodyPr>
          <a:lstStyle/>
          <a:p>
            <a:pPr algn="l"/>
            <a:r>
              <a:rPr sz="1600" b="1" i="0">
                <a:solidFill>
                  <a:srgbClr val="2E7D32"/>
                </a:solidFill>
                <a:latin typeface="Calibri"/>
              </a:rPr>
              <a:t>WITH A2A</a:t>
            </a:r>
          </a:p>
        </p:txBody>
      </p:sp>
      <p:sp>
        <p:nvSpPr>
          <p:cNvPr id="23" name="TextBox 22"/>
          <p:cNvSpPr txBox="1"/>
          <p:nvPr/>
        </p:nvSpPr>
        <p:spPr>
          <a:xfrm>
            <a:off x="6492240" y="1691640"/>
            <a:ext cx="5212080" cy="274320"/>
          </a:xfrm>
          <a:prstGeom prst="rect">
            <a:avLst/>
          </a:prstGeom>
          <a:noFill/>
        </p:spPr>
        <p:txBody>
          <a:bodyPr wrap="square">
            <a:spAutoFit/>
          </a:bodyPr>
          <a:lstStyle/>
          <a:p>
            <a:pPr algn="l"/>
            <a:r>
              <a:rPr sz="1200" b="0" i="0">
                <a:solidFill>
                  <a:srgbClr val="000000"/>
                </a:solidFill>
                <a:latin typeface="Calibri"/>
              </a:rPr>
              <a:t>Agents communicate natively via</a:t>
            </a:r>
          </a:p>
        </p:txBody>
      </p:sp>
      <p:sp>
        <p:nvSpPr>
          <p:cNvPr id="24" name="TextBox 23"/>
          <p:cNvSpPr txBox="1"/>
          <p:nvPr/>
        </p:nvSpPr>
        <p:spPr>
          <a:xfrm>
            <a:off x="6492240" y="1956816"/>
            <a:ext cx="5212080" cy="274320"/>
          </a:xfrm>
          <a:prstGeom prst="rect">
            <a:avLst/>
          </a:prstGeom>
          <a:noFill/>
        </p:spPr>
        <p:txBody>
          <a:bodyPr wrap="square">
            <a:spAutoFit/>
          </a:bodyPr>
          <a:lstStyle/>
          <a:p>
            <a:pPr algn="l"/>
            <a:r>
              <a:rPr sz="1200" b="0" i="0">
                <a:solidFill>
                  <a:srgbClr val="000000"/>
                </a:solidFill>
                <a:latin typeface="Calibri"/>
              </a:rPr>
              <a:t>  open standard protocol</a:t>
            </a:r>
          </a:p>
        </p:txBody>
      </p:sp>
      <p:sp>
        <p:nvSpPr>
          <p:cNvPr id="25" name="TextBox 24"/>
          <p:cNvSpPr txBox="1"/>
          <p:nvPr/>
        </p:nvSpPr>
        <p:spPr>
          <a:xfrm>
            <a:off x="6492240" y="2487168"/>
            <a:ext cx="5212080" cy="274320"/>
          </a:xfrm>
          <a:prstGeom prst="rect">
            <a:avLst/>
          </a:prstGeom>
          <a:noFill/>
        </p:spPr>
        <p:txBody>
          <a:bodyPr wrap="square">
            <a:spAutoFit/>
          </a:bodyPr>
          <a:lstStyle/>
          <a:p>
            <a:pPr algn="l"/>
            <a:r>
              <a:rPr sz="1200" b="0" i="0">
                <a:solidFill>
                  <a:srgbClr val="000000"/>
                </a:solidFill>
                <a:latin typeface="Calibri"/>
              </a:rPr>
              <a:t>Single integration surface —</a:t>
            </a:r>
          </a:p>
        </p:txBody>
      </p:sp>
      <p:sp>
        <p:nvSpPr>
          <p:cNvPr id="26" name="TextBox 25"/>
          <p:cNvSpPr txBox="1"/>
          <p:nvPr/>
        </p:nvSpPr>
        <p:spPr>
          <a:xfrm>
            <a:off x="6492240" y="2752344"/>
            <a:ext cx="5212080" cy="274320"/>
          </a:xfrm>
          <a:prstGeom prst="rect">
            <a:avLst/>
          </a:prstGeom>
          <a:noFill/>
        </p:spPr>
        <p:txBody>
          <a:bodyPr wrap="square">
            <a:spAutoFit/>
          </a:bodyPr>
          <a:lstStyle/>
          <a:p>
            <a:pPr algn="l"/>
            <a:r>
              <a:rPr sz="1200" b="0" i="0">
                <a:solidFill>
                  <a:srgbClr val="000000"/>
                </a:solidFill>
                <a:latin typeface="Calibri"/>
              </a:rPr>
              <a:t>  any A2A agent works with any other</a:t>
            </a:r>
          </a:p>
        </p:txBody>
      </p:sp>
      <p:sp>
        <p:nvSpPr>
          <p:cNvPr id="27" name="TextBox 26"/>
          <p:cNvSpPr txBox="1"/>
          <p:nvPr/>
        </p:nvSpPr>
        <p:spPr>
          <a:xfrm>
            <a:off x="6492240" y="3282696"/>
            <a:ext cx="5212080" cy="274320"/>
          </a:xfrm>
          <a:prstGeom prst="rect">
            <a:avLst/>
          </a:prstGeom>
          <a:noFill/>
        </p:spPr>
        <p:txBody>
          <a:bodyPr wrap="square">
            <a:spAutoFit/>
          </a:bodyPr>
          <a:lstStyle/>
          <a:p>
            <a:pPr algn="l"/>
            <a:r>
              <a:rPr sz="1200" b="0" i="0">
                <a:solidFill>
                  <a:srgbClr val="000000"/>
                </a:solidFill>
                <a:latin typeface="Calibri"/>
              </a:rPr>
              <a:t>Scales linearly as agent networks grow</a:t>
            </a:r>
          </a:p>
        </p:txBody>
      </p:sp>
      <p:sp>
        <p:nvSpPr>
          <p:cNvPr id="28" name="TextBox 27"/>
          <p:cNvSpPr txBox="1"/>
          <p:nvPr/>
        </p:nvSpPr>
        <p:spPr>
          <a:xfrm>
            <a:off x="6492240" y="3813048"/>
            <a:ext cx="5212080" cy="274320"/>
          </a:xfrm>
          <a:prstGeom prst="rect">
            <a:avLst/>
          </a:prstGeom>
          <a:noFill/>
        </p:spPr>
        <p:txBody>
          <a:bodyPr wrap="square">
            <a:spAutoFit/>
          </a:bodyPr>
          <a:lstStyle/>
          <a:p>
            <a:pPr algn="l"/>
            <a:r>
              <a:rPr sz="1200" b="0" i="0">
                <a:solidFill>
                  <a:srgbClr val="000000"/>
                </a:solidFill>
                <a:latin typeface="Calibri"/>
              </a:rPr>
              <a:t>Built-in enterprise security:</a:t>
            </a:r>
          </a:p>
        </p:txBody>
      </p:sp>
      <p:sp>
        <p:nvSpPr>
          <p:cNvPr id="29" name="TextBox 28"/>
          <p:cNvSpPr txBox="1"/>
          <p:nvPr/>
        </p:nvSpPr>
        <p:spPr>
          <a:xfrm>
            <a:off x="6492240" y="4078224"/>
            <a:ext cx="5212080" cy="274320"/>
          </a:xfrm>
          <a:prstGeom prst="rect">
            <a:avLst/>
          </a:prstGeom>
          <a:noFill/>
        </p:spPr>
        <p:txBody>
          <a:bodyPr wrap="square">
            <a:spAutoFit/>
          </a:bodyPr>
          <a:lstStyle/>
          <a:p>
            <a:pPr algn="l"/>
            <a:r>
              <a:rPr sz="1200" b="0" i="0">
                <a:solidFill>
                  <a:srgbClr val="000000"/>
                </a:solidFill>
                <a:latin typeface="Calibri"/>
              </a:rPr>
              <a:t>  OAuth 2.0, mTLS, OpenID Connect</a:t>
            </a:r>
          </a:p>
        </p:txBody>
      </p:sp>
      <p:sp>
        <p:nvSpPr>
          <p:cNvPr id="30" name="TextBox 29"/>
          <p:cNvSpPr txBox="1"/>
          <p:nvPr/>
        </p:nvSpPr>
        <p:spPr>
          <a:xfrm>
            <a:off x="6492240" y="4608576"/>
            <a:ext cx="5212080" cy="274320"/>
          </a:xfrm>
          <a:prstGeom prst="rect">
            <a:avLst/>
          </a:prstGeom>
          <a:noFill/>
        </p:spPr>
        <p:txBody>
          <a:bodyPr wrap="square">
            <a:spAutoFit/>
          </a:bodyPr>
          <a:lstStyle/>
          <a:p>
            <a:pPr algn="l"/>
            <a:r>
              <a:rPr sz="1200" b="0" i="0">
                <a:solidFill>
                  <a:srgbClr val="000000"/>
                </a:solidFill>
                <a:latin typeface="Calibri"/>
              </a:rPr>
              <a:t>Vendor &amp; framework agnostic</a:t>
            </a:r>
          </a:p>
        </p:txBody>
      </p:sp>
      <p:sp>
        <p:nvSpPr>
          <p:cNvPr id="31" name="TextBox 30"/>
          <p:cNvSpPr txBox="1"/>
          <p:nvPr/>
        </p:nvSpPr>
        <p:spPr>
          <a:xfrm>
            <a:off x="6492240" y="5138928"/>
            <a:ext cx="5212080" cy="274320"/>
          </a:xfrm>
          <a:prstGeom prst="rect">
            <a:avLst/>
          </a:prstGeom>
          <a:noFill/>
        </p:spPr>
        <p:txBody>
          <a:bodyPr wrap="square">
            <a:spAutoFit/>
          </a:bodyPr>
          <a:lstStyle/>
          <a:p>
            <a:pPr algn="l"/>
            <a:r>
              <a:rPr sz="1200" b="0" i="0">
                <a:solidFill>
                  <a:srgbClr val="000000"/>
                </a:solidFill>
                <a:latin typeface="Calibri"/>
              </a:rPr>
              <a:t>Trip planning: each specialist agent</a:t>
            </a:r>
          </a:p>
        </p:txBody>
      </p:sp>
      <p:sp>
        <p:nvSpPr>
          <p:cNvPr id="32" name="TextBox 31"/>
          <p:cNvSpPr txBox="1"/>
          <p:nvPr/>
        </p:nvSpPr>
        <p:spPr>
          <a:xfrm>
            <a:off x="6492240" y="5404104"/>
            <a:ext cx="5212080" cy="274320"/>
          </a:xfrm>
          <a:prstGeom prst="rect">
            <a:avLst/>
          </a:prstGeom>
          <a:noFill/>
        </p:spPr>
        <p:txBody>
          <a:bodyPr wrap="square">
            <a:spAutoFit/>
          </a:bodyPr>
          <a:lstStyle/>
          <a:p>
            <a:pPr algn="l"/>
            <a:r>
              <a:rPr sz="1200" b="0" i="0">
                <a:solidFill>
                  <a:srgbClr val="000000"/>
                </a:solidFill>
                <a:latin typeface="Calibri"/>
              </a:rPr>
              <a:t>  discovered, authenticated, and</a:t>
            </a:r>
          </a:p>
        </p:txBody>
      </p:sp>
      <p:sp>
        <p:nvSpPr>
          <p:cNvPr id="33" name="TextBox 32"/>
          <p:cNvSpPr txBox="1"/>
          <p:nvPr/>
        </p:nvSpPr>
        <p:spPr>
          <a:xfrm>
            <a:off x="6492240" y="5669280"/>
            <a:ext cx="5212080" cy="274320"/>
          </a:xfrm>
          <a:prstGeom prst="rect">
            <a:avLst/>
          </a:prstGeom>
          <a:noFill/>
        </p:spPr>
        <p:txBody>
          <a:bodyPr wrap="square">
            <a:spAutoFit/>
          </a:bodyPr>
          <a:lstStyle/>
          <a:p>
            <a:pPr algn="l"/>
            <a:r>
              <a:rPr sz="1200" b="0" i="0">
                <a:solidFill>
                  <a:srgbClr val="000000"/>
                </a:solidFill>
                <a:latin typeface="Calibri"/>
              </a:rPr>
              <a:t>  coordinated automatically via A2A</a:t>
            </a:r>
          </a:p>
        </p:txBody>
      </p:sp>
      <p:sp>
        <p:nvSpPr>
          <p:cNvPr id="34" name="Rectangle 33"/>
          <p:cNvSpPr/>
          <p:nvPr/>
        </p:nvSpPr>
        <p:spPr>
          <a:xfrm>
            <a:off x="5623560" y="3474720"/>
            <a:ext cx="594360" cy="3657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23560" y="3502152"/>
            <a:ext cx="594360" cy="320040"/>
          </a:xfrm>
          <a:prstGeom prst="rect">
            <a:avLst/>
          </a:prstGeom>
          <a:noFill/>
        </p:spPr>
        <p:txBody>
          <a:bodyPr wrap="square">
            <a:spAutoFit/>
          </a:bodyPr>
          <a:lstStyle/>
          <a:p>
            <a:pPr algn="ctr"/>
            <a:r>
              <a:rPr sz="2000" b="1" i="0">
                <a:solidFill>
                  <a:srgbClr val="FFFFFF"/>
                </a:solidFill>
                <a:latin typeface="Calibri"/>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What is A2A?</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Definition, origin, and purpose</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97280"/>
            <a:ext cx="11521440" cy="7772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88720"/>
            <a:ext cx="11155680" cy="594360"/>
          </a:xfrm>
          <a:prstGeom prst="rect">
            <a:avLst/>
          </a:prstGeom>
          <a:noFill/>
        </p:spPr>
        <p:txBody>
          <a:bodyPr wrap="square">
            <a:spAutoFit/>
          </a:bodyPr>
          <a:lstStyle/>
          <a:p>
            <a:pPr algn="ctr"/>
            <a:r>
              <a:rPr sz="1600" b="1" i="0">
                <a:solidFill>
                  <a:srgbClr val="FFB300"/>
                </a:solidFill>
                <a:latin typeface="Calibri"/>
              </a:rPr>
              <a:t>"A common language for AI agents — enabling seamless collaboration across frameworks, vendors, and clouds"</a:t>
            </a:r>
          </a:p>
        </p:txBody>
      </p:sp>
      <p:sp>
        <p:nvSpPr>
          <p:cNvPr id="9" name="Rectangle 8"/>
          <p:cNvSpPr/>
          <p:nvPr/>
        </p:nvSpPr>
        <p:spPr>
          <a:xfrm>
            <a:off x="320040" y="2011680"/>
            <a:ext cx="2788920" cy="42062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2121408"/>
            <a:ext cx="2569464" cy="411480"/>
          </a:xfrm>
          <a:prstGeom prst="rect">
            <a:avLst/>
          </a:prstGeom>
          <a:noFill/>
        </p:spPr>
        <p:txBody>
          <a:bodyPr wrap="square">
            <a:spAutoFit/>
          </a:bodyPr>
          <a:lstStyle/>
          <a:p>
            <a:pPr algn="l"/>
            <a:r>
              <a:rPr sz="1800" b="1" i="0">
                <a:solidFill>
                  <a:srgbClr val="FFB300"/>
                </a:solidFill>
                <a:latin typeface="Calibri"/>
              </a:rPr>
              <a:t>What</a:t>
            </a:r>
          </a:p>
        </p:txBody>
      </p:sp>
      <p:sp>
        <p:nvSpPr>
          <p:cNvPr id="11" name="TextBox 10"/>
          <p:cNvSpPr txBox="1"/>
          <p:nvPr/>
        </p:nvSpPr>
        <p:spPr>
          <a:xfrm>
            <a:off x="457200" y="2606040"/>
            <a:ext cx="2514600" cy="320040"/>
          </a:xfrm>
          <a:prstGeom prst="rect">
            <a:avLst/>
          </a:prstGeom>
          <a:noFill/>
        </p:spPr>
        <p:txBody>
          <a:bodyPr wrap="square">
            <a:spAutoFit/>
          </a:bodyPr>
          <a:lstStyle/>
          <a:p>
            <a:pPr algn="l"/>
            <a:r>
              <a:rPr sz="1250" b="0" i="0">
                <a:solidFill>
                  <a:srgbClr val="FFFFFF"/>
                </a:solidFill>
                <a:latin typeface="Calibri"/>
              </a:rPr>
              <a:t>Open protocol standard for</a:t>
            </a:r>
          </a:p>
        </p:txBody>
      </p:sp>
      <p:sp>
        <p:nvSpPr>
          <p:cNvPr id="12" name="TextBox 11"/>
          <p:cNvSpPr txBox="1"/>
          <p:nvPr/>
        </p:nvSpPr>
        <p:spPr>
          <a:xfrm>
            <a:off x="457200" y="2953512"/>
            <a:ext cx="2514600" cy="320040"/>
          </a:xfrm>
          <a:prstGeom prst="rect">
            <a:avLst/>
          </a:prstGeom>
          <a:noFill/>
        </p:spPr>
        <p:txBody>
          <a:bodyPr wrap="square">
            <a:spAutoFit/>
          </a:bodyPr>
          <a:lstStyle/>
          <a:p>
            <a:pPr algn="l"/>
            <a:r>
              <a:rPr sz="1250" b="0" i="0">
                <a:solidFill>
                  <a:srgbClr val="FFFFFF"/>
                </a:solidFill>
                <a:latin typeface="Calibri"/>
              </a:rPr>
              <a:t>AI agent-to-agent communication</a:t>
            </a:r>
          </a:p>
        </p:txBody>
      </p:sp>
      <p:sp>
        <p:nvSpPr>
          <p:cNvPr id="13" name="TextBox 12"/>
          <p:cNvSpPr txBox="1"/>
          <p:nvPr/>
        </p:nvSpPr>
        <p:spPr>
          <a:xfrm>
            <a:off x="457200" y="3300984"/>
            <a:ext cx="2514600" cy="320040"/>
          </a:xfrm>
          <a:prstGeom prst="rect">
            <a:avLst/>
          </a:prstGeom>
          <a:noFill/>
        </p:spPr>
        <p:txBody>
          <a:bodyPr wrap="square">
            <a:spAutoFit/>
          </a:bodyPr>
          <a:lstStyle/>
          <a:p>
            <a:pPr algn="l"/>
            <a:r>
              <a:rPr sz="1250" b="0" i="0">
                <a:solidFill>
                  <a:srgbClr val="FFFFFF"/>
                </a:solidFill>
                <a:latin typeface="Calibri"/>
              </a:rPr>
              <a:t/>
            </a:r>
          </a:p>
        </p:txBody>
      </p:sp>
      <p:sp>
        <p:nvSpPr>
          <p:cNvPr id="14" name="TextBox 13"/>
          <p:cNvSpPr txBox="1"/>
          <p:nvPr/>
        </p:nvSpPr>
        <p:spPr>
          <a:xfrm>
            <a:off x="457200" y="3648456"/>
            <a:ext cx="2514600" cy="320040"/>
          </a:xfrm>
          <a:prstGeom prst="rect">
            <a:avLst/>
          </a:prstGeom>
          <a:noFill/>
        </p:spPr>
        <p:txBody>
          <a:bodyPr wrap="square">
            <a:spAutoFit/>
          </a:bodyPr>
          <a:lstStyle/>
          <a:p>
            <a:pPr algn="l"/>
            <a:r>
              <a:rPr sz="1250" b="0" i="0">
                <a:solidFill>
                  <a:srgbClr val="FFFFFF"/>
                </a:solidFill>
                <a:latin typeface="Calibri"/>
              </a:rPr>
              <a:t>Defines how agents discover,</a:t>
            </a:r>
          </a:p>
        </p:txBody>
      </p:sp>
      <p:sp>
        <p:nvSpPr>
          <p:cNvPr id="15" name="TextBox 14"/>
          <p:cNvSpPr txBox="1"/>
          <p:nvPr/>
        </p:nvSpPr>
        <p:spPr>
          <a:xfrm>
            <a:off x="457200" y="3995928"/>
            <a:ext cx="2514600" cy="320040"/>
          </a:xfrm>
          <a:prstGeom prst="rect">
            <a:avLst/>
          </a:prstGeom>
          <a:noFill/>
        </p:spPr>
        <p:txBody>
          <a:bodyPr wrap="square">
            <a:spAutoFit/>
          </a:bodyPr>
          <a:lstStyle/>
          <a:p>
            <a:pPr algn="l"/>
            <a:r>
              <a:rPr sz="1250" b="0" i="0">
                <a:solidFill>
                  <a:srgbClr val="FFFFFF"/>
                </a:solidFill>
                <a:latin typeface="Calibri"/>
              </a:rPr>
              <a:t>authenticate, and exchange</a:t>
            </a:r>
          </a:p>
        </p:txBody>
      </p:sp>
      <p:sp>
        <p:nvSpPr>
          <p:cNvPr id="16" name="TextBox 15"/>
          <p:cNvSpPr txBox="1"/>
          <p:nvPr/>
        </p:nvSpPr>
        <p:spPr>
          <a:xfrm>
            <a:off x="457200" y="4343400"/>
            <a:ext cx="2514600" cy="320040"/>
          </a:xfrm>
          <a:prstGeom prst="rect">
            <a:avLst/>
          </a:prstGeom>
          <a:noFill/>
        </p:spPr>
        <p:txBody>
          <a:bodyPr wrap="square">
            <a:spAutoFit/>
          </a:bodyPr>
          <a:lstStyle/>
          <a:p>
            <a:pPr algn="l"/>
            <a:r>
              <a:rPr sz="1250" b="0" i="0">
                <a:solidFill>
                  <a:srgbClr val="FFFFFF"/>
                </a:solidFill>
                <a:latin typeface="Calibri"/>
              </a:rPr>
              <a:t>tasks and messages</a:t>
            </a:r>
          </a:p>
        </p:txBody>
      </p:sp>
      <p:sp>
        <p:nvSpPr>
          <p:cNvPr id="17" name="Rectangle 16"/>
          <p:cNvSpPr/>
          <p:nvPr/>
        </p:nvSpPr>
        <p:spPr>
          <a:xfrm>
            <a:off x="3218688" y="2011680"/>
            <a:ext cx="2788920" cy="420624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28416" y="2121408"/>
            <a:ext cx="2569464" cy="411480"/>
          </a:xfrm>
          <a:prstGeom prst="rect">
            <a:avLst/>
          </a:prstGeom>
          <a:noFill/>
        </p:spPr>
        <p:txBody>
          <a:bodyPr wrap="square">
            <a:spAutoFit/>
          </a:bodyPr>
          <a:lstStyle/>
          <a:p>
            <a:pPr algn="l"/>
            <a:r>
              <a:rPr sz="1800" b="1" i="0">
                <a:solidFill>
                  <a:srgbClr val="FFFFFF"/>
                </a:solidFill>
                <a:latin typeface="Calibri"/>
              </a:rPr>
              <a:t>Origin</a:t>
            </a:r>
          </a:p>
        </p:txBody>
      </p:sp>
      <p:sp>
        <p:nvSpPr>
          <p:cNvPr id="19" name="TextBox 18"/>
          <p:cNvSpPr txBox="1"/>
          <p:nvPr/>
        </p:nvSpPr>
        <p:spPr>
          <a:xfrm>
            <a:off x="3355848" y="2606040"/>
            <a:ext cx="2514600" cy="320040"/>
          </a:xfrm>
          <a:prstGeom prst="rect">
            <a:avLst/>
          </a:prstGeom>
          <a:noFill/>
        </p:spPr>
        <p:txBody>
          <a:bodyPr wrap="square">
            <a:spAutoFit/>
          </a:bodyPr>
          <a:lstStyle/>
          <a:p>
            <a:pPr algn="l"/>
            <a:r>
              <a:rPr sz="1250" b="0" i="0">
                <a:solidFill>
                  <a:srgbClr val="FFFFFF"/>
                </a:solidFill>
                <a:latin typeface="Calibri"/>
              </a:rPr>
              <a:t>Created by Google</a:t>
            </a:r>
          </a:p>
        </p:txBody>
      </p:sp>
      <p:sp>
        <p:nvSpPr>
          <p:cNvPr id="20" name="TextBox 19"/>
          <p:cNvSpPr txBox="1"/>
          <p:nvPr/>
        </p:nvSpPr>
        <p:spPr>
          <a:xfrm>
            <a:off x="3355848" y="2953512"/>
            <a:ext cx="2514600" cy="320040"/>
          </a:xfrm>
          <a:prstGeom prst="rect">
            <a:avLst/>
          </a:prstGeom>
          <a:noFill/>
        </p:spPr>
        <p:txBody>
          <a:bodyPr wrap="square">
            <a:spAutoFit/>
          </a:bodyPr>
          <a:lstStyle/>
          <a:p>
            <a:pPr algn="l"/>
            <a:r>
              <a:rPr sz="1250" b="0" i="0">
                <a:solidFill>
                  <a:srgbClr val="FFFFFF"/>
                </a:solidFill>
                <a:latin typeface="Calibri"/>
              </a:rPr>
              <a:t>Now governed by the</a:t>
            </a:r>
          </a:p>
        </p:txBody>
      </p:sp>
      <p:sp>
        <p:nvSpPr>
          <p:cNvPr id="21" name="TextBox 20"/>
          <p:cNvSpPr txBox="1"/>
          <p:nvPr/>
        </p:nvSpPr>
        <p:spPr>
          <a:xfrm>
            <a:off x="3355848" y="3300984"/>
            <a:ext cx="2514600" cy="320040"/>
          </a:xfrm>
          <a:prstGeom prst="rect">
            <a:avLst/>
          </a:prstGeom>
          <a:noFill/>
        </p:spPr>
        <p:txBody>
          <a:bodyPr wrap="square">
            <a:spAutoFit/>
          </a:bodyPr>
          <a:lstStyle/>
          <a:p>
            <a:pPr algn="l"/>
            <a:r>
              <a:rPr sz="1250" b="0" i="0">
                <a:solidFill>
                  <a:srgbClr val="FFFFFF"/>
                </a:solidFill>
                <a:latin typeface="Calibri"/>
              </a:rPr>
              <a:t>Linux Foundation</a:t>
            </a:r>
          </a:p>
        </p:txBody>
      </p:sp>
      <p:sp>
        <p:nvSpPr>
          <p:cNvPr id="22" name="TextBox 21"/>
          <p:cNvSpPr txBox="1"/>
          <p:nvPr/>
        </p:nvSpPr>
        <p:spPr>
          <a:xfrm>
            <a:off x="3355848" y="3648456"/>
            <a:ext cx="2514600" cy="320040"/>
          </a:xfrm>
          <a:prstGeom prst="rect">
            <a:avLst/>
          </a:prstGeom>
          <a:noFill/>
        </p:spPr>
        <p:txBody>
          <a:bodyPr wrap="square">
            <a:spAutoFit/>
          </a:bodyPr>
          <a:lstStyle/>
          <a:p>
            <a:pPr algn="l"/>
            <a:r>
              <a:rPr sz="1250" b="0" i="0">
                <a:solidFill>
                  <a:srgbClr val="FFFFFF"/>
                </a:solidFill>
                <a:latin typeface="Calibri"/>
              </a:rPr>
              <a:t/>
            </a:r>
          </a:p>
        </p:txBody>
      </p:sp>
      <p:sp>
        <p:nvSpPr>
          <p:cNvPr id="23" name="TextBox 22"/>
          <p:cNvSpPr txBox="1"/>
          <p:nvPr/>
        </p:nvSpPr>
        <p:spPr>
          <a:xfrm>
            <a:off x="3355848" y="3995928"/>
            <a:ext cx="2514600" cy="320040"/>
          </a:xfrm>
          <a:prstGeom prst="rect">
            <a:avLst/>
          </a:prstGeom>
          <a:noFill/>
        </p:spPr>
        <p:txBody>
          <a:bodyPr wrap="square">
            <a:spAutoFit/>
          </a:bodyPr>
          <a:lstStyle/>
          <a:p>
            <a:pPr algn="l"/>
            <a:r>
              <a:rPr sz="1250" b="0" i="0">
                <a:solidFill>
                  <a:srgbClr val="FFFFFF"/>
                </a:solidFill>
                <a:latin typeface="Calibri"/>
              </a:rPr>
              <a:t>Open governance ensures</a:t>
            </a:r>
          </a:p>
        </p:txBody>
      </p:sp>
      <p:sp>
        <p:nvSpPr>
          <p:cNvPr id="24" name="TextBox 23"/>
          <p:cNvSpPr txBox="1"/>
          <p:nvPr/>
        </p:nvSpPr>
        <p:spPr>
          <a:xfrm>
            <a:off x="3355848" y="4343400"/>
            <a:ext cx="2514600" cy="320040"/>
          </a:xfrm>
          <a:prstGeom prst="rect">
            <a:avLst/>
          </a:prstGeom>
          <a:noFill/>
        </p:spPr>
        <p:txBody>
          <a:bodyPr wrap="square">
            <a:spAutoFit/>
          </a:bodyPr>
          <a:lstStyle/>
          <a:p>
            <a:pPr algn="l"/>
            <a:r>
              <a:rPr sz="1250" b="0" i="0">
                <a:solidFill>
                  <a:srgbClr val="FFFFFF"/>
                </a:solidFill>
                <a:latin typeface="Calibri"/>
              </a:rPr>
              <a:t>vendor-neutral evolution</a:t>
            </a:r>
          </a:p>
        </p:txBody>
      </p:sp>
      <p:sp>
        <p:nvSpPr>
          <p:cNvPr id="25" name="Rectangle 24"/>
          <p:cNvSpPr/>
          <p:nvPr/>
        </p:nvSpPr>
        <p:spPr>
          <a:xfrm>
            <a:off x="6117336" y="2011680"/>
            <a:ext cx="2788920" cy="42062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27064" y="2121408"/>
            <a:ext cx="2569464" cy="411480"/>
          </a:xfrm>
          <a:prstGeom prst="rect">
            <a:avLst/>
          </a:prstGeom>
          <a:noFill/>
        </p:spPr>
        <p:txBody>
          <a:bodyPr wrap="square">
            <a:spAutoFit/>
          </a:bodyPr>
          <a:lstStyle/>
          <a:p>
            <a:pPr algn="l"/>
            <a:r>
              <a:rPr sz="1800" b="1" i="0">
                <a:solidFill>
                  <a:srgbClr val="FFFFFF"/>
                </a:solidFill>
                <a:latin typeface="Calibri"/>
              </a:rPr>
              <a:t>Purpose</a:t>
            </a:r>
          </a:p>
        </p:txBody>
      </p:sp>
      <p:sp>
        <p:nvSpPr>
          <p:cNvPr id="27" name="TextBox 26"/>
          <p:cNvSpPr txBox="1"/>
          <p:nvPr/>
        </p:nvSpPr>
        <p:spPr>
          <a:xfrm>
            <a:off x="6254496" y="2606040"/>
            <a:ext cx="2514600" cy="320040"/>
          </a:xfrm>
          <a:prstGeom prst="rect">
            <a:avLst/>
          </a:prstGeom>
          <a:noFill/>
        </p:spPr>
        <p:txBody>
          <a:bodyPr wrap="square">
            <a:spAutoFit/>
          </a:bodyPr>
          <a:lstStyle/>
          <a:p>
            <a:pPr algn="l"/>
            <a:r>
              <a:rPr sz="1250" b="0" i="0">
                <a:solidFill>
                  <a:srgbClr val="FFFFFF"/>
                </a:solidFill>
                <a:latin typeface="Calibri"/>
              </a:rPr>
              <a:t>Enable interoperability across</a:t>
            </a:r>
          </a:p>
        </p:txBody>
      </p:sp>
      <p:sp>
        <p:nvSpPr>
          <p:cNvPr id="28" name="TextBox 27"/>
          <p:cNvSpPr txBox="1"/>
          <p:nvPr/>
        </p:nvSpPr>
        <p:spPr>
          <a:xfrm>
            <a:off x="6254496" y="2953512"/>
            <a:ext cx="2514600" cy="320040"/>
          </a:xfrm>
          <a:prstGeom prst="rect">
            <a:avLst/>
          </a:prstGeom>
          <a:noFill/>
        </p:spPr>
        <p:txBody>
          <a:bodyPr wrap="square">
            <a:spAutoFit/>
          </a:bodyPr>
          <a:lstStyle/>
          <a:p>
            <a:pPr algn="l"/>
            <a:r>
              <a:rPr sz="1250" b="0" i="0">
                <a:solidFill>
                  <a:srgbClr val="FFFFFF"/>
                </a:solidFill>
                <a:latin typeface="Calibri"/>
              </a:rPr>
              <a:t>diverse agent frameworks</a:t>
            </a:r>
          </a:p>
        </p:txBody>
      </p:sp>
      <p:sp>
        <p:nvSpPr>
          <p:cNvPr id="29" name="TextBox 28"/>
          <p:cNvSpPr txBox="1"/>
          <p:nvPr/>
        </p:nvSpPr>
        <p:spPr>
          <a:xfrm>
            <a:off x="6254496" y="3300984"/>
            <a:ext cx="2514600" cy="320040"/>
          </a:xfrm>
          <a:prstGeom prst="rect">
            <a:avLst/>
          </a:prstGeom>
          <a:noFill/>
        </p:spPr>
        <p:txBody>
          <a:bodyPr wrap="square">
            <a:spAutoFit/>
          </a:bodyPr>
          <a:lstStyle/>
          <a:p>
            <a:pPr algn="l"/>
            <a:r>
              <a:rPr sz="1250" b="0" i="0">
                <a:solidFill>
                  <a:srgbClr val="FFFFFF"/>
                </a:solidFill>
                <a:latin typeface="Calibri"/>
              </a:rPr>
              <a:t/>
            </a:r>
          </a:p>
        </p:txBody>
      </p:sp>
      <p:sp>
        <p:nvSpPr>
          <p:cNvPr id="30" name="TextBox 29"/>
          <p:cNvSpPr txBox="1"/>
          <p:nvPr/>
        </p:nvSpPr>
        <p:spPr>
          <a:xfrm>
            <a:off x="6254496" y="3648456"/>
            <a:ext cx="2514600" cy="320040"/>
          </a:xfrm>
          <a:prstGeom prst="rect">
            <a:avLst/>
          </a:prstGeom>
          <a:noFill/>
        </p:spPr>
        <p:txBody>
          <a:bodyPr wrap="square">
            <a:spAutoFit/>
          </a:bodyPr>
          <a:lstStyle/>
          <a:p>
            <a:pPr algn="l"/>
            <a:r>
              <a:rPr sz="1250" b="0" i="0">
                <a:solidFill>
                  <a:srgbClr val="FFFFFF"/>
                </a:solidFill>
                <a:latin typeface="Calibri"/>
              </a:rPr>
              <a:t>Break down silos between</a:t>
            </a:r>
          </a:p>
        </p:txBody>
      </p:sp>
      <p:sp>
        <p:nvSpPr>
          <p:cNvPr id="31" name="TextBox 30"/>
          <p:cNvSpPr txBox="1"/>
          <p:nvPr/>
        </p:nvSpPr>
        <p:spPr>
          <a:xfrm>
            <a:off x="6254496" y="3995928"/>
            <a:ext cx="2514600" cy="320040"/>
          </a:xfrm>
          <a:prstGeom prst="rect">
            <a:avLst/>
          </a:prstGeom>
          <a:noFill/>
        </p:spPr>
        <p:txBody>
          <a:bodyPr wrap="square">
            <a:spAutoFit/>
          </a:bodyPr>
          <a:lstStyle/>
          <a:p>
            <a:pPr algn="l"/>
            <a:r>
              <a:rPr sz="1250" b="0" i="0">
                <a:solidFill>
                  <a:srgbClr val="FFFFFF"/>
                </a:solidFill>
                <a:latin typeface="Calibri"/>
              </a:rPr>
              <a:t>vendor ecosystems</a:t>
            </a:r>
          </a:p>
        </p:txBody>
      </p:sp>
      <p:sp>
        <p:nvSpPr>
          <p:cNvPr id="32" name="TextBox 31"/>
          <p:cNvSpPr txBox="1"/>
          <p:nvPr/>
        </p:nvSpPr>
        <p:spPr>
          <a:xfrm>
            <a:off x="6254496" y="4343400"/>
            <a:ext cx="2514600" cy="320040"/>
          </a:xfrm>
          <a:prstGeom prst="rect">
            <a:avLst/>
          </a:prstGeom>
          <a:noFill/>
        </p:spPr>
        <p:txBody>
          <a:bodyPr wrap="square">
            <a:spAutoFit/>
          </a:bodyPr>
          <a:lstStyle/>
          <a:p>
            <a:pPr algn="l"/>
            <a:r>
              <a:rPr sz="1250" b="0" i="0">
                <a:solidFill>
                  <a:srgbClr val="FFFFFF"/>
                </a:solidFill>
                <a:latin typeface="Calibri"/>
              </a:rPr>
              <a:t>and platforms</a:t>
            </a:r>
          </a:p>
        </p:txBody>
      </p:sp>
      <p:sp>
        <p:nvSpPr>
          <p:cNvPr id="33" name="Rectangle 32"/>
          <p:cNvSpPr/>
          <p:nvPr/>
        </p:nvSpPr>
        <p:spPr>
          <a:xfrm>
            <a:off x="9015984" y="2011680"/>
            <a:ext cx="2788920" cy="420624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25712" y="2121408"/>
            <a:ext cx="2569464" cy="411480"/>
          </a:xfrm>
          <a:prstGeom prst="rect">
            <a:avLst/>
          </a:prstGeom>
          <a:noFill/>
        </p:spPr>
        <p:txBody>
          <a:bodyPr wrap="square">
            <a:spAutoFit/>
          </a:bodyPr>
          <a:lstStyle/>
          <a:p>
            <a:pPr algn="l"/>
            <a:r>
              <a:rPr sz="1800" b="1" i="0">
                <a:solidFill>
                  <a:srgbClr val="FFFFFF"/>
                </a:solidFill>
                <a:latin typeface="Calibri"/>
              </a:rPr>
              <a:t>Scope</a:t>
            </a:r>
          </a:p>
        </p:txBody>
      </p:sp>
      <p:sp>
        <p:nvSpPr>
          <p:cNvPr id="35" name="TextBox 34"/>
          <p:cNvSpPr txBox="1"/>
          <p:nvPr/>
        </p:nvSpPr>
        <p:spPr>
          <a:xfrm>
            <a:off x="9153144" y="2606040"/>
            <a:ext cx="2514600" cy="320040"/>
          </a:xfrm>
          <a:prstGeom prst="rect">
            <a:avLst/>
          </a:prstGeom>
          <a:noFill/>
        </p:spPr>
        <p:txBody>
          <a:bodyPr wrap="square">
            <a:spAutoFit/>
          </a:bodyPr>
          <a:lstStyle/>
          <a:p>
            <a:pPr algn="l"/>
            <a:r>
              <a:rPr sz="1250" b="0" i="0">
                <a:solidFill>
                  <a:srgbClr val="FFFFFF"/>
                </a:solidFill>
                <a:latin typeface="Calibri"/>
              </a:rPr>
              <a:t>Agent-to-agent (not tool-to-agent)</a:t>
            </a:r>
          </a:p>
        </p:txBody>
      </p:sp>
      <p:sp>
        <p:nvSpPr>
          <p:cNvPr id="36" name="TextBox 35"/>
          <p:cNvSpPr txBox="1"/>
          <p:nvPr/>
        </p:nvSpPr>
        <p:spPr>
          <a:xfrm>
            <a:off x="9153144" y="2953512"/>
            <a:ext cx="2514600" cy="320040"/>
          </a:xfrm>
          <a:prstGeom prst="rect">
            <a:avLst/>
          </a:prstGeom>
          <a:noFill/>
        </p:spPr>
        <p:txBody>
          <a:bodyPr wrap="square">
            <a:spAutoFit/>
          </a:bodyPr>
          <a:lstStyle/>
          <a:p>
            <a:pPr algn="l"/>
            <a:r>
              <a:rPr sz="1250" b="0" i="0">
                <a:solidFill>
                  <a:srgbClr val="FFFFFF"/>
                </a:solidFill>
                <a:latin typeface="Calibri"/>
              </a:rPr>
              <a:t/>
            </a:r>
          </a:p>
        </p:txBody>
      </p:sp>
      <p:sp>
        <p:nvSpPr>
          <p:cNvPr id="37" name="TextBox 36"/>
          <p:cNvSpPr txBox="1"/>
          <p:nvPr/>
        </p:nvSpPr>
        <p:spPr>
          <a:xfrm>
            <a:off x="9153144" y="3300984"/>
            <a:ext cx="2514600" cy="320040"/>
          </a:xfrm>
          <a:prstGeom prst="rect">
            <a:avLst/>
          </a:prstGeom>
          <a:noFill/>
        </p:spPr>
        <p:txBody>
          <a:bodyPr wrap="square">
            <a:spAutoFit/>
          </a:bodyPr>
          <a:lstStyle/>
          <a:p>
            <a:pPr algn="l"/>
            <a:r>
              <a:rPr sz="1250" b="0" i="0">
                <a:solidFill>
                  <a:srgbClr val="FFFFFF"/>
                </a:solidFill>
                <a:latin typeface="Calibri"/>
              </a:rPr>
              <a:t>Complements MCP:</a:t>
            </a:r>
          </a:p>
        </p:txBody>
      </p:sp>
      <p:sp>
        <p:nvSpPr>
          <p:cNvPr id="38" name="TextBox 37"/>
          <p:cNvSpPr txBox="1"/>
          <p:nvPr/>
        </p:nvSpPr>
        <p:spPr>
          <a:xfrm>
            <a:off x="9153144" y="3648456"/>
            <a:ext cx="2514600" cy="320040"/>
          </a:xfrm>
          <a:prstGeom prst="rect">
            <a:avLst/>
          </a:prstGeom>
          <a:noFill/>
        </p:spPr>
        <p:txBody>
          <a:bodyPr wrap="square">
            <a:spAutoFit/>
          </a:bodyPr>
          <a:lstStyle/>
          <a:p>
            <a:pPr algn="l"/>
            <a:r>
              <a:rPr sz="1250" b="0" i="0">
                <a:solidFill>
                  <a:srgbClr val="FFFFFF"/>
                </a:solidFill>
                <a:latin typeface="Calibri"/>
              </a:rPr>
              <a:t>MCP = agent → tool</a:t>
            </a:r>
          </a:p>
        </p:txBody>
      </p:sp>
      <p:sp>
        <p:nvSpPr>
          <p:cNvPr id="39" name="TextBox 38"/>
          <p:cNvSpPr txBox="1"/>
          <p:nvPr/>
        </p:nvSpPr>
        <p:spPr>
          <a:xfrm>
            <a:off x="9153144" y="3995928"/>
            <a:ext cx="2514600" cy="320040"/>
          </a:xfrm>
          <a:prstGeom prst="rect">
            <a:avLst/>
          </a:prstGeom>
          <a:noFill/>
        </p:spPr>
        <p:txBody>
          <a:bodyPr wrap="square">
            <a:spAutoFit/>
          </a:bodyPr>
          <a:lstStyle/>
          <a:p>
            <a:pPr algn="l"/>
            <a:r>
              <a:rPr sz="1250" b="0" i="0">
                <a:solidFill>
                  <a:srgbClr val="FFFFFF"/>
                </a:solidFill>
                <a:latin typeface="Calibri"/>
              </a:rPr>
              <a:t>A2A = agent → agent</a:t>
            </a:r>
          </a:p>
        </p:txBody>
      </p:sp>
      <p:sp>
        <p:nvSpPr>
          <p:cNvPr id="40" name="TextBox 39"/>
          <p:cNvSpPr txBox="1"/>
          <p:nvPr/>
        </p:nvSpPr>
        <p:spPr>
          <a:xfrm>
            <a:off x="9153144" y="4343400"/>
            <a:ext cx="2514600" cy="320040"/>
          </a:xfrm>
          <a:prstGeom prst="rect">
            <a:avLst/>
          </a:prstGeom>
          <a:noFill/>
        </p:spPr>
        <p:txBody>
          <a:bodyPr wrap="square">
            <a:spAutoFit/>
          </a:bodyPr>
          <a:lstStyle/>
          <a:p>
            <a:pPr algn="l"/>
            <a:r>
              <a:rPr sz="1250" b="0" i="0">
                <a:solidFill>
                  <a:srgbClr val="FFFFFF"/>
                </a:solidFill>
                <a:latin typeface="Calibri"/>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A2A in the AI Stack</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Where A2A fits alongside MCP and ADK</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5029200"/>
            <a:ext cx="10332720" cy="1188720"/>
          </a:xfrm>
          <a:prstGeom prst="rect">
            <a:avLst/>
          </a:prstGeom>
          <a:solidFill>
            <a:srgbClr val="4A14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5138928"/>
            <a:ext cx="9966960" cy="411480"/>
          </a:xfrm>
          <a:prstGeom prst="rect">
            <a:avLst/>
          </a:prstGeom>
          <a:noFill/>
        </p:spPr>
        <p:txBody>
          <a:bodyPr wrap="square">
            <a:spAutoFit/>
          </a:bodyPr>
          <a:lstStyle/>
          <a:p>
            <a:pPr algn="l"/>
            <a:r>
              <a:rPr sz="1500" b="1" i="0">
                <a:solidFill>
                  <a:srgbClr val="FFFFFF"/>
                </a:solidFill>
                <a:latin typeface="Calibri"/>
              </a:rPr>
              <a:t>LAYER 3 — Agent Framework</a:t>
            </a:r>
          </a:p>
        </p:txBody>
      </p:sp>
      <p:sp>
        <p:nvSpPr>
          <p:cNvPr id="9" name="TextBox 8"/>
          <p:cNvSpPr txBox="1"/>
          <p:nvPr/>
        </p:nvSpPr>
        <p:spPr>
          <a:xfrm>
            <a:off x="1097280" y="5577840"/>
            <a:ext cx="9966960" cy="502920"/>
          </a:xfrm>
          <a:prstGeom prst="rect">
            <a:avLst/>
          </a:prstGeom>
          <a:noFill/>
        </p:spPr>
        <p:txBody>
          <a:bodyPr wrap="square">
            <a:spAutoFit/>
          </a:bodyPr>
          <a:lstStyle/>
          <a:p>
            <a:pPr algn="l"/>
            <a:r>
              <a:rPr sz="1250" b="0" i="0">
                <a:solidFill>
                  <a:srgbClr val="FFFFFF"/>
                </a:solidFill>
                <a:latin typeface="Calibri"/>
              </a:rPr>
              <a:t>ADK · LangChain · CrewAI · Semantic Kernel · AutoGen · Custom</a:t>
            </a:r>
          </a:p>
        </p:txBody>
      </p:sp>
      <p:sp>
        <p:nvSpPr>
          <p:cNvPr id="10" name="Rectangle 9"/>
          <p:cNvSpPr/>
          <p:nvPr/>
        </p:nvSpPr>
        <p:spPr>
          <a:xfrm>
            <a:off x="914400" y="3703320"/>
            <a:ext cx="10332720" cy="11887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13048"/>
            <a:ext cx="9966960" cy="411480"/>
          </a:xfrm>
          <a:prstGeom prst="rect">
            <a:avLst/>
          </a:prstGeom>
          <a:noFill/>
        </p:spPr>
        <p:txBody>
          <a:bodyPr wrap="square">
            <a:spAutoFit/>
          </a:bodyPr>
          <a:lstStyle/>
          <a:p>
            <a:pPr algn="l"/>
            <a:r>
              <a:rPr sz="1500" b="1" i="0">
                <a:solidFill>
                  <a:srgbClr val="FFB300"/>
                </a:solidFill>
                <a:latin typeface="Calibri"/>
              </a:rPr>
              <a:t>LAYER 2 — Agent ↔ Agent Communication  →  A2A Protocol</a:t>
            </a:r>
          </a:p>
        </p:txBody>
      </p:sp>
      <p:sp>
        <p:nvSpPr>
          <p:cNvPr id="12" name="TextBox 11"/>
          <p:cNvSpPr txBox="1"/>
          <p:nvPr/>
        </p:nvSpPr>
        <p:spPr>
          <a:xfrm>
            <a:off x="1097280" y="4251960"/>
            <a:ext cx="9966960" cy="502920"/>
          </a:xfrm>
          <a:prstGeom prst="rect">
            <a:avLst/>
          </a:prstGeom>
          <a:noFill/>
        </p:spPr>
        <p:txBody>
          <a:bodyPr wrap="square">
            <a:spAutoFit/>
          </a:bodyPr>
          <a:lstStyle/>
          <a:p>
            <a:pPr algn="l"/>
            <a:r>
              <a:rPr sz="1250" b="0" i="0">
                <a:solidFill>
                  <a:srgbClr val="FFB300"/>
                </a:solidFill>
                <a:latin typeface="Calibri"/>
              </a:rPr>
              <a:t>Enables multi-turn reasoning · negotiation · task delegation across agents</a:t>
            </a:r>
          </a:p>
        </p:txBody>
      </p:sp>
      <p:sp>
        <p:nvSpPr>
          <p:cNvPr id="13" name="Rectangle 12"/>
          <p:cNvSpPr/>
          <p:nvPr/>
        </p:nvSpPr>
        <p:spPr>
          <a:xfrm>
            <a:off x="914400" y="2377440"/>
            <a:ext cx="10332720" cy="118872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2487168"/>
            <a:ext cx="9966960" cy="411480"/>
          </a:xfrm>
          <a:prstGeom prst="rect">
            <a:avLst/>
          </a:prstGeom>
          <a:noFill/>
        </p:spPr>
        <p:txBody>
          <a:bodyPr wrap="square">
            <a:spAutoFit/>
          </a:bodyPr>
          <a:lstStyle/>
          <a:p>
            <a:pPr algn="l"/>
            <a:r>
              <a:rPr sz="1500" b="1" i="0">
                <a:solidFill>
                  <a:srgbClr val="FFFFFF"/>
                </a:solidFill>
                <a:latin typeface="Calibri"/>
              </a:rPr>
              <a:t>LAYER 1 — Tools &amp; Data  →  MCP (Model Context Protocol)</a:t>
            </a:r>
          </a:p>
        </p:txBody>
      </p:sp>
      <p:sp>
        <p:nvSpPr>
          <p:cNvPr id="15" name="TextBox 14"/>
          <p:cNvSpPr txBox="1"/>
          <p:nvPr/>
        </p:nvSpPr>
        <p:spPr>
          <a:xfrm>
            <a:off x="1097280" y="2926080"/>
            <a:ext cx="9966960" cy="502920"/>
          </a:xfrm>
          <a:prstGeom prst="rect">
            <a:avLst/>
          </a:prstGeom>
          <a:noFill/>
        </p:spPr>
        <p:txBody>
          <a:bodyPr wrap="square">
            <a:spAutoFit/>
          </a:bodyPr>
          <a:lstStyle/>
          <a:p>
            <a:pPr algn="l"/>
            <a:r>
              <a:rPr sz="1250" b="0" i="0">
                <a:solidFill>
                  <a:srgbClr val="FFFFFF"/>
                </a:solidFill>
                <a:latin typeface="Calibri"/>
              </a:rPr>
              <a:t>Connects models to databases, APIs, file systems, external tools</a:t>
            </a:r>
          </a:p>
        </p:txBody>
      </p:sp>
      <p:sp>
        <p:nvSpPr>
          <p:cNvPr id="16" name="Rectangle 15"/>
          <p:cNvSpPr/>
          <p:nvPr/>
        </p:nvSpPr>
        <p:spPr>
          <a:xfrm>
            <a:off x="5852160" y="3566160"/>
            <a:ext cx="457200" cy="20116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06440" y="3547872"/>
            <a:ext cx="548640" cy="228600"/>
          </a:xfrm>
          <a:prstGeom prst="rect">
            <a:avLst/>
          </a:prstGeom>
          <a:noFill/>
        </p:spPr>
        <p:txBody>
          <a:bodyPr wrap="square">
            <a:spAutoFit/>
          </a:bodyPr>
          <a:lstStyle/>
          <a:p>
            <a:pPr algn="ctr"/>
            <a:r>
              <a:rPr sz="1400" b="1" i="0">
                <a:solidFill>
                  <a:srgbClr val="003087"/>
                </a:solidFill>
                <a:latin typeface="Calibri"/>
              </a:rPr>
              <a:t>▲</a:t>
            </a:r>
          </a:p>
        </p:txBody>
      </p:sp>
      <p:sp>
        <p:nvSpPr>
          <p:cNvPr id="18" name="Rectangle 17"/>
          <p:cNvSpPr/>
          <p:nvPr/>
        </p:nvSpPr>
        <p:spPr>
          <a:xfrm>
            <a:off x="5852160" y="4910328"/>
            <a:ext cx="457200" cy="20116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06440" y="4892040"/>
            <a:ext cx="548640" cy="228600"/>
          </a:xfrm>
          <a:prstGeom prst="rect">
            <a:avLst/>
          </a:prstGeom>
          <a:noFill/>
        </p:spPr>
        <p:txBody>
          <a:bodyPr wrap="square">
            <a:spAutoFit/>
          </a:bodyPr>
          <a:lstStyle/>
          <a:p>
            <a:pPr algn="ctr"/>
            <a:r>
              <a:rPr sz="1400" b="1" i="0">
                <a:solidFill>
                  <a:srgbClr val="003087"/>
                </a:solidFill>
                <a:latin typeface="Calibri"/>
              </a:rPr>
              <a:t>▲</a:t>
            </a:r>
          </a:p>
        </p:txBody>
      </p:sp>
      <p:sp>
        <p:nvSpPr>
          <p:cNvPr id="20" name="Rectangle 19"/>
          <p:cNvSpPr/>
          <p:nvPr/>
        </p:nvSpPr>
        <p:spPr>
          <a:xfrm>
            <a:off x="914400" y="1051560"/>
            <a:ext cx="10332720" cy="1188720"/>
          </a:xfrm>
          <a:prstGeom prst="rect">
            <a:avLst/>
          </a:prstGeom>
          <a:solidFill>
            <a:srgbClr val="FFFFFF"/>
          </a:solidFill>
          <a:ln w="127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1097280"/>
            <a:ext cx="3474720" cy="320040"/>
          </a:xfrm>
          <a:prstGeom prst="rect">
            <a:avLst/>
          </a:prstGeom>
          <a:noFill/>
        </p:spPr>
        <p:txBody>
          <a:bodyPr wrap="square">
            <a:spAutoFit/>
          </a:bodyPr>
          <a:lstStyle/>
          <a:p>
            <a:pPr algn="l"/>
            <a:r>
              <a:rPr sz="1200" b="1" i="0">
                <a:solidFill>
                  <a:srgbClr val="003087"/>
                </a:solidFill>
                <a:latin typeface="Calibri"/>
              </a:rPr>
              <a:t>MCP — Model Context Protocol</a:t>
            </a:r>
          </a:p>
        </p:txBody>
      </p:sp>
      <p:sp>
        <p:nvSpPr>
          <p:cNvPr id="22" name="TextBox 21"/>
          <p:cNvSpPr txBox="1"/>
          <p:nvPr/>
        </p:nvSpPr>
        <p:spPr>
          <a:xfrm>
            <a:off x="1051560" y="1417320"/>
            <a:ext cx="3474720" cy="457200"/>
          </a:xfrm>
          <a:prstGeom prst="rect">
            <a:avLst/>
          </a:prstGeom>
          <a:noFill/>
        </p:spPr>
        <p:txBody>
          <a:bodyPr wrap="square">
            <a:spAutoFit/>
          </a:bodyPr>
          <a:lstStyle/>
          <a:p>
            <a:pPr algn="l"/>
            <a:r>
              <a:rPr sz="1100" b="0" i="0">
                <a:solidFill>
                  <a:srgbClr val="606060"/>
                </a:solidFill>
                <a:latin typeface="Calibri"/>
              </a:rPr>
              <a:t>Connects AI models to tools, databases, and data sources</a:t>
            </a:r>
          </a:p>
        </p:txBody>
      </p:sp>
      <p:sp>
        <p:nvSpPr>
          <p:cNvPr id="23" name="TextBox 22"/>
          <p:cNvSpPr txBox="1"/>
          <p:nvPr/>
        </p:nvSpPr>
        <p:spPr>
          <a:xfrm>
            <a:off x="4754880" y="1097280"/>
            <a:ext cx="3474720" cy="320040"/>
          </a:xfrm>
          <a:prstGeom prst="rect">
            <a:avLst/>
          </a:prstGeom>
          <a:noFill/>
        </p:spPr>
        <p:txBody>
          <a:bodyPr wrap="square">
            <a:spAutoFit/>
          </a:bodyPr>
          <a:lstStyle/>
          <a:p>
            <a:pPr algn="l"/>
            <a:r>
              <a:rPr sz="1200" b="1" i="0">
                <a:solidFill>
                  <a:srgbClr val="003087"/>
                </a:solidFill>
                <a:latin typeface="Calibri"/>
              </a:rPr>
              <a:t>A2A — Agent2Agent Protocol</a:t>
            </a:r>
          </a:p>
        </p:txBody>
      </p:sp>
      <p:sp>
        <p:nvSpPr>
          <p:cNvPr id="24" name="TextBox 23"/>
          <p:cNvSpPr txBox="1"/>
          <p:nvPr/>
        </p:nvSpPr>
        <p:spPr>
          <a:xfrm>
            <a:off x="4754880" y="1417320"/>
            <a:ext cx="3474720" cy="457200"/>
          </a:xfrm>
          <a:prstGeom prst="rect">
            <a:avLst/>
          </a:prstGeom>
          <a:noFill/>
        </p:spPr>
        <p:txBody>
          <a:bodyPr wrap="square">
            <a:spAutoFit/>
          </a:bodyPr>
          <a:lstStyle/>
          <a:p>
            <a:pPr algn="l"/>
            <a:r>
              <a:rPr sz="1100" b="0" i="0">
                <a:solidFill>
                  <a:srgbClr val="606060"/>
                </a:solidFill>
                <a:latin typeface="Calibri"/>
              </a:rPr>
              <a:t>Enables agents to collaborate, delegate, and coordinate with each other</a:t>
            </a:r>
          </a:p>
        </p:txBody>
      </p:sp>
      <p:sp>
        <p:nvSpPr>
          <p:cNvPr id="25" name="TextBox 24"/>
          <p:cNvSpPr txBox="1"/>
          <p:nvPr/>
        </p:nvSpPr>
        <p:spPr>
          <a:xfrm>
            <a:off x="8412480" y="1097280"/>
            <a:ext cx="3474720" cy="320040"/>
          </a:xfrm>
          <a:prstGeom prst="rect">
            <a:avLst/>
          </a:prstGeom>
          <a:noFill/>
        </p:spPr>
        <p:txBody>
          <a:bodyPr wrap="square">
            <a:spAutoFit/>
          </a:bodyPr>
          <a:lstStyle/>
          <a:p>
            <a:pPr algn="l"/>
            <a:r>
              <a:rPr sz="1200" b="1" i="0">
                <a:solidFill>
                  <a:srgbClr val="003087"/>
                </a:solidFill>
                <a:latin typeface="Calibri"/>
              </a:rPr>
              <a:t>ADK — Agent Development Kit</a:t>
            </a:r>
          </a:p>
        </p:txBody>
      </p:sp>
      <p:sp>
        <p:nvSpPr>
          <p:cNvPr id="26" name="TextBox 25"/>
          <p:cNvSpPr txBox="1"/>
          <p:nvPr/>
        </p:nvSpPr>
        <p:spPr>
          <a:xfrm>
            <a:off x="8412480" y="1417320"/>
            <a:ext cx="3474720" cy="457200"/>
          </a:xfrm>
          <a:prstGeom prst="rect">
            <a:avLst/>
          </a:prstGeom>
          <a:noFill/>
        </p:spPr>
        <p:txBody>
          <a:bodyPr wrap="square">
            <a:spAutoFit/>
          </a:bodyPr>
          <a:lstStyle/>
          <a:p>
            <a:pPr algn="l"/>
            <a:r>
              <a:rPr sz="1100" b="0" i="0">
                <a:solidFill>
                  <a:srgbClr val="606060"/>
                </a:solidFill>
                <a:latin typeface="Calibri"/>
              </a:rPr>
              <a:t>Framework for building agents; A2A is the protocol enabling interop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Key Design Principles</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Five foundational pillars of A2A</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97280"/>
            <a:ext cx="2240280" cy="53949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 y="1234440"/>
            <a:ext cx="2020824" cy="594360"/>
          </a:xfrm>
          <a:prstGeom prst="rect">
            <a:avLst/>
          </a:prstGeom>
          <a:noFill/>
        </p:spPr>
        <p:txBody>
          <a:bodyPr wrap="square">
            <a:spAutoFit/>
          </a:bodyPr>
          <a:lstStyle/>
          <a:p>
            <a:pPr algn="l"/>
            <a:r>
              <a:rPr sz="1600" b="1" i="0">
                <a:solidFill>
                  <a:srgbClr val="FFB300"/>
                </a:solidFill>
                <a:latin typeface="Calibri"/>
              </a:rPr>
              <a:t>Simplicity</a:t>
            </a:r>
          </a:p>
        </p:txBody>
      </p:sp>
      <p:sp>
        <p:nvSpPr>
          <p:cNvPr id="9" name="TextBox 8"/>
          <p:cNvSpPr txBox="1"/>
          <p:nvPr/>
        </p:nvSpPr>
        <p:spPr>
          <a:xfrm>
            <a:off x="429768" y="1920240"/>
            <a:ext cx="2020824" cy="347472"/>
          </a:xfrm>
          <a:prstGeom prst="rect">
            <a:avLst/>
          </a:prstGeom>
          <a:noFill/>
        </p:spPr>
        <p:txBody>
          <a:bodyPr wrap="square">
            <a:spAutoFit/>
          </a:bodyPr>
          <a:lstStyle/>
          <a:p>
            <a:pPr algn="l"/>
            <a:r>
              <a:rPr sz="1200" b="0" i="0">
                <a:solidFill>
                  <a:srgbClr val="FFFFFF"/>
                </a:solidFill>
                <a:latin typeface="Calibri"/>
              </a:rPr>
              <a:t>Leverages existing web standards</a:t>
            </a:r>
          </a:p>
        </p:txBody>
      </p:sp>
      <p:sp>
        <p:nvSpPr>
          <p:cNvPr id="10" name="TextBox 9"/>
          <p:cNvSpPr txBox="1"/>
          <p:nvPr/>
        </p:nvSpPr>
        <p:spPr>
          <a:xfrm>
            <a:off x="429768" y="2258568"/>
            <a:ext cx="2020824" cy="347472"/>
          </a:xfrm>
          <a:prstGeom prst="rect">
            <a:avLst/>
          </a:prstGeom>
          <a:noFill/>
        </p:spPr>
        <p:txBody>
          <a:bodyPr wrap="square">
            <a:spAutoFit/>
          </a:bodyPr>
          <a:lstStyle/>
          <a:p>
            <a:pPr algn="l"/>
            <a:r>
              <a:rPr sz="1200" b="0" i="0">
                <a:solidFill>
                  <a:srgbClr val="FFFFFF"/>
                </a:solidFill>
                <a:latin typeface="Calibri"/>
              </a:rPr>
              <a:t>HTTP · JSON-RPC · SSE</a:t>
            </a:r>
          </a:p>
        </p:txBody>
      </p:sp>
      <p:sp>
        <p:nvSpPr>
          <p:cNvPr id="11" name="TextBox 10"/>
          <p:cNvSpPr txBox="1"/>
          <p:nvPr/>
        </p:nvSpPr>
        <p:spPr>
          <a:xfrm>
            <a:off x="429768" y="2596896"/>
            <a:ext cx="2020824" cy="347472"/>
          </a:xfrm>
          <a:prstGeom prst="rect">
            <a:avLst/>
          </a:prstGeom>
          <a:noFill/>
        </p:spPr>
        <p:txBody>
          <a:bodyPr wrap="square">
            <a:spAutoFit/>
          </a:bodyPr>
          <a:lstStyle/>
          <a:p>
            <a:pPr algn="l"/>
            <a:r>
              <a:rPr sz="1200" b="0" i="0">
                <a:solidFill>
                  <a:srgbClr val="FFFFFF"/>
                </a:solidFill>
                <a:latin typeface="Calibri"/>
              </a:rPr>
              <a:t/>
            </a:r>
          </a:p>
        </p:txBody>
      </p:sp>
      <p:sp>
        <p:nvSpPr>
          <p:cNvPr id="12" name="TextBox 11"/>
          <p:cNvSpPr txBox="1"/>
          <p:nvPr/>
        </p:nvSpPr>
        <p:spPr>
          <a:xfrm>
            <a:off x="429768" y="2935224"/>
            <a:ext cx="2020824" cy="347472"/>
          </a:xfrm>
          <a:prstGeom prst="rect">
            <a:avLst/>
          </a:prstGeom>
          <a:noFill/>
        </p:spPr>
        <p:txBody>
          <a:bodyPr wrap="square">
            <a:spAutoFit/>
          </a:bodyPr>
          <a:lstStyle/>
          <a:p>
            <a:pPr algn="l"/>
            <a:r>
              <a:rPr sz="1200" b="0" i="0">
                <a:solidFill>
                  <a:srgbClr val="FFFFFF"/>
                </a:solidFill>
                <a:latin typeface="Calibri"/>
              </a:rPr>
              <a:t>Minimal new concepts —</a:t>
            </a:r>
          </a:p>
        </p:txBody>
      </p:sp>
      <p:sp>
        <p:nvSpPr>
          <p:cNvPr id="13" name="TextBox 12"/>
          <p:cNvSpPr txBox="1"/>
          <p:nvPr/>
        </p:nvSpPr>
        <p:spPr>
          <a:xfrm>
            <a:off x="429768" y="3273552"/>
            <a:ext cx="2020824" cy="347472"/>
          </a:xfrm>
          <a:prstGeom prst="rect">
            <a:avLst/>
          </a:prstGeom>
          <a:noFill/>
        </p:spPr>
        <p:txBody>
          <a:bodyPr wrap="square">
            <a:spAutoFit/>
          </a:bodyPr>
          <a:lstStyle/>
          <a:p>
            <a:pPr algn="l"/>
            <a:r>
              <a:rPr sz="1200" b="0" i="0">
                <a:solidFill>
                  <a:srgbClr val="FFFFFF"/>
                </a:solidFill>
                <a:latin typeface="Calibri"/>
              </a:rPr>
              <a:t>familiar to any web developer</a:t>
            </a:r>
          </a:p>
        </p:txBody>
      </p:sp>
      <p:sp>
        <p:nvSpPr>
          <p:cNvPr id="14" name="Rectangle 13"/>
          <p:cNvSpPr/>
          <p:nvPr/>
        </p:nvSpPr>
        <p:spPr>
          <a:xfrm>
            <a:off x="2651760" y="1097280"/>
            <a:ext cx="2240280" cy="53949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61488" y="1234440"/>
            <a:ext cx="2020824" cy="594360"/>
          </a:xfrm>
          <a:prstGeom prst="rect">
            <a:avLst/>
          </a:prstGeom>
          <a:noFill/>
        </p:spPr>
        <p:txBody>
          <a:bodyPr wrap="square">
            <a:spAutoFit/>
          </a:bodyPr>
          <a:lstStyle/>
          <a:p>
            <a:pPr algn="l"/>
            <a:r>
              <a:rPr sz="1600" b="1" i="0">
                <a:solidFill>
                  <a:srgbClr val="FFB300"/>
                </a:solidFill>
                <a:latin typeface="Calibri"/>
              </a:rPr>
              <a:t>Enterprise
Readiness</a:t>
            </a:r>
          </a:p>
        </p:txBody>
      </p:sp>
      <p:sp>
        <p:nvSpPr>
          <p:cNvPr id="16" name="TextBox 15"/>
          <p:cNvSpPr txBox="1"/>
          <p:nvPr/>
        </p:nvSpPr>
        <p:spPr>
          <a:xfrm>
            <a:off x="2761488" y="1920240"/>
            <a:ext cx="2020824" cy="347472"/>
          </a:xfrm>
          <a:prstGeom prst="rect">
            <a:avLst/>
          </a:prstGeom>
          <a:noFill/>
        </p:spPr>
        <p:txBody>
          <a:bodyPr wrap="square">
            <a:spAutoFit/>
          </a:bodyPr>
          <a:lstStyle/>
          <a:p>
            <a:pPr algn="l"/>
            <a:r>
              <a:rPr sz="1200" b="0" i="0">
                <a:solidFill>
                  <a:srgbClr val="FFFFFF"/>
                </a:solidFill>
                <a:latin typeface="Calibri"/>
              </a:rPr>
              <a:t>Authentication &amp; authorization</a:t>
            </a:r>
          </a:p>
        </p:txBody>
      </p:sp>
      <p:sp>
        <p:nvSpPr>
          <p:cNvPr id="17" name="TextBox 16"/>
          <p:cNvSpPr txBox="1"/>
          <p:nvPr/>
        </p:nvSpPr>
        <p:spPr>
          <a:xfrm>
            <a:off x="2761488" y="2258568"/>
            <a:ext cx="2020824" cy="347472"/>
          </a:xfrm>
          <a:prstGeom prst="rect">
            <a:avLst/>
          </a:prstGeom>
          <a:noFill/>
        </p:spPr>
        <p:txBody>
          <a:bodyPr wrap="square">
            <a:spAutoFit/>
          </a:bodyPr>
          <a:lstStyle/>
          <a:p>
            <a:pPr algn="l"/>
            <a:r>
              <a:rPr sz="1200" b="0" i="0">
                <a:solidFill>
                  <a:srgbClr val="FFFFFF"/>
                </a:solidFill>
                <a:latin typeface="Calibri"/>
              </a:rPr>
              <a:t>Security &amp; privacy</a:t>
            </a:r>
          </a:p>
        </p:txBody>
      </p:sp>
      <p:sp>
        <p:nvSpPr>
          <p:cNvPr id="18" name="TextBox 17"/>
          <p:cNvSpPr txBox="1"/>
          <p:nvPr/>
        </p:nvSpPr>
        <p:spPr>
          <a:xfrm>
            <a:off x="2761488" y="2596896"/>
            <a:ext cx="2020824" cy="347472"/>
          </a:xfrm>
          <a:prstGeom prst="rect">
            <a:avLst/>
          </a:prstGeom>
          <a:noFill/>
        </p:spPr>
        <p:txBody>
          <a:bodyPr wrap="square">
            <a:spAutoFit/>
          </a:bodyPr>
          <a:lstStyle/>
          <a:p>
            <a:pPr algn="l"/>
            <a:r>
              <a:rPr sz="1200" b="0" i="0">
                <a:solidFill>
                  <a:srgbClr val="FFFFFF"/>
                </a:solidFill>
                <a:latin typeface="Calibri"/>
              </a:rPr>
              <a:t>Distributed tracing</a:t>
            </a:r>
          </a:p>
        </p:txBody>
      </p:sp>
      <p:sp>
        <p:nvSpPr>
          <p:cNvPr id="19" name="TextBox 18"/>
          <p:cNvSpPr txBox="1"/>
          <p:nvPr/>
        </p:nvSpPr>
        <p:spPr>
          <a:xfrm>
            <a:off x="2761488" y="2935224"/>
            <a:ext cx="2020824" cy="347472"/>
          </a:xfrm>
          <a:prstGeom prst="rect">
            <a:avLst/>
          </a:prstGeom>
          <a:noFill/>
        </p:spPr>
        <p:txBody>
          <a:bodyPr wrap="square">
            <a:spAutoFit/>
          </a:bodyPr>
          <a:lstStyle/>
          <a:p>
            <a:pPr algn="l"/>
            <a:r>
              <a:rPr sz="1200" b="0" i="0">
                <a:solidFill>
                  <a:srgbClr val="FFFFFF"/>
                </a:solidFill>
                <a:latin typeface="Calibri"/>
              </a:rPr>
              <a:t>Monitoring &amp; observability</a:t>
            </a:r>
          </a:p>
        </p:txBody>
      </p:sp>
      <p:sp>
        <p:nvSpPr>
          <p:cNvPr id="20" name="TextBox 19"/>
          <p:cNvSpPr txBox="1"/>
          <p:nvPr/>
        </p:nvSpPr>
        <p:spPr>
          <a:xfrm>
            <a:off x="2761488" y="3273552"/>
            <a:ext cx="2020824" cy="347472"/>
          </a:xfrm>
          <a:prstGeom prst="rect">
            <a:avLst/>
          </a:prstGeom>
          <a:noFill/>
        </p:spPr>
        <p:txBody>
          <a:bodyPr wrap="square">
            <a:spAutoFit/>
          </a:bodyPr>
          <a:lstStyle/>
          <a:p>
            <a:pPr algn="l"/>
            <a:r>
              <a:rPr sz="1200" b="0" i="0">
                <a:solidFill>
                  <a:srgbClr val="FFFFFF"/>
                </a:solidFill>
                <a:latin typeface="Calibri"/>
              </a:rPr>
              <a:t>Production-grade from day one</a:t>
            </a:r>
          </a:p>
        </p:txBody>
      </p:sp>
      <p:sp>
        <p:nvSpPr>
          <p:cNvPr id="21" name="Rectangle 20"/>
          <p:cNvSpPr/>
          <p:nvPr/>
        </p:nvSpPr>
        <p:spPr>
          <a:xfrm>
            <a:off x="4983480" y="1097280"/>
            <a:ext cx="2240280" cy="539496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93208" y="1234440"/>
            <a:ext cx="2020824" cy="594360"/>
          </a:xfrm>
          <a:prstGeom prst="rect">
            <a:avLst/>
          </a:prstGeom>
          <a:noFill/>
        </p:spPr>
        <p:txBody>
          <a:bodyPr wrap="square">
            <a:spAutoFit/>
          </a:bodyPr>
          <a:lstStyle/>
          <a:p>
            <a:pPr algn="l"/>
            <a:r>
              <a:rPr sz="1600" b="1" i="0">
                <a:solidFill>
                  <a:srgbClr val="FFB300"/>
                </a:solidFill>
                <a:latin typeface="Calibri"/>
              </a:rPr>
              <a:t>Async
Operations</a:t>
            </a:r>
          </a:p>
        </p:txBody>
      </p:sp>
      <p:sp>
        <p:nvSpPr>
          <p:cNvPr id="23" name="TextBox 22"/>
          <p:cNvSpPr txBox="1"/>
          <p:nvPr/>
        </p:nvSpPr>
        <p:spPr>
          <a:xfrm>
            <a:off x="5093208" y="1920240"/>
            <a:ext cx="2020824" cy="347472"/>
          </a:xfrm>
          <a:prstGeom prst="rect">
            <a:avLst/>
          </a:prstGeom>
          <a:noFill/>
        </p:spPr>
        <p:txBody>
          <a:bodyPr wrap="square">
            <a:spAutoFit/>
          </a:bodyPr>
          <a:lstStyle/>
          <a:p>
            <a:pPr algn="l"/>
            <a:r>
              <a:rPr sz="1200" b="0" i="0">
                <a:solidFill>
                  <a:srgbClr val="FFFFFF"/>
                </a:solidFill>
                <a:latin typeface="Calibri"/>
              </a:rPr>
              <a:t>Supports long-running tasks</a:t>
            </a:r>
          </a:p>
        </p:txBody>
      </p:sp>
      <p:sp>
        <p:nvSpPr>
          <p:cNvPr id="24" name="TextBox 23"/>
          <p:cNvSpPr txBox="1"/>
          <p:nvPr/>
        </p:nvSpPr>
        <p:spPr>
          <a:xfrm>
            <a:off x="5093208" y="2258568"/>
            <a:ext cx="2020824" cy="347472"/>
          </a:xfrm>
          <a:prstGeom prst="rect">
            <a:avLst/>
          </a:prstGeom>
          <a:noFill/>
        </p:spPr>
        <p:txBody>
          <a:bodyPr wrap="square">
            <a:spAutoFit/>
          </a:bodyPr>
          <a:lstStyle/>
          <a:p>
            <a:pPr algn="l"/>
            <a:r>
              <a:rPr sz="1200" b="0" i="0">
                <a:solidFill>
                  <a:srgbClr val="FFFFFF"/>
                </a:solidFill>
                <a:latin typeface="Calibri"/>
              </a:rPr>
              <a:t>Streaming via SSE</a:t>
            </a:r>
          </a:p>
        </p:txBody>
      </p:sp>
      <p:sp>
        <p:nvSpPr>
          <p:cNvPr id="25" name="TextBox 24"/>
          <p:cNvSpPr txBox="1"/>
          <p:nvPr/>
        </p:nvSpPr>
        <p:spPr>
          <a:xfrm>
            <a:off x="5093208" y="2596896"/>
            <a:ext cx="2020824" cy="347472"/>
          </a:xfrm>
          <a:prstGeom prst="rect">
            <a:avLst/>
          </a:prstGeom>
          <a:noFill/>
        </p:spPr>
        <p:txBody>
          <a:bodyPr wrap="square">
            <a:spAutoFit/>
          </a:bodyPr>
          <a:lstStyle/>
          <a:p>
            <a:pPr algn="l"/>
            <a:r>
              <a:rPr sz="1200" b="0" i="0">
                <a:solidFill>
                  <a:srgbClr val="FFFFFF"/>
                </a:solidFill>
                <a:latin typeface="Calibri"/>
              </a:rPr>
              <a:t>Push notifications via webhook</a:t>
            </a:r>
          </a:p>
        </p:txBody>
      </p:sp>
      <p:sp>
        <p:nvSpPr>
          <p:cNvPr id="26" name="TextBox 25"/>
          <p:cNvSpPr txBox="1"/>
          <p:nvPr/>
        </p:nvSpPr>
        <p:spPr>
          <a:xfrm>
            <a:off x="5093208" y="2935224"/>
            <a:ext cx="2020824" cy="347472"/>
          </a:xfrm>
          <a:prstGeom prst="rect">
            <a:avLst/>
          </a:prstGeom>
          <a:noFill/>
        </p:spPr>
        <p:txBody>
          <a:bodyPr wrap="square">
            <a:spAutoFit/>
          </a:bodyPr>
          <a:lstStyle/>
          <a:p>
            <a:pPr algn="l"/>
            <a:r>
              <a:rPr sz="1200" b="0" i="0">
                <a:solidFill>
                  <a:srgbClr val="FFFFFF"/>
                </a:solidFill>
                <a:latin typeface="Calibri"/>
              </a:rPr>
              <a:t>Human-in-the-loop workflows</a:t>
            </a:r>
          </a:p>
        </p:txBody>
      </p:sp>
      <p:sp>
        <p:nvSpPr>
          <p:cNvPr id="27" name="TextBox 26"/>
          <p:cNvSpPr txBox="1"/>
          <p:nvPr/>
        </p:nvSpPr>
        <p:spPr>
          <a:xfrm>
            <a:off x="5093208" y="3273552"/>
            <a:ext cx="2020824" cy="347472"/>
          </a:xfrm>
          <a:prstGeom prst="rect">
            <a:avLst/>
          </a:prstGeom>
          <a:noFill/>
        </p:spPr>
        <p:txBody>
          <a:bodyPr wrap="square">
            <a:spAutoFit/>
          </a:bodyPr>
          <a:lstStyle/>
          <a:p>
            <a:pPr algn="l"/>
            <a:r>
              <a:rPr sz="1200" b="0" i="0">
                <a:solidFill>
                  <a:srgbClr val="FFFFFF"/>
                </a:solidFill>
                <a:latin typeface="Calibri"/>
              </a:rPr>
              <a:t>Non-blocking by design</a:t>
            </a:r>
          </a:p>
        </p:txBody>
      </p:sp>
      <p:sp>
        <p:nvSpPr>
          <p:cNvPr id="28" name="Rectangle 27"/>
          <p:cNvSpPr/>
          <p:nvPr/>
        </p:nvSpPr>
        <p:spPr>
          <a:xfrm>
            <a:off x="7315200" y="1097280"/>
            <a:ext cx="2240280" cy="53949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24928" y="1234440"/>
            <a:ext cx="2020824" cy="594360"/>
          </a:xfrm>
          <a:prstGeom prst="rect">
            <a:avLst/>
          </a:prstGeom>
          <a:noFill/>
        </p:spPr>
        <p:txBody>
          <a:bodyPr wrap="square">
            <a:spAutoFit/>
          </a:bodyPr>
          <a:lstStyle/>
          <a:p>
            <a:pPr algn="l"/>
            <a:r>
              <a:rPr sz="1600" b="1" i="0">
                <a:solidFill>
                  <a:srgbClr val="FFB300"/>
                </a:solidFill>
                <a:latin typeface="Calibri"/>
              </a:rPr>
              <a:t>Modality
Independence</a:t>
            </a:r>
          </a:p>
        </p:txBody>
      </p:sp>
      <p:sp>
        <p:nvSpPr>
          <p:cNvPr id="30" name="TextBox 29"/>
          <p:cNvSpPr txBox="1"/>
          <p:nvPr/>
        </p:nvSpPr>
        <p:spPr>
          <a:xfrm>
            <a:off x="7424928" y="1920240"/>
            <a:ext cx="2020824" cy="347472"/>
          </a:xfrm>
          <a:prstGeom prst="rect">
            <a:avLst/>
          </a:prstGeom>
          <a:noFill/>
        </p:spPr>
        <p:txBody>
          <a:bodyPr wrap="square">
            <a:spAutoFit/>
          </a:bodyPr>
          <a:lstStyle/>
          <a:p>
            <a:pPr algn="l"/>
            <a:r>
              <a:rPr sz="1200" b="0" i="0">
                <a:solidFill>
                  <a:srgbClr val="FFFFFF"/>
                </a:solidFill>
                <a:latin typeface="Calibri"/>
              </a:rPr>
              <a:t>Not just plain text</a:t>
            </a:r>
          </a:p>
        </p:txBody>
      </p:sp>
      <p:sp>
        <p:nvSpPr>
          <p:cNvPr id="31" name="TextBox 30"/>
          <p:cNvSpPr txBox="1"/>
          <p:nvPr/>
        </p:nvSpPr>
        <p:spPr>
          <a:xfrm>
            <a:off x="7424928" y="2258568"/>
            <a:ext cx="2020824" cy="347472"/>
          </a:xfrm>
          <a:prstGeom prst="rect">
            <a:avLst/>
          </a:prstGeom>
          <a:noFill/>
        </p:spPr>
        <p:txBody>
          <a:bodyPr wrap="square">
            <a:spAutoFit/>
          </a:bodyPr>
          <a:lstStyle/>
          <a:p>
            <a:pPr algn="l"/>
            <a:r>
              <a:rPr sz="1200" b="0" i="0">
                <a:solidFill>
                  <a:srgbClr val="FFFFFF"/>
                </a:solidFill>
                <a:latin typeface="Calibri"/>
              </a:rPr>
              <a:t>Text · Files · Structured data</a:t>
            </a:r>
          </a:p>
        </p:txBody>
      </p:sp>
      <p:sp>
        <p:nvSpPr>
          <p:cNvPr id="32" name="TextBox 31"/>
          <p:cNvSpPr txBox="1"/>
          <p:nvPr/>
        </p:nvSpPr>
        <p:spPr>
          <a:xfrm>
            <a:off x="7424928" y="2596896"/>
            <a:ext cx="2020824" cy="347472"/>
          </a:xfrm>
          <a:prstGeom prst="rect">
            <a:avLst/>
          </a:prstGeom>
          <a:noFill/>
        </p:spPr>
        <p:txBody>
          <a:bodyPr wrap="square">
            <a:spAutoFit/>
          </a:bodyPr>
          <a:lstStyle/>
          <a:p>
            <a:pPr algn="l"/>
            <a:r>
              <a:rPr sz="1200" b="0" i="0">
                <a:solidFill>
                  <a:srgbClr val="FFFFFF"/>
                </a:solidFill>
                <a:latin typeface="Calibri"/>
              </a:rPr>
              <a:t>Bytes (raw) · URLs</a:t>
            </a:r>
          </a:p>
        </p:txBody>
      </p:sp>
      <p:sp>
        <p:nvSpPr>
          <p:cNvPr id="33" name="TextBox 32"/>
          <p:cNvSpPr txBox="1"/>
          <p:nvPr/>
        </p:nvSpPr>
        <p:spPr>
          <a:xfrm>
            <a:off x="7424928" y="2935224"/>
            <a:ext cx="2020824" cy="347472"/>
          </a:xfrm>
          <a:prstGeom prst="rect">
            <a:avLst/>
          </a:prstGeom>
          <a:noFill/>
        </p:spPr>
        <p:txBody>
          <a:bodyPr wrap="square">
            <a:spAutoFit/>
          </a:bodyPr>
          <a:lstStyle/>
          <a:p>
            <a:pPr algn="l"/>
            <a:r>
              <a:rPr sz="1200" b="0" i="0">
                <a:solidFill>
                  <a:srgbClr val="FFFFFF"/>
                </a:solidFill>
                <a:latin typeface="Calibri"/>
              </a:rPr>
              <a:t>MIME-typed content</a:t>
            </a:r>
          </a:p>
        </p:txBody>
      </p:sp>
      <p:sp>
        <p:nvSpPr>
          <p:cNvPr id="34" name="TextBox 33"/>
          <p:cNvSpPr txBox="1"/>
          <p:nvPr/>
        </p:nvSpPr>
        <p:spPr>
          <a:xfrm>
            <a:off x="7424928" y="3273552"/>
            <a:ext cx="2020824" cy="347472"/>
          </a:xfrm>
          <a:prstGeom prst="rect">
            <a:avLst/>
          </a:prstGeom>
          <a:noFill/>
        </p:spPr>
        <p:txBody>
          <a:bodyPr wrap="square">
            <a:spAutoFit/>
          </a:bodyPr>
          <a:lstStyle/>
          <a:p>
            <a:pPr algn="l"/>
            <a:r>
              <a:rPr sz="1200" b="0" i="0">
                <a:solidFill>
                  <a:srgbClr val="FFFFFF"/>
                </a:solidFill>
                <a:latin typeface="Calibri"/>
              </a:rPr>
              <a:t>Rich multi-modal interactions</a:t>
            </a:r>
          </a:p>
        </p:txBody>
      </p:sp>
      <p:sp>
        <p:nvSpPr>
          <p:cNvPr id="35" name="Rectangle 34"/>
          <p:cNvSpPr/>
          <p:nvPr/>
        </p:nvSpPr>
        <p:spPr>
          <a:xfrm>
            <a:off x="9646920" y="1097280"/>
            <a:ext cx="2240280" cy="539496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56648" y="1234440"/>
            <a:ext cx="2020824" cy="594360"/>
          </a:xfrm>
          <a:prstGeom prst="rect">
            <a:avLst/>
          </a:prstGeom>
          <a:noFill/>
        </p:spPr>
        <p:txBody>
          <a:bodyPr wrap="square">
            <a:spAutoFit/>
          </a:bodyPr>
          <a:lstStyle/>
          <a:p>
            <a:pPr algn="l"/>
            <a:r>
              <a:rPr sz="1600" b="1" i="0">
                <a:solidFill>
                  <a:srgbClr val="FFB300"/>
                </a:solidFill>
                <a:latin typeface="Calibri"/>
              </a:rPr>
              <a:t>Opaque
Execution</a:t>
            </a:r>
          </a:p>
        </p:txBody>
      </p:sp>
      <p:sp>
        <p:nvSpPr>
          <p:cNvPr id="37" name="TextBox 36"/>
          <p:cNvSpPr txBox="1"/>
          <p:nvPr/>
        </p:nvSpPr>
        <p:spPr>
          <a:xfrm>
            <a:off x="9756648" y="1920240"/>
            <a:ext cx="2020824" cy="347472"/>
          </a:xfrm>
          <a:prstGeom prst="rect">
            <a:avLst/>
          </a:prstGeom>
          <a:noFill/>
        </p:spPr>
        <p:txBody>
          <a:bodyPr wrap="square">
            <a:spAutoFit/>
          </a:bodyPr>
          <a:lstStyle/>
          <a:p>
            <a:pPr algn="l"/>
            <a:r>
              <a:rPr sz="1200" b="0" i="0">
                <a:solidFill>
                  <a:srgbClr val="FFFFFF"/>
                </a:solidFill>
                <a:latin typeface="Calibri"/>
              </a:rPr>
              <a:t>Agents collaborate without</a:t>
            </a:r>
          </a:p>
        </p:txBody>
      </p:sp>
      <p:sp>
        <p:nvSpPr>
          <p:cNvPr id="38" name="TextBox 37"/>
          <p:cNvSpPr txBox="1"/>
          <p:nvPr/>
        </p:nvSpPr>
        <p:spPr>
          <a:xfrm>
            <a:off x="9756648" y="2258568"/>
            <a:ext cx="2020824" cy="347472"/>
          </a:xfrm>
          <a:prstGeom prst="rect">
            <a:avLst/>
          </a:prstGeom>
          <a:noFill/>
        </p:spPr>
        <p:txBody>
          <a:bodyPr wrap="square">
            <a:spAutoFit/>
          </a:bodyPr>
          <a:lstStyle/>
          <a:p>
            <a:pPr algn="l"/>
            <a:r>
              <a:rPr sz="1200" b="0" i="0">
                <a:solidFill>
                  <a:srgbClr val="FFFFFF"/>
                </a:solidFill>
                <a:latin typeface="Calibri"/>
              </a:rPr>
              <a:t>exposing internal logic</a:t>
            </a:r>
          </a:p>
        </p:txBody>
      </p:sp>
      <p:sp>
        <p:nvSpPr>
          <p:cNvPr id="39" name="TextBox 38"/>
          <p:cNvSpPr txBox="1"/>
          <p:nvPr/>
        </p:nvSpPr>
        <p:spPr>
          <a:xfrm>
            <a:off x="9756648" y="2596896"/>
            <a:ext cx="2020824" cy="347472"/>
          </a:xfrm>
          <a:prstGeom prst="rect">
            <a:avLst/>
          </a:prstGeom>
          <a:noFill/>
        </p:spPr>
        <p:txBody>
          <a:bodyPr wrap="square">
            <a:spAutoFit/>
          </a:bodyPr>
          <a:lstStyle/>
          <a:p>
            <a:pPr algn="l"/>
            <a:r>
              <a:rPr sz="1200" b="0" i="0">
                <a:solidFill>
                  <a:srgbClr val="FFFFFF"/>
                </a:solidFill>
                <a:latin typeface="Calibri"/>
              </a:rPr>
              <a:t/>
            </a:r>
          </a:p>
        </p:txBody>
      </p:sp>
      <p:sp>
        <p:nvSpPr>
          <p:cNvPr id="40" name="TextBox 39"/>
          <p:cNvSpPr txBox="1"/>
          <p:nvPr/>
        </p:nvSpPr>
        <p:spPr>
          <a:xfrm>
            <a:off x="9756648" y="2935224"/>
            <a:ext cx="2020824" cy="347472"/>
          </a:xfrm>
          <a:prstGeom prst="rect">
            <a:avLst/>
          </a:prstGeom>
          <a:noFill/>
        </p:spPr>
        <p:txBody>
          <a:bodyPr wrap="square">
            <a:spAutoFit/>
          </a:bodyPr>
          <a:lstStyle/>
          <a:p>
            <a:pPr algn="l"/>
            <a:r>
              <a:rPr sz="1200" b="0" i="0">
                <a:solidFill>
                  <a:srgbClr val="FFFFFF"/>
                </a:solidFill>
                <a:latin typeface="Calibri"/>
              </a:rPr>
              <a:t>Preserves intellectual property</a:t>
            </a:r>
          </a:p>
        </p:txBody>
      </p:sp>
      <p:sp>
        <p:nvSpPr>
          <p:cNvPr id="41" name="TextBox 40"/>
          <p:cNvSpPr txBox="1"/>
          <p:nvPr/>
        </p:nvSpPr>
        <p:spPr>
          <a:xfrm>
            <a:off x="9756648" y="3273552"/>
            <a:ext cx="2020824" cy="347472"/>
          </a:xfrm>
          <a:prstGeom prst="rect">
            <a:avLst/>
          </a:prstGeom>
          <a:noFill/>
        </p:spPr>
        <p:txBody>
          <a:bodyPr wrap="square">
            <a:spAutoFit/>
          </a:bodyPr>
          <a:lstStyle/>
          <a:p>
            <a:pPr algn="l"/>
            <a:r>
              <a:rPr sz="1200" b="0" i="0">
                <a:solidFill>
                  <a:srgbClr val="FFFFFF"/>
                </a:solidFill>
                <a:latin typeface="Calibri"/>
              </a:rPr>
              <a:t>&amp; implementation secrets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Core Actors</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The three participants in every A2A interaction</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3611880" cy="5212080"/>
          </a:xfrm>
          <a:prstGeom prst="rect">
            <a:avLst/>
          </a:prstGeom>
          <a:solidFill>
            <a:srgbClr val="FFF8E1"/>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 y="1143000"/>
            <a:ext cx="3611880" cy="6858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234440"/>
            <a:ext cx="3392424" cy="502920"/>
          </a:xfrm>
          <a:prstGeom prst="rect">
            <a:avLst/>
          </a:prstGeom>
          <a:noFill/>
        </p:spPr>
        <p:txBody>
          <a:bodyPr wrap="square">
            <a:spAutoFit/>
          </a:bodyPr>
          <a:lstStyle/>
          <a:p>
            <a:pPr algn="ctr"/>
            <a:r>
              <a:rPr sz="1600" b="1" i="0">
                <a:solidFill>
                  <a:srgbClr val="FFFFFF"/>
                </a:solidFill>
                <a:latin typeface="Calibri"/>
              </a:rPr>
              <a:t>USER</a:t>
            </a:r>
          </a:p>
        </p:txBody>
      </p:sp>
      <p:sp>
        <p:nvSpPr>
          <p:cNvPr id="10" name="TextBox 9"/>
          <p:cNvSpPr txBox="1"/>
          <p:nvPr/>
        </p:nvSpPr>
        <p:spPr>
          <a:xfrm>
            <a:off x="429768" y="1920240"/>
            <a:ext cx="3392424" cy="365760"/>
          </a:xfrm>
          <a:prstGeom prst="rect">
            <a:avLst/>
          </a:prstGeom>
          <a:noFill/>
        </p:spPr>
        <p:txBody>
          <a:bodyPr wrap="square">
            <a:spAutoFit/>
          </a:bodyPr>
          <a:lstStyle/>
          <a:p>
            <a:pPr algn="l"/>
            <a:r>
              <a:rPr sz="1250" b="1" i="0">
                <a:solidFill>
                  <a:srgbClr val="003087"/>
                </a:solidFill>
                <a:latin typeface="Calibri"/>
              </a:rPr>
              <a:t>End entity initiating requests</a:t>
            </a:r>
          </a:p>
        </p:txBody>
      </p:sp>
      <p:sp>
        <p:nvSpPr>
          <p:cNvPr id="11" name="TextBox 10"/>
          <p:cNvSpPr txBox="1"/>
          <p:nvPr/>
        </p:nvSpPr>
        <p:spPr>
          <a:xfrm>
            <a:off x="484632" y="2377440"/>
            <a:ext cx="3337560" cy="310896"/>
          </a:xfrm>
          <a:prstGeom prst="rect">
            <a:avLst/>
          </a:prstGeom>
          <a:noFill/>
        </p:spPr>
        <p:txBody>
          <a:bodyPr wrap="square">
            <a:spAutoFit/>
          </a:bodyPr>
          <a:lstStyle/>
          <a:p>
            <a:pPr algn="l"/>
            <a:r>
              <a:rPr sz="1200" b="0" i="0">
                <a:solidFill>
                  <a:srgbClr val="000000"/>
                </a:solidFill>
                <a:latin typeface="Calibri"/>
              </a:rPr>
              <a:t>• Human operator or automated service</a:t>
            </a:r>
          </a:p>
        </p:txBody>
      </p:sp>
      <p:sp>
        <p:nvSpPr>
          <p:cNvPr id="12" name="TextBox 11"/>
          <p:cNvSpPr txBox="1"/>
          <p:nvPr/>
        </p:nvSpPr>
        <p:spPr>
          <a:xfrm>
            <a:off x="484632" y="2706624"/>
            <a:ext cx="3337560" cy="310896"/>
          </a:xfrm>
          <a:prstGeom prst="rect">
            <a:avLst/>
          </a:prstGeom>
          <a:noFill/>
        </p:spPr>
        <p:txBody>
          <a:bodyPr wrap="square">
            <a:spAutoFit/>
          </a:bodyPr>
          <a:lstStyle/>
          <a:p>
            <a:pPr algn="l"/>
            <a:r>
              <a:rPr sz="1200" b="0" i="0">
                <a:solidFill>
                  <a:srgbClr val="000000"/>
                </a:solidFill>
                <a:latin typeface="Calibri"/>
              </a:rPr>
              <a:t>• Defines the goal or task to accomplish</a:t>
            </a:r>
          </a:p>
        </p:txBody>
      </p:sp>
      <p:sp>
        <p:nvSpPr>
          <p:cNvPr id="13" name="TextBox 12"/>
          <p:cNvSpPr txBox="1"/>
          <p:nvPr/>
        </p:nvSpPr>
        <p:spPr>
          <a:xfrm>
            <a:off x="484632" y="3035808"/>
            <a:ext cx="3337560" cy="310896"/>
          </a:xfrm>
          <a:prstGeom prst="rect">
            <a:avLst/>
          </a:prstGeom>
          <a:noFill/>
        </p:spPr>
        <p:txBody>
          <a:bodyPr wrap="square">
            <a:spAutoFit/>
          </a:bodyPr>
          <a:lstStyle/>
          <a:p>
            <a:pPr algn="l"/>
            <a:r>
              <a:rPr sz="1200" b="0" i="0">
                <a:solidFill>
                  <a:srgbClr val="000000"/>
                </a:solidFill>
                <a:latin typeface="Calibri"/>
              </a:rPr>
              <a:t>• May be a person, a pipeline, or another system</a:t>
            </a:r>
          </a:p>
        </p:txBody>
      </p:sp>
      <p:sp>
        <p:nvSpPr>
          <p:cNvPr id="14" name="TextBox 13"/>
          <p:cNvSpPr txBox="1"/>
          <p:nvPr/>
        </p:nvSpPr>
        <p:spPr>
          <a:xfrm>
            <a:off x="484632" y="3364992"/>
            <a:ext cx="3337560" cy="310896"/>
          </a:xfrm>
          <a:prstGeom prst="rect">
            <a:avLst/>
          </a:prstGeom>
          <a:noFill/>
        </p:spPr>
        <p:txBody>
          <a:bodyPr wrap="square">
            <a:spAutoFit/>
          </a:bodyPr>
          <a:lstStyle/>
          <a:p>
            <a:pPr algn="l"/>
            <a:r>
              <a:rPr sz="1200" b="0" i="0">
                <a:solidFill>
                  <a:srgbClr val="000000"/>
                </a:solidFill>
                <a:latin typeface="Calibri"/>
              </a:rPr>
              <a:t>• Interacts through the A2A Client</a:t>
            </a:r>
          </a:p>
        </p:txBody>
      </p:sp>
      <p:sp>
        <p:nvSpPr>
          <p:cNvPr id="15" name="Rectangle 14"/>
          <p:cNvSpPr/>
          <p:nvPr/>
        </p:nvSpPr>
        <p:spPr>
          <a:xfrm>
            <a:off x="4251960" y="1143000"/>
            <a:ext cx="3611880" cy="5212080"/>
          </a:xfrm>
          <a:prstGeom prst="rect">
            <a:avLst/>
          </a:prstGeom>
          <a:solidFill>
            <a:srgbClr val="E3F2FD"/>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51960" y="1143000"/>
            <a:ext cx="3611880" cy="6858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1688" y="1234440"/>
            <a:ext cx="3392424" cy="502920"/>
          </a:xfrm>
          <a:prstGeom prst="rect">
            <a:avLst/>
          </a:prstGeom>
          <a:noFill/>
        </p:spPr>
        <p:txBody>
          <a:bodyPr wrap="square">
            <a:spAutoFit/>
          </a:bodyPr>
          <a:lstStyle/>
          <a:p>
            <a:pPr algn="ctr"/>
            <a:r>
              <a:rPr sz="1600" b="1" i="0">
                <a:solidFill>
                  <a:srgbClr val="FFFFFF"/>
                </a:solidFill>
                <a:latin typeface="Calibri"/>
              </a:rPr>
              <a:t>A2A CLIENT
(Client Agent)</a:t>
            </a:r>
          </a:p>
        </p:txBody>
      </p:sp>
      <p:sp>
        <p:nvSpPr>
          <p:cNvPr id="18" name="TextBox 17"/>
          <p:cNvSpPr txBox="1"/>
          <p:nvPr/>
        </p:nvSpPr>
        <p:spPr>
          <a:xfrm>
            <a:off x="4361688" y="1920240"/>
            <a:ext cx="3392424" cy="365760"/>
          </a:xfrm>
          <a:prstGeom prst="rect">
            <a:avLst/>
          </a:prstGeom>
          <a:noFill/>
        </p:spPr>
        <p:txBody>
          <a:bodyPr wrap="square">
            <a:spAutoFit/>
          </a:bodyPr>
          <a:lstStyle/>
          <a:p>
            <a:pPr algn="l"/>
            <a:r>
              <a:rPr sz="1250" b="1" i="0">
                <a:solidFill>
                  <a:srgbClr val="003087"/>
                </a:solidFill>
                <a:latin typeface="Calibri"/>
              </a:rPr>
              <a:t>Application acting on behalf of the User</a:t>
            </a:r>
          </a:p>
        </p:txBody>
      </p:sp>
      <p:sp>
        <p:nvSpPr>
          <p:cNvPr id="19" name="TextBox 18"/>
          <p:cNvSpPr txBox="1"/>
          <p:nvPr/>
        </p:nvSpPr>
        <p:spPr>
          <a:xfrm>
            <a:off x="4416552" y="2377440"/>
            <a:ext cx="3337560" cy="310896"/>
          </a:xfrm>
          <a:prstGeom prst="rect">
            <a:avLst/>
          </a:prstGeom>
          <a:noFill/>
        </p:spPr>
        <p:txBody>
          <a:bodyPr wrap="square">
            <a:spAutoFit/>
          </a:bodyPr>
          <a:lstStyle/>
          <a:p>
            <a:pPr algn="l"/>
            <a:r>
              <a:rPr sz="1200" b="0" i="0">
                <a:solidFill>
                  <a:srgbClr val="000000"/>
                </a:solidFill>
                <a:latin typeface="Calibri"/>
              </a:rPr>
              <a:t>• AI agent, application, or service</a:t>
            </a:r>
          </a:p>
        </p:txBody>
      </p:sp>
      <p:sp>
        <p:nvSpPr>
          <p:cNvPr id="20" name="TextBox 19"/>
          <p:cNvSpPr txBox="1"/>
          <p:nvPr/>
        </p:nvSpPr>
        <p:spPr>
          <a:xfrm>
            <a:off x="4416552" y="2706624"/>
            <a:ext cx="3337560" cy="310896"/>
          </a:xfrm>
          <a:prstGeom prst="rect">
            <a:avLst/>
          </a:prstGeom>
          <a:noFill/>
        </p:spPr>
        <p:txBody>
          <a:bodyPr wrap="square">
            <a:spAutoFit/>
          </a:bodyPr>
          <a:lstStyle/>
          <a:p>
            <a:pPr algn="l"/>
            <a:r>
              <a:rPr sz="1200" b="0" i="0">
                <a:solidFill>
                  <a:srgbClr val="000000"/>
                </a:solidFill>
                <a:latin typeface="Calibri"/>
              </a:rPr>
              <a:t>• Initiates A2A communication</a:t>
            </a:r>
          </a:p>
        </p:txBody>
      </p:sp>
      <p:sp>
        <p:nvSpPr>
          <p:cNvPr id="21" name="TextBox 20"/>
          <p:cNvSpPr txBox="1"/>
          <p:nvPr/>
        </p:nvSpPr>
        <p:spPr>
          <a:xfrm>
            <a:off x="4416552" y="3035808"/>
            <a:ext cx="3337560" cy="310896"/>
          </a:xfrm>
          <a:prstGeom prst="rect">
            <a:avLst/>
          </a:prstGeom>
          <a:noFill/>
        </p:spPr>
        <p:txBody>
          <a:bodyPr wrap="square">
            <a:spAutoFit/>
          </a:bodyPr>
          <a:lstStyle/>
          <a:p>
            <a:pPr algn="l"/>
            <a:r>
              <a:rPr sz="1200" b="0" i="0">
                <a:solidFill>
                  <a:srgbClr val="000000"/>
                </a:solidFill>
                <a:latin typeface="Calibri"/>
              </a:rPr>
              <a:t>• Sends tasks to remote agents</a:t>
            </a:r>
          </a:p>
        </p:txBody>
      </p:sp>
      <p:sp>
        <p:nvSpPr>
          <p:cNvPr id="22" name="TextBox 21"/>
          <p:cNvSpPr txBox="1"/>
          <p:nvPr/>
        </p:nvSpPr>
        <p:spPr>
          <a:xfrm>
            <a:off x="4416552" y="3364992"/>
            <a:ext cx="3337560" cy="310896"/>
          </a:xfrm>
          <a:prstGeom prst="rect">
            <a:avLst/>
          </a:prstGeom>
          <a:noFill/>
        </p:spPr>
        <p:txBody>
          <a:bodyPr wrap="square">
            <a:spAutoFit/>
          </a:bodyPr>
          <a:lstStyle/>
          <a:p>
            <a:pPr algn="l"/>
            <a:r>
              <a:rPr sz="1200" b="0" i="0">
                <a:solidFill>
                  <a:srgbClr val="000000"/>
                </a:solidFill>
                <a:latin typeface="Calibri"/>
              </a:rPr>
              <a:t>• Manages authentication &amp; context</a:t>
            </a:r>
          </a:p>
        </p:txBody>
      </p:sp>
      <p:sp>
        <p:nvSpPr>
          <p:cNvPr id="23" name="TextBox 22"/>
          <p:cNvSpPr txBox="1"/>
          <p:nvPr/>
        </p:nvSpPr>
        <p:spPr>
          <a:xfrm>
            <a:off x="4416552" y="3694176"/>
            <a:ext cx="3337560" cy="310896"/>
          </a:xfrm>
          <a:prstGeom prst="rect">
            <a:avLst/>
          </a:prstGeom>
          <a:noFill/>
        </p:spPr>
        <p:txBody>
          <a:bodyPr wrap="square">
            <a:spAutoFit/>
          </a:bodyPr>
          <a:lstStyle/>
          <a:p>
            <a:pPr algn="l"/>
            <a:r>
              <a:rPr sz="1200" b="0" i="0">
                <a:solidFill>
                  <a:srgbClr val="000000"/>
                </a:solidFill>
                <a:latin typeface="Calibri"/>
              </a:rPr>
              <a:t>• Handles streaming &amp; polling</a:t>
            </a:r>
          </a:p>
        </p:txBody>
      </p:sp>
      <p:sp>
        <p:nvSpPr>
          <p:cNvPr id="24" name="Rectangle 23"/>
          <p:cNvSpPr/>
          <p:nvPr/>
        </p:nvSpPr>
        <p:spPr>
          <a:xfrm>
            <a:off x="8183880" y="1143000"/>
            <a:ext cx="3611880" cy="5212080"/>
          </a:xfrm>
          <a:prstGeom prst="rect">
            <a:avLst/>
          </a:prstGeom>
          <a:solidFill>
            <a:srgbClr val="E8F5E9"/>
          </a:solidFill>
          <a:ln w="2540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183880" y="1143000"/>
            <a:ext cx="3611880" cy="6858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3608" y="1234440"/>
            <a:ext cx="3392424" cy="502920"/>
          </a:xfrm>
          <a:prstGeom prst="rect">
            <a:avLst/>
          </a:prstGeom>
          <a:noFill/>
        </p:spPr>
        <p:txBody>
          <a:bodyPr wrap="square">
            <a:spAutoFit/>
          </a:bodyPr>
          <a:lstStyle/>
          <a:p>
            <a:pPr algn="ctr"/>
            <a:r>
              <a:rPr sz="1600" b="1" i="0">
                <a:solidFill>
                  <a:srgbClr val="FFFFFF"/>
                </a:solidFill>
                <a:latin typeface="Calibri"/>
              </a:rPr>
              <a:t>A2A SERVER
(Remote Agent)</a:t>
            </a:r>
          </a:p>
        </p:txBody>
      </p:sp>
      <p:sp>
        <p:nvSpPr>
          <p:cNvPr id="27" name="TextBox 26"/>
          <p:cNvSpPr txBox="1"/>
          <p:nvPr/>
        </p:nvSpPr>
        <p:spPr>
          <a:xfrm>
            <a:off x="8293608" y="1920240"/>
            <a:ext cx="3392424" cy="365760"/>
          </a:xfrm>
          <a:prstGeom prst="rect">
            <a:avLst/>
          </a:prstGeom>
          <a:noFill/>
        </p:spPr>
        <p:txBody>
          <a:bodyPr wrap="square">
            <a:spAutoFit/>
          </a:bodyPr>
          <a:lstStyle/>
          <a:p>
            <a:pPr algn="l"/>
            <a:r>
              <a:rPr sz="1250" b="1" i="0">
                <a:solidFill>
                  <a:srgbClr val="003087"/>
                </a:solidFill>
                <a:latin typeface="Calibri"/>
              </a:rPr>
              <a:t>AI agent exposing an HTTP endpoint</a:t>
            </a:r>
          </a:p>
        </p:txBody>
      </p:sp>
      <p:sp>
        <p:nvSpPr>
          <p:cNvPr id="28" name="TextBox 27"/>
          <p:cNvSpPr txBox="1"/>
          <p:nvPr/>
        </p:nvSpPr>
        <p:spPr>
          <a:xfrm>
            <a:off x="8348472" y="2377440"/>
            <a:ext cx="3337560" cy="310896"/>
          </a:xfrm>
          <a:prstGeom prst="rect">
            <a:avLst/>
          </a:prstGeom>
          <a:noFill/>
        </p:spPr>
        <p:txBody>
          <a:bodyPr wrap="square">
            <a:spAutoFit/>
          </a:bodyPr>
          <a:lstStyle/>
          <a:p>
            <a:pPr algn="l"/>
            <a:r>
              <a:rPr sz="1200" b="0" i="0">
                <a:solidFill>
                  <a:srgbClr val="000000"/>
                </a:solidFill>
                <a:latin typeface="Calibri"/>
              </a:rPr>
              <a:t>• Implements the A2A specification</a:t>
            </a:r>
          </a:p>
        </p:txBody>
      </p:sp>
      <p:sp>
        <p:nvSpPr>
          <p:cNvPr id="29" name="TextBox 28"/>
          <p:cNvSpPr txBox="1"/>
          <p:nvPr/>
        </p:nvSpPr>
        <p:spPr>
          <a:xfrm>
            <a:off x="8348472" y="2706624"/>
            <a:ext cx="3337560" cy="310896"/>
          </a:xfrm>
          <a:prstGeom prst="rect">
            <a:avLst/>
          </a:prstGeom>
          <a:noFill/>
        </p:spPr>
        <p:txBody>
          <a:bodyPr wrap="square">
            <a:spAutoFit/>
          </a:bodyPr>
          <a:lstStyle/>
          <a:p>
            <a:pPr algn="l"/>
            <a:r>
              <a:rPr sz="1200" b="0" i="0">
                <a:solidFill>
                  <a:srgbClr val="000000"/>
                </a:solidFill>
                <a:latin typeface="Calibri"/>
              </a:rPr>
              <a:t>• Receives and processes tasks</a:t>
            </a:r>
          </a:p>
        </p:txBody>
      </p:sp>
      <p:sp>
        <p:nvSpPr>
          <p:cNvPr id="30" name="TextBox 29"/>
          <p:cNvSpPr txBox="1"/>
          <p:nvPr/>
        </p:nvSpPr>
        <p:spPr>
          <a:xfrm>
            <a:off x="8348472" y="3035808"/>
            <a:ext cx="3337560" cy="310896"/>
          </a:xfrm>
          <a:prstGeom prst="rect">
            <a:avLst/>
          </a:prstGeom>
          <a:noFill/>
        </p:spPr>
        <p:txBody>
          <a:bodyPr wrap="square">
            <a:spAutoFit/>
          </a:bodyPr>
          <a:lstStyle/>
          <a:p>
            <a:pPr algn="l"/>
            <a:r>
              <a:rPr sz="1200" b="0" i="0">
                <a:solidFill>
                  <a:srgbClr val="000000"/>
                </a:solidFill>
                <a:latin typeface="Calibri"/>
              </a:rPr>
              <a:t>• Returns messages and artifacts</a:t>
            </a:r>
          </a:p>
        </p:txBody>
      </p:sp>
      <p:sp>
        <p:nvSpPr>
          <p:cNvPr id="31" name="TextBox 30"/>
          <p:cNvSpPr txBox="1"/>
          <p:nvPr/>
        </p:nvSpPr>
        <p:spPr>
          <a:xfrm>
            <a:off x="8348472" y="3364992"/>
            <a:ext cx="3337560" cy="310896"/>
          </a:xfrm>
          <a:prstGeom prst="rect">
            <a:avLst/>
          </a:prstGeom>
          <a:noFill/>
        </p:spPr>
        <p:txBody>
          <a:bodyPr wrap="square">
            <a:spAutoFit/>
          </a:bodyPr>
          <a:lstStyle/>
          <a:p>
            <a:pPr algn="l"/>
            <a:r>
              <a:rPr sz="1200" b="0" i="0">
                <a:solidFill>
                  <a:srgbClr val="000000"/>
                </a:solidFill>
                <a:latin typeface="Calibri"/>
              </a:rPr>
              <a:t>• Opaque to the client — internal</a:t>
            </a:r>
          </a:p>
        </p:txBody>
      </p:sp>
      <p:sp>
        <p:nvSpPr>
          <p:cNvPr id="32" name="TextBox 31"/>
          <p:cNvSpPr txBox="1"/>
          <p:nvPr/>
        </p:nvSpPr>
        <p:spPr>
          <a:xfrm>
            <a:off x="8348472" y="3694176"/>
            <a:ext cx="3337560" cy="310896"/>
          </a:xfrm>
          <a:prstGeom prst="rect">
            <a:avLst/>
          </a:prstGeom>
          <a:noFill/>
        </p:spPr>
        <p:txBody>
          <a:bodyPr wrap="square">
            <a:spAutoFit/>
          </a:bodyPr>
          <a:lstStyle/>
          <a:p>
            <a:pPr algn="l"/>
            <a:r>
              <a:rPr sz="1200" b="0" i="0">
                <a:solidFill>
                  <a:srgbClr val="000000"/>
                </a:solidFill>
                <a:latin typeface="Calibri"/>
              </a:rPr>
              <a:t>• logic never exposed</a:t>
            </a:r>
          </a:p>
        </p:txBody>
      </p:sp>
      <p:sp>
        <p:nvSpPr>
          <p:cNvPr id="33" name="Rectangle 32"/>
          <p:cNvSpPr/>
          <p:nvPr/>
        </p:nvSpPr>
        <p:spPr>
          <a:xfrm>
            <a:off x="4005072" y="3520440"/>
            <a:ext cx="246888" cy="32004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77640" y="3502152"/>
            <a:ext cx="320040" cy="347472"/>
          </a:xfrm>
          <a:prstGeom prst="rect">
            <a:avLst/>
          </a:prstGeom>
          <a:noFill/>
        </p:spPr>
        <p:txBody>
          <a:bodyPr wrap="square">
            <a:spAutoFit/>
          </a:bodyPr>
          <a:lstStyle/>
          <a:p>
            <a:pPr algn="ctr"/>
            <a:r>
              <a:rPr sz="2200" b="1" i="0">
                <a:solidFill>
                  <a:srgbClr val="003087"/>
                </a:solidFill>
                <a:latin typeface="Calibri"/>
              </a:rPr>
              <a:t>→</a:t>
            </a:r>
          </a:p>
        </p:txBody>
      </p:sp>
      <p:sp>
        <p:nvSpPr>
          <p:cNvPr id="35" name="Rectangle 34"/>
          <p:cNvSpPr/>
          <p:nvPr/>
        </p:nvSpPr>
        <p:spPr>
          <a:xfrm>
            <a:off x="7982712" y="3520440"/>
            <a:ext cx="246888" cy="32004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55280" y="3502152"/>
            <a:ext cx="320040" cy="347472"/>
          </a:xfrm>
          <a:prstGeom prst="rect">
            <a:avLst/>
          </a:prstGeom>
          <a:noFill/>
        </p:spPr>
        <p:txBody>
          <a:bodyPr wrap="square">
            <a:spAutoFit/>
          </a:bodyPr>
          <a:lstStyle/>
          <a:p>
            <a:pPr algn="ctr"/>
            <a:r>
              <a:rPr sz="2200" b="1" i="0">
                <a:solidFill>
                  <a:srgbClr val="003087"/>
                </a:solidFill>
                <a:latin typeface="Calibri"/>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Fundamental Concepts</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The five core building blocks of the A2A protocol</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2240280" cy="52120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252728"/>
            <a:ext cx="2057400" cy="411480"/>
          </a:xfrm>
          <a:prstGeom prst="rect">
            <a:avLst/>
          </a:prstGeom>
          <a:noFill/>
        </p:spPr>
        <p:txBody>
          <a:bodyPr wrap="square">
            <a:spAutoFit/>
          </a:bodyPr>
          <a:lstStyle/>
          <a:p>
            <a:pPr algn="l"/>
            <a:r>
              <a:rPr sz="1700" b="1" i="0">
                <a:solidFill>
                  <a:srgbClr val="FFB300"/>
                </a:solidFill>
                <a:latin typeface="Calibri"/>
              </a:rPr>
              <a:t>Agent Card</a:t>
            </a:r>
          </a:p>
        </p:txBody>
      </p:sp>
      <p:sp>
        <p:nvSpPr>
          <p:cNvPr id="9" name="Rectangle 8"/>
          <p:cNvSpPr/>
          <p:nvPr/>
        </p:nvSpPr>
        <p:spPr>
          <a:xfrm>
            <a:off x="320040" y="1709928"/>
            <a:ext cx="2240280" cy="2743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801368"/>
            <a:ext cx="2057400" cy="457200"/>
          </a:xfrm>
          <a:prstGeom prst="rect">
            <a:avLst/>
          </a:prstGeom>
          <a:noFill/>
        </p:spPr>
        <p:txBody>
          <a:bodyPr wrap="square">
            <a:spAutoFit/>
          </a:bodyPr>
          <a:lstStyle/>
          <a:p>
            <a:pPr algn="l"/>
            <a:r>
              <a:rPr sz="1150" b="0" i="1">
                <a:solidFill>
                  <a:srgbClr val="B0C4DE"/>
                </a:solidFill>
                <a:latin typeface="Calibri"/>
              </a:rPr>
              <a:t>JSON metadata document for discovery</a:t>
            </a:r>
          </a:p>
        </p:txBody>
      </p:sp>
      <p:sp>
        <p:nvSpPr>
          <p:cNvPr id="11" name="TextBox 10"/>
          <p:cNvSpPr txBox="1"/>
          <p:nvPr/>
        </p:nvSpPr>
        <p:spPr>
          <a:xfrm>
            <a:off x="429768" y="2331720"/>
            <a:ext cx="2020824" cy="347472"/>
          </a:xfrm>
          <a:prstGeom prst="rect">
            <a:avLst/>
          </a:prstGeom>
          <a:noFill/>
        </p:spPr>
        <p:txBody>
          <a:bodyPr wrap="square">
            <a:spAutoFit/>
          </a:bodyPr>
          <a:lstStyle/>
          <a:p>
            <a:pPr algn="l"/>
            <a:r>
              <a:rPr sz="1150" b="0" i="0">
                <a:solidFill>
                  <a:srgbClr val="FFFFFF"/>
                </a:solidFill>
                <a:latin typeface="Calibri"/>
              </a:rPr>
              <a:t>• Describes agent identity</a:t>
            </a:r>
          </a:p>
        </p:txBody>
      </p:sp>
      <p:sp>
        <p:nvSpPr>
          <p:cNvPr id="12" name="TextBox 11"/>
          <p:cNvSpPr txBox="1"/>
          <p:nvPr/>
        </p:nvSpPr>
        <p:spPr>
          <a:xfrm>
            <a:off x="429768" y="2697480"/>
            <a:ext cx="2020824" cy="347472"/>
          </a:xfrm>
          <a:prstGeom prst="rect">
            <a:avLst/>
          </a:prstGeom>
          <a:noFill/>
        </p:spPr>
        <p:txBody>
          <a:bodyPr wrap="square">
            <a:spAutoFit/>
          </a:bodyPr>
          <a:lstStyle/>
          <a:p>
            <a:pPr algn="l"/>
            <a:r>
              <a:rPr sz="1150" b="0" i="0">
                <a:solidFill>
                  <a:srgbClr val="FFFFFF"/>
                </a:solidFill>
                <a:latin typeface="Calibri"/>
              </a:rPr>
              <a:t>• Lists capabilities &amp; skills</a:t>
            </a:r>
          </a:p>
        </p:txBody>
      </p:sp>
      <p:sp>
        <p:nvSpPr>
          <p:cNvPr id="13" name="TextBox 12"/>
          <p:cNvSpPr txBox="1"/>
          <p:nvPr/>
        </p:nvSpPr>
        <p:spPr>
          <a:xfrm>
            <a:off x="429768" y="3063240"/>
            <a:ext cx="2020824" cy="347472"/>
          </a:xfrm>
          <a:prstGeom prst="rect">
            <a:avLst/>
          </a:prstGeom>
          <a:noFill/>
        </p:spPr>
        <p:txBody>
          <a:bodyPr wrap="square">
            <a:spAutoFit/>
          </a:bodyPr>
          <a:lstStyle/>
          <a:p>
            <a:pPr algn="l"/>
            <a:r>
              <a:rPr sz="1150" b="0" i="0">
                <a:solidFill>
                  <a:srgbClr val="FFFFFF"/>
                </a:solidFill>
                <a:latin typeface="Calibri"/>
              </a:rPr>
              <a:t>• Specifies endpoint URL</a:t>
            </a:r>
          </a:p>
        </p:txBody>
      </p:sp>
      <p:sp>
        <p:nvSpPr>
          <p:cNvPr id="14" name="TextBox 13"/>
          <p:cNvSpPr txBox="1"/>
          <p:nvPr/>
        </p:nvSpPr>
        <p:spPr>
          <a:xfrm>
            <a:off x="429768" y="3429000"/>
            <a:ext cx="2020824" cy="347472"/>
          </a:xfrm>
          <a:prstGeom prst="rect">
            <a:avLst/>
          </a:prstGeom>
          <a:noFill/>
        </p:spPr>
        <p:txBody>
          <a:bodyPr wrap="square">
            <a:spAutoFit/>
          </a:bodyPr>
          <a:lstStyle/>
          <a:p>
            <a:pPr algn="l"/>
            <a:r>
              <a:rPr sz="1150" b="0" i="0">
                <a:solidFill>
                  <a:srgbClr val="FFFFFF"/>
                </a:solidFill>
                <a:latin typeface="Calibri"/>
              </a:rPr>
              <a:t>• Declares auth requirements</a:t>
            </a:r>
          </a:p>
        </p:txBody>
      </p:sp>
      <p:sp>
        <p:nvSpPr>
          <p:cNvPr id="15" name="Rectangle 14"/>
          <p:cNvSpPr/>
          <p:nvPr/>
        </p:nvSpPr>
        <p:spPr>
          <a:xfrm>
            <a:off x="2651760" y="1143000"/>
            <a:ext cx="2240280" cy="521208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1252728"/>
            <a:ext cx="2057400" cy="411480"/>
          </a:xfrm>
          <a:prstGeom prst="rect">
            <a:avLst/>
          </a:prstGeom>
          <a:noFill/>
        </p:spPr>
        <p:txBody>
          <a:bodyPr wrap="square">
            <a:spAutoFit/>
          </a:bodyPr>
          <a:lstStyle/>
          <a:p>
            <a:pPr algn="l"/>
            <a:r>
              <a:rPr sz="1700" b="1" i="0">
                <a:solidFill>
                  <a:srgbClr val="FFB300"/>
                </a:solidFill>
                <a:latin typeface="Calibri"/>
              </a:rPr>
              <a:t>Task</a:t>
            </a:r>
          </a:p>
        </p:txBody>
      </p:sp>
      <p:sp>
        <p:nvSpPr>
          <p:cNvPr id="17" name="Rectangle 16"/>
          <p:cNvSpPr/>
          <p:nvPr/>
        </p:nvSpPr>
        <p:spPr>
          <a:xfrm>
            <a:off x="2651760" y="1709928"/>
            <a:ext cx="2240280" cy="2743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0" y="1801368"/>
            <a:ext cx="2057400" cy="457200"/>
          </a:xfrm>
          <a:prstGeom prst="rect">
            <a:avLst/>
          </a:prstGeom>
          <a:noFill/>
        </p:spPr>
        <p:txBody>
          <a:bodyPr wrap="square">
            <a:spAutoFit/>
          </a:bodyPr>
          <a:lstStyle/>
          <a:p>
            <a:pPr algn="l"/>
            <a:r>
              <a:rPr sz="1150" b="0" i="1">
                <a:solidFill>
                  <a:srgbClr val="B0C4DE"/>
                </a:solidFill>
                <a:latin typeface="Calibri"/>
              </a:rPr>
              <a:t>Stateful unit of work with unique ID</a:t>
            </a:r>
          </a:p>
        </p:txBody>
      </p:sp>
      <p:sp>
        <p:nvSpPr>
          <p:cNvPr id="19" name="TextBox 18"/>
          <p:cNvSpPr txBox="1"/>
          <p:nvPr/>
        </p:nvSpPr>
        <p:spPr>
          <a:xfrm>
            <a:off x="2761488" y="2331720"/>
            <a:ext cx="2020824" cy="347472"/>
          </a:xfrm>
          <a:prstGeom prst="rect">
            <a:avLst/>
          </a:prstGeom>
          <a:noFill/>
        </p:spPr>
        <p:txBody>
          <a:bodyPr wrap="square">
            <a:spAutoFit/>
          </a:bodyPr>
          <a:lstStyle/>
          <a:p>
            <a:pPr algn="l"/>
            <a:r>
              <a:rPr sz="1150" b="0" i="0">
                <a:solidFill>
                  <a:srgbClr val="FFFFFF"/>
                </a:solidFill>
                <a:latin typeface="Calibri"/>
              </a:rPr>
              <a:t>• Facilitates long-running ops</a:t>
            </a:r>
          </a:p>
        </p:txBody>
      </p:sp>
      <p:sp>
        <p:nvSpPr>
          <p:cNvPr id="20" name="TextBox 19"/>
          <p:cNvSpPr txBox="1"/>
          <p:nvPr/>
        </p:nvSpPr>
        <p:spPr>
          <a:xfrm>
            <a:off x="2761488" y="2697480"/>
            <a:ext cx="2020824" cy="347472"/>
          </a:xfrm>
          <a:prstGeom prst="rect">
            <a:avLst/>
          </a:prstGeom>
          <a:noFill/>
        </p:spPr>
        <p:txBody>
          <a:bodyPr wrap="square">
            <a:spAutoFit/>
          </a:bodyPr>
          <a:lstStyle/>
          <a:p>
            <a:pPr algn="l"/>
            <a:r>
              <a:rPr sz="1150" b="0" i="0">
                <a:solidFill>
                  <a:srgbClr val="FFFFFF"/>
                </a:solidFill>
                <a:latin typeface="Calibri"/>
              </a:rPr>
              <a:t>• Supports multi-turn interactions</a:t>
            </a:r>
          </a:p>
        </p:txBody>
      </p:sp>
      <p:sp>
        <p:nvSpPr>
          <p:cNvPr id="21" name="TextBox 20"/>
          <p:cNvSpPr txBox="1"/>
          <p:nvPr/>
        </p:nvSpPr>
        <p:spPr>
          <a:xfrm>
            <a:off x="2761488" y="3063240"/>
            <a:ext cx="2020824" cy="347472"/>
          </a:xfrm>
          <a:prstGeom prst="rect">
            <a:avLst/>
          </a:prstGeom>
          <a:noFill/>
        </p:spPr>
        <p:txBody>
          <a:bodyPr wrap="square">
            <a:spAutoFit/>
          </a:bodyPr>
          <a:lstStyle/>
          <a:p>
            <a:pPr algn="l"/>
            <a:r>
              <a:rPr sz="1150" b="0" i="0">
                <a:solidFill>
                  <a:srgbClr val="FFFFFF"/>
                </a:solidFill>
                <a:latin typeface="Calibri"/>
              </a:rPr>
              <a:t>• Has defined lifecycle states</a:t>
            </a:r>
          </a:p>
        </p:txBody>
      </p:sp>
      <p:sp>
        <p:nvSpPr>
          <p:cNvPr id="22" name="TextBox 21"/>
          <p:cNvSpPr txBox="1"/>
          <p:nvPr/>
        </p:nvSpPr>
        <p:spPr>
          <a:xfrm>
            <a:off x="2761488" y="3429000"/>
            <a:ext cx="2020824" cy="347472"/>
          </a:xfrm>
          <a:prstGeom prst="rect">
            <a:avLst/>
          </a:prstGeom>
          <a:noFill/>
        </p:spPr>
        <p:txBody>
          <a:bodyPr wrap="square">
            <a:spAutoFit/>
          </a:bodyPr>
          <a:lstStyle/>
          <a:p>
            <a:pPr algn="l"/>
            <a:r>
              <a:rPr sz="1150" b="0" i="0">
                <a:solidFill>
                  <a:srgbClr val="FFFFFF"/>
                </a:solidFill>
                <a:latin typeface="Calibri"/>
              </a:rPr>
              <a:t>• Identified by taskId</a:t>
            </a:r>
          </a:p>
        </p:txBody>
      </p:sp>
      <p:sp>
        <p:nvSpPr>
          <p:cNvPr id="23" name="Rectangle 22"/>
          <p:cNvSpPr/>
          <p:nvPr/>
        </p:nvSpPr>
        <p:spPr>
          <a:xfrm>
            <a:off x="4983480" y="1143000"/>
            <a:ext cx="2240280" cy="521208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74920" y="1252728"/>
            <a:ext cx="2057400" cy="411480"/>
          </a:xfrm>
          <a:prstGeom prst="rect">
            <a:avLst/>
          </a:prstGeom>
          <a:noFill/>
        </p:spPr>
        <p:txBody>
          <a:bodyPr wrap="square">
            <a:spAutoFit/>
          </a:bodyPr>
          <a:lstStyle/>
          <a:p>
            <a:pPr algn="l"/>
            <a:r>
              <a:rPr sz="1700" b="1" i="0">
                <a:solidFill>
                  <a:srgbClr val="FFB300"/>
                </a:solidFill>
                <a:latin typeface="Calibri"/>
              </a:rPr>
              <a:t>Message</a:t>
            </a:r>
          </a:p>
        </p:txBody>
      </p:sp>
      <p:sp>
        <p:nvSpPr>
          <p:cNvPr id="25" name="Rectangle 24"/>
          <p:cNvSpPr/>
          <p:nvPr/>
        </p:nvSpPr>
        <p:spPr>
          <a:xfrm>
            <a:off x="4983480" y="1709928"/>
            <a:ext cx="2240280" cy="2743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74920" y="1801368"/>
            <a:ext cx="2057400" cy="457200"/>
          </a:xfrm>
          <a:prstGeom prst="rect">
            <a:avLst/>
          </a:prstGeom>
          <a:noFill/>
        </p:spPr>
        <p:txBody>
          <a:bodyPr wrap="square">
            <a:spAutoFit/>
          </a:bodyPr>
          <a:lstStyle/>
          <a:p>
            <a:pPr algn="l"/>
            <a:r>
              <a:rPr sz="1150" b="0" i="1">
                <a:solidFill>
                  <a:srgbClr val="B0C4DE"/>
                </a:solidFill>
                <a:latin typeface="Calibri"/>
              </a:rPr>
              <a:t>Single communication turn</a:t>
            </a:r>
          </a:p>
        </p:txBody>
      </p:sp>
      <p:sp>
        <p:nvSpPr>
          <p:cNvPr id="27" name="TextBox 26"/>
          <p:cNvSpPr txBox="1"/>
          <p:nvPr/>
        </p:nvSpPr>
        <p:spPr>
          <a:xfrm>
            <a:off x="5093208" y="2331720"/>
            <a:ext cx="2020824" cy="347472"/>
          </a:xfrm>
          <a:prstGeom prst="rect">
            <a:avLst/>
          </a:prstGeom>
          <a:noFill/>
        </p:spPr>
        <p:txBody>
          <a:bodyPr wrap="square">
            <a:spAutoFit/>
          </a:bodyPr>
          <a:lstStyle/>
          <a:p>
            <a:pPr algn="l"/>
            <a:r>
              <a:rPr sz="1150" b="0" i="0">
                <a:solidFill>
                  <a:srgbClr val="FFFFFF"/>
                </a:solidFill>
                <a:latin typeface="Calibri"/>
              </a:rPr>
              <a:t>• Role: 'user' or 'agent'</a:t>
            </a:r>
          </a:p>
        </p:txBody>
      </p:sp>
      <p:sp>
        <p:nvSpPr>
          <p:cNvPr id="28" name="TextBox 27"/>
          <p:cNvSpPr txBox="1"/>
          <p:nvPr/>
        </p:nvSpPr>
        <p:spPr>
          <a:xfrm>
            <a:off x="5093208" y="2697480"/>
            <a:ext cx="2020824" cy="347472"/>
          </a:xfrm>
          <a:prstGeom prst="rect">
            <a:avLst/>
          </a:prstGeom>
          <a:noFill/>
        </p:spPr>
        <p:txBody>
          <a:bodyPr wrap="square">
            <a:spAutoFit/>
          </a:bodyPr>
          <a:lstStyle/>
          <a:p>
            <a:pPr algn="l"/>
            <a:r>
              <a:rPr sz="1150" b="0" i="0">
                <a:solidFill>
                  <a:srgbClr val="FFFFFF"/>
                </a:solidFill>
                <a:latin typeface="Calibri"/>
              </a:rPr>
              <a:t>• Contains one or more Parts</a:t>
            </a:r>
          </a:p>
        </p:txBody>
      </p:sp>
      <p:sp>
        <p:nvSpPr>
          <p:cNvPr id="29" name="TextBox 28"/>
          <p:cNvSpPr txBox="1"/>
          <p:nvPr/>
        </p:nvSpPr>
        <p:spPr>
          <a:xfrm>
            <a:off x="5093208" y="3063240"/>
            <a:ext cx="2020824" cy="347472"/>
          </a:xfrm>
          <a:prstGeom prst="rect">
            <a:avLst/>
          </a:prstGeom>
          <a:noFill/>
        </p:spPr>
        <p:txBody>
          <a:bodyPr wrap="square">
            <a:spAutoFit/>
          </a:bodyPr>
          <a:lstStyle/>
          <a:p>
            <a:pPr algn="l"/>
            <a:r>
              <a:rPr sz="1150" b="0" i="0">
                <a:solidFill>
                  <a:srgbClr val="FFFFFF"/>
                </a:solidFill>
                <a:latin typeface="Calibri"/>
              </a:rPr>
              <a:t>• Conveys instructions &amp; context</a:t>
            </a:r>
          </a:p>
        </p:txBody>
      </p:sp>
      <p:sp>
        <p:nvSpPr>
          <p:cNvPr id="30" name="TextBox 29"/>
          <p:cNvSpPr txBox="1"/>
          <p:nvPr/>
        </p:nvSpPr>
        <p:spPr>
          <a:xfrm>
            <a:off x="5093208" y="3429000"/>
            <a:ext cx="2020824" cy="347472"/>
          </a:xfrm>
          <a:prstGeom prst="rect">
            <a:avLst/>
          </a:prstGeom>
          <a:noFill/>
        </p:spPr>
        <p:txBody>
          <a:bodyPr wrap="square">
            <a:spAutoFit/>
          </a:bodyPr>
          <a:lstStyle/>
          <a:p>
            <a:pPr algn="l"/>
            <a:r>
              <a:rPr sz="1150" b="0" i="0">
                <a:solidFill>
                  <a:srgbClr val="FFFFFF"/>
                </a:solidFill>
                <a:latin typeface="Calibri"/>
              </a:rPr>
              <a:t>• Carries answers &amp; requests</a:t>
            </a:r>
          </a:p>
        </p:txBody>
      </p:sp>
      <p:sp>
        <p:nvSpPr>
          <p:cNvPr id="31" name="Rectangle 30"/>
          <p:cNvSpPr/>
          <p:nvPr/>
        </p:nvSpPr>
        <p:spPr>
          <a:xfrm>
            <a:off x="7315200" y="1143000"/>
            <a:ext cx="2240280" cy="52120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06640" y="1252728"/>
            <a:ext cx="2057400" cy="411480"/>
          </a:xfrm>
          <a:prstGeom prst="rect">
            <a:avLst/>
          </a:prstGeom>
          <a:noFill/>
        </p:spPr>
        <p:txBody>
          <a:bodyPr wrap="square">
            <a:spAutoFit/>
          </a:bodyPr>
          <a:lstStyle/>
          <a:p>
            <a:pPr algn="l"/>
            <a:r>
              <a:rPr sz="1700" b="1" i="0">
                <a:solidFill>
                  <a:srgbClr val="FFB300"/>
                </a:solidFill>
                <a:latin typeface="Calibri"/>
              </a:rPr>
              <a:t>Part</a:t>
            </a:r>
          </a:p>
        </p:txBody>
      </p:sp>
      <p:sp>
        <p:nvSpPr>
          <p:cNvPr id="33" name="Rectangle 32"/>
          <p:cNvSpPr/>
          <p:nvPr/>
        </p:nvSpPr>
        <p:spPr>
          <a:xfrm>
            <a:off x="7315200" y="1709928"/>
            <a:ext cx="2240280" cy="2743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640" y="1801368"/>
            <a:ext cx="2057400" cy="457200"/>
          </a:xfrm>
          <a:prstGeom prst="rect">
            <a:avLst/>
          </a:prstGeom>
          <a:noFill/>
        </p:spPr>
        <p:txBody>
          <a:bodyPr wrap="square">
            <a:spAutoFit/>
          </a:bodyPr>
          <a:lstStyle/>
          <a:p>
            <a:pPr algn="l"/>
            <a:r>
              <a:rPr sz="1150" b="0" i="1">
                <a:solidFill>
                  <a:srgbClr val="B0C4DE"/>
                </a:solidFill>
                <a:latin typeface="Calibri"/>
              </a:rPr>
              <a:t>Smallest content container</a:t>
            </a:r>
          </a:p>
        </p:txBody>
      </p:sp>
      <p:sp>
        <p:nvSpPr>
          <p:cNvPr id="35" name="TextBox 34"/>
          <p:cNvSpPr txBox="1"/>
          <p:nvPr/>
        </p:nvSpPr>
        <p:spPr>
          <a:xfrm>
            <a:off x="7424928" y="2331720"/>
            <a:ext cx="2020824" cy="347472"/>
          </a:xfrm>
          <a:prstGeom prst="rect">
            <a:avLst/>
          </a:prstGeom>
          <a:noFill/>
        </p:spPr>
        <p:txBody>
          <a:bodyPr wrap="square">
            <a:spAutoFit/>
          </a:bodyPr>
          <a:lstStyle/>
          <a:p>
            <a:pPr algn="l"/>
            <a:r>
              <a:rPr sz="1150" b="0" i="0">
                <a:solidFill>
                  <a:srgbClr val="FFFFFF"/>
                </a:solidFill>
                <a:latin typeface="Calibri"/>
              </a:rPr>
              <a:t>• TextPart — plain text</a:t>
            </a:r>
          </a:p>
        </p:txBody>
      </p:sp>
      <p:sp>
        <p:nvSpPr>
          <p:cNvPr id="36" name="TextBox 35"/>
          <p:cNvSpPr txBox="1"/>
          <p:nvPr/>
        </p:nvSpPr>
        <p:spPr>
          <a:xfrm>
            <a:off x="7424928" y="2697480"/>
            <a:ext cx="2020824" cy="347472"/>
          </a:xfrm>
          <a:prstGeom prst="rect">
            <a:avLst/>
          </a:prstGeom>
          <a:noFill/>
        </p:spPr>
        <p:txBody>
          <a:bodyPr wrap="square">
            <a:spAutoFit/>
          </a:bodyPr>
          <a:lstStyle/>
          <a:p>
            <a:pPr algn="l"/>
            <a:r>
              <a:rPr sz="1150" b="0" i="0">
                <a:solidFill>
                  <a:srgbClr val="FFFFFF"/>
                </a:solidFill>
                <a:latin typeface="Calibri"/>
              </a:rPr>
              <a:t>• FilePart — bytes or URL</a:t>
            </a:r>
          </a:p>
        </p:txBody>
      </p:sp>
      <p:sp>
        <p:nvSpPr>
          <p:cNvPr id="37" name="TextBox 36"/>
          <p:cNvSpPr txBox="1"/>
          <p:nvPr/>
        </p:nvSpPr>
        <p:spPr>
          <a:xfrm>
            <a:off x="7424928" y="3063240"/>
            <a:ext cx="2020824" cy="347472"/>
          </a:xfrm>
          <a:prstGeom prst="rect">
            <a:avLst/>
          </a:prstGeom>
          <a:noFill/>
        </p:spPr>
        <p:txBody>
          <a:bodyPr wrap="square">
            <a:spAutoFit/>
          </a:bodyPr>
          <a:lstStyle/>
          <a:p>
            <a:pPr algn="l"/>
            <a:r>
              <a:rPr sz="1150" b="0" i="0">
                <a:solidFill>
                  <a:srgbClr val="FFFFFF"/>
                </a:solidFill>
                <a:latin typeface="Calibri"/>
              </a:rPr>
              <a:t>• DataPart — structured JSON</a:t>
            </a:r>
          </a:p>
        </p:txBody>
      </p:sp>
      <p:sp>
        <p:nvSpPr>
          <p:cNvPr id="38" name="TextBox 37"/>
          <p:cNvSpPr txBox="1"/>
          <p:nvPr/>
        </p:nvSpPr>
        <p:spPr>
          <a:xfrm>
            <a:off x="7424928" y="3429000"/>
            <a:ext cx="2020824" cy="347472"/>
          </a:xfrm>
          <a:prstGeom prst="rect">
            <a:avLst/>
          </a:prstGeom>
          <a:noFill/>
        </p:spPr>
        <p:txBody>
          <a:bodyPr wrap="square">
            <a:spAutoFit/>
          </a:bodyPr>
          <a:lstStyle/>
          <a:p>
            <a:pPr algn="l"/>
            <a:r>
              <a:rPr sz="1150" b="0" i="0">
                <a:solidFill>
                  <a:srgbClr val="FFFFFF"/>
                </a:solidFill>
                <a:latin typeface="Calibri"/>
              </a:rPr>
              <a:t>• Typed by mediaType (MIME)</a:t>
            </a:r>
          </a:p>
        </p:txBody>
      </p:sp>
      <p:sp>
        <p:nvSpPr>
          <p:cNvPr id="39" name="Rectangle 38"/>
          <p:cNvSpPr/>
          <p:nvPr/>
        </p:nvSpPr>
        <p:spPr>
          <a:xfrm>
            <a:off x="9646920" y="1143000"/>
            <a:ext cx="2240280" cy="521208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738360" y="1252728"/>
            <a:ext cx="2057400" cy="411480"/>
          </a:xfrm>
          <a:prstGeom prst="rect">
            <a:avLst/>
          </a:prstGeom>
          <a:noFill/>
        </p:spPr>
        <p:txBody>
          <a:bodyPr wrap="square">
            <a:spAutoFit/>
          </a:bodyPr>
          <a:lstStyle/>
          <a:p>
            <a:pPr algn="l"/>
            <a:r>
              <a:rPr sz="1700" b="1" i="0">
                <a:solidFill>
                  <a:srgbClr val="FFB300"/>
                </a:solidFill>
                <a:latin typeface="Calibri"/>
              </a:rPr>
              <a:t>Artifact</a:t>
            </a:r>
          </a:p>
        </p:txBody>
      </p:sp>
      <p:sp>
        <p:nvSpPr>
          <p:cNvPr id="41" name="Rectangle 40"/>
          <p:cNvSpPr/>
          <p:nvPr/>
        </p:nvSpPr>
        <p:spPr>
          <a:xfrm>
            <a:off x="9646920" y="1709928"/>
            <a:ext cx="2240280" cy="2743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738360" y="1801368"/>
            <a:ext cx="2057400" cy="457200"/>
          </a:xfrm>
          <a:prstGeom prst="rect">
            <a:avLst/>
          </a:prstGeom>
          <a:noFill/>
        </p:spPr>
        <p:txBody>
          <a:bodyPr wrap="square">
            <a:spAutoFit/>
          </a:bodyPr>
          <a:lstStyle/>
          <a:p>
            <a:pPr algn="l"/>
            <a:r>
              <a:rPr sz="1150" b="0" i="1">
                <a:solidFill>
                  <a:srgbClr val="B0C4DE"/>
                </a:solidFill>
                <a:latin typeface="Calibri"/>
              </a:rPr>
              <a:t>Tangible agent-generated output</a:t>
            </a:r>
          </a:p>
        </p:txBody>
      </p:sp>
      <p:sp>
        <p:nvSpPr>
          <p:cNvPr id="43" name="TextBox 42"/>
          <p:cNvSpPr txBox="1"/>
          <p:nvPr/>
        </p:nvSpPr>
        <p:spPr>
          <a:xfrm>
            <a:off x="9756648" y="2331720"/>
            <a:ext cx="2020824" cy="347472"/>
          </a:xfrm>
          <a:prstGeom prst="rect">
            <a:avLst/>
          </a:prstGeom>
          <a:noFill/>
        </p:spPr>
        <p:txBody>
          <a:bodyPr wrap="square">
            <a:spAutoFit/>
          </a:bodyPr>
          <a:lstStyle/>
          <a:p>
            <a:pPr algn="l"/>
            <a:r>
              <a:rPr sz="1150" b="0" i="0">
                <a:solidFill>
                  <a:srgbClr val="FFFFFF"/>
                </a:solidFill>
                <a:latin typeface="Calibri"/>
              </a:rPr>
              <a:t>• Documents, images, data</a:t>
            </a:r>
          </a:p>
        </p:txBody>
      </p:sp>
      <p:sp>
        <p:nvSpPr>
          <p:cNvPr id="44" name="TextBox 43"/>
          <p:cNvSpPr txBox="1"/>
          <p:nvPr/>
        </p:nvSpPr>
        <p:spPr>
          <a:xfrm>
            <a:off x="9756648" y="2697480"/>
            <a:ext cx="2020824" cy="347472"/>
          </a:xfrm>
          <a:prstGeom prst="rect">
            <a:avLst/>
          </a:prstGeom>
          <a:noFill/>
        </p:spPr>
        <p:txBody>
          <a:bodyPr wrap="square">
            <a:spAutoFit/>
          </a:bodyPr>
          <a:lstStyle/>
          <a:p>
            <a:pPr algn="l"/>
            <a:r>
              <a:rPr sz="1150" b="0" i="0">
                <a:solidFill>
                  <a:srgbClr val="FFFFFF"/>
                </a:solidFill>
                <a:latin typeface="Calibri"/>
              </a:rPr>
              <a:t>• Composed of Parts</a:t>
            </a:r>
          </a:p>
        </p:txBody>
      </p:sp>
      <p:sp>
        <p:nvSpPr>
          <p:cNvPr id="45" name="TextBox 44"/>
          <p:cNvSpPr txBox="1"/>
          <p:nvPr/>
        </p:nvSpPr>
        <p:spPr>
          <a:xfrm>
            <a:off x="9756648" y="3063240"/>
            <a:ext cx="2020824" cy="347472"/>
          </a:xfrm>
          <a:prstGeom prst="rect">
            <a:avLst/>
          </a:prstGeom>
          <a:noFill/>
        </p:spPr>
        <p:txBody>
          <a:bodyPr wrap="square">
            <a:spAutoFit/>
          </a:bodyPr>
          <a:lstStyle/>
          <a:p>
            <a:pPr algn="l"/>
            <a:r>
              <a:rPr sz="1150" b="0" i="0">
                <a:solidFill>
                  <a:srgbClr val="FFFFFF"/>
                </a:solidFill>
                <a:latin typeface="Calibri"/>
              </a:rPr>
              <a:t>• Generated during task processing</a:t>
            </a:r>
          </a:p>
        </p:txBody>
      </p:sp>
      <p:sp>
        <p:nvSpPr>
          <p:cNvPr id="46" name="TextBox 45"/>
          <p:cNvSpPr txBox="1"/>
          <p:nvPr/>
        </p:nvSpPr>
        <p:spPr>
          <a:xfrm>
            <a:off x="9756648" y="3429000"/>
            <a:ext cx="2020824" cy="347472"/>
          </a:xfrm>
          <a:prstGeom prst="rect">
            <a:avLst/>
          </a:prstGeom>
          <a:noFill/>
        </p:spPr>
        <p:txBody>
          <a:bodyPr wrap="square">
            <a:spAutoFit/>
          </a:bodyPr>
          <a:lstStyle/>
          <a:p>
            <a:pPr algn="l"/>
            <a:r>
              <a:rPr sz="1150" b="0" i="0">
                <a:solidFill>
                  <a:srgbClr val="FFFFFF"/>
                </a:solidFill>
                <a:latin typeface="Calibri"/>
              </a:rPr>
              <a:t>• Returned as task result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Agent Card Deep Dive</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The agent's identity &amp; capability advertisement</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97280"/>
            <a:ext cx="5029200" cy="5394960"/>
          </a:xfrm>
          <a:prstGeom prst="rect">
            <a:avLst/>
          </a:prstGeom>
          <a:solidFill>
            <a:srgbClr val="FFFFFF"/>
          </a:solidFill>
          <a:ln w="1905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4754880" cy="365760"/>
          </a:xfrm>
          <a:prstGeom prst="rect">
            <a:avLst/>
          </a:prstGeom>
          <a:noFill/>
        </p:spPr>
        <p:txBody>
          <a:bodyPr wrap="square">
            <a:spAutoFit/>
          </a:bodyPr>
          <a:lstStyle/>
          <a:p>
            <a:pPr algn="l"/>
            <a:r>
              <a:rPr sz="1500" b="1" i="0">
                <a:solidFill>
                  <a:srgbClr val="003087"/>
                </a:solidFill>
                <a:latin typeface="Calibri"/>
              </a:rPr>
              <a:t>What is an Agent Card?</a:t>
            </a:r>
          </a:p>
        </p:txBody>
      </p:sp>
      <p:sp>
        <p:nvSpPr>
          <p:cNvPr id="9" name="TextBox 8"/>
          <p:cNvSpPr txBox="1"/>
          <p:nvPr/>
        </p:nvSpPr>
        <p:spPr>
          <a:xfrm>
            <a:off x="457200" y="1600200"/>
            <a:ext cx="4754880" cy="246888"/>
          </a:xfrm>
          <a:prstGeom prst="rect">
            <a:avLst/>
          </a:prstGeom>
          <a:noFill/>
        </p:spPr>
        <p:txBody>
          <a:bodyPr wrap="square">
            <a:spAutoFit/>
          </a:bodyPr>
          <a:lstStyle/>
          <a:p>
            <a:pPr algn="l"/>
            <a:r>
              <a:rPr sz="1200" b="0" i="0">
                <a:solidFill>
                  <a:srgbClr val="000000"/>
                </a:solidFill>
                <a:latin typeface="Calibri"/>
              </a:rPr>
              <a:t>A JSON metadata document that describes an agent</a:t>
            </a:r>
          </a:p>
        </p:txBody>
      </p:sp>
      <p:sp>
        <p:nvSpPr>
          <p:cNvPr id="10" name="TextBox 9"/>
          <p:cNvSpPr txBox="1"/>
          <p:nvPr/>
        </p:nvSpPr>
        <p:spPr>
          <a:xfrm>
            <a:off x="457200" y="1860803"/>
            <a:ext cx="4754880" cy="246888"/>
          </a:xfrm>
          <a:prstGeom prst="rect">
            <a:avLst/>
          </a:prstGeom>
          <a:noFill/>
        </p:spPr>
        <p:txBody>
          <a:bodyPr wrap="square">
            <a:spAutoFit/>
          </a:bodyPr>
          <a:lstStyle/>
          <a:p>
            <a:pPr algn="l"/>
            <a:r>
              <a:rPr sz="1200" b="0" i="0">
                <a:solidFill>
                  <a:srgbClr val="000000"/>
                </a:solidFill>
                <a:latin typeface="Calibri"/>
              </a:rPr>
              <a:t>Served at:  /.well-known/agent.json</a:t>
            </a:r>
          </a:p>
        </p:txBody>
      </p:sp>
      <p:sp>
        <p:nvSpPr>
          <p:cNvPr id="11" name="TextBox 10"/>
          <p:cNvSpPr txBox="1"/>
          <p:nvPr/>
        </p:nvSpPr>
        <p:spPr>
          <a:xfrm>
            <a:off x="457200" y="2121406"/>
            <a:ext cx="4754880" cy="246888"/>
          </a:xfrm>
          <a:prstGeom prst="rect">
            <a:avLst/>
          </a:prstGeom>
          <a:noFill/>
        </p:spPr>
        <p:txBody>
          <a:bodyPr wrap="square">
            <a:spAutoFit/>
          </a:bodyPr>
          <a:lstStyle/>
          <a:p>
            <a:pPr algn="l"/>
            <a:r>
              <a:rPr sz="1200" b="0" i="0">
                <a:solidFill>
                  <a:srgbClr val="000000"/>
                </a:solidFill>
                <a:latin typeface="Calibri"/>
              </a:rPr>
              <a:t/>
            </a:r>
          </a:p>
        </p:txBody>
      </p:sp>
      <p:sp>
        <p:nvSpPr>
          <p:cNvPr id="12" name="TextBox 11"/>
          <p:cNvSpPr txBox="1"/>
          <p:nvPr/>
        </p:nvSpPr>
        <p:spPr>
          <a:xfrm>
            <a:off x="457200" y="2382009"/>
            <a:ext cx="4754880" cy="246888"/>
          </a:xfrm>
          <a:prstGeom prst="rect">
            <a:avLst/>
          </a:prstGeom>
          <a:noFill/>
        </p:spPr>
        <p:txBody>
          <a:bodyPr wrap="square">
            <a:spAutoFit/>
          </a:bodyPr>
          <a:lstStyle/>
          <a:p>
            <a:pPr algn="l"/>
            <a:r>
              <a:rPr sz="1200" b="1" i="0">
                <a:solidFill>
                  <a:srgbClr val="000000"/>
                </a:solidFill>
                <a:latin typeface="Calibri"/>
              </a:rPr>
              <a:t>CONTAINS:</a:t>
            </a:r>
          </a:p>
        </p:txBody>
      </p:sp>
      <p:sp>
        <p:nvSpPr>
          <p:cNvPr id="13" name="TextBox 12"/>
          <p:cNvSpPr txBox="1"/>
          <p:nvPr/>
        </p:nvSpPr>
        <p:spPr>
          <a:xfrm>
            <a:off x="457200" y="2642612"/>
            <a:ext cx="4754880" cy="246888"/>
          </a:xfrm>
          <a:prstGeom prst="rect">
            <a:avLst/>
          </a:prstGeom>
          <a:noFill/>
        </p:spPr>
        <p:txBody>
          <a:bodyPr wrap="square">
            <a:spAutoFit/>
          </a:bodyPr>
          <a:lstStyle/>
          <a:p>
            <a:pPr algn="l"/>
            <a:r>
              <a:rPr sz="1200" b="0" i="0">
                <a:solidFill>
                  <a:srgbClr val="000000"/>
                </a:solidFill>
                <a:latin typeface="Calibri"/>
              </a:rPr>
              <a:t>  Identity — name, description, version</a:t>
            </a:r>
          </a:p>
        </p:txBody>
      </p:sp>
      <p:sp>
        <p:nvSpPr>
          <p:cNvPr id="14" name="TextBox 13"/>
          <p:cNvSpPr txBox="1"/>
          <p:nvPr/>
        </p:nvSpPr>
        <p:spPr>
          <a:xfrm>
            <a:off x="457200" y="2903215"/>
            <a:ext cx="4754880" cy="246888"/>
          </a:xfrm>
          <a:prstGeom prst="rect">
            <a:avLst/>
          </a:prstGeom>
          <a:noFill/>
        </p:spPr>
        <p:txBody>
          <a:bodyPr wrap="square">
            <a:spAutoFit/>
          </a:bodyPr>
          <a:lstStyle/>
          <a:p>
            <a:pPr algn="l"/>
            <a:r>
              <a:rPr sz="1200" b="0" i="0">
                <a:solidFill>
                  <a:srgbClr val="000000"/>
                </a:solidFill>
                <a:latin typeface="Calibri"/>
              </a:rPr>
              <a:t>  Capabilities — streaming, push notifications</a:t>
            </a:r>
          </a:p>
        </p:txBody>
      </p:sp>
      <p:sp>
        <p:nvSpPr>
          <p:cNvPr id="15" name="TextBox 14"/>
          <p:cNvSpPr txBox="1"/>
          <p:nvPr/>
        </p:nvSpPr>
        <p:spPr>
          <a:xfrm>
            <a:off x="457200" y="3163818"/>
            <a:ext cx="4754880" cy="246888"/>
          </a:xfrm>
          <a:prstGeom prst="rect">
            <a:avLst/>
          </a:prstGeom>
          <a:noFill/>
        </p:spPr>
        <p:txBody>
          <a:bodyPr wrap="square">
            <a:spAutoFit/>
          </a:bodyPr>
          <a:lstStyle/>
          <a:p>
            <a:pPr algn="l"/>
            <a:r>
              <a:rPr sz="1200" b="0" i="0">
                <a:solidFill>
                  <a:srgbClr val="000000"/>
                </a:solidFill>
                <a:latin typeface="Calibri"/>
              </a:rPr>
              <a:t>  Skills — specific tasks the agent can perform</a:t>
            </a:r>
          </a:p>
        </p:txBody>
      </p:sp>
      <p:sp>
        <p:nvSpPr>
          <p:cNvPr id="16" name="TextBox 15"/>
          <p:cNvSpPr txBox="1"/>
          <p:nvPr/>
        </p:nvSpPr>
        <p:spPr>
          <a:xfrm>
            <a:off x="457200" y="3424421"/>
            <a:ext cx="4754880" cy="246888"/>
          </a:xfrm>
          <a:prstGeom prst="rect">
            <a:avLst/>
          </a:prstGeom>
          <a:noFill/>
        </p:spPr>
        <p:txBody>
          <a:bodyPr wrap="square">
            <a:spAutoFit/>
          </a:bodyPr>
          <a:lstStyle/>
          <a:p>
            <a:pPr algn="l"/>
            <a:r>
              <a:rPr sz="1200" b="0" i="0">
                <a:solidFill>
                  <a:srgbClr val="000000"/>
                </a:solidFill>
                <a:latin typeface="Calibri"/>
              </a:rPr>
              <a:t>  Authentication — required schemes &amp; scopes</a:t>
            </a:r>
          </a:p>
        </p:txBody>
      </p:sp>
      <p:sp>
        <p:nvSpPr>
          <p:cNvPr id="17" name="TextBox 16"/>
          <p:cNvSpPr txBox="1"/>
          <p:nvPr/>
        </p:nvSpPr>
        <p:spPr>
          <a:xfrm>
            <a:off x="457200" y="3685024"/>
            <a:ext cx="4754880" cy="246888"/>
          </a:xfrm>
          <a:prstGeom prst="rect">
            <a:avLst/>
          </a:prstGeom>
          <a:noFill/>
        </p:spPr>
        <p:txBody>
          <a:bodyPr wrap="square">
            <a:spAutoFit/>
          </a:bodyPr>
          <a:lstStyle/>
          <a:p>
            <a:pPr algn="l"/>
            <a:r>
              <a:rPr sz="1200" b="0" i="0">
                <a:solidFill>
                  <a:srgbClr val="000000"/>
                </a:solidFill>
                <a:latin typeface="Calibri"/>
              </a:rPr>
              <a:t>  Endpoint URLs — where to send requests</a:t>
            </a:r>
          </a:p>
        </p:txBody>
      </p:sp>
      <p:sp>
        <p:nvSpPr>
          <p:cNvPr id="18" name="TextBox 17"/>
          <p:cNvSpPr txBox="1"/>
          <p:nvPr/>
        </p:nvSpPr>
        <p:spPr>
          <a:xfrm>
            <a:off x="457200" y="3945627"/>
            <a:ext cx="4754880" cy="246888"/>
          </a:xfrm>
          <a:prstGeom prst="rect">
            <a:avLst/>
          </a:prstGeom>
          <a:noFill/>
        </p:spPr>
        <p:txBody>
          <a:bodyPr wrap="square">
            <a:spAutoFit/>
          </a:bodyPr>
          <a:lstStyle/>
          <a:p>
            <a:pPr algn="l"/>
            <a:r>
              <a:rPr sz="1200" b="0" i="0">
                <a:solidFill>
                  <a:srgbClr val="000000"/>
                </a:solidFill>
                <a:latin typeface="Calibri"/>
              </a:rPr>
              <a:t/>
            </a:r>
          </a:p>
        </p:txBody>
      </p:sp>
      <p:sp>
        <p:nvSpPr>
          <p:cNvPr id="19" name="TextBox 18"/>
          <p:cNvSpPr txBox="1"/>
          <p:nvPr/>
        </p:nvSpPr>
        <p:spPr>
          <a:xfrm>
            <a:off x="457200" y="4206230"/>
            <a:ext cx="4754880" cy="246888"/>
          </a:xfrm>
          <a:prstGeom prst="rect">
            <a:avLst/>
          </a:prstGeom>
          <a:noFill/>
        </p:spPr>
        <p:txBody>
          <a:bodyPr wrap="square">
            <a:spAutoFit/>
          </a:bodyPr>
          <a:lstStyle/>
          <a:p>
            <a:pPr algn="l"/>
            <a:r>
              <a:rPr sz="1200" b="1" i="0">
                <a:solidFill>
                  <a:srgbClr val="000000"/>
                </a:solidFill>
                <a:latin typeface="Calibri"/>
              </a:rPr>
              <a:t>USED FOR:</a:t>
            </a:r>
          </a:p>
        </p:txBody>
      </p:sp>
      <p:sp>
        <p:nvSpPr>
          <p:cNvPr id="20" name="TextBox 19"/>
          <p:cNvSpPr txBox="1"/>
          <p:nvPr/>
        </p:nvSpPr>
        <p:spPr>
          <a:xfrm>
            <a:off x="457200" y="4466833"/>
            <a:ext cx="4754880" cy="246888"/>
          </a:xfrm>
          <a:prstGeom prst="rect">
            <a:avLst/>
          </a:prstGeom>
          <a:noFill/>
        </p:spPr>
        <p:txBody>
          <a:bodyPr wrap="square">
            <a:spAutoFit/>
          </a:bodyPr>
          <a:lstStyle/>
          <a:p>
            <a:pPr algn="l"/>
            <a:r>
              <a:rPr sz="1200" b="0" i="0">
                <a:solidFill>
                  <a:srgbClr val="000000"/>
                </a:solidFill>
                <a:latin typeface="Calibri"/>
              </a:rPr>
              <a:t>  Client agent discovery (find who can help)</a:t>
            </a:r>
          </a:p>
        </p:txBody>
      </p:sp>
      <p:sp>
        <p:nvSpPr>
          <p:cNvPr id="21" name="TextBox 20"/>
          <p:cNvSpPr txBox="1"/>
          <p:nvPr/>
        </p:nvSpPr>
        <p:spPr>
          <a:xfrm>
            <a:off x="457200" y="4727436"/>
            <a:ext cx="4754880" cy="246888"/>
          </a:xfrm>
          <a:prstGeom prst="rect">
            <a:avLst/>
          </a:prstGeom>
          <a:noFill/>
        </p:spPr>
        <p:txBody>
          <a:bodyPr wrap="square">
            <a:spAutoFit/>
          </a:bodyPr>
          <a:lstStyle/>
          <a:p>
            <a:pPr algn="l"/>
            <a:r>
              <a:rPr sz="1200" b="0" i="0">
                <a:solidFill>
                  <a:srgbClr val="000000"/>
                </a:solidFill>
                <a:latin typeface="Calibri"/>
              </a:rPr>
              <a:t>  Capability negotiation before connecting</a:t>
            </a:r>
          </a:p>
        </p:txBody>
      </p:sp>
      <p:sp>
        <p:nvSpPr>
          <p:cNvPr id="22" name="TextBox 21"/>
          <p:cNvSpPr txBox="1"/>
          <p:nvPr/>
        </p:nvSpPr>
        <p:spPr>
          <a:xfrm>
            <a:off x="457200" y="4988039"/>
            <a:ext cx="4754880" cy="246888"/>
          </a:xfrm>
          <a:prstGeom prst="rect">
            <a:avLst/>
          </a:prstGeom>
          <a:noFill/>
        </p:spPr>
        <p:txBody>
          <a:bodyPr wrap="square">
            <a:spAutoFit/>
          </a:bodyPr>
          <a:lstStyle/>
          <a:p>
            <a:pPr algn="l"/>
            <a:r>
              <a:rPr sz="1200" b="0" i="0">
                <a:solidFill>
                  <a:srgbClr val="000000"/>
                </a:solidFill>
                <a:latin typeface="Calibri"/>
              </a:rPr>
              <a:t>  Auth setup before sending first message</a:t>
            </a:r>
          </a:p>
        </p:txBody>
      </p:sp>
      <p:sp>
        <p:nvSpPr>
          <p:cNvPr id="23" name="TextBox 22"/>
          <p:cNvSpPr txBox="1"/>
          <p:nvPr/>
        </p:nvSpPr>
        <p:spPr>
          <a:xfrm>
            <a:off x="457200" y="5248642"/>
            <a:ext cx="4754880" cy="246888"/>
          </a:xfrm>
          <a:prstGeom prst="rect">
            <a:avLst/>
          </a:prstGeom>
          <a:noFill/>
        </p:spPr>
        <p:txBody>
          <a:bodyPr wrap="square">
            <a:spAutoFit/>
          </a:bodyPr>
          <a:lstStyle/>
          <a:p>
            <a:pPr algn="l"/>
            <a:r>
              <a:rPr sz="1200" b="0" i="0">
                <a:solidFill>
                  <a:srgbClr val="000000"/>
                </a:solidFill>
                <a:latin typeface="Calibri"/>
              </a:rPr>
              <a:t/>
            </a:r>
          </a:p>
        </p:txBody>
      </p:sp>
      <p:sp>
        <p:nvSpPr>
          <p:cNvPr id="24" name="TextBox 23"/>
          <p:cNvSpPr txBox="1"/>
          <p:nvPr/>
        </p:nvSpPr>
        <p:spPr>
          <a:xfrm>
            <a:off x="457200" y="5509245"/>
            <a:ext cx="4754880" cy="246888"/>
          </a:xfrm>
          <a:prstGeom prst="rect">
            <a:avLst/>
          </a:prstGeom>
          <a:noFill/>
        </p:spPr>
        <p:txBody>
          <a:bodyPr wrap="square">
            <a:spAutoFit/>
          </a:bodyPr>
          <a:lstStyle/>
          <a:p>
            <a:pPr algn="l"/>
            <a:r>
              <a:rPr sz="1200" b="0" i="0">
                <a:solidFill>
                  <a:srgbClr val="000000"/>
                </a:solidFill>
                <a:latin typeface="Calibri"/>
              </a:rPr>
              <a:t>Extended Agent Card available post-auth</a:t>
            </a:r>
          </a:p>
        </p:txBody>
      </p:sp>
      <p:sp>
        <p:nvSpPr>
          <p:cNvPr id="25" name="TextBox 24"/>
          <p:cNvSpPr txBox="1"/>
          <p:nvPr/>
        </p:nvSpPr>
        <p:spPr>
          <a:xfrm>
            <a:off x="457200" y="5769848"/>
            <a:ext cx="4754880" cy="246888"/>
          </a:xfrm>
          <a:prstGeom prst="rect">
            <a:avLst/>
          </a:prstGeom>
          <a:noFill/>
        </p:spPr>
        <p:txBody>
          <a:bodyPr wrap="square">
            <a:spAutoFit/>
          </a:bodyPr>
          <a:lstStyle/>
          <a:p>
            <a:pPr algn="l"/>
            <a:r>
              <a:rPr sz="1200" b="0" i="0">
                <a:solidFill>
                  <a:srgbClr val="000000"/>
                </a:solidFill>
                <a:latin typeface="Calibri"/>
              </a:rPr>
              <a:t>  (reveals additional private capabilities)</a:t>
            </a:r>
          </a:p>
        </p:txBody>
      </p:sp>
      <p:sp>
        <p:nvSpPr>
          <p:cNvPr id="26" name="Rectangle 25"/>
          <p:cNvSpPr/>
          <p:nvPr/>
        </p:nvSpPr>
        <p:spPr>
          <a:xfrm>
            <a:off x="5577840" y="1097280"/>
            <a:ext cx="6309360" cy="539496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715000" y="1170432"/>
            <a:ext cx="6035040" cy="320040"/>
          </a:xfrm>
          <a:prstGeom prst="rect">
            <a:avLst/>
          </a:prstGeom>
          <a:noFill/>
        </p:spPr>
        <p:txBody>
          <a:bodyPr wrap="square">
            <a:spAutoFit/>
          </a:bodyPr>
          <a:lstStyle/>
          <a:p>
            <a:pPr algn="l"/>
            <a:r>
              <a:rPr sz="1000" b="0" i="0">
                <a:solidFill>
                  <a:srgbClr val="6A9F58"/>
                </a:solidFill>
                <a:latin typeface="Courier New"/>
              </a:rPr>
              <a:t>// Example Agent Card (/.well-known/agent.json)</a:t>
            </a:r>
          </a:p>
        </p:txBody>
      </p:sp>
      <p:sp>
        <p:nvSpPr>
          <p:cNvPr id="28" name="TextBox 27"/>
          <p:cNvSpPr txBox="1"/>
          <p:nvPr/>
        </p:nvSpPr>
        <p:spPr>
          <a:xfrm>
            <a:off x="5715000" y="1536192"/>
            <a:ext cx="6035040" cy="246888"/>
          </a:xfrm>
          <a:prstGeom prst="rect">
            <a:avLst/>
          </a:prstGeom>
          <a:noFill/>
        </p:spPr>
        <p:txBody>
          <a:bodyPr wrap="square">
            <a:spAutoFit/>
          </a:bodyPr>
          <a:lstStyle/>
          <a:p>
            <a:pPr algn="l"/>
            <a:r>
              <a:rPr sz="1050" b="0" i="0">
                <a:solidFill>
                  <a:srgbClr val="D4D4D4"/>
                </a:solidFill>
                <a:latin typeface="Courier New"/>
              </a:rPr>
              <a:t>{</a:t>
            </a:r>
          </a:p>
        </p:txBody>
      </p:sp>
      <p:sp>
        <p:nvSpPr>
          <p:cNvPr id="29" name="TextBox 28"/>
          <p:cNvSpPr txBox="1"/>
          <p:nvPr/>
        </p:nvSpPr>
        <p:spPr>
          <a:xfrm>
            <a:off x="5715000" y="1778508"/>
            <a:ext cx="6035040" cy="246888"/>
          </a:xfrm>
          <a:prstGeom prst="rect">
            <a:avLst/>
          </a:prstGeom>
          <a:noFill/>
        </p:spPr>
        <p:txBody>
          <a:bodyPr wrap="square">
            <a:spAutoFit/>
          </a:bodyPr>
          <a:lstStyle/>
          <a:p>
            <a:pPr algn="l"/>
            <a:r>
              <a:rPr sz="1050" b="0" i="0">
                <a:solidFill>
                  <a:srgbClr val="9CDCFE"/>
                </a:solidFill>
                <a:latin typeface="Courier New"/>
              </a:rPr>
              <a:t>  "name": "TravelPlannerAgent",</a:t>
            </a:r>
          </a:p>
        </p:txBody>
      </p:sp>
      <p:sp>
        <p:nvSpPr>
          <p:cNvPr id="30" name="TextBox 29"/>
          <p:cNvSpPr txBox="1"/>
          <p:nvPr/>
        </p:nvSpPr>
        <p:spPr>
          <a:xfrm>
            <a:off x="5715000" y="2020824"/>
            <a:ext cx="6035040" cy="246888"/>
          </a:xfrm>
          <a:prstGeom prst="rect">
            <a:avLst/>
          </a:prstGeom>
          <a:noFill/>
        </p:spPr>
        <p:txBody>
          <a:bodyPr wrap="square">
            <a:spAutoFit/>
          </a:bodyPr>
          <a:lstStyle/>
          <a:p>
            <a:pPr algn="l"/>
            <a:r>
              <a:rPr sz="1050" b="0" i="0">
                <a:solidFill>
                  <a:srgbClr val="9CDCFE"/>
                </a:solidFill>
                <a:latin typeface="Courier New"/>
              </a:rPr>
              <a:t>  "description": "Books flights and hotels",</a:t>
            </a:r>
          </a:p>
        </p:txBody>
      </p:sp>
      <p:sp>
        <p:nvSpPr>
          <p:cNvPr id="31" name="TextBox 30"/>
          <p:cNvSpPr txBox="1"/>
          <p:nvPr/>
        </p:nvSpPr>
        <p:spPr>
          <a:xfrm>
            <a:off x="5715000" y="2263140"/>
            <a:ext cx="6035040" cy="246888"/>
          </a:xfrm>
          <a:prstGeom prst="rect">
            <a:avLst/>
          </a:prstGeom>
          <a:noFill/>
        </p:spPr>
        <p:txBody>
          <a:bodyPr wrap="square">
            <a:spAutoFit/>
          </a:bodyPr>
          <a:lstStyle/>
          <a:p>
            <a:pPr algn="l"/>
            <a:r>
              <a:rPr sz="1050" b="0" i="0">
                <a:solidFill>
                  <a:srgbClr val="9CDCFE"/>
                </a:solidFill>
                <a:latin typeface="Courier New"/>
              </a:rPr>
              <a:t>  "version": "1.0.0",</a:t>
            </a:r>
          </a:p>
        </p:txBody>
      </p:sp>
      <p:sp>
        <p:nvSpPr>
          <p:cNvPr id="32" name="TextBox 31"/>
          <p:cNvSpPr txBox="1"/>
          <p:nvPr/>
        </p:nvSpPr>
        <p:spPr>
          <a:xfrm>
            <a:off x="5715000" y="2505456"/>
            <a:ext cx="6035040" cy="246888"/>
          </a:xfrm>
          <a:prstGeom prst="rect">
            <a:avLst/>
          </a:prstGeom>
          <a:noFill/>
        </p:spPr>
        <p:txBody>
          <a:bodyPr wrap="square">
            <a:spAutoFit/>
          </a:bodyPr>
          <a:lstStyle/>
          <a:p>
            <a:pPr algn="l"/>
            <a:r>
              <a:rPr sz="1050" b="0" i="0">
                <a:solidFill>
                  <a:srgbClr val="9CDCFE"/>
                </a:solidFill>
                <a:latin typeface="Courier New"/>
              </a:rPr>
              <a:t>  "url": "https://travel.example.com/a2a",</a:t>
            </a:r>
          </a:p>
        </p:txBody>
      </p:sp>
      <p:sp>
        <p:nvSpPr>
          <p:cNvPr id="33" name="TextBox 32"/>
          <p:cNvSpPr txBox="1"/>
          <p:nvPr/>
        </p:nvSpPr>
        <p:spPr>
          <a:xfrm>
            <a:off x="5715000" y="2747772"/>
            <a:ext cx="6035040" cy="246888"/>
          </a:xfrm>
          <a:prstGeom prst="rect">
            <a:avLst/>
          </a:prstGeom>
          <a:noFill/>
        </p:spPr>
        <p:txBody>
          <a:bodyPr wrap="square">
            <a:spAutoFit/>
          </a:bodyPr>
          <a:lstStyle/>
          <a:p>
            <a:pPr algn="l"/>
            <a:r>
              <a:rPr sz="1050" b="0" i="0">
                <a:solidFill>
                  <a:srgbClr val="9CDCFE"/>
                </a:solidFill>
                <a:latin typeface="Courier New"/>
              </a:rPr>
              <a:t>  "capabilities": {</a:t>
            </a:r>
          </a:p>
        </p:txBody>
      </p:sp>
      <p:sp>
        <p:nvSpPr>
          <p:cNvPr id="34" name="TextBox 33"/>
          <p:cNvSpPr txBox="1"/>
          <p:nvPr/>
        </p:nvSpPr>
        <p:spPr>
          <a:xfrm>
            <a:off x="5715000" y="2990088"/>
            <a:ext cx="6035040" cy="246888"/>
          </a:xfrm>
          <a:prstGeom prst="rect">
            <a:avLst/>
          </a:prstGeom>
          <a:noFill/>
        </p:spPr>
        <p:txBody>
          <a:bodyPr wrap="square">
            <a:spAutoFit/>
          </a:bodyPr>
          <a:lstStyle/>
          <a:p>
            <a:pPr algn="l"/>
            <a:r>
              <a:rPr sz="1050" b="0" i="0">
                <a:solidFill>
                  <a:srgbClr val="9CDCFE"/>
                </a:solidFill>
                <a:latin typeface="Courier New"/>
              </a:rPr>
              <a:t>    "streaming": true,</a:t>
            </a:r>
          </a:p>
        </p:txBody>
      </p:sp>
      <p:sp>
        <p:nvSpPr>
          <p:cNvPr id="35" name="TextBox 34"/>
          <p:cNvSpPr txBox="1"/>
          <p:nvPr/>
        </p:nvSpPr>
        <p:spPr>
          <a:xfrm>
            <a:off x="5715000" y="3232404"/>
            <a:ext cx="6035040" cy="246888"/>
          </a:xfrm>
          <a:prstGeom prst="rect">
            <a:avLst/>
          </a:prstGeom>
          <a:noFill/>
        </p:spPr>
        <p:txBody>
          <a:bodyPr wrap="square">
            <a:spAutoFit/>
          </a:bodyPr>
          <a:lstStyle/>
          <a:p>
            <a:pPr algn="l"/>
            <a:r>
              <a:rPr sz="1050" b="0" i="0">
                <a:solidFill>
                  <a:srgbClr val="9CDCFE"/>
                </a:solidFill>
                <a:latin typeface="Courier New"/>
              </a:rPr>
              <a:t>    "pushNotifications": true</a:t>
            </a:r>
          </a:p>
        </p:txBody>
      </p:sp>
      <p:sp>
        <p:nvSpPr>
          <p:cNvPr id="36" name="TextBox 35"/>
          <p:cNvSpPr txBox="1"/>
          <p:nvPr/>
        </p:nvSpPr>
        <p:spPr>
          <a:xfrm>
            <a:off x="5715000" y="3474720"/>
            <a:ext cx="6035040" cy="246888"/>
          </a:xfrm>
          <a:prstGeom prst="rect">
            <a:avLst/>
          </a:prstGeom>
          <a:noFill/>
        </p:spPr>
        <p:txBody>
          <a:bodyPr wrap="square">
            <a:spAutoFit/>
          </a:bodyPr>
          <a:lstStyle/>
          <a:p>
            <a:pPr algn="l"/>
            <a:r>
              <a:rPr sz="1050" b="0" i="0">
                <a:solidFill>
                  <a:srgbClr val="D4D4D4"/>
                </a:solidFill>
                <a:latin typeface="Courier New"/>
              </a:rPr>
              <a:t>  },</a:t>
            </a:r>
          </a:p>
        </p:txBody>
      </p:sp>
      <p:sp>
        <p:nvSpPr>
          <p:cNvPr id="37" name="TextBox 36"/>
          <p:cNvSpPr txBox="1"/>
          <p:nvPr/>
        </p:nvSpPr>
        <p:spPr>
          <a:xfrm>
            <a:off x="5715000" y="3717036"/>
            <a:ext cx="6035040" cy="246888"/>
          </a:xfrm>
          <a:prstGeom prst="rect">
            <a:avLst/>
          </a:prstGeom>
          <a:noFill/>
        </p:spPr>
        <p:txBody>
          <a:bodyPr wrap="square">
            <a:spAutoFit/>
          </a:bodyPr>
          <a:lstStyle/>
          <a:p>
            <a:pPr algn="l"/>
            <a:r>
              <a:rPr sz="1050" b="0" i="0">
                <a:solidFill>
                  <a:srgbClr val="9CDCFE"/>
                </a:solidFill>
                <a:latin typeface="Courier New"/>
              </a:rPr>
              <a:t>  "skills": [</a:t>
            </a:r>
          </a:p>
        </p:txBody>
      </p:sp>
      <p:sp>
        <p:nvSpPr>
          <p:cNvPr id="38" name="TextBox 37"/>
          <p:cNvSpPr txBox="1"/>
          <p:nvPr/>
        </p:nvSpPr>
        <p:spPr>
          <a:xfrm>
            <a:off x="5715000" y="3959352"/>
            <a:ext cx="6035040" cy="246888"/>
          </a:xfrm>
          <a:prstGeom prst="rect">
            <a:avLst/>
          </a:prstGeom>
          <a:noFill/>
        </p:spPr>
        <p:txBody>
          <a:bodyPr wrap="square">
            <a:spAutoFit/>
          </a:bodyPr>
          <a:lstStyle/>
          <a:p>
            <a:pPr algn="l"/>
            <a:r>
              <a:rPr sz="1050" b="0" i="0">
                <a:solidFill>
                  <a:srgbClr val="D4D4D4"/>
                </a:solidFill>
                <a:latin typeface="Courier New"/>
              </a:rPr>
              <a:t>    {</a:t>
            </a:r>
          </a:p>
        </p:txBody>
      </p:sp>
      <p:sp>
        <p:nvSpPr>
          <p:cNvPr id="39" name="TextBox 38"/>
          <p:cNvSpPr txBox="1"/>
          <p:nvPr/>
        </p:nvSpPr>
        <p:spPr>
          <a:xfrm>
            <a:off x="5715000" y="4201668"/>
            <a:ext cx="6035040" cy="246888"/>
          </a:xfrm>
          <a:prstGeom prst="rect">
            <a:avLst/>
          </a:prstGeom>
          <a:noFill/>
        </p:spPr>
        <p:txBody>
          <a:bodyPr wrap="square">
            <a:spAutoFit/>
          </a:bodyPr>
          <a:lstStyle/>
          <a:p>
            <a:pPr algn="l"/>
            <a:r>
              <a:rPr sz="1050" b="0" i="0">
                <a:solidFill>
                  <a:srgbClr val="9CDCFE"/>
                </a:solidFill>
                <a:latin typeface="Courier New"/>
              </a:rPr>
              <a:t>      "id": "book-flight",</a:t>
            </a:r>
          </a:p>
        </p:txBody>
      </p:sp>
      <p:sp>
        <p:nvSpPr>
          <p:cNvPr id="40" name="TextBox 39"/>
          <p:cNvSpPr txBox="1"/>
          <p:nvPr/>
        </p:nvSpPr>
        <p:spPr>
          <a:xfrm>
            <a:off x="5715000" y="4443984"/>
            <a:ext cx="6035040" cy="246888"/>
          </a:xfrm>
          <a:prstGeom prst="rect">
            <a:avLst/>
          </a:prstGeom>
          <a:noFill/>
        </p:spPr>
        <p:txBody>
          <a:bodyPr wrap="square">
            <a:spAutoFit/>
          </a:bodyPr>
          <a:lstStyle/>
          <a:p>
            <a:pPr algn="l"/>
            <a:r>
              <a:rPr sz="1050" b="0" i="0">
                <a:solidFill>
                  <a:srgbClr val="9CDCFE"/>
                </a:solidFill>
                <a:latin typeface="Courier New"/>
              </a:rPr>
              <a:t>      "name": "Book Flight",</a:t>
            </a:r>
          </a:p>
        </p:txBody>
      </p:sp>
      <p:sp>
        <p:nvSpPr>
          <p:cNvPr id="41" name="TextBox 40"/>
          <p:cNvSpPr txBox="1"/>
          <p:nvPr/>
        </p:nvSpPr>
        <p:spPr>
          <a:xfrm>
            <a:off x="5715000" y="4686300"/>
            <a:ext cx="6035040" cy="246888"/>
          </a:xfrm>
          <a:prstGeom prst="rect">
            <a:avLst/>
          </a:prstGeom>
          <a:noFill/>
        </p:spPr>
        <p:txBody>
          <a:bodyPr wrap="square">
            <a:spAutoFit/>
          </a:bodyPr>
          <a:lstStyle/>
          <a:p>
            <a:pPr algn="l"/>
            <a:r>
              <a:rPr sz="1050" b="0" i="0">
                <a:solidFill>
                  <a:srgbClr val="9CDCFE"/>
                </a:solidFill>
                <a:latin typeface="Courier New"/>
              </a:rPr>
              <a:t>      "description": "Search and book flights"</a:t>
            </a:r>
          </a:p>
        </p:txBody>
      </p:sp>
      <p:sp>
        <p:nvSpPr>
          <p:cNvPr id="42" name="TextBox 41"/>
          <p:cNvSpPr txBox="1"/>
          <p:nvPr/>
        </p:nvSpPr>
        <p:spPr>
          <a:xfrm>
            <a:off x="5715000" y="4928616"/>
            <a:ext cx="6035040" cy="246888"/>
          </a:xfrm>
          <a:prstGeom prst="rect">
            <a:avLst/>
          </a:prstGeom>
          <a:noFill/>
        </p:spPr>
        <p:txBody>
          <a:bodyPr wrap="square">
            <a:spAutoFit/>
          </a:bodyPr>
          <a:lstStyle/>
          <a:p>
            <a:pPr algn="l"/>
            <a:r>
              <a:rPr sz="1050" b="0" i="0">
                <a:solidFill>
                  <a:srgbClr val="D4D4D4"/>
                </a:solidFill>
                <a:latin typeface="Courier New"/>
              </a:rPr>
              <a:t>    }</a:t>
            </a:r>
          </a:p>
        </p:txBody>
      </p:sp>
      <p:sp>
        <p:nvSpPr>
          <p:cNvPr id="43" name="TextBox 42"/>
          <p:cNvSpPr txBox="1"/>
          <p:nvPr/>
        </p:nvSpPr>
        <p:spPr>
          <a:xfrm>
            <a:off x="5715000" y="5170932"/>
            <a:ext cx="6035040" cy="246888"/>
          </a:xfrm>
          <a:prstGeom prst="rect">
            <a:avLst/>
          </a:prstGeom>
          <a:noFill/>
        </p:spPr>
        <p:txBody>
          <a:bodyPr wrap="square">
            <a:spAutoFit/>
          </a:bodyPr>
          <a:lstStyle/>
          <a:p>
            <a:pPr algn="l"/>
            <a:r>
              <a:rPr sz="1050" b="0" i="0">
                <a:solidFill>
                  <a:srgbClr val="D4D4D4"/>
                </a:solidFill>
                <a:latin typeface="Courier New"/>
              </a:rPr>
              <a:t>  ],</a:t>
            </a:r>
          </a:p>
        </p:txBody>
      </p:sp>
      <p:sp>
        <p:nvSpPr>
          <p:cNvPr id="44" name="TextBox 43"/>
          <p:cNvSpPr txBox="1"/>
          <p:nvPr/>
        </p:nvSpPr>
        <p:spPr>
          <a:xfrm>
            <a:off x="5715000" y="5413248"/>
            <a:ext cx="6035040" cy="246888"/>
          </a:xfrm>
          <a:prstGeom prst="rect">
            <a:avLst/>
          </a:prstGeom>
          <a:noFill/>
        </p:spPr>
        <p:txBody>
          <a:bodyPr wrap="square">
            <a:spAutoFit/>
          </a:bodyPr>
          <a:lstStyle/>
          <a:p>
            <a:pPr algn="l"/>
            <a:r>
              <a:rPr sz="1050" b="0" i="0">
                <a:solidFill>
                  <a:srgbClr val="9CDCFE"/>
                </a:solidFill>
                <a:latin typeface="Courier New"/>
              </a:rPr>
              <a:t>  "authentication": {</a:t>
            </a:r>
          </a:p>
        </p:txBody>
      </p:sp>
      <p:sp>
        <p:nvSpPr>
          <p:cNvPr id="45" name="TextBox 44"/>
          <p:cNvSpPr txBox="1"/>
          <p:nvPr/>
        </p:nvSpPr>
        <p:spPr>
          <a:xfrm>
            <a:off x="5715000" y="5655564"/>
            <a:ext cx="6035040" cy="246888"/>
          </a:xfrm>
          <a:prstGeom prst="rect">
            <a:avLst/>
          </a:prstGeom>
          <a:noFill/>
        </p:spPr>
        <p:txBody>
          <a:bodyPr wrap="square">
            <a:spAutoFit/>
          </a:bodyPr>
          <a:lstStyle/>
          <a:p>
            <a:pPr algn="l"/>
            <a:r>
              <a:rPr sz="1050" b="0" i="0">
                <a:solidFill>
                  <a:srgbClr val="9CDCFE"/>
                </a:solidFill>
                <a:latin typeface="Courier New"/>
              </a:rPr>
              <a:t>    "schemes": ["OAuth2"],</a:t>
            </a:r>
          </a:p>
        </p:txBody>
      </p:sp>
      <p:sp>
        <p:nvSpPr>
          <p:cNvPr id="46" name="TextBox 45"/>
          <p:cNvSpPr txBox="1"/>
          <p:nvPr/>
        </p:nvSpPr>
        <p:spPr>
          <a:xfrm>
            <a:off x="5715000" y="5897880"/>
            <a:ext cx="6035040" cy="246888"/>
          </a:xfrm>
          <a:prstGeom prst="rect">
            <a:avLst/>
          </a:prstGeom>
          <a:noFill/>
        </p:spPr>
        <p:txBody>
          <a:bodyPr wrap="square">
            <a:spAutoFit/>
          </a:bodyPr>
          <a:lstStyle/>
          <a:p>
            <a:pPr algn="l"/>
            <a:r>
              <a:rPr sz="1050" b="0" i="0">
                <a:solidFill>
                  <a:srgbClr val="9CDCFE"/>
                </a:solidFill>
                <a:latin typeface="Courier New"/>
              </a:rPr>
              <a:t>    "credentials": null</a:t>
            </a:r>
          </a:p>
        </p:txBody>
      </p:sp>
      <p:sp>
        <p:nvSpPr>
          <p:cNvPr id="47" name="TextBox 46"/>
          <p:cNvSpPr txBox="1"/>
          <p:nvPr/>
        </p:nvSpPr>
        <p:spPr>
          <a:xfrm>
            <a:off x="5715000" y="6140196"/>
            <a:ext cx="6035040" cy="246888"/>
          </a:xfrm>
          <a:prstGeom prst="rect">
            <a:avLst/>
          </a:prstGeom>
          <a:noFill/>
        </p:spPr>
        <p:txBody>
          <a:bodyPr wrap="square">
            <a:spAutoFit/>
          </a:bodyPr>
          <a:lstStyle/>
          <a:p>
            <a:pPr algn="l"/>
            <a:r>
              <a:rPr sz="1050" b="0" i="0">
                <a:solidFill>
                  <a:srgbClr val="D4D4D4"/>
                </a:solidFill>
                <a:latin typeface="Courier New"/>
              </a:rPr>
              <a:t>  }</a:t>
            </a:r>
          </a:p>
        </p:txBody>
      </p:sp>
      <p:sp>
        <p:nvSpPr>
          <p:cNvPr id="48" name="TextBox 47"/>
          <p:cNvSpPr txBox="1"/>
          <p:nvPr/>
        </p:nvSpPr>
        <p:spPr>
          <a:xfrm>
            <a:off x="5715000" y="6382512"/>
            <a:ext cx="6035040" cy="246888"/>
          </a:xfrm>
          <a:prstGeom prst="rect">
            <a:avLst/>
          </a:prstGeom>
          <a:noFill/>
        </p:spPr>
        <p:txBody>
          <a:bodyPr wrap="square">
            <a:spAutoFit/>
          </a:bodyPr>
          <a:lstStyle/>
          <a:p>
            <a:pPr algn="l"/>
            <a:r>
              <a:rPr sz="1050" b="0" i="0">
                <a:solidFill>
                  <a:srgbClr val="D4D4D4"/>
                </a:solidFill>
                <a:latin typeface="Courier New"/>
              </a:rP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The Task Lifecycle</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States and transitions in A2A task processing</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2788920"/>
            <a:ext cx="1965960" cy="8046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852928"/>
            <a:ext cx="1819656" cy="384048"/>
          </a:xfrm>
          <a:prstGeom prst="rect">
            <a:avLst/>
          </a:prstGeom>
          <a:noFill/>
        </p:spPr>
        <p:txBody>
          <a:bodyPr wrap="square">
            <a:spAutoFit/>
          </a:bodyPr>
          <a:lstStyle/>
          <a:p>
            <a:pPr algn="ctr"/>
            <a:r>
              <a:rPr sz="1300" b="1" i="0">
                <a:solidFill>
                  <a:srgbClr val="FFFFFF"/>
                </a:solidFill>
                <a:latin typeface="Calibri"/>
              </a:rPr>
              <a:t>submitted</a:t>
            </a:r>
          </a:p>
        </p:txBody>
      </p:sp>
      <p:sp>
        <p:nvSpPr>
          <p:cNvPr id="9" name="TextBox 8"/>
          <p:cNvSpPr txBox="1"/>
          <p:nvPr/>
        </p:nvSpPr>
        <p:spPr>
          <a:xfrm>
            <a:off x="411480" y="3246120"/>
            <a:ext cx="1874520" cy="301752"/>
          </a:xfrm>
          <a:prstGeom prst="rect">
            <a:avLst/>
          </a:prstGeom>
          <a:noFill/>
        </p:spPr>
        <p:txBody>
          <a:bodyPr wrap="square">
            <a:spAutoFit/>
          </a:bodyPr>
          <a:lstStyle/>
          <a:p>
            <a:pPr algn="ctr"/>
            <a:r>
              <a:rPr sz="900" b="0" i="0">
                <a:solidFill>
                  <a:srgbClr val="FFFFFF"/>
                </a:solidFill>
                <a:latin typeface="Calibri"/>
              </a:rPr>
              <a:t>received · not yet started</a:t>
            </a:r>
          </a:p>
        </p:txBody>
      </p:sp>
      <p:sp>
        <p:nvSpPr>
          <p:cNvPr id="10" name="Rectangle 9"/>
          <p:cNvSpPr/>
          <p:nvPr/>
        </p:nvSpPr>
        <p:spPr>
          <a:xfrm>
            <a:off x="3200400" y="2788920"/>
            <a:ext cx="1965960" cy="80467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73552" y="2852928"/>
            <a:ext cx="1819656" cy="384048"/>
          </a:xfrm>
          <a:prstGeom prst="rect">
            <a:avLst/>
          </a:prstGeom>
          <a:noFill/>
        </p:spPr>
        <p:txBody>
          <a:bodyPr wrap="square">
            <a:spAutoFit/>
          </a:bodyPr>
          <a:lstStyle/>
          <a:p>
            <a:pPr algn="ctr"/>
            <a:r>
              <a:rPr sz="1300" b="1" i="0">
                <a:solidFill>
                  <a:srgbClr val="FFFFFF"/>
                </a:solidFill>
                <a:latin typeface="Calibri"/>
              </a:rPr>
              <a:t>working</a:t>
            </a:r>
          </a:p>
        </p:txBody>
      </p:sp>
      <p:sp>
        <p:nvSpPr>
          <p:cNvPr id="12" name="TextBox 11"/>
          <p:cNvSpPr txBox="1"/>
          <p:nvPr/>
        </p:nvSpPr>
        <p:spPr>
          <a:xfrm>
            <a:off x="3246120" y="3246120"/>
            <a:ext cx="1874520" cy="301752"/>
          </a:xfrm>
          <a:prstGeom prst="rect">
            <a:avLst/>
          </a:prstGeom>
          <a:noFill/>
        </p:spPr>
        <p:txBody>
          <a:bodyPr wrap="square">
            <a:spAutoFit/>
          </a:bodyPr>
          <a:lstStyle/>
          <a:p>
            <a:pPr algn="ctr"/>
            <a:r>
              <a:rPr sz="900" b="0" i="0">
                <a:solidFill>
                  <a:srgbClr val="FFFFFF"/>
                </a:solidFill>
                <a:latin typeface="Calibri"/>
              </a:rPr>
              <a:t>agent actively processing</a:t>
            </a:r>
          </a:p>
        </p:txBody>
      </p:sp>
      <p:sp>
        <p:nvSpPr>
          <p:cNvPr id="13" name="Rectangle 12"/>
          <p:cNvSpPr/>
          <p:nvPr/>
        </p:nvSpPr>
        <p:spPr>
          <a:xfrm>
            <a:off x="8321040" y="1417320"/>
            <a:ext cx="1965960" cy="80467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94192" y="1481328"/>
            <a:ext cx="1819656" cy="384048"/>
          </a:xfrm>
          <a:prstGeom prst="rect">
            <a:avLst/>
          </a:prstGeom>
          <a:noFill/>
        </p:spPr>
        <p:txBody>
          <a:bodyPr wrap="square">
            <a:spAutoFit/>
          </a:bodyPr>
          <a:lstStyle/>
          <a:p>
            <a:pPr algn="ctr"/>
            <a:r>
              <a:rPr sz="1300" b="1" i="0">
                <a:solidFill>
                  <a:srgbClr val="FFFFFF"/>
                </a:solidFill>
                <a:latin typeface="Calibri"/>
              </a:rPr>
              <a:t>completed</a:t>
            </a:r>
          </a:p>
        </p:txBody>
      </p:sp>
      <p:sp>
        <p:nvSpPr>
          <p:cNvPr id="15" name="TextBox 14"/>
          <p:cNvSpPr txBox="1"/>
          <p:nvPr/>
        </p:nvSpPr>
        <p:spPr>
          <a:xfrm>
            <a:off x="8366760" y="1874520"/>
            <a:ext cx="1874520" cy="301752"/>
          </a:xfrm>
          <a:prstGeom prst="rect">
            <a:avLst/>
          </a:prstGeom>
          <a:noFill/>
        </p:spPr>
        <p:txBody>
          <a:bodyPr wrap="square">
            <a:spAutoFit/>
          </a:bodyPr>
          <a:lstStyle/>
          <a:p>
            <a:pPr algn="ctr"/>
            <a:r>
              <a:rPr sz="900" b="0" i="0">
                <a:solidFill>
                  <a:srgbClr val="FFFFFF"/>
                </a:solidFill>
                <a:latin typeface="Calibri"/>
              </a:rPr>
              <a:t>success · artifacts ready</a:t>
            </a:r>
          </a:p>
        </p:txBody>
      </p:sp>
      <p:sp>
        <p:nvSpPr>
          <p:cNvPr id="16" name="Rectangle 15"/>
          <p:cNvSpPr/>
          <p:nvPr/>
        </p:nvSpPr>
        <p:spPr>
          <a:xfrm>
            <a:off x="8321040" y="2788920"/>
            <a:ext cx="1965960" cy="804672"/>
          </a:xfrm>
          <a:prstGeom prst="rect">
            <a:avLst/>
          </a:prstGeom>
          <a:solidFill>
            <a:srgbClr val="C027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94192" y="2852928"/>
            <a:ext cx="1819656" cy="384048"/>
          </a:xfrm>
          <a:prstGeom prst="rect">
            <a:avLst/>
          </a:prstGeom>
          <a:noFill/>
        </p:spPr>
        <p:txBody>
          <a:bodyPr wrap="square">
            <a:spAutoFit/>
          </a:bodyPr>
          <a:lstStyle/>
          <a:p>
            <a:pPr algn="ctr"/>
            <a:r>
              <a:rPr sz="1300" b="1" i="0">
                <a:solidFill>
                  <a:srgbClr val="FFFFFF"/>
                </a:solidFill>
                <a:latin typeface="Calibri"/>
              </a:rPr>
              <a:t>failed</a:t>
            </a:r>
          </a:p>
        </p:txBody>
      </p:sp>
      <p:sp>
        <p:nvSpPr>
          <p:cNvPr id="18" name="TextBox 17"/>
          <p:cNvSpPr txBox="1"/>
          <p:nvPr/>
        </p:nvSpPr>
        <p:spPr>
          <a:xfrm>
            <a:off x="8366760" y="3246120"/>
            <a:ext cx="1874520" cy="301752"/>
          </a:xfrm>
          <a:prstGeom prst="rect">
            <a:avLst/>
          </a:prstGeom>
          <a:noFill/>
        </p:spPr>
        <p:txBody>
          <a:bodyPr wrap="square">
            <a:spAutoFit/>
          </a:bodyPr>
          <a:lstStyle/>
          <a:p>
            <a:pPr algn="ctr"/>
            <a:r>
              <a:rPr sz="900" b="0" i="0">
                <a:solidFill>
                  <a:srgbClr val="FFFFFF"/>
                </a:solidFill>
                <a:latin typeface="Calibri"/>
              </a:rPr>
              <a:t>terminal error state</a:t>
            </a:r>
          </a:p>
        </p:txBody>
      </p:sp>
      <p:sp>
        <p:nvSpPr>
          <p:cNvPr id="19" name="Rectangle 18"/>
          <p:cNvSpPr/>
          <p:nvPr/>
        </p:nvSpPr>
        <p:spPr>
          <a:xfrm>
            <a:off x="8321040" y="4160520"/>
            <a:ext cx="1965960" cy="804672"/>
          </a:xfrm>
          <a:prstGeom prst="rect">
            <a:avLst/>
          </a:prstGeom>
          <a:solidFill>
            <a:srgbClr val="6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94192" y="4224528"/>
            <a:ext cx="1819656" cy="384048"/>
          </a:xfrm>
          <a:prstGeom prst="rect">
            <a:avLst/>
          </a:prstGeom>
          <a:noFill/>
        </p:spPr>
        <p:txBody>
          <a:bodyPr wrap="square">
            <a:spAutoFit/>
          </a:bodyPr>
          <a:lstStyle/>
          <a:p>
            <a:pPr algn="ctr"/>
            <a:r>
              <a:rPr sz="1300" b="1" i="0">
                <a:solidFill>
                  <a:srgbClr val="FFFFFF"/>
                </a:solidFill>
                <a:latin typeface="Calibri"/>
              </a:rPr>
              <a:t>canceled</a:t>
            </a:r>
          </a:p>
        </p:txBody>
      </p:sp>
      <p:sp>
        <p:nvSpPr>
          <p:cNvPr id="21" name="TextBox 20"/>
          <p:cNvSpPr txBox="1"/>
          <p:nvPr/>
        </p:nvSpPr>
        <p:spPr>
          <a:xfrm>
            <a:off x="8366760" y="4617720"/>
            <a:ext cx="1874520" cy="301752"/>
          </a:xfrm>
          <a:prstGeom prst="rect">
            <a:avLst/>
          </a:prstGeom>
          <a:noFill/>
        </p:spPr>
        <p:txBody>
          <a:bodyPr wrap="square">
            <a:spAutoFit/>
          </a:bodyPr>
          <a:lstStyle/>
          <a:p>
            <a:pPr algn="ctr"/>
            <a:r>
              <a:rPr sz="900" b="0" i="0">
                <a:solidFill>
                  <a:srgbClr val="FFFFFF"/>
                </a:solidFill>
                <a:latin typeface="Calibri"/>
              </a:rPr>
              <a:t>canceled by client</a:t>
            </a:r>
          </a:p>
        </p:txBody>
      </p:sp>
      <p:sp>
        <p:nvSpPr>
          <p:cNvPr id="22" name="Rectangle 21"/>
          <p:cNvSpPr/>
          <p:nvPr/>
        </p:nvSpPr>
        <p:spPr>
          <a:xfrm>
            <a:off x="3200400" y="4160520"/>
            <a:ext cx="1965960" cy="804672"/>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73552" y="4224528"/>
            <a:ext cx="1819656" cy="384048"/>
          </a:xfrm>
          <a:prstGeom prst="rect">
            <a:avLst/>
          </a:prstGeom>
          <a:noFill/>
        </p:spPr>
        <p:txBody>
          <a:bodyPr wrap="square">
            <a:spAutoFit/>
          </a:bodyPr>
          <a:lstStyle/>
          <a:p>
            <a:pPr algn="ctr"/>
            <a:r>
              <a:rPr sz="1300" b="1" i="0">
                <a:solidFill>
                  <a:srgbClr val="003087"/>
                </a:solidFill>
                <a:latin typeface="Calibri"/>
              </a:rPr>
              <a:t>input-required</a:t>
            </a:r>
          </a:p>
        </p:txBody>
      </p:sp>
      <p:sp>
        <p:nvSpPr>
          <p:cNvPr id="24" name="TextBox 23"/>
          <p:cNvSpPr txBox="1"/>
          <p:nvPr/>
        </p:nvSpPr>
        <p:spPr>
          <a:xfrm>
            <a:off x="3246120" y="4617720"/>
            <a:ext cx="1874520" cy="301752"/>
          </a:xfrm>
          <a:prstGeom prst="rect">
            <a:avLst/>
          </a:prstGeom>
          <a:noFill/>
        </p:spPr>
        <p:txBody>
          <a:bodyPr wrap="square">
            <a:spAutoFit/>
          </a:bodyPr>
          <a:lstStyle/>
          <a:p>
            <a:pPr algn="ctr"/>
            <a:r>
              <a:rPr sz="900" b="0" i="0">
                <a:solidFill>
                  <a:srgbClr val="003087"/>
                </a:solidFill>
                <a:latin typeface="Calibri"/>
              </a:rPr>
              <a:t>needs more info · multi-turn</a:t>
            </a:r>
          </a:p>
        </p:txBody>
      </p:sp>
      <p:sp>
        <p:nvSpPr>
          <p:cNvPr id="25" name="Rectangle 24"/>
          <p:cNvSpPr/>
          <p:nvPr/>
        </p:nvSpPr>
        <p:spPr>
          <a:xfrm>
            <a:off x="2331720" y="3172968"/>
            <a:ext cx="868680" cy="3657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27248" y="3026664"/>
            <a:ext cx="228600" cy="329184"/>
          </a:xfrm>
          <a:prstGeom prst="rect">
            <a:avLst/>
          </a:prstGeom>
          <a:noFill/>
        </p:spPr>
        <p:txBody>
          <a:bodyPr wrap="square">
            <a:spAutoFit/>
          </a:bodyPr>
          <a:lstStyle/>
          <a:p>
            <a:pPr algn="l"/>
            <a:r>
              <a:rPr sz="1100" b="0" i="0">
                <a:solidFill>
                  <a:srgbClr val="888888"/>
                </a:solidFill>
                <a:latin typeface="Calibri"/>
              </a:rPr>
              <a:t>▶</a:t>
            </a:r>
          </a:p>
        </p:txBody>
      </p:sp>
      <p:sp>
        <p:nvSpPr>
          <p:cNvPr id="27" name="Rectangle 26"/>
          <p:cNvSpPr/>
          <p:nvPr/>
        </p:nvSpPr>
        <p:spPr>
          <a:xfrm>
            <a:off x="5166360" y="3172968"/>
            <a:ext cx="1965960" cy="3657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114032" y="1819656"/>
            <a:ext cx="36576" cy="27432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132320" y="1801368"/>
            <a:ext cx="1188720" cy="3657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7888" y="1655064"/>
            <a:ext cx="228600" cy="329184"/>
          </a:xfrm>
          <a:prstGeom prst="rect">
            <a:avLst/>
          </a:prstGeom>
          <a:noFill/>
        </p:spPr>
        <p:txBody>
          <a:bodyPr wrap="square">
            <a:spAutoFit/>
          </a:bodyPr>
          <a:lstStyle/>
          <a:p>
            <a:pPr algn="l"/>
            <a:r>
              <a:rPr sz="1100" b="0" i="0">
                <a:solidFill>
                  <a:srgbClr val="888888"/>
                </a:solidFill>
                <a:latin typeface="Calibri"/>
              </a:rPr>
              <a:t>▶</a:t>
            </a:r>
          </a:p>
        </p:txBody>
      </p:sp>
      <p:sp>
        <p:nvSpPr>
          <p:cNvPr id="31" name="Rectangle 30"/>
          <p:cNvSpPr/>
          <p:nvPr/>
        </p:nvSpPr>
        <p:spPr>
          <a:xfrm>
            <a:off x="7132320" y="3172968"/>
            <a:ext cx="1188720" cy="3657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47888" y="3026664"/>
            <a:ext cx="228600" cy="329184"/>
          </a:xfrm>
          <a:prstGeom prst="rect">
            <a:avLst/>
          </a:prstGeom>
          <a:noFill/>
        </p:spPr>
        <p:txBody>
          <a:bodyPr wrap="square">
            <a:spAutoFit/>
          </a:bodyPr>
          <a:lstStyle/>
          <a:p>
            <a:pPr algn="l"/>
            <a:r>
              <a:rPr sz="1100" b="0" i="0">
                <a:solidFill>
                  <a:srgbClr val="888888"/>
                </a:solidFill>
                <a:latin typeface="Calibri"/>
              </a:rPr>
              <a:t>▶</a:t>
            </a:r>
          </a:p>
        </p:txBody>
      </p:sp>
      <p:sp>
        <p:nvSpPr>
          <p:cNvPr id="33" name="Rectangle 32"/>
          <p:cNvSpPr/>
          <p:nvPr/>
        </p:nvSpPr>
        <p:spPr>
          <a:xfrm>
            <a:off x="7132320" y="4544568"/>
            <a:ext cx="1188720" cy="36576"/>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47888" y="4398264"/>
            <a:ext cx="228600" cy="329184"/>
          </a:xfrm>
          <a:prstGeom prst="rect">
            <a:avLst/>
          </a:prstGeom>
          <a:noFill/>
        </p:spPr>
        <p:txBody>
          <a:bodyPr wrap="square">
            <a:spAutoFit/>
          </a:bodyPr>
          <a:lstStyle/>
          <a:p>
            <a:pPr algn="l"/>
            <a:r>
              <a:rPr sz="1100" b="0" i="0">
                <a:solidFill>
                  <a:srgbClr val="888888"/>
                </a:solidFill>
                <a:latin typeface="Calibri"/>
              </a:rPr>
              <a:t>▶</a:t>
            </a:r>
          </a:p>
        </p:txBody>
      </p:sp>
      <p:sp>
        <p:nvSpPr>
          <p:cNvPr id="35" name="Rectangle 34"/>
          <p:cNvSpPr/>
          <p:nvPr/>
        </p:nvSpPr>
        <p:spPr>
          <a:xfrm>
            <a:off x="4165092" y="3593592"/>
            <a:ext cx="36576" cy="56692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55364" y="4114800"/>
            <a:ext cx="256032" cy="274320"/>
          </a:xfrm>
          <a:prstGeom prst="rect">
            <a:avLst/>
          </a:prstGeom>
          <a:noFill/>
        </p:spPr>
        <p:txBody>
          <a:bodyPr wrap="square">
            <a:spAutoFit/>
          </a:bodyPr>
          <a:lstStyle/>
          <a:p>
            <a:pPr algn="ctr"/>
            <a:r>
              <a:rPr sz="1100" b="0" i="0">
                <a:solidFill>
                  <a:srgbClr val="FFB300"/>
                </a:solidFill>
                <a:latin typeface="Calibri"/>
              </a:rPr>
              <a:t>▼</a:t>
            </a:r>
          </a:p>
        </p:txBody>
      </p:sp>
      <p:sp>
        <p:nvSpPr>
          <p:cNvPr id="37" name="TextBox 36"/>
          <p:cNvSpPr txBox="1"/>
          <p:nvPr/>
        </p:nvSpPr>
        <p:spPr>
          <a:xfrm>
            <a:off x="411480" y="4325112"/>
            <a:ext cx="2606040" cy="274320"/>
          </a:xfrm>
          <a:prstGeom prst="rect">
            <a:avLst/>
          </a:prstGeom>
          <a:noFill/>
        </p:spPr>
        <p:txBody>
          <a:bodyPr wrap="square">
            <a:spAutoFit/>
          </a:bodyPr>
          <a:lstStyle/>
          <a:p>
            <a:pPr algn="ctr"/>
            <a:r>
              <a:rPr sz="900" b="1" i="0">
                <a:solidFill>
                  <a:srgbClr val="FFB300"/>
                </a:solidFill>
                <a:latin typeface="Calibri"/>
              </a:rPr>
              <a:t>◀ resumes working</a:t>
            </a:r>
          </a:p>
        </p:txBody>
      </p:sp>
      <p:sp>
        <p:nvSpPr>
          <p:cNvPr id="38" name="Rectangle 37"/>
          <p:cNvSpPr/>
          <p:nvPr/>
        </p:nvSpPr>
        <p:spPr>
          <a:xfrm>
            <a:off x="320040" y="5440680"/>
            <a:ext cx="11548872" cy="987552"/>
          </a:xfrm>
          <a:prstGeom prst="rect">
            <a:avLst/>
          </a:prstGeom>
          <a:solidFill>
            <a:srgbClr val="F4F6F9"/>
          </a:solidFill>
          <a:ln w="9525">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5550408"/>
            <a:ext cx="1417320" cy="237744"/>
          </a:xfrm>
          <a:prstGeom prst="rect">
            <a:avLst/>
          </a:prstGeom>
          <a:noFill/>
        </p:spPr>
        <p:txBody>
          <a:bodyPr wrap="square">
            <a:spAutoFit/>
          </a:bodyPr>
          <a:lstStyle/>
          <a:p>
            <a:pPr algn="l"/>
            <a:r>
              <a:rPr sz="950" b="1" i="0">
                <a:solidFill>
                  <a:srgbClr val="003087"/>
                </a:solidFill>
                <a:latin typeface="Calibri"/>
              </a:rPr>
              <a:t>● submitted:</a:t>
            </a:r>
          </a:p>
        </p:txBody>
      </p:sp>
      <p:sp>
        <p:nvSpPr>
          <p:cNvPr id="40" name="TextBox 39"/>
          <p:cNvSpPr txBox="1"/>
          <p:nvPr/>
        </p:nvSpPr>
        <p:spPr>
          <a:xfrm>
            <a:off x="1783080" y="5550408"/>
            <a:ext cx="4251960" cy="237744"/>
          </a:xfrm>
          <a:prstGeom prst="rect">
            <a:avLst/>
          </a:prstGeom>
          <a:noFill/>
        </p:spPr>
        <p:txBody>
          <a:bodyPr wrap="square">
            <a:spAutoFit/>
          </a:bodyPr>
          <a:lstStyle/>
          <a:p>
            <a:pPr algn="l"/>
            <a:r>
              <a:rPr sz="950" b="0" i="0">
                <a:solidFill>
                  <a:srgbClr val="000000"/>
                </a:solidFill>
                <a:latin typeface="Calibri"/>
              </a:rPr>
              <a:t>Task received by server; awaiting processing</a:t>
            </a:r>
          </a:p>
        </p:txBody>
      </p:sp>
      <p:sp>
        <p:nvSpPr>
          <p:cNvPr id="41" name="TextBox 40"/>
          <p:cNvSpPr txBox="1"/>
          <p:nvPr/>
        </p:nvSpPr>
        <p:spPr>
          <a:xfrm>
            <a:off x="6492240" y="5550408"/>
            <a:ext cx="1417320" cy="237744"/>
          </a:xfrm>
          <a:prstGeom prst="rect">
            <a:avLst/>
          </a:prstGeom>
          <a:noFill/>
        </p:spPr>
        <p:txBody>
          <a:bodyPr wrap="square">
            <a:spAutoFit/>
          </a:bodyPr>
          <a:lstStyle/>
          <a:p>
            <a:pPr algn="l"/>
            <a:r>
              <a:rPr sz="950" b="1" i="0">
                <a:solidFill>
                  <a:srgbClr val="1565C0"/>
                </a:solidFill>
                <a:latin typeface="Calibri"/>
              </a:rPr>
              <a:t>● working:</a:t>
            </a:r>
          </a:p>
        </p:txBody>
      </p:sp>
      <p:sp>
        <p:nvSpPr>
          <p:cNvPr id="42" name="TextBox 41"/>
          <p:cNvSpPr txBox="1"/>
          <p:nvPr/>
        </p:nvSpPr>
        <p:spPr>
          <a:xfrm>
            <a:off x="7909560" y="5550408"/>
            <a:ext cx="4251960" cy="237744"/>
          </a:xfrm>
          <a:prstGeom prst="rect">
            <a:avLst/>
          </a:prstGeom>
          <a:noFill/>
        </p:spPr>
        <p:txBody>
          <a:bodyPr wrap="square">
            <a:spAutoFit/>
          </a:bodyPr>
          <a:lstStyle/>
          <a:p>
            <a:pPr algn="l"/>
            <a:r>
              <a:rPr sz="950" b="0" i="0">
                <a:solidFill>
                  <a:srgbClr val="000000"/>
                </a:solidFill>
                <a:latin typeface="Calibri"/>
              </a:rPr>
              <a:t>Agent actively processes; may stream incremental updates</a:t>
            </a:r>
          </a:p>
        </p:txBody>
      </p:sp>
      <p:sp>
        <p:nvSpPr>
          <p:cNvPr id="43" name="TextBox 42"/>
          <p:cNvSpPr txBox="1"/>
          <p:nvPr/>
        </p:nvSpPr>
        <p:spPr>
          <a:xfrm>
            <a:off x="365760" y="5824728"/>
            <a:ext cx="1417320" cy="237744"/>
          </a:xfrm>
          <a:prstGeom prst="rect">
            <a:avLst/>
          </a:prstGeom>
          <a:noFill/>
        </p:spPr>
        <p:txBody>
          <a:bodyPr wrap="square">
            <a:spAutoFit/>
          </a:bodyPr>
          <a:lstStyle/>
          <a:p>
            <a:pPr algn="l"/>
            <a:r>
              <a:rPr sz="950" b="1" i="0">
                <a:solidFill>
                  <a:srgbClr val="FFB300"/>
                </a:solidFill>
                <a:latin typeface="Calibri"/>
              </a:rPr>
              <a:t>● input-required:</a:t>
            </a:r>
          </a:p>
        </p:txBody>
      </p:sp>
      <p:sp>
        <p:nvSpPr>
          <p:cNvPr id="44" name="TextBox 43"/>
          <p:cNvSpPr txBox="1"/>
          <p:nvPr/>
        </p:nvSpPr>
        <p:spPr>
          <a:xfrm>
            <a:off x="1783080" y="5824728"/>
            <a:ext cx="4251960" cy="237744"/>
          </a:xfrm>
          <a:prstGeom prst="rect">
            <a:avLst/>
          </a:prstGeom>
          <a:noFill/>
        </p:spPr>
        <p:txBody>
          <a:bodyPr wrap="square">
            <a:spAutoFit/>
          </a:bodyPr>
          <a:lstStyle/>
          <a:p>
            <a:pPr algn="l"/>
            <a:r>
              <a:rPr sz="950" b="0" i="0">
                <a:solidFill>
                  <a:srgbClr val="000000"/>
                </a:solidFill>
                <a:latin typeface="Calibri"/>
              </a:rPr>
              <a:t>Agent paused; client sends follow-up to resume the task</a:t>
            </a:r>
          </a:p>
        </p:txBody>
      </p:sp>
      <p:sp>
        <p:nvSpPr>
          <p:cNvPr id="45" name="TextBox 44"/>
          <p:cNvSpPr txBox="1"/>
          <p:nvPr/>
        </p:nvSpPr>
        <p:spPr>
          <a:xfrm>
            <a:off x="6492240" y="5824728"/>
            <a:ext cx="1417320" cy="237744"/>
          </a:xfrm>
          <a:prstGeom prst="rect">
            <a:avLst/>
          </a:prstGeom>
          <a:noFill/>
        </p:spPr>
        <p:txBody>
          <a:bodyPr wrap="square">
            <a:spAutoFit/>
          </a:bodyPr>
          <a:lstStyle/>
          <a:p>
            <a:pPr algn="l"/>
            <a:r>
              <a:rPr sz="950" b="1" i="0">
                <a:solidFill>
                  <a:srgbClr val="2E7D32"/>
                </a:solidFill>
                <a:latin typeface="Calibri"/>
              </a:rPr>
              <a:t>● completed:</a:t>
            </a:r>
          </a:p>
        </p:txBody>
      </p:sp>
      <p:sp>
        <p:nvSpPr>
          <p:cNvPr id="46" name="TextBox 45"/>
          <p:cNvSpPr txBox="1"/>
          <p:nvPr/>
        </p:nvSpPr>
        <p:spPr>
          <a:xfrm>
            <a:off x="7909560" y="5824728"/>
            <a:ext cx="4251960" cy="237744"/>
          </a:xfrm>
          <a:prstGeom prst="rect">
            <a:avLst/>
          </a:prstGeom>
          <a:noFill/>
        </p:spPr>
        <p:txBody>
          <a:bodyPr wrap="square">
            <a:spAutoFit/>
          </a:bodyPr>
          <a:lstStyle/>
          <a:p>
            <a:pPr algn="l"/>
            <a:r>
              <a:rPr sz="950" b="0" i="0">
                <a:solidFill>
                  <a:srgbClr val="000000"/>
                </a:solidFill>
                <a:latin typeface="Calibri"/>
              </a:rPr>
              <a:t>Finished successfully; artifacts &amp; messages available</a:t>
            </a:r>
          </a:p>
        </p:txBody>
      </p:sp>
      <p:sp>
        <p:nvSpPr>
          <p:cNvPr id="47" name="TextBox 46"/>
          <p:cNvSpPr txBox="1"/>
          <p:nvPr/>
        </p:nvSpPr>
        <p:spPr>
          <a:xfrm>
            <a:off x="365760" y="6099048"/>
            <a:ext cx="1417320" cy="237744"/>
          </a:xfrm>
          <a:prstGeom prst="rect">
            <a:avLst/>
          </a:prstGeom>
          <a:noFill/>
        </p:spPr>
        <p:txBody>
          <a:bodyPr wrap="square">
            <a:spAutoFit/>
          </a:bodyPr>
          <a:lstStyle/>
          <a:p>
            <a:pPr algn="l"/>
            <a:r>
              <a:rPr sz="950" b="1" i="0">
                <a:solidFill>
                  <a:srgbClr val="C02727"/>
                </a:solidFill>
                <a:latin typeface="Calibri"/>
              </a:rPr>
              <a:t>● failed:</a:t>
            </a:r>
          </a:p>
        </p:txBody>
      </p:sp>
      <p:sp>
        <p:nvSpPr>
          <p:cNvPr id="48" name="TextBox 47"/>
          <p:cNvSpPr txBox="1"/>
          <p:nvPr/>
        </p:nvSpPr>
        <p:spPr>
          <a:xfrm>
            <a:off x="1783080" y="6099048"/>
            <a:ext cx="4251960" cy="237744"/>
          </a:xfrm>
          <a:prstGeom prst="rect">
            <a:avLst/>
          </a:prstGeom>
          <a:noFill/>
        </p:spPr>
        <p:txBody>
          <a:bodyPr wrap="square">
            <a:spAutoFit/>
          </a:bodyPr>
          <a:lstStyle/>
          <a:p>
            <a:pPr algn="l"/>
            <a:r>
              <a:rPr sz="950" b="0" i="0">
                <a:solidFill>
                  <a:srgbClr val="000000"/>
                </a:solidFill>
                <a:latin typeface="Calibri"/>
              </a:rPr>
              <a:t>Terminal error; check task response for details</a:t>
            </a:r>
          </a:p>
        </p:txBody>
      </p:sp>
      <p:sp>
        <p:nvSpPr>
          <p:cNvPr id="49" name="TextBox 48"/>
          <p:cNvSpPr txBox="1"/>
          <p:nvPr/>
        </p:nvSpPr>
        <p:spPr>
          <a:xfrm>
            <a:off x="6492240" y="6099048"/>
            <a:ext cx="1417320" cy="237744"/>
          </a:xfrm>
          <a:prstGeom prst="rect">
            <a:avLst/>
          </a:prstGeom>
          <a:noFill/>
        </p:spPr>
        <p:txBody>
          <a:bodyPr wrap="square">
            <a:spAutoFit/>
          </a:bodyPr>
          <a:lstStyle/>
          <a:p>
            <a:pPr algn="l"/>
            <a:r>
              <a:rPr sz="950" b="1" i="0">
                <a:solidFill>
                  <a:srgbClr val="606060"/>
                </a:solidFill>
                <a:latin typeface="Calibri"/>
              </a:rPr>
              <a:t>● canceled:</a:t>
            </a:r>
          </a:p>
        </p:txBody>
      </p:sp>
      <p:sp>
        <p:nvSpPr>
          <p:cNvPr id="50" name="TextBox 49"/>
          <p:cNvSpPr txBox="1"/>
          <p:nvPr/>
        </p:nvSpPr>
        <p:spPr>
          <a:xfrm>
            <a:off x="7909560" y="6099048"/>
            <a:ext cx="4251960" cy="237744"/>
          </a:xfrm>
          <a:prstGeom prst="rect">
            <a:avLst/>
          </a:prstGeom>
          <a:noFill/>
        </p:spPr>
        <p:txBody>
          <a:bodyPr wrap="square">
            <a:spAutoFit/>
          </a:bodyPr>
          <a:lstStyle/>
          <a:p>
            <a:pPr algn="l"/>
            <a:r>
              <a:rPr sz="950" b="0" i="0">
                <a:solidFill>
                  <a:srgbClr val="000000"/>
                </a:solidFill>
                <a:latin typeface="Calibri"/>
              </a:rPr>
              <a:t>Client called Cancel Task; terminal state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Messages &amp; Parts</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The structure of communication in A2A</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97280"/>
            <a:ext cx="11521440" cy="1554480"/>
          </a:xfrm>
          <a:prstGeom prst="rect">
            <a:avLst/>
          </a:prstGeom>
          <a:solidFill>
            <a:srgbClr val="FFFFFF"/>
          </a:solidFill>
          <a:ln w="1905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4572000" cy="320040"/>
          </a:xfrm>
          <a:prstGeom prst="rect">
            <a:avLst/>
          </a:prstGeom>
          <a:noFill/>
        </p:spPr>
        <p:txBody>
          <a:bodyPr wrap="square">
            <a:spAutoFit/>
          </a:bodyPr>
          <a:lstStyle/>
          <a:p>
            <a:pPr algn="l"/>
            <a:r>
              <a:rPr sz="1300" b="1" i="0">
                <a:solidFill>
                  <a:srgbClr val="003087"/>
                </a:solidFill>
                <a:latin typeface="Calibri"/>
              </a:rPr>
              <a:t>MESSAGE STRUCTURE</a:t>
            </a:r>
          </a:p>
        </p:txBody>
      </p:sp>
      <p:sp>
        <p:nvSpPr>
          <p:cNvPr id="9" name="Rectangle 8"/>
          <p:cNvSpPr/>
          <p:nvPr/>
        </p:nvSpPr>
        <p:spPr>
          <a:xfrm>
            <a:off x="457200" y="1554480"/>
            <a:ext cx="2560320" cy="594360"/>
          </a:xfrm>
          <a:prstGeom prst="rect">
            <a:avLst/>
          </a:prstGeom>
          <a:solidFill>
            <a:srgbClr val="F4F6F9"/>
          </a:solidFill>
          <a:ln w="9525">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581912"/>
            <a:ext cx="2423160" cy="256032"/>
          </a:xfrm>
          <a:prstGeom prst="rect">
            <a:avLst/>
          </a:prstGeom>
          <a:noFill/>
        </p:spPr>
        <p:txBody>
          <a:bodyPr wrap="square">
            <a:spAutoFit/>
          </a:bodyPr>
          <a:lstStyle/>
          <a:p>
            <a:pPr algn="l"/>
            <a:r>
              <a:rPr sz="1200" b="1" i="0">
                <a:solidFill>
                  <a:srgbClr val="003087"/>
                </a:solidFill>
                <a:latin typeface="Courier New"/>
              </a:rPr>
              <a:t>messageId</a:t>
            </a:r>
          </a:p>
        </p:txBody>
      </p:sp>
      <p:sp>
        <p:nvSpPr>
          <p:cNvPr id="11" name="TextBox 10"/>
          <p:cNvSpPr txBox="1"/>
          <p:nvPr/>
        </p:nvSpPr>
        <p:spPr>
          <a:xfrm>
            <a:off x="530352" y="1828800"/>
            <a:ext cx="2423160" cy="274320"/>
          </a:xfrm>
          <a:prstGeom prst="rect">
            <a:avLst/>
          </a:prstGeom>
          <a:noFill/>
        </p:spPr>
        <p:txBody>
          <a:bodyPr wrap="square">
            <a:spAutoFit/>
          </a:bodyPr>
          <a:lstStyle/>
          <a:p>
            <a:pPr algn="l"/>
            <a:r>
              <a:rPr sz="1050" b="0" i="0">
                <a:solidFill>
                  <a:srgbClr val="606060"/>
                </a:solidFill>
                <a:latin typeface="Calibri"/>
              </a:rPr>
              <a:t>Unique identifier for the message</a:t>
            </a:r>
          </a:p>
        </p:txBody>
      </p:sp>
      <p:sp>
        <p:nvSpPr>
          <p:cNvPr id="12" name="Rectangle 11"/>
          <p:cNvSpPr/>
          <p:nvPr/>
        </p:nvSpPr>
        <p:spPr>
          <a:xfrm>
            <a:off x="3474720" y="1554480"/>
            <a:ext cx="2560320" cy="594360"/>
          </a:xfrm>
          <a:prstGeom prst="rect">
            <a:avLst/>
          </a:prstGeom>
          <a:solidFill>
            <a:srgbClr val="F4F6F9"/>
          </a:solidFill>
          <a:ln w="9525">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581912"/>
            <a:ext cx="2423160" cy="256032"/>
          </a:xfrm>
          <a:prstGeom prst="rect">
            <a:avLst/>
          </a:prstGeom>
          <a:noFill/>
        </p:spPr>
        <p:txBody>
          <a:bodyPr wrap="square">
            <a:spAutoFit/>
          </a:bodyPr>
          <a:lstStyle/>
          <a:p>
            <a:pPr algn="l"/>
            <a:r>
              <a:rPr sz="1200" b="1" i="0">
                <a:solidFill>
                  <a:srgbClr val="003087"/>
                </a:solidFill>
                <a:latin typeface="Courier New"/>
              </a:rPr>
              <a:t>taskId</a:t>
            </a:r>
          </a:p>
        </p:txBody>
      </p:sp>
      <p:sp>
        <p:nvSpPr>
          <p:cNvPr id="14" name="TextBox 13"/>
          <p:cNvSpPr txBox="1"/>
          <p:nvPr/>
        </p:nvSpPr>
        <p:spPr>
          <a:xfrm>
            <a:off x="3547872" y="1828800"/>
            <a:ext cx="2423160" cy="274320"/>
          </a:xfrm>
          <a:prstGeom prst="rect">
            <a:avLst/>
          </a:prstGeom>
          <a:noFill/>
        </p:spPr>
        <p:txBody>
          <a:bodyPr wrap="square">
            <a:spAutoFit/>
          </a:bodyPr>
          <a:lstStyle/>
          <a:p>
            <a:pPr algn="l"/>
            <a:r>
              <a:rPr sz="1050" b="0" i="0">
                <a:solidFill>
                  <a:srgbClr val="606060"/>
                </a:solidFill>
                <a:latin typeface="Calibri"/>
              </a:rPr>
              <a:t>Links message to its parent task</a:t>
            </a:r>
          </a:p>
        </p:txBody>
      </p:sp>
      <p:sp>
        <p:nvSpPr>
          <p:cNvPr id="15" name="Rectangle 14"/>
          <p:cNvSpPr/>
          <p:nvPr/>
        </p:nvSpPr>
        <p:spPr>
          <a:xfrm>
            <a:off x="6492240" y="1554480"/>
            <a:ext cx="2560320" cy="594360"/>
          </a:xfrm>
          <a:prstGeom prst="rect">
            <a:avLst/>
          </a:prstGeom>
          <a:solidFill>
            <a:srgbClr val="F4F6F9"/>
          </a:solidFill>
          <a:ln w="9525">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65392" y="1581912"/>
            <a:ext cx="2423160" cy="256032"/>
          </a:xfrm>
          <a:prstGeom prst="rect">
            <a:avLst/>
          </a:prstGeom>
          <a:noFill/>
        </p:spPr>
        <p:txBody>
          <a:bodyPr wrap="square">
            <a:spAutoFit/>
          </a:bodyPr>
          <a:lstStyle/>
          <a:p>
            <a:pPr algn="l"/>
            <a:r>
              <a:rPr sz="1200" b="1" i="0">
                <a:solidFill>
                  <a:srgbClr val="003087"/>
                </a:solidFill>
                <a:latin typeface="Courier New"/>
              </a:rPr>
              <a:t>role</a:t>
            </a:r>
          </a:p>
        </p:txBody>
      </p:sp>
      <p:sp>
        <p:nvSpPr>
          <p:cNvPr id="17" name="TextBox 16"/>
          <p:cNvSpPr txBox="1"/>
          <p:nvPr/>
        </p:nvSpPr>
        <p:spPr>
          <a:xfrm>
            <a:off x="6565392" y="1828800"/>
            <a:ext cx="2423160" cy="274320"/>
          </a:xfrm>
          <a:prstGeom prst="rect">
            <a:avLst/>
          </a:prstGeom>
          <a:noFill/>
        </p:spPr>
        <p:txBody>
          <a:bodyPr wrap="square">
            <a:spAutoFit/>
          </a:bodyPr>
          <a:lstStyle/>
          <a:p>
            <a:pPr algn="l"/>
            <a:r>
              <a:rPr sz="1050" b="0" i="0">
                <a:solidFill>
                  <a:srgbClr val="606060"/>
                </a:solidFill>
                <a:latin typeface="Calibri"/>
              </a:rPr>
              <a:t>"user" or "agent"</a:t>
            </a:r>
          </a:p>
        </p:txBody>
      </p:sp>
      <p:sp>
        <p:nvSpPr>
          <p:cNvPr id="18" name="Rectangle 17"/>
          <p:cNvSpPr/>
          <p:nvPr/>
        </p:nvSpPr>
        <p:spPr>
          <a:xfrm>
            <a:off x="9144000" y="1554480"/>
            <a:ext cx="2560320" cy="594360"/>
          </a:xfrm>
          <a:prstGeom prst="rect">
            <a:avLst/>
          </a:prstGeom>
          <a:solidFill>
            <a:srgbClr val="F4F6F9"/>
          </a:solidFill>
          <a:ln w="9525">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17152" y="1581912"/>
            <a:ext cx="2423160" cy="256032"/>
          </a:xfrm>
          <a:prstGeom prst="rect">
            <a:avLst/>
          </a:prstGeom>
          <a:noFill/>
        </p:spPr>
        <p:txBody>
          <a:bodyPr wrap="square">
            <a:spAutoFit/>
          </a:bodyPr>
          <a:lstStyle/>
          <a:p>
            <a:pPr algn="l"/>
            <a:r>
              <a:rPr sz="1200" b="1" i="0">
                <a:solidFill>
                  <a:srgbClr val="003087"/>
                </a:solidFill>
                <a:latin typeface="Courier New"/>
              </a:rPr>
              <a:t>parts</a:t>
            </a:r>
          </a:p>
        </p:txBody>
      </p:sp>
      <p:sp>
        <p:nvSpPr>
          <p:cNvPr id="20" name="TextBox 19"/>
          <p:cNvSpPr txBox="1"/>
          <p:nvPr/>
        </p:nvSpPr>
        <p:spPr>
          <a:xfrm>
            <a:off x="9217152" y="1828800"/>
            <a:ext cx="2423160" cy="274320"/>
          </a:xfrm>
          <a:prstGeom prst="rect">
            <a:avLst/>
          </a:prstGeom>
          <a:noFill/>
        </p:spPr>
        <p:txBody>
          <a:bodyPr wrap="square">
            <a:spAutoFit/>
          </a:bodyPr>
          <a:lstStyle/>
          <a:p>
            <a:pPr algn="l"/>
            <a:r>
              <a:rPr sz="1050" b="0" i="0">
                <a:solidFill>
                  <a:srgbClr val="606060"/>
                </a:solidFill>
                <a:latin typeface="Calibri"/>
              </a:rPr>
              <a:t>List of Part objects (content)</a:t>
            </a:r>
          </a:p>
        </p:txBody>
      </p:sp>
      <p:sp>
        <p:nvSpPr>
          <p:cNvPr id="21" name="Rectangle 20"/>
          <p:cNvSpPr/>
          <p:nvPr/>
        </p:nvSpPr>
        <p:spPr>
          <a:xfrm>
            <a:off x="320040" y="2834640"/>
            <a:ext cx="2788920" cy="36576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 y="2926080"/>
            <a:ext cx="2569464" cy="347472"/>
          </a:xfrm>
          <a:prstGeom prst="rect">
            <a:avLst/>
          </a:prstGeom>
          <a:noFill/>
        </p:spPr>
        <p:txBody>
          <a:bodyPr wrap="square">
            <a:spAutoFit/>
          </a:bodyPr>
          <a:lstStyle/>
          <a:p>
            <a:pPr algn="l"/>
            <a:r>
              <a:rPr sz="1500" b="1" i="0">
                <a:solidFill>
                  <a:srgbClr val="FFB300"/>
                </a:solidFill>
                <a:latin typeface="Calibri"/>
              </a:rPr>
              <a:t>TextPart</a:t>
            </a:r>
          </a:p>
        </p:txBody>
      </p:sp>
      <p:sp>
        <p:nvSpPr>
          <p:cNvPr id="23" name="TextBox 22"/>
          <p:cNvSpPr txBox="1"/>
          <p:nvPr/>
        </p:nvSpPr>
        <p:spPr>
          <a:xfrm>
            <a:off x="429768" y="3310128"/>
            <a:ext cx="2569464" cy="365760"/>
          </a:xfrm>
          <a:prstGeom prst="rect">
            <a:avLst/>
          </a:prstGeom>
          <a:noFill/>
        </p:spPr>
        <p:txBody>
          <a:bodyPr wrap="square">
            <a:spAutoFit/>
          </a:bodyPr>
          <a:lstStyle/>
          <a:p>
            <a:pPr algn="l"/>
            <a:r>
              <a:rPr sz="1150" b="0" i="1">
                <a:solidFill>
                  <a:srgbClr val="B0C4DE"/>
                </a:solidFill>
                <a:latin typeface="Calibri"/>
              </a:rPr>
              <a:t>Plain text content</a:t>
            </a:r>
          </a:p>
        </p:txBody>
      </p:sp>
      <p:sp>
        <p:nvSpPr>
          <p:cNvPr id="24" name="TextBox 23"/>
          <p:cNvSpPr txBox="1"/>
          <p:nvPr/>
        </p:nvSpPr>
        <p:spPr>
          <a:xfrm>
            <a:off x="429768" y="3749040"/>
            <a:ext cx="2569464" cy="237744"/>
          </a:xfrm>
          <a:prstGeom prst="rect">
            <a:avLst/>
          </a:prstGeom>
          <a:noFill/>
        </p:spPr>
        <p:txBody>
          <a:bodyPr wrap="square">
            <a:spAutoFit/>
          </a:bodyPr>
          <a:lstStyle/>
          <a:p>
            <a:pPr algn="l"/>
            <a:r>
              <a:rPr sz="1000" b="0" i="0">
                <a:solidFill>
                  <a:srgbClr val="D4D4D4"/>
                </a:solidFill>
                <a:latin typeface="Courier New"/>
              </a:rPr>
              <a:t>{ "kind": "text",</a:t>
            </a:r>
          </a:p>
        </p:txBody>
      </p:sp>
      <p:sp>
        <p:nvSpPr>
          <p:cNvPr id="25" name="TextBox 24"/>
          <p:cNvSpPr txBox="1"/>
          <p:nvPr/>
        </p:nvSpPr>
        <p:spPr>
          <a:xfrm>
            <a:off x="429768" y="3995928"/>
            <a:ext cx="2569464" cy="237744"/>
          </a:xfrm>
          <a:prstGeom prst="rect">
            <a:avLst/>
          </a:prstGeom>
          <a:noFill/>
        </p:spPr>
        <p:txBody>
          <a:bodyPr wrap="square">
            <a:spAutoFit/>
          </a:bodyPr>
          <a:lstStyle/>
          <a:p>
            <a:pPr algn="l"/>
            <a:r>
              <a:rPr sz="1000" b="0" i="0">
                <a:solidFill>
                  <a:srgbClr val="D4D4D4"/>
                </a:solidFill>
                <a:latin typeface="Courier New"/>
              </a:rPr>
              <a:t>  "text": "Book a flight to Paris" }</a:t>
            </a:r>
          </a:p>
        </p:txBody>
      </p:sp>
      <p:sp>
        <p:nvSpPr>
          <p:cNvPr id="26" name="TextBox 25"/>
          <p:cNvSpPr txBox="1"/>
          <p:nvPr/>
        </p:nvSpPr>
        <p:spPr>
          <a:xfrm>
            <a:off x="429768" y="6126480"/>
            <a:ext cx="2569464" cy="320040"/>
          </a:xfrm>
          <a:prstGeom prst="rect">
            <a:avLst/>
          </a:prstGeom>
          <a:noFill/>
        </p:spPr>
        <p:txBody>
          <a:bodyPr wrap="square">
            <a:spAutoFit/>
          </a:bodyPr>
          <a:lstStyle/>
          <a:p>
            <a:pPr algn="l"/>
            <a:r>
              <a:rPr sz="1050" b="0" i="1">
                <a:solidFill>
                  <a:srgbClr val="FFB300"/>
                </a:solidFill>
                <a:latin typeface="Calibri"/>
              </a:rPr>
              <a:t>mediaType: text/plain</a:t>
            </a:r>
          </a:p>
        </p:txBody>
      </p:sp>
      <p:sp>
        <p:nvSpPr>
          <p:cNvPr id="27" name="Rectangle 26"/>
          <p:cNvSpPr/>
          <p:nvPr/>
        </p:nvSpPr>
        <p:spPr>
          <a:xfrm>
            <a:off x="3218688" y="2834640"/>
            <a:ext cx="2788920" cy="365760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28416" y="2926080"/>
            <a:ext cx="2569464" cy="347472"/>
          </a:xfrm>
          <a:prstGeom prst="rect">
            <a:avLst/>
          </a:prstGeom>
          <a:noFill/>
        </p:spPr>
        <p:txBody>
          <a:bodyPr wrap="square">
            <a:spAutoFit/>
          </a:bodyPr>
          <a:lstStyle/>
          <a:p>
            <a:pPr algn="l"/>
            <a:r>
              <a:rPr sz="1500" b="1" i="0">
                <a:solidFill>
                  <a:srgbClr val="FFB300"/>
                </a:solidFill>
                <a:latin typeface="Calibri"/>
              </a:rPr>
              <a:t>FilePart</a:t>
            </a:r>
          </a:p>
        </p:txBody>
      </p:sp>
      <p:sp>
        <p:nvSpPr>
          <p:cNvPr id="29" name="TextBox 28"/>
          <p:cNvSpPr txBox="1"/>
          <p:nvPr/>
        </p:nvSpPr>
        <p:spPr>
          <a:xfrm>
            <a:off x="3328416" y="3310128"/>
            <a:ext cx="2569464" cy="365760"/>
          </a:xfrm>
          <a:prstGeom prst="rect">
            <a:avLst/>
          </a:prstGeom>
          <a:noFill/>
        </p:spPr>
        <p:txBody>
          <a:bodyPr wrap="square">
            <a:spAutoFit/>
          </a:bodyPr>
          <a:lstStyle/>
          <a:p>
            <a:pPr algn="l"/>
            <a:r>
              <a:rPr sz="1150" b="0" i="1">
                <a:solidFill>
                  <a:srgbClr val="B0C4DE"/>
                </a:solidFill>
                <a:latin typeface="Calibri"/>
              </a:rPr>
              <a:t>File by URL or raw bytes</a:t>
            </a:r>
          </a:p>
        </p:txBody>
      </p:sp>
      <p:sp>
        <p:nvSpPr>
          <p:cNvPr id="30" name="TextBox 29"/>
          <p:cNvSpPr txBox="1"/>
          <p:nvPr/>
        </p:nvSpPr>
        <p:spPr>
          <a:xfrm>
            <a:off x="3328416" y="3749040"/>
            <a:ext cx="2569464" cy="237744"/>
          </a:xfrm>
          <a:prstGeom prst="rect">
            <a:avLst/>
          </a:prstGeom>
          <a:noFill/>
        </p:spPr>
        <p:txBody>
          <a:bodyPr wrap="square">
            <a:spAutoFit/>
          </a:bodyPr>
          <a:lstStyle/>
          <a:p>
            <a:pPr algn="l"/>
            <a:r>
              <a:rPr sz="1000" b="0" i="0">
                <a:solidFill>
                  <a:srgbClr val="D4D4D4"/>
                </a:solidFill>
                <a:latin typeface="Courier New"/>
              </a:rPr>
              <a:t>{ "kind": "file",</a:t>
            </a:r>
          </a:p>
        </p:txBody>
      </p:sp>
      <p:sp>
        <p:nvSpPr>
          <p:cNvPr id="31" name="TextBox 30"/>
          <p:cNvSpPr txBox="1"/>
          <p:nvPr/>
        </p:nvSpPr>
        <p:spPr>
          <a:xfrm>
            <a:off x="3328416" y="3995928"/>
            <a:ext cx="2569464" cy="237744"/>
          </a:xfrm>
          <a:prstGeom prst="rect">
            <a:avLst/>
          </a:prstGeom>
          <a:noFill/>
        </p:spPr>
        <p:txBody>
          <a:bodyPr wrap="square">
            <a:spAutoFit/>
          </a:bodyPr>
          <a:lstStyle/>
          <a:p>
            <a:pPr algn="l"/>
            <a:r>
              <a:rPr sz="1000" b="0" i="0">
                <a:solidFill>
                  <a:srgbClr val="D4D4D4"/>
                </a:solidFill>
                <a:latin typeface="Courier New"/>
              </a:rPr>
              <a:t>  "file": {</a:t>
            </a:r>
          </a:p>
        </p:txBody>
      </p:sp>
      <p:sp>
        <p:nvSpPr>
          <p:cNvPr id="32" name="TextBox 31"/>
          <p:cNvSpPr txBox="1"/>
          <p:nvPr/>
        </p:nvSpPr>
        <p:spPr>
          <a:xfrm>
            <a:off x="3328416" y="4242816"/>
            <a:ext cx="2569464" cy="237744"/>
          </a:xfrm>
          <a:prstGeom prst="rect">
            <a:avLst/>
          </a:prstGeom>
          <a:noFill/>
        </p:spPr>
        <p:txBody>
          <a:bodyPr wrap="square">
            <a:spAutoFit/>
          </a:bodyPr>
          <a:lstStyle/>
          <a:p>
            <a:pPr algn="l"/>
            <a:r>
              <a:rPr sz="1000" b="0" i="0">
                <a:solidFill>
                  <a:srgbClr val="D4D4D4"/>
                </a:solidFill>
                <a:latin typeface="Courier New"/>
              </a:rPr>
              <a:t>    "url": "https://...",</a:t>
            </a:r>
          </a:p>
        </p:txBody>
      </p:sp>
      <p:sp>
        <p:nvSpPr>
          <p:cNvPr id="33" name="TextBox 32"/>
          <p:cNvSpPr txBox="1"/>
          <p:nvPr/>
        </p:nvSpPr>
        <p:spPr>
          <a:xfrm>
            <a:off x="3328416" y="4489704"/>
            <a:ext cx="2569464" cy="237744"/>
          </a:xfrm>
          <a:prstGeom prst="rect">
            <a:avLst/>
          </a:prstGeom>
          <a:noFill/>
        </p:spPr>
        <p:txBody>
          <a:bodyPr wrap="square">
            <a:spAutoFit/>
          </a:bodyPr>
          <a:lstStyle/>
          <a:p>
            <a:pPr algn="l"/>
            <a:r>
              <a:rPr sz="1000" b="0" i="0">
                <a:solidFill>
                  <a:srgbClr val="D4D4D4"/>
                </a:solidFill>
                <a:latin typeface="Courier New"/>
              </a:rPr>
              <a:t>    "mimeType": "image/png" } }</a:t>
            </a:r>
          </a:p>
        </p:txBody>
      </p:sp>
      <p:sp>
        <p:nvSpPr>
          <p:cNvPr id="34" name="TextBox 33"/>
          <p:cNvSpPr txBox="1"/>
          <p:nvPr/>
        </p:nvSpPr>
        <p:spPr>
          <a:xfrm>
            <a:off x="3328416" y="6126480"/>
            <a:ext cx="2569464" cy="320040"/>
          </a:xfrm>
          <a:prstGeom prst="rect">
            <a:avLst/>
          </a:prstGeom>
          <a:noFill/>
        </p:spPr>
        <p:txBody>
          <a:bodyPr wrap="square">
            <a:spAutoFit/>
          </a:bodyPr>
          <a:lstStyle/>
          <a:p>
            <a:pPr algn="l"/>
            <a:r>
              <a:rPr sz="1050" b="0" i="1">
                <a:solidFill>
                  <a:srgbClr val="FFB300"/>
                </a:solidFill>
                <a:latin typeface="Calibri"/>
              </a:rPr>
              <a:t>mediaType: image/*, application/pdf, etc.</a:t>
            </a:r>
          </a:p>
        </p:txBody>
      </p:sp>
      <p:sp>
        <p:nvSpPr>
          <p:cNvPr id="35" name="Rectangle 34"/>
          <p:cNvSpPr/>
          <p:nvPr/>
        </p:nvSpPr>
        <p:spPr>
          <a:xfrm>
            <a:off x="6117336" y="2834640"/>
            <a:ext cx="2788920" cy="36576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7064" y="2926080"/>
            <a:ext cx="2569464" cy="347472"/>
          </a:xfrm>
          <a:prstGeom prst="rect">
            <a:avLst/>
          </a:prstGeom>
          <a:noFill/>
        </p:spPr>
        <p:txBody>
          <a:bodyPr wrap="square">
            <a:spAutoFit/>
          </a:bodyPr>
          <a:lstStyle/>
          <a:p>
            <a:pPr algn="l"/>
            <a:r>
              <a:rPr sz="1500" b="1" i="0">
                <a:solidFill>
                  <a:srgbClr val="FFB300"/>
                </a:solidFill>
                <a:latin typeface="Calibri"/>
              </a:rPr>
              <a:t>DataPart</a:t>
            </a:r>
          </a:p>
        </p:txBody>
      </p:sp>
      <p:sp>
        <p:nvSpPr>
          <p:cNvPr id="37" name="TextBox 36"/>
          <p:cNvSpPr txBox="1"/>
          <p:nvPr/>
        </p:nvSpPr>
        <p:spPr>
          <a:xfrm>
            <a:off x="6227064" y="3310128"/>
            <a:ext cx="2569464" cy="365760"/>
          </a:xfrm>
          <a:prstGeom prst="rect">
            <a:avLst/>
          </a:prstGeom>
          <a:noFill/>
        </p:spPr>
        <p:txBody>
          <a:bodyPr wrap="square">
            <a:spAutoFit/>
          </a:bodyPr>
          <a:lstStyle/>
          <a:p>
            <a:pPr algn="l"/>
            <a:r>
              <a:rPr sz="1150" b="0" i="1">
                <a:solidFill>
                  <a:srgbClr val="B0C4DE"/>
                </a:solidFill>
                <a:latin typeface="Calibri"/>
              </a:rPr>
              <a:t>Structured JSON data</a:t>
            </a:r>
          </a:p>
        </p:txBody>
      </p:sp>
      <p:sp>
        <p:nvSpPr>
          <p:cNvPr id="38" name="TextBox 37"/>
          <p:cNvSpPr txBox="1"/>
          <p:nvPr/>
        </p:nvSpPr>
        <p:spPr>
          <a:xfrm>
            <a:off x="6227064" y="3749040"/>
            <a:ext cx="2569464" cy="237744"/>
          </a:xfrm>
          <a:prstGeom prst="rect">
            <a:avLst/>
          </a:prstGeom>
          <a:noFill/>
        </p:spPr>
        <p:txBody>
          <a:bodyPr wrap="square">
            <a:spAutoFit/>
          </a:bodyPr>
          <a:lstStyle/>
          <a:p>
            <a:pPr algn="l"/>
            <a:r>
              <a:rPr sz="1000" b="0" i="0">
                <a:solidFill>
                  <a:srgbClr val="D4D4D4"/>
                </a:solidFill>
                <a:latin typeface="Courier New"/>
              </a:rPr>
              <a:t>{ "kind": "data",</a:t>
            </a:r>
          </a:p>
        </p:txBody>
      </p:sp>
      <p:sp>
        <p:nvSpPr>
          <p:cNvPr id="39" name="TextBox 38"/>
          <p:cNvSpPr txBox="1"/>
          <p:nvPr/>
        </p:nvSpPr>
        <p:spPr>
          <a:xfrm>
            <a:off x="6227064" y="3995928"/>
            <a:ext cx="2569464" cy="237744"/>
          </a:xfrm>
          <a:prstGeom prst="rect">
            <a:avLst/>
          </a:prstGeom>
          <a:noFill/>
        </p:spPr>
        <p:txBody>
          <a:bodyPr wrap="square">
            <a:spAutoFit/>
          </a:bodyPr>
          <a:lstStyle/>
          <a:p>
            <a:pPr algn="l"/>
            <a:r>
              <a:rPr sz="1000" b="0" i="0">
                <a:solidFill>
                  <a:srgbClr val="D4D4D4"/>
                </a:solidFill>
                <a:latin typeface="Courier New"/>
              </a:rPr>
              <a:t>  "data": {</a:t>
            </a:r>
          </a:p>
        </p:txBody>
      </p:sp>
      <p:sp>
        <p:nvSpPr>
          <p:cNvPr id="40" name="TextBox 39"/>
          <p:cNvSpPr txBox="1"/>
          <p:nvPr/>
        </p:nvSpPr>
        <p:spPr>
          <a:xfrm>
            <a:off x="6227064" y="4242816"/>
            <a:ext cx="2569464" cy="237744"/>
          </a:xfrm>
          <a:prstGeom prst="rect">
            <a:avLst/>
          </a:prstGeom>
          <a:noFill/>
        </p:spPr>
        <p:txBody>
          <a:bodyPr wrap="square">
            <a:spAutoFit/>
          </a:bodyPr>
          <a:lstStyle/>
          <a:p>
            <a:pPr algn="l"/>
            <a:r>
              <a:rPr sz="1000" b="0" i="0">
                <a:solidFill>
                  <a:srgbClr val="D4D4D4"/>
                </a:solidFill>
                <a:latin typeface="Courier New"/>
              </a:rPr>
              <a:t>    "booking_ref": "XY1234",</a:t>
            </a:r>
          </a:p>
        </p:txBody>
      </p:sp>
      <p:sp>
        <p:nvSpPr>
          <p:cNvPr id="41" name="TextBox 40"/>
          <p:cNvSpPr txBox="1"/>
          <p:nvPr/>
        </p:nvSpPr>
        <p:spPr>
          <a:xfrm>
            <a:off x="6227064" y="4489704"/>
            <a:ext cx="2569464" cy="237744"/>
          </a:xfrm>
          <a:prstGeom prst="rect">
            <a:avLst/>
          </a:prstGeom>
          <a:noFill/>
        </p:spPr>
        <p:txBody>
          <a:bodyPr wrap="square">
            <a:spAutoFit/>
          </a:bodyPr>
          <a:lstStyle/>
          <a:p>
            <a:pPr algn="l"/>
            <a:r>
              <a:rPr sz="1000" b="0" i="0">
                <a:solidFill>
                  <a:srgbClr val="D4D4D4"/>
                </a:solidFill>
                <a:latin typeface="Courier New"/>
              </a:rPr>
              <a:t>    "price": 499.00 } }</a:t>
            </a:r>
          </a:p>
        </p:txBody>
      </p:sp>
      <p:sp>
        <p:nvSpPr>
          <p:cNvPr id="42" name="TextBox 41"/>
          <p:cNvSpPr txBox="1"/>
          <p:nvPr/>
        </p:nvSpPr>
        <p:spPr>
          <a:xfrm>
            <a:off x="6227064" y="6126480"/>
            <a:ext cx="2569464" cy="320040"/>
          </a:xfrm>
          <a:prstGeom prst="rect">
            <a:avLst/>
          </a:prstGeom>
          <a:noFill/>
        </p:spPr>
        <p:txBody>
          <a:bodyPr wrap="square">
            <a:spAutoFit/>
          </a:bodyPr>
          <a:lstStyle/>
          <a:p>
            <a:pPr algn="l"/>
            <a:r>
              <a:rPr sz="1050" b="0" i="1">
                <a:solidFill>
                  <a:srgbClr val="FFB300"/>
                </a:solidFill>
                <a:latin typeface="Calibri"/>
              </a:rPr>
              <a:t>mediaType: application/json</a:t>
            </a:r>
          </a:p>
        </p:txBody>
      </p:sp>
      <p:sp>
        <p:nvSpPr>
          <p:cNvPr id="43" name="Rectangle 42"/>
          <p:cNvSpPr/>
          <p:nvPr/>
        </p:nvSpPr>
        <p:spPr>
          <a:xfrm>
            <a:off x="9015984" y="2834640"/>
            <a:ext cx="2788920" cy="3657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25712" y="2926080"/>
            <a:ext cx="2569464" cy="347472"/>
          </a:xfrm>
          <a:prstGeom prst="rect">
            <a:avLst/>
          </a:prstGeom>
          <a:noFill/>
        </p:spPr>
        <p:txBody>
          <a:bodyPr wrap="square">
            <a:spAutoFit/>
          </a:bodyPr>
          <a:lstStyle/>
          <a:p>
            <a:pPr algn="l"/>
            <a:r>
              <a:rPr sz="1500" b="1" i="0">
                <a:solidFill>
                  <a:srgbClr val="FFB300"/>
                </a:solidFill>
                <a:latin typeface="Calibri"/>
              </a:rPr>
              <a:t>Artifact</a:t>
            </a:r>
          </a:p>
        </p:txBody>
      </p:sp>
      <p:sp>
        <p:nvSpPr>
          <p:cNvPr id="45" name="TextBox 44"/>
          <p:cNvSpPr txBox="1"/>
          <p:nvPr/>
        </p:nvSpPr>
        <p:spPr>
          <a:xfrm>
            <a:off x="9125712" y="3310128"/>
            <a:ext cx="2569464" cy="365760"/>
          </a:xfrm>
          <a:prstGeom prst="rect">
            <a:avLst/>
          </a:prstGeom>
          <a:noFill/>
        </p:spPr>
        <p:txBody>
          <a:bodyPr wrap="square">
            <a:spAutoFit/>
          </a:bodyPr>
          <a:lstStyle/>
          <a:p>
            <a:pPr algn="l"/>
            <a:r>
              <a:rPr sz="1150" b="0" i="1">
                <a:solidFill>
                  <a:srgbClr val="B0C4DE"/>
                </a:solidFill>
                <a:latin typeface="Calibri"/>
              </a:rPr>
              <a:t>Agent-generated output
Composed of Parts</a:t>
            </a:r>
          </a:p>
        </p:txBody>
      </p:sp>
      <p:sp>
        <p:nvSpPr>
          <p:cNvPr id="46" name="TextBox 45"/>
          <p:cNvSpPr txBox="1"/>
          <p:nvPr/>
        </p:nvSpPr>
        <p:spPr>
          <a:xfrm>
            <a:off x="9125712" y="3749040"/>
            <a:ext cx="2569464" cy="237744"/>
          </a:xfrm>
          <a:prstGeom prst="rect">
            <a:avLst/>
          </a:prstGeom>
          <a:noFill/>
        </p:spPr>
        <p:txBody>
          <a:bodyPr wrap="square">
            <a:spAutoFit/>
          </a:bodyPr>
          <a:lstStyle/>
          <a:p>
            <a:pPr algn="l"/>
            <a:r>
              <a:rPr sz="1000" b="0" i="0">
                <a:solidFill>
                  <a:srgbClr val="D4D4D4"/>
                </a:solidFill>
                <a:latin typeface="Courier New"/>
              </a:rPr>
              <a:t>{ "artifactId": "doc-1",</a:t>
            </a:r>
          </a:p>
        </p:txBody>
      </p:sp>
      <p:sp>
        <p:nvSpPr>
          <p:cNvPr id="47" name="TextBox 46"/>
          <p:cNvSpPr txBox="1"/>
          <p:nvPr/>
        </p:nvSpPr>
        <p:spPr>
          <a:xfrm>
            <a:off x="9125712" y="3995928"/>
            <a:ext cx="2569464" cy="237744"/>
          </a:xfrm>
          <a:prstGeom prst="rect">
            <a:avLst/>
          </a:prstGeom>
          <a:noFill/>
        </p:spPr>
        <p:txBody>
          <a:bodyPr wrap="square">
            <a:spAutoFit/>
          </a:bodyPr>
          <a:lstStyle/>
          <a:p>
            <a:pPr algn="l"/>
            <a:r>
              <a:rPr sz="1000" b="0" i="0">
                <a:solidFill>
                  <a:srgbClr val="D4D4D4"/>
                </a:solidFill>
                <a:latin typeface="Courier New"/>
              </a:rPr>
              <a:t>  "name": "Itinerary",</a:t>
            </a:r>
          </a:p>
        </p:txBody>
      </p:sp>
      <p:sp>
        <p:nvSpPr>
          <p:cNvPr id="48" name="TextBox 47"/>
          <p:cNvSpPr txBox="1"/>
          <p:nvPr/>
        </p:nvSpPr>
        <p:spPr>
          <a:xfrm>
            <a:off x="9125712" y="4242816"/>
            <a:ext cx="2569464" cy="237744"/>
          </a:xfrm>
          <a:prstGeom prst="rect">
            <a:avLst/>
          </a:prstGeom>
          <a:noFill/>
        </p:spPr>
        <p:txBody>
          <a:bodyPr wrap="square">
            <a:spAutoFit/>
          </a:bodyPr>
          <a:lstStyle/>
          <a:p>
            <a:pPr algn="l"/>
            <a:r>
              <a:rPr sz="1000" b="0" i="0">
                <a:solidFill>
                  <a:srgbClr val="D4D4D4"/>
                </a:solidFill>
                <a:latin typeface="Courier New"/>
              </a:rPr>
              <a:t>  "parts": [ ... ] }</a:t>
            </a:r>
          </a:p>
        </p:txBody>
      </p:sp>
      <p:sp>
        <p:nvSpPr>
          <p:cNvPr id="49" name="TextBox 48"/>
          <p:cNvSpPr txBox="1"/>
          <p:nvPr/>
        </p:nvSpPr>
        <p:spPr>
          <a:xfrm>
            <a:off x="9125712" y="6126480"/>
            <a:ext cx="2569464" cy="320040"/>
          </a:xfrm>
          <a:prstGeom prst="rect">
            <a:avLst/>
          </a:prstGeom>
          <a:noFill/>
        </p:spPr>
        <p:txBody>
          <a:bodyPr wrap="square">
            <a:spAutoFit/>
          </a:bodyPr>
          <a:lstStyle/>
          <a:p>
            <a:pPr algn="l"/>
            <a:r>
              <a:rPr sz="1050" b="0" i="1">
                <a:solidFill>
                  <a:srgbClr val="FFB300"/>
                </a:solidFill>
                <a:latin typeface="Calibri"/>
              </a:rPr>
              <a:t>Terminal task output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Interaction Patterns</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Three ways clients receive updates from servers</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97280"/>
            <a:ext cx="3749039" cy="548640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 y="1188720"/>
            <a:ext cx="3529583" cy="548640"/>
          </a:xfrm>
          <a:prstGeom prst="rect">
            <a:avLst/>
          </a:prstGeom>
          <a:noFill/>
        </p:spPr>
        <p:txBody>
          <a:bodyPr wrap="square">
            <a:spAutoFit/>
          </a:bodyPr>
          <a:lstStyle/>
          <a:p>
            <a:pPr algn="l"/>
            <a:r>
              <a:rPr sz="1600" b="1" i="0">
                <a:solidFill>
                  <a:srgbClr val="FFB300"/>
                </a:solidFill>
                <a:latin typeface="Calibri"/>
              </a:rPr>
              <a:t>Request / Response
(Polling)</a:t>
            </a:r>
          </a:p>
        </p:txBody>
      </p:sp>
      <p:sp>
        <p:nvSpPr>
          <p:cNvPr id="9" name="Rectangle 8"/>
          <p:cNvSpPr/>
          <p:nvPr/>
        </p:nvSpPr>
        <p:spPr>
          <a:xfrm>
            <a:off x="320040" y="1783080"/>
            <a:ext cx="374903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1847088"/>
            <a:ext cx="3529583" cy="731520"/>
          </a:xfrm>
          <a:prstGeom prst="rect">
            <a:avLst/>
          </a:prstGeom>
          <a:noFill/>
        </p:spPr>
        <p:txBody>
          <a:bodyPr wrap="square">
            <a:spAutoFit/>
          </a:bodyPr>
          <a:lstStyle/>
          <a:p>
            <a:pPr algn="l"/>
            <a:r>
              <a:rPr sz="1100" b="0" i="1">
                <a:solidFill>
                  <a:srgbClr val="B0C4DE"/>
                </a:solidFill>
                <a:latin typeface="Calibri"/>
              </a:rPr>
              <a:t>Client sends request; server responds synchronously. For long-running tasks, client polls periodically using Get Task.</a:t>
            </a:r>
          </a:p>
        </p:txBody>
      </p:sp>
      <p:sp>
        <p:nvSpPr>
          <p:cNvPr id="11" name="TextBox 10"/>
          <p:cNvSpPr txBox="1"/>
          <p:nvPr/>
        </p:nvSpPr>
        <p:spPr>
          <a:xfrm>
            <a:off x="429768" y="2651760"/>
            <a:ext cx="3529583" cy="274320"/>
          </a:xfrm>
          <a:prstGeom prst="rect">
            <a:avLst/>
          </a:prstGeom>
          <a:noFill/>
        </p:spPr>
        <p:txBody>
          <a:bodyPr wrap="square">
            <a:spAutoFit/>
          </a:bodyPr>
          <a:lstStyle/>
          <a:p>
            <a:pPr algn="l"/>
            <a:r>
              <a:rPr sz="1150" b="1" i="0">
                <a:solidFill>
                  <a:srgbClr val="FFB300"/>
                </a:solidFill>
                <a:latin typeface="Calibri"/>
              </a:rPr>
              <a:t>Characteristics:</a:t>
            </a:r>
          </a:p>
        </p:txBody>
      </p:sp>
      <p:sp>
        <p:nvSpPr>
          <p:cNvPr id="12" name="TextBox 11"/>
          <p:cNvSpPr txBox="1"/>
          <p:nvPr/>
        </p:nvSpPr>
        <p:spPr>
          <a:xfrm>
            <a:off x="484632" y="2971799"/>
            <a:ext cx="3474719" cy="246888"/>
          </a:xfrm>
          <a:prstGeom prst="rect">
            <a:avLst/>
          </a:prstGeom>
          <a:noFill/>
        </p:spPr>
        <p:txBody>
          <a:bodyPr wrap="square">
            <a:spAutoFit/>
          </a:bodyPr>
          <a:lstStyle/>
          <a:p>
            <a:pPr algn="l"/>
            <a:r>
              <a:rPr sz="1100" b="0" i="0">
                <a:solidFill>
                  <a:srgbClr val="FFFFFF"/>
                </a:solidFill>
                <a:latin typeface="Calibri"/>
              </a:rPr>
              <a:t>• Simple to implement</a:t>
            </a:r>
          </a:p>
        </p:txBody>
      </p:sp>
      <p:sp>
        <p:nvSpPr>
          <p:cNvPr id="13" name="TextBox 12"/>
          <p:cNvSpPr txBox="1"/>
          <p:nvPr/>
        </p:nvSpPr>
        <p:spPr>
          <a:xfrm>
            <a:off x="484632" y="3246119"/>
            <a:ext cx="3474719" cy="246888"/>
          </a:xfrm>
          <a:prstGeom prst="rect">
            <a:avLst/>
          </a:prstGeom>
          <a:noFill/>
        </p:spPr>
        <p:txBody>
          <a:bodyPr wrap="square">
            <a:spAutoFit/>
          </a:bodyPr>
          <a:lstStyle/>
          <a:p>
            <a:pPr algn="l"/>
            <a:r>
              <a:rPr sz="1100" b="0" i="0">
                <a:solidFill>
                  <a:srgbClr val="FFFFFF"/>
                </a:solidFill>
                <a:latin typeface="Calibri"/>
              </a:rPr>
              <a:t>• Works with any HTTP client</a:t>
            </a:r>
          </a:p>
        </p:txBody>
      </p:sp>
      <p:sp>
        <p:nvSpPr>
          <p:cNvPr id="14" name="TextBox 13"/>
          <p:cNvSpPr txBox="1"/>
          <p:nvPr/>
        </p:nvSpPr>
        <p:spPr>
          <a:xfrm>
            <a:off x="484632" y="3520439"/>
            <a:ext cx="3474719" cy="246888"/>
          </a:xfrm>
          <a:prstGeom prst="rect">
            <a:avLst/>
          </a:prstGeom>
          <a:noFill/>
        </p:spPr>
        <p:txBody>
          <a:bodyPr wrap="square">
            <a:spAutoFit/>
          </a:bodyPr>
          <a:lstStyle/>
          <a:p>
            <a:pPr algn="l"/>
            <a:r>
              <a:rPr sz="1100" b="0" i="0">
                <a:solidFill>
                  <a:srgbClr val="FFFFFF"/>
                </a:solidFill>
                <a:latin typeface="Calibri"/>
              </a:rPr>
              <a:t>• Higher latency for long tasks</a:t>
            </a:r>
          </a:p>
        </p:txBody>
      </p:sp>
      <p:sp>
        <p:nvSpPr>
          <p:cNvPr id="15" name="TextBox 14"/>
          <p:cNvSpPr txBox="1"/>
          <p:nvPr/>
        </p:nvSpPr>
        <p:spPr>
          <a:xfrm>
            <a:off x="484632" y="3794759"/>
            <a:ext cx="3474719" cy="246888"/>
          </a:xfrm>
          <a:prstGeom prst="rect">
            <a:avLst/>
          </a:prstGeom>
          <a:noFill/>
        </p:spPr>
        <p:txBody>
          <a:bodyPr wrap="square">
            <a:spAutoFit/>
          </a:bodyPr>
          <a:lstStyle/>
          <a:p>
            <a:pPr algn="l"/>
            <a:r>
              <a:rPr sz="1100" b="0" i="0">
                <a:solidFill>
                  <a:srgbClr val="FFFFFF"/>
                </a:solidFill>
                <a:latin typeface="Calibri"/>
              </a:rPr>
              <a:t>• Periodic Get Task calls</a:t>
            </a:r>
          </a:p>
        </p:txBody>
      </p:sp>
      <p:sp>
        <p:nvSpPr>
          <p:cNvPr id="16" name="TextBox 15"/>
          <p:cNvSpPr txBox="1"/>
          <p:nvPr/>
        </p:nvSpPr>
        <p:spPr>
          <a:xfrm>
            <a:off x="484632" y="4069079"/>
            <a:ext cx="3474719" cy="246888"/>
          </a:xfrm>
          <a:prstGeom prst="rect">
            <a:avLst/>
          </a:prstGeom>
          <a:noFill/>
        </p:spPr>
        <p:txBody>
          <a:bodyPr wrap="square">
            <a:spAutoFit/>
          </a:bodyPr>
          <a:lstStyle/>
          <a:p>
            <a:pPr algn="l"/>
            <a:r>
              <a:rPr sz="1100" b="0" i="0">
                <a:solidFill>
                  <a:srgbClr val="FFFFFF"/>
                </a:solidFill>
                <a:latin typeface="Calibri"/>
              </a:rPr>
              <a:t>• Good for infrequent updates</a:t>
            </a:r>
          </a:p>
        </p:txBody>
      </p:sp>
      <p:sp>
        <p:nvSpPr>
          <p:cNvPr id="17" name="TextBox 16"/>
          <p:cNvSpPr txBox="1"/>
          <p:nvPr/>
        </p:nvSpPr>
        <p:spPr>
          <a:xfrm>
            <a:off x="429768" y="4407408"/>
            <a:ext cx="3529583" cy="274320"/>
          </a:xfrm>
          <a:prstGeom prst="rect">
            <a:avLst/>
          </a:prstGeom>
          <a:noFill/>
        </p:spPr>
        <p:txBody>
          <a:bodyPr wrap="square">
            <a:spAutoFit/>
          </a:bodyPr>
          <a:lstStyle/>
          <a:p>
            <a:pPr algn="l"/>
            <a:r>
              <a:rPr sz="1150" b="1" i="0">
                <a:solidFill>
                  <a:srgbClr val="FFB300"/>
                </a:solidFill>
                <a:latin typeface="Calibri"/>
              </a:rPr>
              <a:t>Flow:</a:t>
            </a:r>
          </a:p>
        </p:txBody>
      </p:sp>
      <p:sp>
        <p:nvSpPr>
          <p:cNvPr id="18" name="TextBox 17"/>
          <p:cNvSpPr txBox="1"/>
          <p:nvPr/>
        </p:nvSpPr>
        <p:spPr>
          <a:xfrm>
            <a:off x="484632" y="4727448"/>
            <a:ext cx="3474719" cy="246888"/>
          </a:xfrm>
          <a:prstGeom prst="rect">
            <a:avLst/>
          </a:prstGeom>
          <a:noFill/>
        </p:spPr>
        <p:txBody>
          <a:bodyPr wrap="square">
            <a:spAutoFit/>
          </a:bodyPr>
          <a:lstStyle/>
          <a:p>
            <a:pPr algn="l"/>
            <a:r>
              <a:rPr sz="1050" b="0" i="0">
                <a:solidFill>
                  <a:srgbClr val="D4D4D4"/>
                </a:solidFill>
                <a:latin typeface="Calibri"/>
              </a:rPr>
              <a:t>1. Client → sendMessage</a:t>
            </a:r>
          </a:p>
        </p:txBody>
      </p:sp>
      <p:sp>
        <p:nvSpPr>
          <p:cNvPr id="19" name="TextBox 18"/>
          <p:cNvSpPr txBox="1"/>
          <p:nvPr/>
        </p:nvSpPr>
        <p:spPr>
          <a:xfrm>
            <a:off x="484632" y="5001768"/>
            <a:ext cx="3474719" cy="246888"/>
          </a:xfrm>
          <a:prstGeom prst="rect">
            <a:avLst/>
          </a:prstGeom>
          <a:noFill/>
        </p:spPr>
        <p:txBody>
          <a:bodyPr wrap="square">
            <a:spAutoFit/>
          </a:bodyPr>
          <a:lstStyle/>
          <a:p>
            <a:pPr algn="l"/>
            <a:r>
              <a:rPr sz="1050" b="0" i="0">
                <a:solidFill>
                  <a:srgbClr val="D4D4D4"/>
                </a:solidFill>
                <a:latin typeface="Calibri"/>
              </a:rPr>
              <a:t>2. Server returns Task (working)</a:t>
            </a:r>
          </a:p>
        </p:txBody>
      </p:sp>
      <p:sp>
        <p:nvSpPr>
          <p:cNvPr id="20" name="TextBox 19"/>
          <p:cNvSpPr txBox="1"/>
          <p:nvPr/>
        </p:nvSpPr>
        <p:spPr>
          <a:xfrm>
            <a:off x="484632" y="5276088"/>
            <a:ext cx="3474719" cy="246888"/>
          </a:xfrm>
          <a:prstGeom prst="rect">
            <a:avLst/>
          </a:prstGeom>
          <a:noFill/>
        </p:spPr>
        <p:txBody>
          <a:bodyPr wrap="square">
            <a:spAutoFit/>
          </a:bodyPr>
          <a:lstStyle/>
          <a:p>
            <a:pPr algn="l"/>
            <a:r>
              <a:rPr sz="1050" b="0" i="0">
                <a:solidFill>
                  <a:srgbClr val="D4D4D4"/>
                </a:solidFill>
                <a:latin typeface="Calibri"/>
              </a:rPr>
              <a:t>3. Client polls: getTask(taskId)</a:t>
            </a:r>
          </a:p>
        </p:txBody>
      </p:sp>
      <p:sp>
        <p:nvSpPr>
          <p:cNvPr id="21" name="TextBox 20"/>
          <p:cNvSpPr txBox="1"/>
          <p:nvPr/>
        </p:nvSpPr>
        <p:spPr>
          <a:xfrm>
            <a:off x="484632" y="5550408"/>
            <a:ext cx="3474719" cy="246888"/>
          </a:xfrm>
          <a:prstGeom prst="rect">
            <a:avLst/>
          </a:prstGeom>
          <a:noFill/>
        </p:spPr>
        <p:txBody>
          <a:bodyPr wrap="square">
            <a:spAutoFit/>
          </a:bodyPr>
          <a:lstStyle/>
          <a:p>
            <a:pPr algn="l"/>
            <a:r>
              <a:rPr sz="1050" b="0" i="0">
                <a:solidFill>
                  <a:srgbClr val="D4D4D4"/>
                </a:solidFill>
                <a:latin typeface="Calibri"/>
              </a:rPr>
              <a:t>4. Repeat until terminal state</a:t>
            </a:r>
          </a:p>
        </p:txBody>
      </p:sp>
      <p:sp>
        <p:nvSpPr>
          <p:cNvPr id="22" name="TextBox 21"/>
          <p:cNvSpPr txBox="1"/>
          <p:nvPr/>
        </p:nvSpPr>
        <p:spPr>
          <a:xfrm>
            <a:off x="484632" y="5824728"/>
            <a:ext cx="3474719" cy="246888"/>
          </a:xfrm>
          <a:prstGeom prst="rect">
            <a:avLst/>
          </a:prstGeom>
          <a:noFill/>
        </p:spPr>
        <p:txBody>
          <a:bodyPr wrap="square">
            <a:spAutoFit/>
          </a:bodyPr>
          <a:lstStyle/>
          <a:p>
            <a:pPr algn="l"/>
            <a:r>
              <a:rPr sz="1050" b="0" i="0">
                <a:solidFill>
                  <a:srgbClr val="D4D4D4"/>
                </a:solidFill>
                <a:latin typeface="Calibri"/>
              </a:rPr>
              <a:t>5. Retrieve artifacts</a:t>
            </a:r>
          </a:p>
        </p:txBody>
      </p:sp>
      <p:sp>
        <p:nvSpPr>
          <p:cNvPr id="23" name="Rectangle 22"/>
          <p:cNvSpPr/>
          <p:nvPr/>
        </p:nvSpPr>
        <p:spPr>
          <a:xfrm>
            <a:off x="4251959" y="1097280"/>
            <a:ext cx="3749039" cy="548640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61687" y="1188720"/>
            <a:ext cx="3529583" cy="548640"/>
          </a:xfrm>
          <a:prstGeom prst="rect">
            <a:avLst/>
          </a:prstGeom>
          <a:noFill/>
        </p:spPr>
        <p:txBody>
          <a:bodyPr wrap="square">
            <a:spAutoFit/>
          </a:bodyPr>
          <a:lstStyle/>
          <a:p>
            <a:pPr algn="l"/>
            <a:r>
              <a:rPr sz="1600" b="1" i="0">
                <a:solidFill>
                  <a:srgbClr val="FFB300"/>
                </a:solidFill>
                <a:latin typeface="Calibri"/>
              </a:rPr>
              <a:t>Streaming
(Server-Sent Events)</a:t>
            </a:r>
          </a:p>
        </p:txBody>
      </p:sp>
      <p:sp>
        <p:nvSpPr>
          <p:cNvPr id="25" name="Rectangle 24"/>
          <p:cNvSpPr/>
          <p:nvPr/>
        </p:nvSpPr>
        <p:spPr>
          <a:xfrm>
            <a:off x="4251959" y="1783080"/>
            <a:ext cx="374903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61687" y="1847088"/>
            <a:ext cx="3529583" cy="731520"/>
          </a:xfrm>
          <a:prstGeom prst="rect">
            <a:avLst/>
          </a:prstGeom>
          <a:noFill/>
        </p:spPr>
        <p:txBody>
          <a:bodyPr wrap="square">
            <a:spAutoFit/>
          </a:bodyPr>
          <a:lstStyle/>
          <a:p>
            <a:pPr algn="l"/>
            <a:r>
              <a:rPr sz="1100" b="0" i="1">
                <a:solidFill>
                  <a:srgbClr val="B0C4DE"/>
                </a:solidFill>
                <a:latin typeface="Calibri"/>
              </a:rPr>
              <a:t>Server streams real-time incremental results over a persistent HTTP connection using Server-Sent Events (SSE).</a:t>
            </a:r>
          </a:p>
        </p:txBody>
      </p:sp>
      <p:sp>
        <p:nvSpPr>
          <p:cNvPr id="27" name="TextBox 26"/>
          <p:cNvSpPr txBox="1"/>
          <p:nvPr/>
        </p:nvSpPr>
        <p:spPr>
          <a:xfrm>
            <a:off x="4361687" y="2651760"/>
            <a:ext cx="3529583" cy="274320"/>
          </a:xfrm>
          <a:prstGeom prst="rect">
            <a:avLst/>
          </a:prstGeom>
          <a:noFill/>
        </p:spPr>
        <p:txBody>
          <a:bodyPr wrap="square">
            <a:spAutoFit/>
          </a:bodyPr>
          <a:lstStyle/>
          <a:p>
            <a:pPr algn="l"/>
            <a:r>
              <a:rPr sz="1150" b="1" i="0">
                <a:solidFill>
                  <a:srgbClr val="FFB300"/>
                </a:solidFill>
                <a:latin typeface="Calibri"/>
              </a:rPr>
              <a:t>Characteristics:</a:t>
            </a:r>
          </a:p>
        </p:txBody>
      </p:sp>
      <p:sp>
        <p:nvSpPr>
          <p:cNvPr id="28" name="TextBox 27"/>
          <p:cNvSpPr txBox="1"/>
          <p:nvPr/>
        </p:nvSpPr>
        <p:spPr>
          <a:xfrm>
            <a:off x="4416551" y="2971799"/>
            <a:ext cx="3474719" cy="246888"/>
          </a:xfrm>
          <a:prstGeom prst="rect">
            <a:avLst/>
          </a:prstGeom>
          <a:noFill/>
        </p:spPr>
        <p:txBody>
          <a:bodyPr wrap="square">
            <a:spAutoFit/>
          </a:bodyPr>
          <a:lstStyle/>
          <a:p>
            <a:pPr algn="l"/>
            <a:r>
              <a:rPr sz="1100" b="0" i="0">
                <a:solidFill>
                  <a:srgbClr val="FFFFFF"/>
                </a:solidFill>
                <a:latin typeface="Calibri"/>
              </a:rPr>
              <a:t>• Real-time updates</a:t>
            </a:r>
          </a:p>
        </p:txBody>
      </p:sp>
      <p:sp>
        <p:nvSpPr>
          <p:cNvPr id="29" name="TextBox 28"/>
          <p:cNvSpPr txBox="1"/>
          <p:nvPr/>
        </p:nvSpPr>
        <p:spPr>
          <a:xfrm>
            <a:off x="4416551" y="3246119"/>
            <a:ext cx="3474719" cy="246888"/>
          </a:xfrm>
          <a:prstGeom prst="rect">
            <a:avLst/>
          </a:prstGeom>
          <a:noFill/>
        </p:spPr>
        <p:txBody>
          <a:bodyPr wrap="square">
            <a:spAutoFit/>
          </a:bodyPr>
          <a:lstStyle/>
          <a:p>
            <a:pPr algn="l"/>
            <a:r>
              <a:rPr sz="1100" b="0" i="0">
                <a:solidFill>
                  <a:srgbClr val="FFFFFF"/>
                </a:solidFill>
                <a:latin typeface="Calibri"/>
              </a:rPr>
              <a:t>• Persistent HTTP connection</a:t>
            </a:r>
          </a:p>
        </p:txBody>
      </p:sp>
      <p:sp>
        <p:nvSpPr>
          <p:cNvPr id="30" name="TextBox 29"/>
          <p:cNvSpPr txBox="1"/>
          <p:nvPr/>
        </p:nvSpPr>
        <p:spPr>
          <a:xfrm>
            <a:off x="4416551" y="3520439"/>
            <a:ext cx="3474719" cy="246888"/>
          </a:xfrm>
          <a:prstGeom prst="rect">
            <a:avLst/>
          </a:prstGeom>
          <a:noFill/>
        </p:spPr>
        <p:txBody>
          <a:bodyPr wrap="square">
            <a:spAutoFit/>
          </a:bodyPr>
          <a:lstStyle/>
          <a:p>
            <a:pPr algn="l"/>
            <a:r>
              <a:rPr sz="1100" b="0" i="0">
                <a:solidFill>
                  <a:srgbClr val="FFFFFF"/>
                </a:solidFill>
                <a:latin typeface="Calibri"/>
              </a:rPr>
              <a:t>• Lower latency</a:t>
            </a:r>
          </a:p>
        </p:txBody>
      </p:sp>
      <p:sp>
        <p:nvSpPr>
          <p:cNvPr id="31" name="TextBox 30"/>
          <p:cNvSpPr txBox="1"/>
          <p:nvPr/>
        </p:nvSpPr>
        <p:spPr>
          <a:xfrm>
            <a:off x="4416551" y="3794759"/>
            <a:ext cx="3474719" cy="246888"/>
          </a:xfrm>
          <a:prstGeom prst="rect">
            <a:avLst/>
          </a:prstGeom>
          <a:noFill/>
        </p:spPr>
        <p:txBody>
          <a:bodyPr wrap="square">
            <a:spAutoFit/>
          </a:bodyPr>
          <a:lstStyle/>
          <a:p>
            <a:pPr algn="l"/>
            <a:r>
              <a:rPr sz="1100" b="0" i="0">
                <a:solidFill>
                  <a:srgbClr val="FFFFFF"/>
                </a:solidFill>
                <a:latin typeface="Calibri"/>
              </a:rPr>
              <a:t>• Ideal for long responses</a:t>
            </a:r>
          </a:p>
        </p:txBody>
      </p:sp>
      <p:sp>
        <p:nvSpPr>
          <p:cNvPr id="32" name="TextBox 31"/>
          <p:cNvSpPr txBox="1"/>
          <p:nvPr/>
        </p:nvSpPr>
        <p:spPr>
          <a:xfrm>
            <a:off x="4416551" y="4069079"/>
            <a:ext cx="3474719" cy="246888"/>
          </a:xfrm>
          <a:prstGeom prst="rect">
            <a:avLst/>
          </a:prstGeom>
          <a:noFill/>
        </p:spPr>
        <p:txBody>
          <a:bodyPr wrap="square">
            <a:spAutoFit/>
          </a:bodyPr>
          <a:lstStyle/>
          <a:p>
            <a:pPr algn="l"/>
            <a:r>
              <a:rPr sz="1100" b="0" i="0">
                <a:solidFill>
                  <a:srgbClr val="FFFFFF"/>
                </a:solidFill>
                <a:latin typeface="Calibri"/>
              </a:rPr>
              <a:t>• Automatic reconnect support</a:t>
            </a:r>
          </a:p>
        </p:txBody>
      </p:sp>
      <p:sp>
        <p:nvSpPr>
          <p:cNvPr id="33" name="TextBox 32"/>
          <p:cNvSpPr txBox="1"/>
          <p:nvPr/>
        </p:nvSpPr>
        <p:spPr>
          <a:xfrm>
            <a:off x="4361687" y="4407408"/>
            <a:ext cx="3529583" cy="274320"/>
          </a:xfrm>
          <a:prstGeom prst="rect">
            <a:avLst/>
          </a:prstGeom>
          <a:noFill/>
        </p:spPr>
        <p:txBody>
          <a:bodyPr wrap="square">
            <a:spAutoFit/>
          </a:bodyPr>
          <a:lstStyle/>
          <a:p>
            <a:pPr algn="l"/>
            <a:r>
              <a:rPr sz="1150" b="1" i="0">
                <a:solidFill>
                  <a:srgbClr val="FFB300"/>
                </a:solidFill>
                <a:latin typeface="Calibri"/>
              </a:rPr>
              <a:t>Flow:</a:t>
            </a:r>
          </a:p>
        </p:txBody>
      </p:sp>
      <p:sp>
        <p:nvSpPr>
          <p:cNvPr id="34" name="TextBox 33"/>
          <p:cNvSpPr txBox="1"/>
          <p:nvPr/>
        </p:nvSpPr>
        <p:spPr>
          <a:xfrm>
            <a:off x="4416551" y="4727448"/>
            <a:ext cx="3474719" cy="246888"/>
          </a:xfrm>
          <a:prstGeom prst="rect">
            <a:avLst/>
          </a:prstGeom>
          <a:noFill/>
        </p:spPr>
        <p:txBody>
          <a:bodyPr wrap="square">
            <a:spAutoFit/>
          </a:bodyPr>
          <a:lstStyle/>
          <a:p>
            <a:pPr algn="l"/>
            <a:r>
              <a:rPr sz="1050" b="0" i="0">
                <a:solidFill>
                  <a:srgbClr val="D4D4D4"/>
                </a:solidFill>
                <a:latin typeface="Calibri"/>
              </a:rPr>
              <a:t>1. Client → sendMessageStream</a:t>
            </a:r>
          </a:p>
        </p:txBody>
      </p:sp>
      <p:sp>
        <p:nvSpPr>
          <p:cNvPr id="35" name="TextBox 34"/>
          <p:cNvSpPr txBox="1"/>
          <p:nvPr/>
        </p:nvSpPr>
        <p:spPr>
          <a:xfrm>
            <a:off x="4416551" y="5001768"/>
            <a:ext cx="3474719" cy="246888"/>
          </a:xfrm>
          <a:prstGeom prst="rect">
            <a:avLst/>
          </a:prstGeom>
          <a:noFill/>
        </p:spPr>
        <p:txBody>
          <a:bodyPr wrap="square">
            <a:spAutoFit/>
          </a:bodyPr>
          <a:lstStyle/>
          <a:p>
            <a:pPr algn="l"/>
            <a:r>
              <a:rPr sz="1050" b="0" i="0">
                <a:solidFill>
                  <a:srgbClr val="D4D4D4"/>
                </a:solidFill>
                <a:latin typeface="Calibri"/>
              </a:rPr>
              <a:t>2. Connection stays open</a:t>
            </a:r>
          </a:p>
        </p:txBody>
      </p:sp>
      <p:sp>
        <p:nvSpPr>
          <p:cNvPr id="36" name="TextBox 35"/>
          <p:cNvSpPr txBox="1"/>
          <p:nvPr/>
        </p:nvSpPr>
        <p:spPr>
          <a:xfrm>
            <a:off x="4416551" y="5276088"/>
            <a:ext cx="3474719" cy="246888"/>
          </a:xfrm>
          <a:prstGeom prst="rect">
            <a:avLst/>
          </a:prstGeom>
          <a:noFill/>
        </p:spPr>
        <p:txBody>
          <a:bodyPr wrap="square">
            <a:spAutoFit/>
          </a:bodyPr>
          <a:lstStyle/>
          <a:p>
            <a:pPr algn="l"/>
            <a:r>
              <a:rPr sz="1050" b="0" i="0">
                <a:solidFill>
                  <a:srgbClr val="D4D4D4"/>
                </a:solidFill>
                <a:latin typeface="Calibri"/>
              </a:rPr>
              <a:t>3. Server pushes SSE events</a:t>
            </a:r>
          </a:p>
        </p:txBody>
      </p:sp>
      <p:sp>
        <p:nvSpPr>
          <p:cNvPr id="37" name="TextBox 36"/>
          <p:cNvSpPr txBox="1"/>
          <p:nvPr/>
        </p:nvSpPr>
        <p:spPr>
          <a:xfrm>
            <a:off x="4416551" y="5550408"/>
            <a:ext cx="3474719" cy="246888"/>
          </a:xfrm>
          <a:prstGeom prst="rect">
            <a:avLst/>
          </a:prstGeom>
          <a:noFill/>
        </p:spPr>
        <p:txBody>
          <a:bodyPr wrap="square">
            <a:spAutoFit/>
          </a:bodyPr>
          <a:lstStyle/>
          <a:p>
            <a:pPr algn="l"/>
            <a:r>
              <a:rPr sz="1050" b="0" i="0">
                <a:solidFill>
                  <a:srgbClr val="D4D4D4"/>
                </a:solidFill>
                <a:latin typeface="Calibri"/>
              </a:rPr>
              <a:t>4. Events: task updates + artifacts</a:t>
            </a:r>
          </a:p>
        </p:txBody>
      </p:sp>
      <p:sp>
        <p:nvSpPr>
          <p:cNvPr id="38" name="TextBox 37"/>
          <p:cNvSpPr txBox="1"/>
          <p:nvPr/>
        </p:nvSpPr>
        <p:spPr>
          <a:xfrm>
            <a:off x="4416551" y="5824728"/>
            <a:ext cx="3474719" cy="246888"/>
          </a:xfrm>
          <a:prstGeom prst="rect">
            <a:avLst/>
          </a:prstGeom>
          <a:noFill/>
        </p:spPr>
        <p:txBody>
          <a:bodyPr wrap="square">
            <a:spAutoFit/>
          </a:bodyPr>
          <a:lstStyle/>
          <a:p>
            <a:pPr algn="l"/>
            <a:r>
              <a:rPr sz="1050" b="0" i="0">
                <a:solidFill>
                  <a:srgbClr val="D4D4D4"/>
                </a:solidFill>
                <a:latin typeface="Calibri"/>
              </a:rPr>
              <a:t>5. Stream closes on completion</a:t>
            </a:r>
          </a:p>
        </p:txBody>
      </p:sp>
      <p:sp>
        <p:nvSpPr>
          <p:cNvPr id="39" name="Rectangle 38"/>
          <p:cNvSpPr/>
          <p:nvPr/>
        </p:nvSpPr>
        <p:spPr>
          <a:xfrm>
            <a:off x="8183878" y="1097280"/>
            <a:ext cx="3749039" cy="54864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93606" y="1188720"/>
            <a:ext cx="3529583" cy="548640"/>
          </a:xfrm>
          <a:prstGeom prst="rect">
            <a:avLst/>
          </a:prstGeom>
          <a:noFill/>
        </p:spPr>
        <p:txBody>
          <a:bodyPr wrap="square">
            <a:spAutoFit/>
          </a:bodyPr>
          <a:lstStyle/>
          <a:p>
            <a:pPr algn="l"/>
            <a:r>
              <a:rPr sz="1600" b="1" i="0">
                <a:solidFill>
                  <a:srgbClr val="FFB300"/>
                </a:solidFill>
                <a:latin typeface="Calibri"/>
              </a:rPr>
              <a:t>Push Notifications
(Webhooks)</a:t>
            </a:r>
          </a:p>
        </p:txBody>
      </p:sp>
      <p:sp>
        <p:nvSpPr>
          <p:cNvPr id="41" name="Rectangle 40"/>
          <p:cNvSpPr/>
          <p:nvPr/>
        </p:nvSpPr>
        <p:spPr>
          <a:xfrm>
            <a:off x="8183878" y="1783080"/>
            <a:ext cx="374903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293606" y="1847088"/>
            <a:ext cx="3529583" cy="731520"/>
          </a:xfrm>
          <a:prstGeom prst="rect">
            <a:avLst/>
          </a:prstGeom>
          <a:noFill/>
        </p:spPr>
        <p:txBody>
          <a:bodyPr wrap="square">
            <a:spAutoFit/>
          </a:bodyPr>
          <a:lstStyle/>
          <a:p>
            <a:pPr algn="l"/>
            <a:r>
              <a:rPr sz="1100" b="0" i="1">
                <a:solidFill>
                  <a:srgbClr val="B0C4DE"/>
                </a:solidFill>
                <a:latin typeface="Calibri"/>
              </a:rPr>
              <a:t>Server sends asynchronous updates to a client-provided webhook URL. Ideal for extended operations where the client cannot maintain a connection.</a:t>
            </a:r>
          </a:p>
        </p:txBody>
      </p:sp>
      <p:sp>
        <p:nvSpPr>
          <p:cNvPr id="43" name="TextBox 42"/>
          <p:cNvSpPr txBox="1"/>
          <p:nvPr/>
        </p:nvSpPr>
        <p:spPr>
          <a:xfrm>
            <a:off x="8293606" y="2651760"/>
            <a:ext cx="3529583" cy="274320"/>
          </a:xfrm>
          <a:prstGeom prst="rect">
            <a:avLst/>
          </a:prstGeom>
          <a:noFill/>
        </p:spPr>
        <p:txBody>
          <a:bodyPr wrap="square">
            <a:spAutoFit/>
          </a:bodyPr>
          <a:lstStyle/>
          <a:p>
            <a:pPr algn="l"/>
            <a:r>
              <a:rPr sz="1150" b="1" i="0">
                <a:solidFill>
                  <a:srgbClr val="FFB300"/>
                </a:solidFill>
                <a:latin typeface="Calibri"/>
              </a:rPr>
              <a:t>Characteristics:</a:t>
            </a:r>
          </a:p>
        </p:txBody>
      </p:sp>
      <p:sp>
        <p:nvSpPr>
          <p:cNvPr id="44" name="TextBox 43"/>
          <p:cNvSpPr txBox="1"/>
          <p:nvPr/>
        </p:nvSpPr>
        <p:spPr>
          <a:xfrm>
            <a:off x="8348470" y="2971799"/>
            <a:ext cx="3474719" cy="246888"/>
          </a:xfrm>
          <a:prstGeom prst="rect">
            <a:avLst/>
          </a:prstGeom>
          <a:noFill/>
        </p:spPr>
        <p:txBody>
          <a:bodyPr wrap="square">
            <a:spAutoFit/>
          </a:bodyPr>
          <a:lstStyle/>
          <a:p>
            <a:pPr algn="l"/>
            <a:r>
              <a:rPr sz="1100" b="0" i="0">
                <a:solidFill>
                  <a:srgbClr val="FFFFFF"/>
                </a:solidFill>
                <a:latin typeface="Calibri"/>
              </a:rPr>
              <a:t>• Fully asynchronous</a:t>
            </a:r>
          </a:p>
        </p:txBody>
      </p:sp>
      <p:sp>
        <p:nvSpPr>
          <p:cNvPr id="45" name="TextBox 44"/>
          <p:cNvSpPr txBox="1"/>
          <p:nvPr/>
        </p:nvSpPr>
        <p:spPr>
          <a:xfrm>
            <a:off x="8348470" y="3246119"/>
            <a:ext cx="3474719" cy="246888"/>
          </a:xfrm>
          <a:prstGeom prst="rect">
            <a:avLst/>
          </a:prstGeom>
          <a:noFill/>
        </p:spPr>
        <p:txBody>
          <a:bodyPr wrap="square">
            <a:spAutoFit/>
          </a:bodyPr>
          <a:lstStyle/>
          <a:p>
            <a:pPr algn="l"/>
            <a:r>
              <a:rPr sz="1100" b="0" i="0">
                <a:solidFill>
                  <a:srgbClr val="FFFFFF"/>
                </a:solidFill>
                <a:latin typeface="Calibri"/>
              </a:rPr>
              <a:t>• No persistent connection needed</a:t>
            </a:r>
          </a:p>
        </p:txBody>
      </p:sp>
      <p:sp>
        <p:nvSpPr>
          <p:cNvPr id="46" name="TextBox 45"/>
          <p:cNvSpPr txBox="1"/>
          <p:nvPr/>
        </p:nvSpPr>
        <p:spPr>
          <a:xfrm>
            <a:off x="8348470" y="3520439"/>
            <a:ext cx="3474719" cy="246888"/>
          </a:xfrm>
          <a:prstGeom prst="rect">
            <a:avLst/>
          </a:prstGeom>
          <a:noFill/>
        </p:spPr>
        <p:txBody>
          <a:bodyPr wrap="square">
            <a:spAutoFit/>
          </a:bodyPr>
          <a:lstStyle/>
          <a:p>
            <a:pPr algn="l"/>
            <a:r>
              <a:rPr sz="1100" b="0" i="0">
                <a:solidFill>
                  <a:srgbClr val="FFFFFF"/>
                </a:solidFill>
                <a:latin typeface="Calibri"/>
              </a:rPr>
              <a:t>• Client-provided webhook URL</a:t>
            </a:r>
          </a:p>
        </p:txBody>
      </p:sp>
      <p:sp>
        <p:nvSpPr>
          <p:cNvPr id="47" name="TextBox 46"/>
          <p:cNvSpPr txBox="1"/>
          <p:nvPr/>
        </p:nvSpPr>
        <p:spPr>
          <a:xfrm>
            <a:off x="8348470" y="3794759"/>
            <a:ext cx="3474719" cy="246888"/>
          </a:xfrm>
          <a:prstGeom prst="rect">
            <a:avLst/>
          </a:prstGeom>
          <a:noFill/>
        </p:spPr>
        <p:txBody>
          <a:bodyPr wrap="square">
            <a:spAutoFit/>
          </a:bodyPr>
          <a:lstStyle/>
          <a:p>
            <a:pPr algn="l"/>
            <a:r>
              <a:rPr sz="1100" b="0" i="0">
                <a:solidFill>
                  <a:srgbClr val="FFFFFF"/>
                </a:solidFill>
                <a:latin typeface="Calibri"/>
              </a:rPr>
              <a:t>• Best for very long tasks</a:t>
            </a:r>
          </a:p>
        </p:txBody>
      </p:sp>
      <p:sp>
        <p:nvSpPr>
          <p:cNvPr id="48" name="TextBox 47"/>
          <p:cNvSpPr txBox="1"/>
          <p:nvPr/>
        </p:nvSpPr>
        <p:spPr>
          <a:xfrm>
            <a:off x="8348470" y="4069079"/>
            <a:ext cx="3474719" cy="246888"/>
          </a:xfrm>
          <a:prstGeom prst="rect">
            <a:avLst/>
          </a:prstGeom>
          <a:noFill/>
        </p:spPr>
        <p:txBody>
          <a:bodyPr wrap="square">
            <a:spAutoFit/>
          </a:bodyPr>
          <a:lstStyle/>
          <a:p>
            <a:pPr algn="l"/>
            <a:r>
              <a:rPr sz="1100" b="0" i="0">
                <a:solidFill>
                  <a:srgbClr val="FFFFFF"/>
                </a:solidFill>
                <a:latin typeface="Calibri"/>
              </a:rPr>
              <a:t>• Human-in-the-loop workflows</a:t>
            </a:r>
          </a:p>
        </p:txBody>
      </p:sp>
      <p:sp>
        <p:nvSpPr>
          <p:cNvPr id="49" name="TextBox 48"/>
          <p:cNvSpPr txBox="1"/>
          <p:nvPr/>
        </p:nvSpPr>
        <p:spPr>
          <a:xfrm>
            <a:off x="8293606" y="4407408"/>
            <a:ext cx="3529583" cy="274320"/>
          </a:xfrm>
          <a:prstGeom prst="rect">
            <a:avLst/>
          </a:prstGeom>
          <a:noFill/>
        </p:spPr>
        <p:txBody>
          <a:bodyPr wrap="square">
            <a:spAutoFit/>
          </a:bodyPr>
          <a:lstStyle/>
          <a:p>
            <a:pPr algn="l"/>
            <a:r>
              <a:rPr sz="1150" b="1" i="0">
                <a:solidFill>
                  <a:srgbClr val="FFB300"/>
                </a:solidFill>
                <a:latin typeface="Calibri"/>
              </a:rPr>
              <a:t>Flow:</a:t>
            </a:r>
          </a:p>
        </p:txBody>
      </p:sp>
      <p:sp>
        <p:nvSpPr>
          <p:cNvPr id="50" name="TextBox 49"/>
          <p:cNvSpPr txBox="1"/>
          <p:nvPr/>
        </p:nvSpPr>
        <p:spPr>
          <a:xfrm>
            <a:off x="8348470" y="4727448"/>
            <a:ext cx="3474719" cy="246888"/>
          </a:xfrm>
          <a:prstGeom prst="rect">
            <a:avLst/>
          </a:prstGeom>
          <a:noFill/>
        </p:spPr>
        <p:txBody>
          <a:bodyPr wrap="square">
            <a:spAutoFit/>
          </a:bodyPr>
          <a:lstStyle/>
          <a:p>
            <a:pPr algn="l"/>
            <a:r>
              <a:rPr sz="1050" b="0" i="0">
                <a:solidFill>
                  <a:srgbClr val="D4D4D4"/>
                </a:solidFill>
                <a:latin typeface="Calibri"/>
              </a:rPr>
              <a:t>1. Client registers webhook URL</a:t>
            </a:r>
          </a:p>
        </p:txBody>
      </p:sp>
      <p:sp>
        <p:nvSpPr>
          <p:cNvPr id="51" name="TextBox 50"/>
          <p:cNvSpPr txBox="1"/>
          <p:nvPr/>
        </p:nvSpPr>
        <p:spPr>
          <a:xfrm>
            <a:off x="8348470" y="5001768"/>
            <a:ext cx="3474719" cy="246888"/>
          </a:xfrm>
          <a:prstGeom prst="rect">
            <a:avLst/>
          </a:prstGeom>
          <a:noFill/>
        </p:spPr>
        <p:txBody>
          <a:bodyPr wrap="square">
            <a:spAutoFit/>
          </a:bodyPr>
          <a:lstStyle/>
          <a:p>
            <a:pPr algn="l"/>
            <a:r>
              <a:rPr sz="1050" b="0" i="0">
                <a:solidFill>
                  <a:srgbClr val="D4D4D4"/>
                </a:solidFill>
                <a:latin typeface="Calibri"/>
              </a:rPr>
              <a:t>2. Client → sendMessage</a:t>
            </a:r>
          </a:p>
        </p:txBody>
      </p:sp>
      <p:sp>
        <p:nvSpPr>
          <p:cNvPr id="52" name="TextBox 51"/>
          <p:cNvSpPr txBox="1"/>
          <p:nvPr/>
        </p:nvSpPr>
        <p:spPr>
          <a:xfrm>
            <a:off x="8348470" y="5276088"/>
            <a:ext cx="3474719" cy="246888"/>
          </a:xfrm>
          <a:prstGeom prst="rect">
            <a:avLst/>
          </a:prstGeom>
          <a:noFill/>
        </p:spPr>
        <p:txBody>
          <a:bodyPr wrap="square">
            <a:spAutoFit/>
          </a:bodyPr>
          <a:lstStyle/>
          <a:p>
            <a:pPr algn="l"/>
            <a:r>
              <a:rPr sz="1050" b="0" i="0">
                <a:solidFill>
                  <a:srgbClr val="D4D4D4"/>
                </a:solidFill>
                <a:latin typeface="Calibri"/>
              </a:rPr>
              <a:t>3. Server sends task updates</a:t>
            </a:r>
          </a:p>
        </p:txBody>
      </p:sp>
      <p:sp>
        <p:nvSpPr>
          <p:cNvPr id="53" name="TextBox 52"/>
          <p:cNvSpPr txBox="1"/>
          <p:nvPr/>
        </p:nvSpPr>
        <p:spPr>
          <a:xfrm>
            <a:off x="8348470" y="5550408"/>
            <a:ext cx="3474719" cy="246888"/>
          </a:xfrm>
          <a:prstGeom prst="rect">
            <a:avLst/>
          </a:prstGeom>
          <a:noFill/>
        </p:spPr>
        <p:txBody>
          <a:bodyPr wrap="square">
            <a:spAutoFit/>
          </a:bodyPr>
          <a:lstStyle/>
          <a:p>
            <a:pPr algn="l"/>
            <a:r>
              <a:rPr sz="1050" b="0" i="0">
                <a:solidFill>
                  <a:srgbClr val="D4D4D4"/>
                </a:solidFill>
                <a:latin typeface="Calibri"/>
              </a:rPr>
              <a:t>   via HTTP POST to webhook</a:t>
            </a:r>
          </a:p>
        </p:txBody>
      </p:sp>
      <p:sp>
        <p:nvSpPr>
          <p:cNvPr id="54" name="TextBox 53"/>
          <p:cNvSpPr txBox="1"/>
          <p:nvPr/>
        </p:nvSpPr>
        <p:spPr>
          <a:xfrm>
            <a:off x="8348470" y="5824728"/>
            <a:ext cx="3474719" cy="246888"/>
          </a:xfrm>
          <a:prstGeom prst="rect">
            <a:avLst/>
          </a:prstGeom>
          <a:noFill/>
        </p:spPr>
        <p:txBody>
          <a:bodyPr wrap="square">
            <a:spAutoFit/>
          </a:bodyPr>
          <a:lstStyle/>
          <a:p>
            <a:pPr algn="l"/>
            <a:r>
              <a:rPr sz="1050" b="0" i="0">
                <a:solidFill>
                  <a:srgbClr val="D4D4D4"/>
                </a:solidFill>
                <a:latin typeface="Calibri"/>
              </a:rPr>
              <a:t>4. Client processes async events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The 11 Core Operations</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Complete A2A specification API surface</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128016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79576"/>
            <a:ext cx="1188720" cy="274320"/>
          </a:xfrm>
          <a:prstGeom prst="rect">
            <a:avLst/>
          </a:prstGeom>
          <a:noFill/>
        </p:spPr>
        <p:txBody>
          <a:bodyPr wrap="square">
            <a:spAutoFit/>
          </a:bodyPr>
          <a:lstStyle/>
          <a:p>
            <a:pPr algn="l"/>
            <a:r>
              <a:rPr sz="1200" b="1" i="0">
                <a:solidFill>
                  <a:srgbClr val="FFFFFF"/>
                </a:solidFill>
                <a:latin typeface="Calibri"/>
              </a:rPr>
              <a:t>Category</a:t>
            </a:r>
          </a:p>
        </p:txBody>
      </p:sp>
      <p:sp>
        <p:nvSpPr>
          <p:cNvPr id="9" name="Rectangle 8"/>
          <p:cNvSpPr/>
          <p:nvPr/>
        </p:nvSpPr>
        <p:spPr>
          <a:xfrm>
            <a:off x="1600200" y="1143000"/>
            <a:ext cx="41148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1179576"/>
            <a:ext cx="320040" cy="274320"/>
          </a:xfrm>
          <a:prstGeom prst="rect">
            <a:avLst/>
          </a:prstGeom>
          <a:noFill/>
        </p:spPr>
        <p:txBody>
          <a:bodyPr wrap="square">
            <a:spAutoFit/>
          </a:bodyPr>
          <a:lstStyle/>
          <a:p>
            <a:pPr algn="l"/>
            <a:r>
              <a:rPr sz="1200" b="1" i="0">
                <a:solidFill>
                  <a:srgbClr val="FFFFFF"/>
                </a:solidFill>
                <a:latin typeface="Calibri"/>
              </a:rPr>
              <a:t>#</a:t>
            </a:r>
          </a:p>
        </p:txBody>
      </p:sp>
      <p:sp>
        <p:nvSpPr>
          <p:cNvPr id="11" name="Rectangle 10"/>
          <p:cNvSpPr/>
          <p:nvPr/>
        </p:nvSpPr>
        <p:spPr>
          <a:xfrm>
            <a:off x="2011680" y="1143000"/>
            <a:ext cx="274320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57400" y="1179576"/>
            <a:ext cx="2651760" cy="274320"/>
          </a:xfrm>
          <a:prstGeom prst="rect">
            <a:avLst/>
          </a:prstGeom>
          <a:noFill/>
        </p:spPr>
        <p:txBody>
          <a:bodyPr wrap="square">
            <a:spAutoFit/>
          </a:bodyPr>
          <a:lstStyle/>
          <a:p>
            <a:pPr algn="l"/>
            <a:r>
              <a:rPr sz="1200" b="1" i="0">
                <a:solidFill>
                  <a:srgbClr val="FFFFFF"/>
                </a:solidFill>
                <a:latin typeface="Calibri"/>
              </a:rPr>
              <a:t>Operation</a:t>
            </a:r>
          </a:p>
        </p:txBody>
      </p:sp>
      <p:sp>
        <p:nvSpPr>
          <p:cNvPr id="13" name="Rectangle 12"/>
          <p:cNvSpPr/>
          <p:nvPr/>
        </p:nvSpPr>
        <p:spPr>
          <a:xfrm>
            <a:off x="4754880" y="1143000"/>
            <a:ext cx="676656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00600" y="1179576"/>
            <a:ext cx="6675120" cy="274320"/>
          </a:xfrm>
          <a:prstGeom prst="rect">
            <a:avLst/>
          </a:prstGeom>
          <a:noFill/>
        </p:spPr>
        <p:txBody>
          <a:bodyPr wrap="square">
            <a:spAutoFit/>
          </a:bodyPr>
          <a:lstStyle/>
          <a:p>
            <a:pPr algn="l"/>
            <a:r>
              <a:rPr sz="1200" b="1" i="0">
                <a:solidFill>
                  <a:srgbClr val="FFFFFF"/>
                </a:solidFill>
                <a:latin typeface="Calibri"/>
              </a:rPr>
              <a:t>Description</a:t>
            </a:r>
          </a:p>
        </p:txBody>
      </p:sp>
      <p:sp>
        <p:nvSpPr>
          <p:cNvPr id="15" name="Rectangle 14"/>
          <p:cNvSpPr/>
          <p:nvPr/>
        </p:nvSpPr>
        <p:spPr>
          <a:xfrm>
            <a:off x="320040" y="1490472"/>
            <a:ext cx="1280160" cy="877824"/>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472" y="1746504"/>
            <a:ext cx="1234440" cy="365760"/>
          </a:xfrm>
          <a:prstGeom prst="rect">
            <a:avLst/>
          </a:prstGeom>
          <a:noFill/>
        </p:spPr>
        <p:txBody>
          <a:bodyPr wrap="square">
            <a:spAutoFit/>
          </a:bodyPr>
          <a:lstStyle/>
          <a:p>
            <a:pPr algn="ctr"/>
            <a:r>
              <a:rPr sz="1150" b="1" i="0">
                <a:solidFill>
                  <a:srgbClr val="FFFFFF"/>
                </a:solidFill>
                <a:latin typeface="Calibri"/>
              </a:rPr>
              <a:t>Messaging</a:t>
            </a:r>
          </a:p>
        </p:txBody>
      </p:sp>
      <p:sp>
        <p:nvSpPr>
          <p:cNvPr id="17" name="Rectangle 16"/>
          <p:cNvSpPr/>
          <p:nvPr/>
        </p:nvSpPr>
        <p:spPr>
          <a:xfrm>
            <a:off x="1600200" y="1490472"/>
            <a:ext cx="41148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1581912"/>
            <a:ext cx="347472" cy="256032"/>
          </a:xfrm>
          <a:prstGeom prst="rect">
            <a:avLst/>
          </a:prstGeom>
          <a:noFill/>
        </p:spPr>
        <p:txBody>
          <a:bodyPr wrap="square">
            <a:spAutoFit/>
          </a:bodyPr>
          <a:lstStyle/>
          <a:p>
            <a:pPr algn="ctr"/>
            <a:r>
              <a:rPr sz="1200" b="1" i="0">
                <a:solidFill>
                  <a:srgbClr val="003087"/>
                </a:solidFill>
                <a:latin typeface="Calibri"/>
              </a:rPr>
              <a:t>1</a:t>
            </a:r>
          </a:p>
        </p:txBody>
      </p:sp>
      <p:sp>
        <p:nvSpPr>
          <p:cNvPr id="19" name="Rectangle 18"/>
          <p:cNvSpPr/>
          <p:nvPr/>
        </p:nvSpPr>
        <p:spPr>
          <a:xfrm>
            <a:off x="2011680" y="1490472"/>
            <a:ext cx="274320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84831" y="1581912"/>
            <a:ext cx="2651760" cy="256032"/>
          </a:xfrm>
          <a:prstGeom prst="rect">
            <a:avLst/>
          </a:prstGeom>
          <a:noFill/>
        </p:spPr>
        <p:txBody>
          <a:bodyPr wrap="square">
            <a:spAutoFit/>
          </a:bodyPr>
          <a:lstStyle/>
          <a:p>
            <a:pPr algn="l"/>
            <a:r>
              <a:rPr sz="1200" b="1" i="0">
                <a:solidFill>
                  <a:srgbClr val="003087"/>
                </a:solidFill>
                <a:latin typeface="Calibri"/>
              </a:rPr>
              <a:t>Send Message</a:t>
            </a:r>
          </a:p>
        </p:txBody>
      </p:sp>
      <p:sp>
        <p:nvSpPr>
          <p:cNvPr id="21" name="Rectangle 20"/>
          <p:cNvSpPr/>
          <p:nvPr/>
        </p:nvSpPr>
        <p:spPr>
          <a:xfrm>
            <a:off x="4754880" y="1490472"/>
            <a:ext cx="676656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28032" y="1581912"/>
            <a:ext cx="6629400" cy="256032"/>
          </a:xfrm>
          <a:prstGeom prst="rect">
            <a:avLst/>
          </a:prstGeom>
          <a:noFill/>
        </p:spPr>
        <p:txBody>
          <a:bodyPr wrap="square">
            <a:spAutoFit/>
          </a:bodyPr>
          <a:lstStyle/>
          <a:p>
            <a:pPr algn="l"/>
            <a:r>
              <a:rPr sz="1150" b="0" i="0">
                <a:solidFill>
                  <a:srgbClr val="000000"/>
                </a:solidFill>
                <a:latin typeface="Calibri"/>
              </a:rPr>
              <a:t>Primary operation; returns Task or direct Message</a:t>
            </a:r>
          </a:p>
        </p:txBody>
      </p:sp>
      <p:sp>
        <p:nvSpPr>
          <p:cNvPr id="23" name="Rectangle 22"/>
          <p:cNvSpPr/>
          <p:nvPr/>
        </p:nvSpPr>
        <p:spPr>
          <a:xfrm>
            <a:off x="1600200" y="1929384"/>
            <a:ext cx="41148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27632" y="2020824"/>
            <a:ext cx="347472" cy="256032"/>
          </a:xfrm>
          <a:prstGeom prst="rect">
            <a:avLst/>
          </a:prstGeom>
          <a:noFill/>
        </p:spPr>
        <p:txBody>
          <a:bodyPr wrap="square">
            <a:spAutoFit/>
          </a:bodyPr>
          <a:lstStyle/>
          <a:p>
            <a:pPr algn="ctr"/>
            <a:r>
              <a:rPr sz="1200" b="1" i="0">
                <a:solidFill>
                  <a:srgbClr val="003087"/>
                </a:solidFill>
                <a:latin typeface="Calibri"/>
              </a:rPr>
              <a:t>2</a:t>
            </a:r>
          </a:p>
        </p:txBody>
      </p:sp>
      <p:sp>
        <p:nvSpPr>
          <p:cNvPr id="25" name="Rectangle 24"/>
          <p:cNvSpPr/>
          <p:nvPr/>
        </p:nvSpPr>
        <p:spPr>
          <a:xfrm>
            <a:off x="2011680" y="1929384"/>
            <a:ext cx="274320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084831" y="2020824"/>
            <a:ext cx="2651760" cy="256032"/>
          </a:xfrm>
          <a:prstGeom prst="rect">
            <a:avLst/>
          </a:prstGeom>
          <a:noFill/>
        </p:spPr>
        <p:txBody>
          <a:bodyPr wrap="square">
            <a:spAutoFit/>
          </a:bodyPr>
          <a:lstStyle/>
          <a:p>
            <a:pPr algn="l"/>
            <a:r>
              <a:rPr sz="1200" b="1" i="0">
                <a:solidFill>
                  <a:srgbClr val="003087"/>
                </a:solidFill>
                <a:latin typeface="Calibri"/>
              </a:rPr>
              <a:t>Send Streaming Msg</a:t>
            </a:r>
          </a:p>
        </p:txBody>
      </p:sp>
      <p:sp>
        <p:nvSpPr>
          <p:cNvPr id="27" name="Rectangle 26"/>
          <p:cNvSpPr/>
          <p:nvPr/>
        </p:nvSpPr>
        <p:spPr>
          <a:xfrm>
            <a:off x="4754880" y="1929384"/>
            <a:ext cx="676656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28032" y="2020824"/>
            <a:ext cx="6629400" cy="256032"/>
          </a:xfrm>
          <a:prstGeom prst="rect">
            <a:avLst/>
          </a:prstGeom>
          <a:noFill/>
        </p:spPr>
        <p:txBody>
          <a:bodyPr wrap="square">
            <a:spAutoFit/>
          </a:bodyPr>
          <a:lstStyle/>
          <a:p>
            <a:pPr algn="l"/>
            <a:r>
              <a:rPr sz="1150" b="0" i="0">
                <a:solidFill>
                  <a:srgbClr val="000000"/>
                </a:solidFill>
                <a:latin typeface="Calibri"/>
              </a:rPr>
              <a:t>Like Send Message with real-time SSE streaming</a:t>
            </a:r>
          </a:p>
        </p:txBody>
      </p:sp>
      <p:sp>
        <p:nvSpPr>
          <p:cNvPr id="29" name="Rectangle 28"/>
          <p:cNvSpPr/>
          <p:nvPr/>
        </p:nvSpPr>
        <p:spPr>
          <a:xfrm>
            <a:off x="320040" y="2368296"/>
            <a:ext cx="1280160" cy="175564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 y="3063240"/>
            <a:ext cx="1234440" cy="365760"/>
          </a:xfrm>
          <a:prstGeom prst="rect">
            <a:avLst/>
          </a:prstGeom>
          <a:noFill/>
        </p:spPr>
        <p:txBody>
          <a:bodyPr wrap="square">
            <a:spAutoFit/>
          </a:bodyPr>
          <a:lstStyle/>
          <a:p>
            <a:pPr algn="ctr"/>
            <a:r>
              <a:rPr sz="1150" b="1" i="0">
                <a:solidFill>
                  <a:srgbClr val="FFFFFF"/>
                </a:solidFill>
                <a:latin typeface="Calibri"/>
              </a:rPr>
              <a:t>Task Mgmt</a:t>
            </a:r>
          </a:p>
        </p:txBody>
      </p:sp>
      <p:sp>
        <p:nvSpPr>
          <p:cNvPr id="31" name="Rectangle 30"/>
          <p:cNvSpPr/>
          <p:nvPr/>
        </p:nvSpPr>
        <p:spPr>
          <a:xfrm>
            <a:off x="1600200" y="2368296"/>
            <a:ext cx="41148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2459736"/>
            <a:ext cx="347472" cy="256032"/>
          </a:xfrm>
          <a:prstGeom prst="rect">
            <a:avLst/>
          </a:prstGeom>
          <a:noFill/>
        </p:spPr>
        <p:txBody>
          <a:bodyPr wrap="square">
            <a:spAutoFit/>
          </a:bodyPr>
          <a:lstStyle/>
          <a:p>
            <a:pPr algn="ctr"/>
            <a:r>
              <a:rPr sz="1200" b="1" i="0">
                <a:solidFill>
                  <a:srgbClr val="1565C0"/>
                </a:solidFill>
                <a:latin typeface="Calibri"/>
              </a:rPr>
              <a:t>3</a:t>
            </a:r>
          </a:p>
        </p:txBody>
      </p:sp>
      <p:sp>
        <p:nvSpPr>
          <p:cNvPr id="33" name="Rectangle 32"/>
          <p:cNvSpPr/>
          <p:nvPr/>
        </p:nvSpPr>
        <p:spPr>
          <a:xfrm>
            <a:off x="2011680" y="2368296"/>
            <a:ext cx="274320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84831" y="2459736"/>
            <a:ext cx="2651760" cy="256032"/>
          </a:xfrm>
          <a:prstGeom prst="rect">
            <a:avLst/>
          </a:prstGeom>
          <a:noFill/>
        </p:spPr>
        <p:txBody>
          <a:bodyPr wrap="square">
            <a:spAutoFit/>
          </a:bodyPr>
          <a:lstStyle/>
          <a:p>
            <a:pPr algn="l"/>
            <a:r>
              <a:rPr sz="1200" b="1" i="0">
                <a:solidFill>
                  <a:srgbClr val="1565C0"/>
                </a:solidFill>
                <a:latin typeface="Calibri"/>
              </a:rPr>
              <a:t>Get Task</a:t>
            </a:r>
          </a:p>
        </p:txBody>
      </p:sp>
      <p:sp>
        <p:nvSpPr>
          <p:cNvPr id="35" name="Rectangle 34"/>
          <p:cNvSpPr/>
          <p:nvPr/>
        </p:nvSpPr>
        <p:spPr>
          <a:xfrm>
            <a:off x="4754880" y="2368296"/>
            <a:ext cx="676656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28032" y="2459736"/>
            <a:ext cx="6629400" cy="256032"/>
          </a:xfrm>
          <a:prstGeom prst="rect">
            <a:avLst/>
          </a:prstGeom>
          <a:noFill/>
        </p:spPr>
        <p:txBody>
          <a:bodyPr wrap="square">
            <a:spAutoFit/>
          </a:bodyPr>
          <a:lstStyle/>
          <a:p>
            <a:pPr algn="l"/>
            <a:r>
              <a:rPr sz="1150" b="0" i="0">
                <a:solidFill>
                  <a:srgbClr val="000000"/>
                </a:solidFill>
                <a:latin typeface="Calibri"/>
              </a:rPr>
              <a:t>Retrieves current state and details of a task</a:t>
            </a:r>
          </a:p>
        </p:txBody>
      </p:sp>
      <p:sp>
        <p:nvSpPr>
          <p:cNvPr id="37" name="Rectangle 36"/>
          <p:cNvSpPr/>
          <p:nvPr/>
        </p:nvSpPr>
        <p:spPr>
          <a:xfrm>
            <a:off x="1600200" y="2807208"/>
            <a:ext cx="41148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627632" y="2898648"/>
            <a:ext cx="347472" cy="256032"/>
          </a:xfrm>
          <a:prstGeom prst="rect">
            <a:avLst/>
          </a:prstGeom>
          <a:noFill/>
        </p:spPr>
        <p:txBody>
          <a:bodyPr wrap="square">
            <a:spAutoFit/>
          </a:bodyPr>
          <a:lstStyle/>
          <a:p>
            <a:pPr algn="ctr"/>
            <a:r>
              <a:rPr sz="1200" b="1" i="0">
                <a:solidFill>
                  <a:srgbClr val="1565C0"/>
                </a:solidFill>
                <a:latin typeface="Calibri"/>
              </a:rPr>
              <a:t>4</a:t>
            </a:r>
          </a:p>
        </p:txBody>
      </p:sp>
      <p:sp>
        <p:nvSpPr>
          <p:cNvPr id="39" name="Rectangle 38"/>
          <p:cNvSpPr/>
          <p:nvPr/>
        </p:nvSpPr>
        <p:spPr>
          <a:xfrm>
            <a:off x="2011680" y="2807208"/>
            <a:ext cx="274320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84831" y="2898648"/>
            <a:ext cx="2651760" cy="256032"/>
          </a:xfrm>
          <a:prstGeom prst="rect">
            <a:avLst/>
          </a:prstGeom>
          <a:noFill/>
        </p:spPr>
        <p:txBody>
          <a:bodyPr wrap="square">
            <a:spAutoFit/>
          </a:bodyPr>
          <a:lstStyle/>
          <a:p>
            <a:pPr algn="l"/>
            <a:r>
              <a:rPr sz="1200" b="1" i="0">
                <a:solidFill>
                  <a:srgbClr val="1565C0"/>
                </a:solidFill>
                <a:latin typeface="Calibri"/>
              </a:rPr>
              <a:t>List Tasks</a:t>
            </a:r>
          </a:p>
        </p:txBody>
      </p:sp>
      <p:sp>
        <p:nvSpPr>
          <p:cNvPr id="41" name="Rectangle 40"/>
          <p:cNvSpPr/>
          <p:nvPr/>
        </p:nvSpPr>
        <p:spPr>
          <a:xfrm>
            <a:off x="4754880" y="2807208"/>
            <a:ext cx="676656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28032" y="2898648"/>
            <a:ext cx="6629400" cy="256032"/>
          </a:xfrm>
          <a:prstGeom prst="rect">
            <a:avLst/>
          </a:prstGeom>
          <a:noFill/>
        </p:spPr>
        <p:txBody>
          <a:bodyPr wrap="square">
            <a:spAutoFit/>
          </a:bodyPr>
          <a:lstStyle/>
          <a:p>
            <a:pPr algn="l"/>
            <a:r>
              <a:rPr sz="1150" b="0" i="0">
                <a:solidFill>
                  <a:srgbClr val="000000"/>
                </a:solidFill>
                <a:latin typeface="Calibri"/>
              </a:rPr>
              <a:t>Retrieves task list with optional filtering &amp; pagination</a:t>
            </a:r>
          </a:p>
        </p:txBody>
      </p:sp>
      <p:sp>
        <p:nvSpPr>
          <p:cNvPr id="43" name="Rectangle 42"/>
          <p:cNvSpPr/>
          <p:nvPr/>
        </p:nvSpPr>
        <p:spPr>
          <a:xfrm>
            <a:off x="1600200" y="3246120"/>
            <a:ext cx="41148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627632" y="3337560"/>
            <a:ext cx="347472" cy="256032"/>
          </a:xfrm>
          <a:prstGeom prst="rect">
            <a:avLst/>
          </a:prstGeom>
          <a:noFill/>
        </p:spPr>
        <p:txBody>
          <a:bodyPr wrap="square">
            <a:spAutoFit/>
          </a:bodyPr>
          <a:lstStyle/>
          <a:p>
            <a:pPr algn="ctr"/>
            <a:r>
              <a:rPr sz="1200" b="1" i="0">
                <a:solidFill>
                  <a:srgbClr val="1565C0"/>
                </a:solidFill>
                <a:latin typeface="Calibri"/>
              </a:rPr>
              <a:t>5</a:t>
            </a:r>
          </a:p>
        </p:txBody>
      </p:sp>
      <p:sp>
        <p:nvSpPr>
          <p:cNvPr id="45" name="Rectangle 44"/>
          <p:cNvSpPr/>
          <p:nvPr/>
        </p:nvSpPr>
        <p:spPr>
          <a:xfrm>
            <a:off x="2011680" y="3246120"/>
            <a:ext cx="274320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084831" y="3337560"/>
            <a:ext cx="2651760" cy="256032"/>
          </a:xfrm>
          <a:prstGeom prst="rect">
            <a:avLst/>
          </a:prstGeom>
          <a:noFill/>
        </p:spPr>
        <p:txBody>
          <a:bodyPr wrap="square">
            <a:spAutoFit/>
          </a:bodyPr>
          <a:lstStyle/>
          <a:p>
            <a:pPr algn="l"/>
            <a:r>
              <a:rPr sz="1200" b="1" i="0">
                <a:solidFill>
                  <a:srgbClr val="1565C0"/>
                </a:solidFill>
                <a:latin typeface="Calibri"/>
              </a:rPr>
              <a:t>Cancel Task</a:t>
            </a:r>
          </a:p>
        </p:txBody>
      </p:sp>
      <p:sp>
        <p:nvSpPr>
          <p:cNvPr id="47" name="Rectangle 46"/>
          <p:cNvSpPr/>
          <p:nvPr/>
        </p:nvSpPr>
        <p:spPr>
          <a:xfrm>
            <a:off x="4754880" y="3246120"/>
            <a:ext cx="676656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28032" y="3337560"/>
            <a:ext cx="6629400" cy="256032"/>
          </a:xfrm>
          <a:prstGeom prst="rect">
            <a:avLst/>
          </a:prstGeom>
          <a:noFill/>
        </p:spPr>
        <p:txBody>
          <a:bodyPr wrap="square">
            <a:spAutoFit/>
          </a:bodyPr>
          <a:lstStyle/>
          <a:p>
            <a:pPr algn="l"/>
            <a:r>
              <a:rPr sz="1150" b="0" i="0">
                <a:solidFill>
                  <a:srgbClr val="000000"/>
                </a:solidFill>
                <a:latin typeface="Calibri"/>
              </a:rPr>
              <a:t>Requests cancellation of an ongoing task</a:t>
            </a:r>
          </a:p>
        </p:txBody>
      </p:sp>
      <p:sp>
        <p:nvSpPr>
          <p:cNvPr id="49" name="Rectangle 48"/>
          <p:cNvSpPr/>
          <p:nvPr/>
        </p:nvSpPr>
        <p:spPr>
          <a:xfrm>
            <a:off x="1600200" y="3685032"/>
            <a:ext cx="41148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627632" y="3776472"/>
            <a:ext cx="347472" cy="256032"/>
          </a:xfrm>
          <a:prstGeom prst="rect">
            <a:avLst/>
          </a:prstGeom>
          <a:noFill/>
        </p:spPr>
        <p:txBody>
          <a:bodyPr wrap="square">
            <a:spAutoFit/>
          </a:bodyPr>
          <a:lstStyle/>
          <a:p>
            <a:pPr algn="ctr"/>
            <a:r>
              <a:rPr sz="1200" b="1" i="0">
                <a:solidFill>
                  <a:srgbClr val="1565C0"/>
                </a:solidFill>
                <a:latin typeface="Calibri"/>
              </a:rPr>
              <a:t>6</a:t>
            </a:r>
          </a:p>
        </p:txBody>
      </p:sp>
      <p:sp>
        <p:nvSpPr>
          <p:cNvPr id="51" name="Rectangle 50"/>
          <p:cNvSpPr/>
          <p:nvPr/>
        </p:nvSpPr>
        <p:spPr>
          <a:xfrm>
            <a:off x="2011680" y="3685032"/>
            <a:ext cx="274320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084831" y="3776472"/>
            <a:ext cx="2651760" cy="256032"/>
          </a:xfrm>
          <a:prstGeom prst="rect">
            <a:avLst/>
          </a:prstGeom>
          <a:noFill/>
        </p:spPr>
        <p:txBody>
          <a:bodyPr wrap="square">
            <a:spAutoFit/>
          </a:bodyPr>
          <a:lstStyle/>
          <a:p>
            <a:pPr algn="l"/>
            <a:r>
              <a:rPr sz="1200" b="1" i="0">
                <a:solidFill>
                  <a:srgbClr val="1565C0"/>
                </a:solidFill>
                <a:latin typeface="Calibri"/>
              </a:rPr>
              <a:t>Subscribe to Task</a:t>
            </a:r>
          </a:p>
        </p:txBody>
      </p:sp>
      <p:sp>
        <p:nvSpPr>
          <p:cNvPr id="53" name="Rectangle 52"/>
          <p:cNvSpPr/>
          <p:nvPr/>
        </p:nvSpPr>
        <p:spPr>
          <a:xfrm>
            <a:off x="4754880" y="3685032"/>
            <a:ext cx="676656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828032" y="3776472"/>
            <a:ext cx="6629400" cy="256032"/>
          </a:xfrm>
          <a:prstGeom prst="rect">
            <a:avLst/>
          </a:prstGeom>
          <a:noFill/>
        </p:spPr>
        <p:txBody>
          <a:bodyPr wrap="square">
            <a:spAutoFit/>
          </a:bodyPr>
          <a:lstStyle/>
          <a:p>
            <a:pPr algn="l"/>
            <a:r>
              <a:rPr sz="1150" b="0" i="0">
                <a:solidFill>
                  <a:srgbClr val="000000"/>
                </a:solidFill>
                <a:latin typeface="Calibri"/>
              </a:rPr>
              <a:t>Establishes streaming connection for task update events</a:t>
            </a:r>
          </a:p>
        </p:txBody>
      </p:sp>
      <p:sp>
        <p:nvSpPr>
          <p:cNvPr id="55" name="Rectangle 54"/>
          <p:cNvSpPr/>
          <p:nvPr/>
        </p:nvSpPr>
        <p:spPr>
          <a:xfrm>
            <a:off x="320040" y="4123944"/>
            <a:ext cx="1280160" cy="1755648"/>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47472" y="4818888"/>
            <a:ext cx="1234440" cy="365760"/>
          </a:xfrm>
          <a:prstGeom prst="rect">
            <a:avLst/>
          </a:prstGeom>
          <a:noFill/>
        </p:spPr>
        <p:txBody>
          <a:bodyPr wrap="square">
            <a:spAutoFit/>
          </a:bodyPr>
          <a:lstStyle/>
          <a:p>
            <a:pPr algn="ctr"/>
            <a:r>
              <a:rPr sz="1150" b="1" i="0">
                <a:solidFill>
                  <a:srgbClr val="FFFFFF"/>
                </a:solidFill>
                <a:latin typeface="Calibri"/>
              </a:rPr>
              <a:t>Push Notif.</a:t>
            </a:r>
          </a:p>
        </p:txBody>
      </p:sp>
      <p:sp>
        <p:nvSpPr>
          <p:cNvPr id="57" name="Rectangle 56"/>
          <p:cNvSpPr/>
          <p:nvPr/>
        </p:nvSpPr>
        <p:spPr>
          <a:xfrm>
            <a:off x="1600200" y="4123944"/>
            <a:ext cx="41148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627632" y="4215384"/>
            <a:ext cx="347472" cy="256032"/>
          </a:xfrm>
          <a:prstGeom prst="rect">
            <a:avLst/>
          </a:prstGeom>
          <a:noFill/>
        </p:spPr>
        <p:txBody>
          <a:bodyPr wrap="square">
            <a:spAutoFit/>
          </a:bodyPr>
          <a:lstStyle/>
          <a:p>
            <a:pPr algn="ctr"/>
            <a:r>
              <a:rPr sz="1200" b="1" i="0">
                <a:solidFill>
                  <a:srgbClr val="00696E"/>
                </a:solidFill>
                <a:latin typeface="Calibri"/>
              </a:rPr>
              <a:t>7</a:t>
            </a:r>
          </a:p>
        </p:txBody>
      </p:sp>
      <p:sp>
        <p:nvSpPr>
          <p:cNvPr id="59" name="Rectangle 58"/>
          <p:cNvSpPr/>
          <p:nvPr/>
        </p:nvSpPr>
        <p:spPr>
          <a:xfrm>
            <a:off x="2011680" y="4123944"/>
            <a:ext cx="274320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084831" y="4215384"/>
            <a:ext cx="2651760" cy="256032"/>
          </a:xfrm>
          <a:prstGeom prst="rect">
            <a:avLst/>
          </a:prstGeom>
          <a:noFill/>
        </p:spPr>
        <p:txBody>
          <a:bodyPr wrap="square">
            <a:spAutoFit/>
          </a:bodyPr>
          <a:lstStyle/>
          <a:p>
            <a:pPr algn="l"/>
            <a:r>
              <a:rPr sz="1200" b="1" i="0">
                <a:solidFill>
                  <a:srgbClr val="00696E"/>
                </a:solidFill>
                <a:latin typeface="Calibri"/>
              </a:rPr>
              <a:t>Create Push Config</a:t>
            </a:r>
          </a:p>
        </p:txBody>
      </p:sp>
      <p:sp>
        <p:nvSpPr>
          <p:cNvPr id="61" name="Rectangle 60"/>
          <p:cNvSpPr/>
          <p:nvPr/>
        </p:nvSpPr>
        <p:spPr>
          <a:xfrm>
            <a:off x="4754880" y="4123944"/>
            <a:ext cx="676656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828032" y="4215384"/>
            <a:ext cx="6629400" cy="256032"/>
          </a:xfrm>
          <a:prstGeom prst="rect">
            <a:avLst/>
          </a:prstGeom>
          <a:noFill/>
        </p:spPr>
        <p:txBody>
          <a:bodyPr wrap="square">
            <a:spAutoFit/>
          </a:bodyPr>
          <a:lstStyle/>
          <a:p>
            <a:pPr algn="l"/>
            <a:r>
              <a:rPr sz="1150" b="0" i="0">
                <a:solidFill>
                  <a:srgbClr val="000000"/>
                </a:solidFill>
                <a:latin typeface="Calibri"/>
              </a:rPr>
              <a:t>Sets up a webhook URL for async task updates</a:t>
            </a:r>
          </a:p>
        </p:txBody>
      </p:sp>
      <p:sp>
        <p:nvSpPr>
          <p:cNvPr id="63" name="Rectangle 62"/>
          <p:cNvSpPr/>
          <p:nvPr/>
        </p:nvSpPr>
        <p:spPr>
          <a:xfrm>
            <a:off x="1600200" y="4562856"/>
            <a:ext cx="41148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627632" y="4654296"/>
            <a:ext cx="347472" cy="256032"/>
          </a:xfrm>
          <a:prstGeom prst="rect">
            <a:avLst/>
          </a:prstGeom>
          <a:noFill/>
        </p:spPr>
        <p:txBody>
          <a:bodyPr wrap="square">
            <a:spAutoFit/>
          </a:bodyPr>
          <a:lstStyle/>
          <a:p>
            <a:pPr algn="ctr"/>
            <a:r>
              <a:rPr sz="1200" b="1" i="0">
                <a:solidFill>
                  <a:srgbClr val="00696E"/>
                </a:solidFill>
                <a:latin typeface="Calibri"/>
              </a:rPr>
              <a:t>8</a:t>
            </a:r>
          </a:p>
        </p:txBody>
      </p:sp>
      <p:sp>
        <p:nvSpPr>
          <p:cNvPr id="65" name="Rectangle 64"/>
          <p:cNvSpPr/>
          <p:nvPr/>
        </p:nvSpPr>
        <p:spPr>
          <a:xfrm>
            <a:off x="2011680" y="4562856"/>
            <a:ext cx="274320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084831" y="4654296"/>
            <a:ext cx="2651760" cy="256032"/>
          </a:xfrm>
          <a:prstGeom prst="rect">
            <a:avLst/>
          </a:prstGeom>
          <a:noFill/>
        </p:spPr>
        <p:txBody>
          <a:bodyPr wrap="square">
            <a:spAutoFit/>
          </a:bodyPr>
          <a:lstStyle/>
          <a:p>
            <a:pPr algn="l"/>
            <a:r>
              <a:rPr sz="1200" b="1" i="0">
                <a:solidFill>
                  <a:srgbClr val="00696E"/>
                </a:solidFill>
                <a:latin typeface="Calibri"/>
              </a:rPr>
              <a:t>Get Push Config</a:t>
            </a:r>
          </a:p>
        </p:txBody>
      </p:sp>
      <p:sp>
        <p:nvSpPr>
          <p:cNvPr id="67" name="Rectangle 66"/>
          <p:cNvSpPr/>
          <p:nvPr/>
        </p:nvSpPr>
        <p:spPr>
          <a:xfrm>
            <a:off x="4754880" y="4562856"/>
            <a:ext cx="676656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828032" y="4654296"/>
            <a:ext cx="6629400" cy="256032"/>
          </a:xfrm>
          <a:prstGeom prst="rect">
            <a:avLst/>
          </a:prstGeom>
          <a:noFill/>
        </p:spPr>
        <p:txBody>
          <a:bodyPr wrap="square">
            <a:spAutoFit/>
          </a:bodyPr>
          <a:lstStyle/>
          <a:p>
            <a:pPr algn="l"/>
            <a:r>
              <a:rPr sz="1150" b="0" i="0">
                <a:solidFill>
                  <a:srgbClr val="000000"/>
                </a:solidFill>
                <a:latin typeface="Calibri"/>
              </a:rPr>
              <a:t>Retrieves an existing webhook configuration</a:t>
            </a:r>
          </a:p>
        </p:txBody>
      </p:sp>
      <p:sp>
        <p:nvSpPr>
          <p:cNvPr id="69" name="Rectangle 68"/>
          <p:cNvSpPr/>
          <p:nvPr/>
        </p:nvSpPr>
        <p:spPr>
          <a:xfrm>
            <a:off x="1600200" y="5001768"/>
            <a:ext cx="41148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27632" y="5093208"/>
            <a:ext cx="347472" cy="256032"/>
          </a:xfrm>
          <a:prstGeom prst="rect">
            <a:avLst/>
          </a:prstGeom>
          <a:noFill/>
        </p:spPr>
        <p:txBody>
          <a:bodyPr wrap="square">
            <a:spAutoFit/>
          </a:bodyPr>
          <a:lstStyle/>
          <a:p>
            <a:pPr algn="ctr"/>
            <a:r>
              <a:rPr sz="1200" b="1" i="0">
                <a:solidFill>
                  <a:srgbClr val="00696E"/>
                </a:solidFill>
                <a:latin typeface="Calibri"/>
              </a:rPr>
              <a:t>9</a:t>
            </a:r>
          </a:p>
        </p:txBody>
      </p:sp>
      <p:sp>
        <p:nvSpPr>
          <p:cNvPr id="71" name="Rectangle 70"/>
          <p:cNvSpPr/>
          <p:nvPr/>
        </p:nvSpPr>
        <p:spPr>
          <a:xfrm>
            <a:off x="2011680" y="5001768"/>
            <a:ext cx="274320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084831" y="5093208"/>
            <a:ext cx="2651760" cy="256032"/>
          </a:xfrm>
          <a:prstGeom prst="rect">
            <a:avLst/>
          </a:prstGeom>
          <a:noFill/>
        </p:spPr>
        <p:txBody>
          <a:bodyPr wrap="square">
            <a:spAutoFit/>
          </a:bodyPr>
          <a:lstStyle/>
          <a:p>
            <a:pPr algn="l"/>
            <a:r>
              <a:rPr sz="1200" b="1" i="0">
                <a:solidFill>
                  <a:srgbClr val="00696E"/>
                </a:solidFill>
                <a:latin typeface="Calibri"/>
              </a:rPr>
              <a:t>List Push Configs</a:t>
            </a:r>
          </a:p>
        </p:txBody>
      </p:sp>
      <p:sp>
        <p:nvSpPr>
          <p:cNvPr id="73" name="Rectangle 72"/>
          <p:cNvSpPr/>
          <p:nvPr/>
        </p:nvSpPr>
        <p:spPr>
          <a:xfrm>
            <a:off x="4754880" y="5001768"/>
            <a:ext cx="676656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828032" y="5093208"/>
            <a:ext cx="6629400" cy="256032"/>
          </a:xfrm>
          <a:prstGeom prst="rect">
            <a:avLst/>
          </a:prstGeom>
          <a:noFill/>
        </p:spPr>
        <p:txBody>
          <a:bodyPr wrap="square">
            <a:spAutoFit/>
          </a:bodyPr>
          <a:lstStyle/>
          <a:p>
            <a:pPr algn="l"/>
            <a:r>
              <a:rPr sz="1150" b="0" i="0">
                <a:solidFill>
                  <a:srgbClr val="000000"/>
                </a:solidFill>
                <a:latin typeface="Calibri"/>
              </a:rPr>
              <a:t>Lists all webhook configs for a specific task</a:t>
            </a:r>
          </a:p>
        </p:txBody>
      </p:sp>
      <p:sp>
        <p:nvSpPr>
          <p:cNvPr id="75" name="Rectangle 74"/>
          <p:cNvSpPr/>
          <p:nvPr/>
        </p:nvSpPr>
        <p:spPr>
          <a:xfrm>
            <a:off x="1600200" y="5440680"/>
            <a:ext cx="41148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627632" y="5532120"/>
            <a:ext cx="347472" cy="256032"/>
          </a:xfrm>
          <a:prstGeom prst="rect">
            <a:avLst/>
          </a:prstGeom>
          <a:noFill/>
        </p:spPr>
        <p:txBody>
          <a:bodyPr wrap="square">
            <a:spAutoFit/>
          </a:bodyPr>
          <a:lstStyle/>
          <a:p>
            <a:pPr algn="ctr"/>
            <a:r>
              <a:rPr sz="1200" b="1" i="0">
                <a:solidFill>
                  <a:srgbClr val="00696E"/>
                </a:solidFill>
                <a:latin typeface="Calibri"/>
              </a:rPr>
              <a:t>10</a:t>
            </a:r>
          </a:p>
        </p:txBody>
      </p:sp>
      <p:sp>
        <p:nvSpPr>
          <p:cNvPr id="77" name="Rectangle 76"/>
          <p:cNvSpPr/>
          <p:nvPr/>
        </p:nvSpPr>
        <p:spPr>
          <a:xfrm>
            <a:off x="2011680" y="5440680"/>
            <a:ext cx="274320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084831" y="5532120"/>
            <a:ext cx="2651760" cy="256032"/>
          </a:xfrm>
          <a:prstGeom prst="rect">
            <a:avLst/>
          </a:prstGeom>
          <a:noFill/>
        </p:spPr>
        <p:txBody>
          <a:bodyPr wrap="square">
            <a:spAutoFit/>
          </a:bodyPr>
          <a:lstStyle/>
          <a:p>
            <a:pPr algn="l"/>
            <a:r>
              <a:rPr sz="1200" b="1" i="0">
                <a:solidFill>
                  <a:srgbClr val="00696E"/>
                </a:solidFill>
                <a:latin typeface="Calibri"/>
              </a:rPr>
              <a:t>Delete Push Config</a:t>
            </a:r>
          </a:p>
        </p:txBody>
      </p:sp>
      <p:sp>
        <p:nvSpPr>
          <p:cNvPr id="79" name="Rectangle 78"/>
          <p:cNvSpPr/>
          <p:nvPr/>
        </p:nvSpPr>
        <p:spPr>
          <a:xfrm>
            <a:off x="4754880" y="5440680"/>
            <a:ext cx="6766560" cy="438912"/>
          </a:xfrm>
          <a:prstGeom prst="rect">
            <a:avLst/>
          </a:prstGeom>
          <a:solidFill>
            <a:srgbClr val="E8EEF8"/>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828032" y="5532120"/>
            <a:ext cx="6629400" cy="256032"/>
          </a:xfrm>
          <a:prstGeom prst="rect">
            <a:avLst/>
          </a:prstGeom>
          <a:noFill/>
        </p:spPr>
        <p:txBody>
          <a:bodyPr wrap="square">
            <a:spAutoFit/>
          </a:bodyPr>
          <a:lstStyle/>
          <a:p>
            <a:pPr algn="l"/>
            <a:r>
              <a:rPr sz="1150" b="0" i="0">
                <a:solidFill>
                  <a:srgbClr val="000000"/>
                </a:solidFill>
                <a:latin typeface="Calibri"/>
              </a:rPr>
              <a:t>Removes a webhook configuration</a:t>
            </a:r>
          </a:p>
        </p:txBody>
      </p:sp>
      <p:sp>
        <p:nvSpPr>
          <p:cNvPr id="81" name="Rectangle 80"/>
          <p:cNvSpPr/>
          <p:nvPr/>
        </p:nvSpPr>
        <p:spPr>
          <a:xfrm>
            <a:off x="320040" y="5879592"/>
            <a:ext cx="1280160" cy="43891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47472" y="5916168"/>
            <a:ext cx="1234440" cy="365760"/>
          </a:xfrm>
          <a:prstGeom prst="rect">
            <a:avLst/>
          </a:prstGeom>
          <a:noFill/>
        </p:spPr>
        <p:txBody>
          <a:bodyPr wrap="square">
            <a:spAutoFit/>
          </a:bodyPr>
          <a:lstStyle/>
          <a:p>
            <a:pPr algn="ctr"/>
            <a:r>
              <a:rPr sz="1150" b="1" i="0">
                <a:solidFill>
                  <a:srgbClr val="FFFFFF"/>
                </a:solidFill>
                <a:latin typeface="Calibri"/>
              </a:rPr>
              <a:t>Discovery</a:t>
            </a:r>
          </a:p>
        </p:txBody>
      </p:sp>
      <p:sp>
        <p:nvSpPr>
          <p:cNvPr id="83" name="Rectangle 82"/>
          <p:cNvSpPr/>
          <p:nvPr/>
        </p:nvSpPr>
        <p:spPr>
          <a:xfrm>
            <a:off x="1600200" y="5879592"/>
            <a:ext cx="41148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627632" y="5971032"/>
            <a:ext cx="347472" cy="256032"/>
          </a:xfrm>
          <a:prstGeom prst="rect">
            <a:avLst/>
          </a:prstGeom>
          <a:noFill/>
        </p:spPr>
        <p:txBody>
          <a:bodyPr wrap="square">
            <a:spAutoFit/>
          </a:bodyPr>
          <a:lstStyle/>
          <a:p>
            <a:pPr algn="ctr"/>
            <a:r>
              <a:rPr sz="1200" b="1" i="0">
                <a:solidFill>
                  <a:srgbClr val="2E7D32"/>
                </a:solidFill>
                <a:latin typeface="Calibri"/>
              </a:rPr>
              <a:t>11</a:t>
            </a:r>
          </a:p>
        </p:txBody>
      </p:sp>
      <p:sp>
        <p:nvSpPr>
          <p:cNvPr id="85" name="Rectangle 84"/>
          <p:cNvSpPr/>
          <p:nvPr/>
        </p:nvSpPr>
        <p:spPr>
          <a:xfrm>
            <a:off x="2011680" y="5879592"/>
            <a:ext cx="274320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2084831" y="5971032"/>
            <a:ext cx="2651760" cy="256032"/>
          </a:xfrm>
          <a:prstGeom prst="rect">
            <a:avLst/>
          </a:prstGeom>
          <a:noFill/>
        </p:spPr>
        <p:txBody>
          <a:bodyPr wrap="square">
            <a:spAutoFit/>
          </a:bodyPr>
          <a:lstStyle/>
          <a:p>
            <a:pPr algn="l"/>
            <a:r>
              <a:rPr sz="1200" b="1" i="0">
                <a:solidFill>
                  <a:srgbClr val="2E7D32"/>
                </a:solidFill>
                <a:latin typeface="Calibri"/>
              </a:rPr>
              <a:t>Get Extended Card</a:t>
            </a:r>
          </a:p>
        </p:txBody>
      </p:sp>
      <p:sp>
        <p:nvSpPr>
          <p:cNvPr id="87" name="Rectangle 86"/>
          <p:cNvSpPr/>
          <p:nvPr/>
        </p:nvSpPr>
        <p:spPr>
          <a:xfrm>
            <a:off x="4754880" y="5879592"/>
            <a:ext cx="6766560" cy="438912"/>
          </a:xfrm>
          <a:prstGeom prst="rect">
            <a:avLst/>
          </a:prstGeom>
          <a:solidFill>
            <a:srgbClr val="FFFFFF"/>
          </a:solidFill>
          <a:ln w="6350">
            <a:solidFill>
              <a:srgbClr val="F4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828032" y="5971032"/>
            <a:ext cx="6629400" cy="256032"/>
          </a:xfrm>
          <a:prstGeom prst="rect">
            <a:avLst/>
          </a:prstGeom>
          <a:noFill/>
        </p:spPr>
        <p:txBody>
          <a:bodyPr wrap="square">
            <a:spAutoFit/>
          </a:bodyPr>
          <a:lstStyle/>
          <a:p>
            <a:pPr algn="l"/>
            <a:r>
              <a:rPr sz="1150" b="0" i="0">
                <a:solidFill>
                  <a:srgbClr val="000000"/>
                </a:solidFill>
                <a:latin typeface="Calibri"/>
              </a:rPr>
              <a:t>Retrieves detailed agent capabilities post-authentication</a:t>
            </a:r>
          </a:p>
        </p:txBody>
      </p:sp>
      <p:sp>
        <p:nvSpPr>
          <p:cNvPr id="89" name="Rectangle 88"/>
          <p:cNvSpPr/>
          <p:nvPr/>
        </p:nvSpPr>
        <p:spPr>
          <a:xfrm>
            <a:off x="320040" y="6409944"/>
            <a:ext cx="11521440" cy="347472"/>
          </a:xfrm>
          <a:prstGeom prst="rect">
            <a:avLst/>
          </a:prstGeom>
          <a:solidFill>
            <a:srgbClr val="FFF8E1"/>
          </a:solidFill>
          <a:ln w="12700">
            <a:solidFill>
              <a:srgbClr val="FFB3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6455664"/>
            <a:ext cx="11247120" cy="256032"/>
          </a:xfrm>
          <a:prstGeom prst="rect">
            <a:avLst/>
          </a:prstGeom>
          <a:noFill/>
        </p:spPr>
        <p:txBody>
          <a:bodyPr wrap="square">
            <a:spAutoFit/>
          </a:bodyPr>
          <a:lstStyle/>
          <a:p>
            <a:pPr algn="l"/>
            <a:r>
              <a:rPr sz="1050" b="0" i="0">
                <a:solidFill>
                  <a:srgbClr val="003087"/>
                </a:solidFill>
                <a:latin typeface="Calibri"/>
              </a:rPr>
              <a:t>Note: Get operations and Cancel Task are idempotent. Send Message MAY be idempotent via messageId. Blocking mode supported via SendMessageConfiguration.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Protocol Bindings</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Three transport options for A2A communication</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3749039" cy="5440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 y="1234440"/>
            <a:ext cx="3529583" cy="411480"/>
          </a:xfrm>
          <a:prstGeom prst="rect">
            <a:avLst/>
          </a:prstGeom>
          <a:noFill/>
        </p:spPr>
        <p:txBody>
          <a:bodyPr wrap="square">
            <a:spAutoFit/>
          </a:bodyPr>
          <a:lstStyle/>
          <a:p>
            <a:pPr algn="l"/>
            <a:r>
              <a:rPr sz="1800" b="1" i="0">
                <a:solidFill>
                  <a:srgbClr val="FFB300"/>
                </a:solidFill>
                <a:latin typeface="Calibri"/>
              </a:rPr>
              <a:t>JSON-RPC 2.0</a:t>
            </a:r>
          </a:p>
        </p:txBody>
      </p:sp>
      <p:sp>
        <p:nvSpPr>
          <p:cNvPr id="9" name="TextBox 8"/>
          <p:cNvSpPr txBox="1"/>
          <p:nvPr/>
        </p:nvSpPr>
        <p:spPr>
          <a:xfrm>
            <a:off x="429768" y="1673352"/>
            <a:ext cx="3529583" cy="292608"/>
          </a:xfrm>
          <a:prstGeom prst="rect">
            <a:avLst/>
          </a:prstGeom>
          <a:noFill/>
        </p:spPr>
        <p:txBody>
          <a:bodyPr wrap="square">
            <a:spAutoFit/>
          </a:bodyPr>
          <a:lstStyle/>
          <a:p>
            <a:pPr algn="l"/>
            <a:r>
              <a:rPr sz="1200" b="0" i="1">
                <a:solidFill>
                  <a:srgbClr val="B0C4DE"/>
                </a:solidFill>
                <a:latin typeface="Calibri"/>
              </a:rPr>
              <a:t>Method-based RPC over HTTP</a:t>
            </a:r>
          </a:p>
        </p:txBody>
      </p:sp>
      <p:sp>
        <p:nvSpPr>
          <p:cNvPr id="10" name="Rectangle 9"/>
          <p:cNvSpPr/>
          <p:nvPr/>
        </p:nvSpPr>
        <p:spPr>
          <a:xfrm>
            <a:off x="320040" y="2011680"/>
            <a:ext cx="374903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 y="2103120"/>
            <a:ext cx="3474719" cy="246888"/>
          </a:xfrm>
          <a:prstGeom prst="rect">
            <a:avLst/>
          </a:prstGeom>
          <a:noFill/>
        </p:spPr>
        <p:txBody>
          <a:bodyPr wrap="square">
            <a:spAutoFit/>
          </a:bodyPr>
          <a:lstStyle/>
          <a:p>
            <a:pPr algn="l"/>
            <a:r>
              <a:rPr sz="1100" b="0" i="0">
                <a:solidFill>
                  <a:srgbClr val="FFFFFF"/>
                </a:solidFill>
                <a:latin typeface="Calibri"/>
              </a:rPr>
              <a:t>• Standard JSON-RPC 2.0 envelope</a:t>
            </a:r>
          </a:p>
        </p:txBody>
      </p:sp>
      <p:sp>
        <p:nvSpPr>
          <p:cNvPr id="12" name="TextBox 11"/>
          <p:cNvSpPr txBox="1"/>
          <p:nvPr/>
        </p:nvSpPr>
        <p:spPr>
          <a:xfrm>
            <a:off x="484632" y="2359152"/>
            <a:ext cx="3474719" cy="246888"/>
          </a:xfrm>
          <a:prstGeom prst="rect">
            <a:avLst/>
          </a:prstGeom>
          <a:noFill/>
        </p:spPr>
        <p:txBody>
          <a:bodyPr wrap="square">
            <a:spAutoFit/>
          </a:bodyPr>
          <a:lstStyle/>
          <a:p>
            <a:pPr algn="l"/>
            <a:r>
              <a:rPr sz="1100" b="0" i="0">
                <a:solidFill>
                  <a:srgbClr val="FFFFFF"/>
                </a:solidFill>
                <a:latin typeface="Calibri"/>
              </a:rPr>
              <a:t>• Method names map to operations</a:t>
            </a:r>
          </a:p>
        </p:txBody>
      </p:sp>
      <p:sp>
        <p:nvSpPr>
          <p:cNvPr id="13" name="TextBox 12"/>
          <p:cNvSpPr txBox="1"/>
          <p:nvPr/>
        </p:nvSpPr>
        <p:spPr>
          <a:xfrm>
            <a:off x="484632" y="2615184"/>
            <a:ext cx="3474719" cy="246888"/>
          </a:xfrm>
          <a:prstGeom prst="rect">
            <a:avLst/>
          </a:prstGeom>
          <a:noFill/>
        </p:spPr>
        <p:txBody>
          <a:bodyPr wrap="square">
            <a:spAutoFit/>
          </a:bodyPr>
          <a:lstStyle/>
          <a:p>
            <a:pPr algn="l"/>
            <a:r>
              <a:rPr sz="1100" b="0" i="0">
                <a:solidFill>
                  <a:srgbClr val="FFFFFF"/>
                </a:solidFill>
                <a:latin typeface="Calibri"/>
              </a:rPr>
              <a:t>• Request/Response and Notification</a:t>
            </a:r>
          </a:p>
        </p:txBody>
      </p:sp>
      <p:sp>
        <p:nvSpPr>
          <p:cNvPr id="14" name="TextBox 13"/>
          <p:cNvSpPr txBox="1"/>
          <p:nvPr/>
        </p:nvSpPr>
        <p:spPr>
          <a:xfrm>
            <a:off x="484632" y="2871216"/>
            <a:ext cx="3474719" cy="246888"/>
          </a:xfrm>
          <a:prstGeom prst="rect">
            <a:avLst/>
          </a:prstGeom>
          <a:noFill/>
        </p:spPr>
        <p:txBody>
          <a:bodyPr wrap="square">
            <a:spAutoFit/>
          </a:bodyPr>
          <a:lstStyle/>
          <a:p>
            <a:pPr algn="l"/>
            <a:r>
              <a:rPr sz="1100" b="0" i="0">
                <a:solidFill>
                  <a:srgbClr val="FFFFFF"/>
                </a:solidFill>
                <a:latin typeface="Calibri"/>
              </a:rPr>
              <a:t>• Easy to debug with standard tools</a:t>
            </a:r>
          </a:p>
        </p:txBody>
      </p:sp>
      <p:sp>
        <p:nvSpPr>
          <p:cNvPr id="15" name="TextBox 14"/>
          <p:cNvSpPr txBox="1"/>
          <p:nvPr/>
        </p:nvSpPr>
        <p:spPr>
          <a:xfrm>
            <a:off x="484632" y="3127248"/>
            <a:ext cx="3474719" cy="246888"/>
          </a:xfrm>
          <a:prstGeom prst="rect">
            <a:avLst/>
          </a:prstGeom>
          <a:noFill/>
        </p:spPr>
        <p:txBody>
          <a:bodyPr wrap="square">
            <a:spAutoFit/>
          </a:bodyPr>
          <a:lstStyle/>
          <a:p>
            <a:pPr algn="l"/>
            <a:r>
              <a:rPr sz="1100" b="0" i="0">
                <a:solidFill>
                  <a:srgbClr val="FFFFFF"/>
                </a:solidFill>
                <a:latin typeface="Calibri"/>
              </a:rPr>
              <a:t>• Widely supported in all languages</a:t>
            </a:r>
          </a:p>
        </p:txBody>
      </p:sp>
      <p:sp>
        <p:nvSpPr>
          <p:cNvPr id="16" name="TextBox 15"/>
          <p:cNvSpPr txBox="1"/>
          <p:nvPr/>
        </p:nvSpPr>
        <p:spPr>
          <a:xfrm>
            <a:off x="429768" y="3474720"/>
            <a:ext cx="3529583" cy="274320"/>
          </a:xfrm>
          <a:prstGeom prst="rect">
            <a:avLst/>
          </a:prstGeom>
          <a:noFill/>
        </p:spPr>
        <p:txBody>
          <a:bodyPr wrap="square">
            <a:spAutoFit/>
          </a:bodyPr>
          <a:lstStyle/>
          <a:p>
            <a:pPr algn="l"/>
            <a:r>
              <a:rPr sz="1150" b="1" i="0">
                <a:solidFill>
                  <a:srgbClr val="FFB300"/>
                </a:solidFill>
                <a:latin typeface="Calibri"/>
              </a:rPr>
              <a:t>Best for:</a:t>
            </a:r>
          </a:p>
        </p:txBody>
      </p:sp>
      <p:sp>
        <p:nvSpPr>
          <p:cNvPr id="17" name="TextBox 16"/>
          <p:cNvSpPr txBox="1"/>
          <p:nvPr/>
        </p:nvSpPr>
        <p:spPr>
          <a:xfrm>
            <a:off x="484632" y="3767328"/>
            <a:ext cx="3474719" cy="246888"/>
          </a:xfrm>
          <a:prstGeom prst="rect">
            <a:avLst/>
          </a:prstGeom>
          <a:noFill/>
        </p:spPr>
        <p:txBody>
          <a:bodyPr wrap="square">
            <a:spAutoFit/>
          </a:bodyPr>
          <a:lstStyle/>
          <a:p>
            <a:pPr algn="l"/>
            <a:r>
              <a:rPr sz="1100" b="0" i="0">
                <a:solidFill>
                  <a:srgbClr val="FFFFFF"/>
                </a:solidFill>
                <a:latin typeface="Calibri"/>
              </a:rPr>
              <a:t>• Most general use cases</a:t>
            </a:r>
          </a:p>
        </p:txBody>
      </p:sp>
      <p:sp>
        <p:nvSpPr>
          <p:cNvPr id="18" name="TextBox 17"/>
          <p:cNvSpPr txBox="1"/>
          <p:nvPr/>
        </p:nvSpPr>
        <p:spPr>
          <a:xfrm>
            <a:off x="484632" y="4023360"/>
            <a:ext cx="3474719" cy="246888"/>
          </a:xfrm>
          <a:prstGeom prst="rect">
            <a:avLst/>
          </a:prstGeom>
          <a:noFill/>
        </p:spPr>
        <p:txBody>
          <a:bodyPr wrap="square">
            <a:spAutoFit/>
          </a:bodyPr>
          <a:lstStyle/>
          <a:p>
            <a:pPr algn="l"/>
            <a:r>
              <a:rPr sz="1100" b="0" i="0">
                <a:solidFill>
                  <a:srgbClr val="FFFFFF"/>
                </a:solidFill>
                <a:latin typeface="Calibri"/>
              </a:rPr>
              <a:t>• Web and cloud environments</a:t>
            </a:r>
          </a:p>
        </p:txBody>
      </p:sp>
      <p:sp>
        <p:nvSpPr>
          <p:cNvPr id="19" name="TextBox 18"/>
          <p:cNvSpPr txBox="1"/>
          <p:nvPr/>
        </p:nvSpPr>
        <p:spPr>
          <a:xfrm>
            <a:off x="484632" y="4279392"/>
            <a:ext cx="3474719" cy="246888"/>
          </a:xfrm>
          <a:prstGeom prst="rect">
            <a:avLst/>
          </a:prstGeom>
          <a:noFill/>
        </p:spPr>
        <p:txBody>
          <a:bodyPr wrap="square">
            <a:spAutoFit/>
          </a:bodyPr>
          <a:lstStyle/>
          <a:p>
            <a:pPr algn="l"/>
            <a:r>
              <a:rPr sz="1100" b="0" i="0">
                <a:solidFill>
                  <a:srgbClr val="FFFFFF"/>
                </a:solidFill>
                <a:latin typeface="Calibri"/>
              </a:rPr>
              <a:t>• Teams familiar with REST/JSON</a:t>
            </a:r>
          </a:p>
        </p:txBody>
      </p:sp>
      <p:sp>
        <p:nvSpPr>
          <p:cNvPr id="20" name="TextBox 19"/>
          <p:cNvSpPr txBox="1"/>
          <p:nvPr/>
        </p:nvSpPr>
        <p:spPr>
          <a:xfrm>
            <a:off x="484632" y="4535424"/>
            <a:ext cx="3474719" cy="246888"/>
          </a:xfrm>
          <a:prstGeom prst="rect">
            <a:avLst/>
          </a:prstGeom>
          <a:noFill/>
        </p:spPr>
        <p:txBody>
          <a:bodyPr wrap="square">
            <a:spAutoFit/>
          </a:bodyPr>
          <a:lstStyle/>
          <a:p>
            <a:pPr algn="l"/>
            <a:r>
              <a:rPr sz="1100" b="0" i="0">
                <a:solidFill>
                  <a:srgbClr val="FFFFFF"/>
                </a:solidFill>
                <a:latin typeface="Calibri"/>
              </a:rPr>
              <a:t>• Tooling &amp; debugging ease</a:t>
            </a:r>
          </a:p>
        </p:txBody>
      </p:sp>
      <p:sp>
        <p:nvSpPr>
          <p:cNvPr id="21" name="Rectangle 20"/>
          <p:cNvSpPr/>
          <p:nvPr/>
        </p:nvSpPr>
        <p:spPr>
          <a:xfrm>
            <a:off x="411480" y="4937760"/>
            <a:ext cx="3566159" cy="14630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4632" y="5001768"/>
            <a:ext cx="3428999" cy="246888"/>
          </a:xfrm>
          <a:prstGeom prst="rect">
            <a:avLst/>
          </a:prstGeom>
          <a:noFill/>
        </p:spPr>
        <p:txBody>
          <a:bodyPr wrap="square">
            <a:spAutoFit/>
          </a:bodyPr>
          <a:lstStyle/>
          <a:p>
            <a:pPr algn="l"/>
            <a:r>
              <a:rPr sz="950" b="0" i="0">
                <a:solidFill>
                  <a:srgbClr val="D4D4D4"/>
                </a:solidFill>
                <a:latin typeface="Courier New"/>
              </a:rPr>
              <a:t>{"jsonrpc": "2.0",</a:t>
            </a:r>
          </a:p>
        </p:txBody>
      </p:sp>
      <p:sp>
        <p:nvSpPr>
          <p:cNvPr id="23" name="TextBox 22"/>
          <p:cNvSpPr txBox="1"/>
          <p:nvPr/>
        </p:nvSpPr>
        <p:spPr>
          <a:xfrm>
            <a:off x="484632" y="5239512"/>
            <a:ext cx="3428999" cy="246888"/>
          </a:xfrm>
          <a:prstGeom prst="rect">
            <a:avLst/>
          </a:prstGeom>
          <a:noFill/>
        </p:spPr>
        <p:txBody>
          <a:bodyPr wrap="square">
            <a:spAutoFit/>
          </a:bodyPr>
          <a:lstStyle/>
          <a:p>
            <a:pPr algn="l"/>
            <a:r>
              <a:rPr sz="950" b="0" i="0">
                <a:solidFill>
                  <a:srgbClr val="D4D4D4"/>
                </a:solidFill>
                <a:latin typeface="Courier New"/>
              </a:rPr>
              <a:t> "method": "tasks/send",</a:t>
            </a:r>
          </a:p>
        </p:txBody>
      </p:sp>
      <p:sp>
        <p:nvSpPr>
          <p:cNvPr id="24" name="TextBox 23"/>
          <p:cNvSpPr txBox="1"/>
          <p:nvPr/>
        </p:nvSpPr>
        <p:spPr>
          <a:xfrm>
            <a:off x="484632" y="5477256"/>
            <a:ext cx="3428999" cy="246888"/>
          </a:xfrm>
          <a:prstGeom prst="rect">
            <a:avLst/>
          </a:prstGeom>
          <a:noFill/>
        </p:spPr>
        <p:txBody>
          <a:bodyPr wrap="square">
            <a:spAutoFit/>
          </a:bodyPr>
          <a:lstStyle/>
          <a:p>
            <a:pPr algn="l"/>
            <a:r>
              <a:rPr sz="950" b="0" i="0">
                <a:solidFill>
                  <a:srgbClr val="D4D4D4"/>
                </a:solidFill>
                <a:latin typeface="Courier New"/>
              </a:rPr>
              <a:t> "params": { ... },</a:t>
            </a:r>
          </a:p>
        </p:txBody>
      </p:sp>
      <p:sp>
        <p:nvSpPr>
          <p:cNvPr id="25" name="TextBox 24"/>
          <p:cNvSpPr txBox="1"/>
          <p:nvPr/>
        </p:nvSpPr>
        <p:spPr>
          <a:xfrm>
            <a:off x="484632" y="5715000"/>
            <a:ext cx="3428999" cy="246888"/>
          </a:xfrm>
          <a:prstGeom prst="rect">
            <a:avLst/>
          </a:prstGeom>
          <a:noFill/>
        </p:spPr>
        <p:txBody>
          <a:bodyPr wrap="square">
            <a:spAutoFit/>
          </a:bodyPr>
          <a:lstStyle/>
          <a:p>
            <a:pPr algn="l"/>
            <a:r>
              <a:rPr sz="950" b="0" i="0">
                <a:solidFill>
                  <a:srgbClr val="D4D4D4"/>
                </a:solidFill>
                <a:latin typeface="Courier New"/>
              </a:rPr>
              <a:t> "id": "req-001"}</a:t>
            </a:r>
          </a:p>
        </p:txBody>
      </p:sp>
      <p:sp>
        <p:nvSpPr>
          <p:cNvPr id="26" name="Rectangle 25"/>
          <p:cNvSpPr/>
          <p:nvPr/>
        </p:nvSpPr>
        <p:spPr>
          <a:xfrm>
            <a:off x="4251959" y="1143000"/>
            <a:ext cx="3749039" cy="544068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61687" y="1234440"/>
            <a:ext cx="3529583" cy="411480"/>
          </a:xfrm>
          <a:prstGeom prst="rect">
            <a:avLst/>
          </a:prstGeom>
          <a:noFill/>
        </p:spPr>
        <p:txBody>
          <a:bodyPr wrap="square">
            <a:spAutoFit/>
          </a:bodyPr>
          <a:lstStyle/>
          <a:p>
            <a:pPr algn="l"/>
            <a:r>
              <a:rPr sz="1800" b="1" i="0">
                <a:solidFill>
                  <a:srgbClr val="FFB300"/>
                </a:solidFill>
                <a:latin typeface="Calibri"/>
              </a:rPr>
              <a:t>gRPC</a:t>
            </a:r>
          </a:p>
        </p:txBody>
      </p:sp>
      <p:sp>
        <p:nvSpPr>
          <p:cNvPr id="28" name="TextBox 27"/>
          <p:cNvSpPr txBox="1"/>
          <p:nvPr/>
        </p:nvSpPr>
        <p:spPr>
          <a:xfrm>
            <a:off x="4361687" y="1673352"/>
            <a:ext cx="3529583" cy="292608"/>
          </a:xfrm>
          <a:prstGeom prst="rect">
            <a:avLst/>
          </a:prstGeom>
          <a:noFill/>
        </p:spPr>
        <p:txBody>
          <a:bodyPr wrap="square">
            <a:spAutoFit/>
          </a:bodyPr>
          <a:lstStyle/>
          <a:p>
            <a:pPr algn="l"/>
            <a:r>
              <a:rPr sz="1200" b="0" i="1">
                <a:solidFill>
                  <a:srgbClr val="B0C4DE"/>
                </a:solidFill>
                <a:latin typeface="Calibri"/>
              </a:rPr>
              <a:t>High-performance binary RPC</a:t>
            </a:r>
          </a:p>
        </p:txBody>
      </p:sp>
      <p:sp>
        <p:nvSpPr>
          <p:cNvPr id="29" name="Rectangle 28"/>
          <p:cNvSpPr/>
          <p:nvPr/>
        </p:nvSpPr>
        <p:spPr>
          <a:xfrm>
            <a:off x="4251959" y="2011680"/>
            <a:ext cx="374903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16551" y="2103120"/>
            <a:ext cx="3474719" cy="246888"/>
          </a:xfrm>
          <a:prstGeom prst="rect">
            <a:avLst/>
          </a:prstGeom>
          <a:noFill/>
        </p:spPr>
        <p:txBody>
          <a:bodyPr wrap="square">
            <a:spAutoFit/>
          </a:bodyPr>
          <a:lstStyle/>
          <a:p>
            <a:pPr algn="l"/>
            <a:r>
              <a:rPr sz="1100" b="0" i="0">
                <a:solidFill>
                  <a:srgbClr val="FFFFFF"/>
                </a:solidFill>
                <a:latin typeface="Calibri"/>
              </a:rPr>
              <a:t>• Protocol Buffers (binary encoding)</a:t>
            </a:r>
          </a:p>
        </p:txBody>
      </p:sp>
      <p:sp>
        <p:nvSpPr>
          <p:cNvPr id="31" name="TextBox 30"/>
          <p:cNvSpPr txBox="1"/>
          <p:nvPr/>
        </p:nvSpPr>
        <p:spPr>
          <a:xfrm>
            <a:off x="4416551" y="2359152"/>
            <a:ext cx="3474719" cy="246888"/>
          </a:xfrm>
          <a:prstGeom prst="rect">
            <a:avLst/>
          </a:prstGeom>
          <a:noFill/>
        </p:spPr>
        <p:txBody>
          <a:bodyPr wrap="square">
            <a:spAutoFit/>
          </a:bodyPr>
          <a:lstStyle/>
          <a:p>
            <a:pPr algn="l"/>
            <a:r>
              <a:rPr sz="1100" b="0" i="0">
                <a:solidFill>
                  <a:srgbClr val="FFFFFF"/>
                </a:solidFill>
                <a:latin typeface="Calibri"/>
              </a:rPr>
              <a:t>• HTTP/2 multiplexing</a:t>
            </a:r>
          </a:p>
        </p:txBody>
      </p:sp>
      <p:sp>
        <p:nvSpPr>
          <p:cNvPr id="32" name="TextBox 31"/>
          <p:cNvSpPr txBox="1"/>
          <p:nvPr/>
        </p:nvSpPr>
        <p:spPr>
          <a:xfrm>
            <a:off x="4416551" y="2615184"/>
            <a:ext cx="3474719" cy="246888"/>
          </a:xfrm>
          <a:prstGeom prst="rect">
            <a:avLst/>
          </a:prstGeom>
          <a:noFill/>
        </p:spPr>
        <p:txBody>
          <a:bodyPr wrap="square">
            <a:spAutoFit/>
          </a:bodyPr>
          <a:lstStyle/>
          <a:p>
            <a:pPr algn="l"/>
            <a:r>
              <a:rPr sz="1100" b="0" i="0">
                <a:solidFill>
                  <a:srgbClr val="FFFFFF"/>
                </a:solidFill>
                <a:latin typeface="Calibri"/>
              </a:rPr>
              <a:t>• Strongly typed contracts</a:t>
            </a:r>
          </a:p>
        </p:txBody>
      </p:sp>
      <p:sp>
        <p:nvSpPr>
          <p:cNvPr id="33" name="TextBox 32"/>
          <p:cNvSpPr txBox="1"/>
          <p:nvPr/>
        </p:nvSpPr>
        <p:spPr>
          <a:xfrm>
            <a:off x="4416551" y="2871216"/>
            <a:ext cx="3474719" cy="246888"/>
          </a:xfrm>
          <a:prstGeom prst="rect">
            <a:avLst/>
          </a:prstGeom>
          <a:noFill/>
        </p:spPr>
        <p:txBody>
          <a:bodyPr wrap="square">
            <a:spAutoFit/>
          </a:bodyPr>
          <a:lstStyle/>
          <a:p>
            <a:pPr algn="l"/>
            <a:r>
              <a:rPr sz="1100" b="0" i="0">
                <a:solidFill>
                  <a:srgbClr val="FFFFFF"/>
                </a:solidFill>
                <a:latin typeface="Calibri"/>
              </a:rPr>
              <a:t>• Native streaming support</a:t>
            </a:r>
          </a:p>
        </p:txBody>
      </p:sp>
      <p:sp>
        <p:nvSpPr>
          <p:cNvPr id="34" name="TextBox 33"/>
          <p:cNvSpPr txBox="1"/>
          <p:nvPr/>
        </p:nvSpPr>
        <p:spPr>
          <a:xfrm>
            <a:off x="4416551" y="3127248"/>
            <a:ext cx="3474719" cy="246888"/>
          </a:xfrm>
          <a:prstGeom prst="rect">
            <a:avLst/>
          </a:prstGeom>
          <a:noFill/>
        </p:spPr>
        <p:txBody>
          <a:bodyPr wrap="square">
            <a:spAutoFit/>
          </a:bodyPr>
          <a:lstStyle/>
          <a:p>
            <a:pPr algn="l"/>
            <a:r>
              <a:rPr sz="1100" b="0" i="0">
                <a:solidFill>
                  <a:srgbClr val="FFFFFF"/>
                </a:solidFill>
                <a:latin typeface="Calibri"/>
              </a:rPr>
              <a:t>• Auto-generated client stubs</a:t>
            </a:r>
          </a:p>
        </p:txBody>
      </p:sp>
      <p:sp>
        <p:nvSpPr>
          <p:cNvPr id="35" name="TextBox 34"/>
          <p:cNvSpPr txBox="1"/>
          <p:nvPr/>
        </p:nvSpPr>
        <p:spPr>
          <a:xfrm>
            <a:off x="4361687" y="3474720"/>
            <a:ext cx="3529583" cy="274320"/>
          </a:xfrm>
          <a:prstGeom prst="rect">
            <a:avLst/>
          </a:prstGeom>
          <a:noFill/>
        </p:spPr>
        <p:txBody>
          <a:bodyPr wrap="square">
            <a:spAutoFit/>
          </a:bodyPr>
          <a:lstStyle/>
          <a:p>
            <a:pPr algn="l"/>
            <a:r>
              <a:rPr sz="1150" b="1" i="0">
                <a:solidFill>
                  <a:srgbClr val="FFB300"/>
                </a:solidFill>
                <a:latin typeface="Calibri"/>
              </a:rPr>
              <a:t>Best for:</a:t>
            </a:r>
          </a:p>
        </p:txBody>
      </p:sp>
      <p:sp>
        <p:nvSpPr>
          <p:cNvPr id="36" name="TextBox 35"/>
          <p:cNvSpPr txBox="1"/>
          <p:nvPr/>
        </p:nvSpPr>
        <p:spPr>
          <a:xfrm>
            <a:off x="4416551" y="3767328"/>
            <a:ext cx="3474719" cy="246888"/>
          </a:xfrm>
          <a:prstGeom prst="rect">
            <a:avLst/>
          </a:prstGeom>
          <a:noFill/>
        </p:spPr>
        <p:txBody>
          <a:bodyPr wrap="square">
            <a:spAutoFit/>
          </a:bodyPr>
          <a:lstStyle/>
          <a:p>
            <a:pPr algn="l"/>
            <a:r>
              <a:rPr sz="1100" b="0" i="0">
                <a:solidFill>
                  <a:srgbClr val="FFFFFF"/>
                </a:solidFill>
                <a:latin typeface="Calibri"/>
              </a:rPr>
              <a:t>• High-throughput scenarios</a:t>
            </a:r>
          </a:p>
        </p:txBody>
      </p:sp>
      <p:sp>
        <p:nvSpPr>
          <p:cNvPr id="37" name="TextBox 36"/>
          <p:cNvSpPr txBox="1"/>
          <p:nvPr/>
        </p:nvSpPr>
        <p:spPr>
          <a:xfrm>
            <a:off x="4416551" y="4023360"/>
            <a:ext cx="3474719" cy="246888"/>
          </a:xfrm>
          <a:prstGeom prst="rect">
            <a:avLst/>
          </a:prstGeom>
          <a:noFill/>
        </p:spPr>
        <p:txBody>
          <a:bodyPr wrap="square">
            <a:spAutoFit/>
          </a:bodyPr>
          <a:lstStyle/>
          <a:p>
            <a:pPr algn="l"/>
            <a:r>
              <a:rPr sz="1100" b="0" i="0">
                <a:solidFill>
                  <a:srgbClr val="FFFFFF"/>
                </a:solidFill>
                <a:latin typeface="Calibri"/>
              </a:rPr>
              <a:t>• Low-latency requirements</a:t>
            </a:r>
          </a:p>
        </p:txBody>
      </p:sp>
      <p:sp>
        <p:nvSpPr>
          <p:cNvPr id="38" name="TextBox 37"/>
          <p:cNvSpPr txBox="1"/>
          <p:nvPr/>
        </p:nvSpPr>
        <p:spPr>
          <a:xfrm>
            <a:off x="4416551" y="4279392"/>
            <a:ext cx="3474719" cy="246888"/>
          </a:xfrm>
          <a:prstGeom prst="rect">
            <a:avLst/>
          </a:prstGeom>
          <a:noFill/>
        </p:spPr>
        <p:txBody>
          <a:bodyPr wrap="square">
            <a:spAutoFit/>
          </a:bodyPr>
          <a:lstStyle/>
          <a:p>
            <a:pPr algn="l"/>
            <a:r>
              <a:rPr sz="1100" b="0" i="0">
                <a:solidFill>
                  <a:srgbClr val="FFFFFF"/>
                </a:solidFill>
                <a:latin typeface="Calibri"/>
              </a:rPr>
              <a:t>• Microservice architectures</a:t>
            </a:r>
          </a:p>
        </p:txBody>
      </p:sp>
      <p:sp>
        <p:nvSpPr>
          <p:cNvPr id="39" name="TextBox 38"/>
          <p:cNvSpPr txBox="1"/>
          <p:nvPr/>
        </p:nvSpPr>
        <p:spPr>
          <a:xfrm>
            <a:off x="4416551" y="4535424"/>
            <a:ext cx="3474719" cy="246888"/>
          </a:xfrm>
          <a:prstGeom prst="rect">
            <a:avLst/>
          </a:prstGeom>
          <a:noFill/>
        </p:spPr>
        <p:txBody>
          <a:bodyPr wrap="square">
            <a:spAutoFit/>
          </a:bodyPr>
          <a:lstStyle/>
          <a:p>
            <a:pPr algn="l"/>
            <a:r>
              <a:rPr sz="1100" b="0" i="0">
                <a:solidFill>
                  <a:srgbClr val="FFFFFF"/>
                </a:solidFill>
                <a:latin typeface="Calibri"/>
              </a:rPr>
              <a:t>• Multi-language polyglot systems</a:t>
            </a:r>
          </a:p>
        </p:txBody>
      </p:sp>
      <p:sp>
        <p:nvSpPr>
          <p:cNvPr id="40" name="Rectangle 39"/>
          <p:cNvSpPr/>
          <p:nvPr/>
        </p:nvSpPr>
        <p:spPr>
          <a:xfrm>
            <a:off x="4343399" y="4937760"/>
            <a:ext cx="3566159" cy="14630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16551" y="5001768"/>
            <a:ext cx="3428999" cy="246888"/>
          </a:xfrm>
          <a:prstGeom prst="rect">
            <a:avLst/>
          </a:prstGeom>
          <a:noFill/>
        </p:spPr>
        <p:txBody>
          <a:bodyPr wrap="square">
            <a:spAutoFit/>
          </a:bodyPr>
          <a:lstStyle/>
          <a:p>
            <a:pPr algn="l"/>
            <a:r>
              <a:rPr sz="950" b="0" i="0">
                <a:solidFill>
                  <a:srgbClr val="D4D4D4"/>
                </a:solidFill>
                <a:latin typeface="Courier New"/>
              </a:rPr>
              <a:t>service A2AService {</a:t>
            </a:r>
          </a:p>
        </p:txBody>
      </p:sp>
      <p:sp>
        <p:nvSpPr>
          <p:cNvPr id="42" name="TextBox 41"/>
          <p:cNvSpPr txBox="1"/>
          <p:nvPr/>
        </p:nvSpPr>
        <p:spPr>
          <a:xfrm>
            <a:off x="4416551" y="5239512"/>
            <a:ext cx="3428999" cy="246888"/>
          </a:xfrm>
          <a:prstGeom prst="rect">
            <a:avLst/>
          </a:prstGeom>
          <a:noFill/>
        </p:spPr>
        <p:txBody>
          <a:bodyPr wrap="square">
            <a:spAutoFit/>
          </a:bodyPr>
          <a:lstStyle/>
          <a:p>
            <a:pPr algn="l"/>
            <a:r>
              <a:rPr sz="950" b="0" i="0">
                <a:solidFill>
                  <a:srgbClr val="D4D4D4"/>
                </a:solidFill>
                <a:latin typeface="Courier New"/>
              </a:rPr>
              <a:t>  rpc SendMessage(</a:t>
            </a:r>
          </a:p>
        </p:txBody>
      </p:sp>
      <p:sp>
        <p:nvSpPr>
          <p:cNvPr id="43" name="TextBox 42"/>
          <p:cNvSpPr txBox="1"/>
          <p:nvPr/>
        </p:nvSpPr>
        <p:spPr>
          <a:xfrm>
            <a:off x="4416551" y="5477256"/>
            <a:ext cx="3428999" cy="246888"/>
          </a:xfrm>
          <a:prstGeom prst="rect">
            <a:avLst/>
          </a:prstGeom>
          <a:noFill/>
        </p:spPr>
        <p:txBody>
          <a:bodyPr wrap="square">
            <a:spAutoFit/>
          </a:bodyPr>
          <a:lstStyle/>
          <a:p>
            <a:pPr algn="l"/>
            <a:r>
              <a:rPr sz="950" b="0" i="0">
                <a:solidFill>
                  <a:srgbClr val="D4D4D4"/>
                </a:solidFill>
                <a:latin typeface="Courier New"/>
              </a:rPr>
              <a:t>    MessageRequest)</a:t>
            </a:r>
          </a:p>
        </p:txBody>
      </p:sp>
      <p:sp>
        <p:nvSpPr>
          <p:cNvPr id="44" name="TextBox 43"/>
          <p:cNvSpPr txBox="1"/>
          <p:nvPr/>
        </p:nvSpPr>
        <p:spPr>
          <a:xfrm>
            <a:off x="4416551" y="5715000"/>
            <a:ext cx="3428999" cy="246888"/>
          </a:xfrm>
          <a:prstGeom prst="rect">
            <a:avLst/>
          </a:prstGeom>
          <a:noFill/>
        </p:spPr>
        <p:txBody>
          <a:bodyPr wrap="square">
            <a:spAutoFit/>
          </a:bodyPr>
          <a:lstStyle/>
          <a:p>
            <a:pPr algn="l"/>
            <a:r>
              <a:rPr sz="950" b="0" i="0">
                <a:solidFill>
                  <a:srgbClr val="D4D4D4"/>
                </a:solidFill>
                <a:latin typeface="Courier New"/>
              </a:rPr>
              <a:t>    returns (Task);</a:t>
            </a:r>
          </a:p>
        </p:txBody>
      </p:sp>
      <p:sp>
        <p:nvSpPr>
          <p:cNvPr id="45" name="TextBox 44"/>
          <p:cNvSpPr txBox="1"/>
          <p:nvPr/>
        </p:nvSpPr>
        <p:spPr>
          <a:xfrm>
            <a:off x="4416551" y="5952744"/>
            <a:ext cx="3428999" cy="246888"/>
          </a:xfrm>
          <a:prstGeom prst="rect">
            <a:avLst/>
          </a:prstGeom>
          <a:noFill/>
        </p:spPr>
        <p:txBody>
          <a:bodyPr wrap="square">
            <a:spAutoFit/>
          </a:bodyPr>
          <a:lstStyle/>
          <a:p>
            <a:pPr algn="l"/>
            <a:r>
              <a:rPr sz="950" b="0" i="0">
                <a:solidFill>
                  <a:srgbClr val="D4D4D4"/>
                </a:solidFill>
                <a:latin typeface="Courier New"/>
              </a:rPr>
              <a:t>}</a:t>
            </a:r>
          </a:p>
        </p:txBody>
      </p:sp>
      <p:sp>
        <p:nvSpPr>
          <p:cNvPr id="46" name="Rectangle 45"/>
          <p:cNvSpPr/>
          <p:nvPr/>
        </p:nvSpPr>
        <p:spPr>
          <a:xfrm>
            <a:off x="8183878" y="1143000"/>
            <a:ext cx="3749039" cy="54406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93606" y="1234440"/>
            <a:ext cx="3529583" cy="411480"/>
          </a:xfrm>
          <a:prstGeom prst="rect">
            <a:avLst/>
          </a:prstGeom>
          <a:noFill/>
        </p:spPr>
        <p:txBody>
          <a:bodyPr wrap="square">
            <a:spAutoFit/>
          </a:bodyPr>
          <a:lstStyle/>
          <a:p>
            <a:pPr algn="l"/>
            <a:r>
              <a:rPr sz="1800" b="1" i="0">
                <a:solidFill>
                  <a:srgbClr val="FFB300"/>
                </a:solidFill>
                <a:latin typeface="Calibri"/>
              </a:rPr>
              <a:t>HTTP+JSON/REST</a:t>
            </a:r>
          </a:p>
        </p:txBody>
      </p:sp>
      <p:sp>
        <p:nvSpPr>
          <p:cNvPr id="48" name="TextBox 47"/>
          <p:cNvSpPr txBox="1"/>
          <p:nvPr/>
        </p:nvSpPr>
        <p:spPr>
          <a:xfrm>
            <a:off x="8293606" y="1673352"/>
            <a:ext cx="3529583" cy="292608"/>
          </a:xfrm>
          <a:prstGeom prst="rect">
            <a:avLst/>
          </a:prstGeom>
          <a:noFill/>
        </p:spPr>
        <p:txBody>
          <a:bodyPr wrap="square">
            <a:spAutoFit/>
          </a:bodyPr>
          <a:lstStyle/>
          <a:p>
            <a:pPr algn="l"/>
            <a:r>
              <a:rPr sz="1200" b="0" i="1">
                <a:solidFill>
                  <a:srgbClr val="B0C4DE"/>
                </a:solidFill>
                <a:latin typeface="Calibri"/>
              </a:rPr>
              <a:t>Standard REST API with JSON</a:t>
            </a:r>
          </a:p>
        </p:txBody>
      </p:sp>
      <p:sp>
        <p:nvSpPr>
          <p:cNvPr id="49" name="Rectangle 48"/>
          <p:cNvSpPr/>
          <p:nvPr/>
        </p:nvSpPr>
        <p:spPr>
          <a:xfrm>
            <a:off x="8183878" y="2011680"/>
            <a:ext cx="374903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48470" y="2103120"/>
            <a:ext cx="3474719" cy="246888"/>
          </a:xfrm>
          <a:prstGeom prst="rect">
            <a:avLst/>
          </a:prstGeom>
          <a:noFill/>
        </p:spPr>
        <p:txBody>
          <a:bodyPr wrap="square">
            <a:spAutoFit/>
          </a:bodyPr>
          <a:lstStyle/>
          <a:p>
            <a:pPr algn="l"/>
            <a:r>
              <a:rPr sz="1100" b="0" i="0">
                <a:solidFill>
                  <a:srgbClr val="FFFFFF"/>
                </a:solidFill>
                <a:latin typeface="Calibri"/>
              </a:rPr>
              <a:t>• Familiar HTTP verbs (POST, GET)</a:t>
            </a:r>
          </a:p>
        </p:txBody>
      </p:sp>
      <p:sp>
        <p:nvSpPr>
          <p:cNvPr id="51" name="TextBox 50"/>
          <p:cNvSpPr txBox="1"/>
          <p:nvPr/>
        </p:nvSpPr>
        <p:spPr>
          <a:xfrm>
            <a:off x="8348470" y="2359152"/>
            <a:ext cx="3474719" cy="246888"/>
          </a:xfrm>
          <a:prstGeom prst="rect">
            <a:avLst/>
          </a:prstGeom>
          <a:noFill/>
        </p:spPr>
        <p:txBody>
          <a:bodyPr wrap="square">
            <a:spAutoFit/>
          </a:bodyPr>
          <a:lstStyle/>
          <a:p>
            <a:pPr algn="l"/>
            <a:r>
              <a:rPr sz="1100" b="0" i="0">
                <a:solidFill>
                  <a:srgbClr val="FFFFFF"/>
                </a:solidFill>
                <a:latin typeface="Calibri"/>
              </a:rPr>
              <a:t>• JSON request/response bodies</a:t>
            </a:r>
          </a:p>
        </p:txBody>
      </p:sp>
      <p:sp>
        <p:nvSpPr>
          <p:cNvPr id="52" name="TextBox 51"/>
          <p:cNvSpPr txBox="1"/>
          <p:nvPr/>
        </p:nvSpPr>
        <p:spPr>
          <a:xfrm>
            <a:off x="8348470" y="2615184"/>
            <a:ext cx="3474719" cy="246888"/>
          </a:xfrm>
          <a:prstGeom prst="rect">
            <a:avLst/>
          </a:prstGeom>
          <a:noFill/>
        </p:spPr>
        <p:txBody>
          <a:bodyPr wrap="square">
            <a:spAutoFit/>
          </a:bodyPr>
          <a:lstStyle/>
          <a:p>
            <a:pPr algn="l"/>
            <a:r>
              <a:rPr sz="1100" b="0" i="0">
                <a:solidFill>
                  <a:srgbClr val="FFFFFF"/>
                </a:solidFill>
                <a:latin typeface="Calibri"/>
              </a:rPr>
              <a:t>• OpenAPI/Swagger compatible</a:t>
            </a:r>
          </a:p>
        </p:txBody>
      </p:sp>
      <p:sp>
        <p:nvSpPr>
          <p:cNvPr id="53" name="TextBox 52"/>
          <p:cNvSpPr txBox="1"/>
          <p:nvPr/>
        </p:nvSpPr>
        <p:spPr>
          <a:xfrm>
            <a:off x="8348470" y="2871216"/>
            <a:ext cx="3474719" cy="246888"/>
          </a:xfrm>
          <a:prstGeom prst="rect">
            <a:avLst/>
          </a:prstGeom>
          <a:noFill/>
        </p:spPr>
        <p:txBody>
          <a:bodyPr wrap="square">
            <a:spAutoFit/>
          </a:bodyPr>
          <a:lstStyle/>
          <a:p>
            <a:pPr algn="l"/>
            <a:r>
              <a:rPr sz="1100" b="0" i="0">
                <a:solidFill>
                  <a:srgbClr val="FFFFFF"/>
                </a:solidFill>
                <a:latin typeface="Calibri"/>
              </a:rPr>
              <a:t>• Stateless by default</a:t>
            </a:r>
          </a:p>
        </p:txBody>
      </p:sp>
      <p:sp>
        <p:nvSpPr>
          <p:cNvPr id="54" name="TextBox 53"/>
          <p:cNvSpPr txBox="1"/>
          <p:nvPr/>
        </p:nvSpPr>
        <p:spPr>
          <a:xfrm>
            <a:off x="8348470" y="3127248"/>
            <a:ext cx="3474719" cy="246888"/>
          </a:xfrm>
          <a:prstGeom prst="rect">
            <a:avLst/>
          </a:prstGeom>
          <a:noFill/>
        </p:spPr>
        <p:txBody>
          <a:bodyPr wrap="square">
            <a:spAutoFit/>
          </a:bodyPr>
          <a:lstStyle/>
          <a:p>
            <a:pPr algn="l"/>
            <a:r>
              <a:rPr sz="1100" b="0" i="0">
                <a:solidFill>
                  <a:srgbClr val="FFFFFF"/>
                </a:solidFill>
                <a:latin typeface="Calibri"/>
              </a:rPr>
              <a:t>• Universal tooling support</a:t>
            </a:r>
          </a:p>
        </p:txBody>
      </p:sp>
      <p:sp>
        <p:nvSpPr>
          <p:cNvPr id="55" name="TextBox 54"/>
          <p:cNvSpPr txBox="1"/>
          <p:nvPr/>
        </p:nvSpPr>
        <p:spPr>
          <a:xfrm>
            <a:off x="8293606" y="3474720"/>
            <a:ext cx="3529583" cy="274320"/>
          </a:xfrm>
          <a:prstGeom prst="rect">
            <a:avLst/>
          </a:prstGeom>
          <a:noFill/>
        </p:spPr>
        <p:txBody>
          <a:bodyPr wrap="square">
            <a:spAutoFit/>
          </a:bodyPr>
          <a:lstStyle/>
          <a:p>
            <a:pPr algn="l"/>
            <a:r>
              <a:rPr sz="1150" b="1" i="0">
                <a:solidFill>
                  <a:srgbClr val="FFB300"/>
                </a:solidFill>
                <a:latin typeface="Calibri"/>
              </a:rPr>
              <a:t>Best for:</a:t>
            </a:r>
          </a:p>
        </p:txBody>
      </p:sp>
      <p:sp>
        <p:nvSpPr>
          <p:cNvPr id="56" name="TextBox 55"/>
          <p:cNvSpPr txBox="1"/>
          <p:nvPr/>
        </p:nvSpPr>
        <p:spPr>
          <a:xfrm>
            <a:off x="8348470" y="3767328"/>
            <a:ext cx="3474719" cy="246888"/>
          </a:xfrm>
          <a:prstGeom prst="rect">
            <a:avLst/>
          </a:prstGeom>
          <a:noFill/>
        </p:spPr>
        <p:txBody>
          <a:bodyPr wrap="square">
            <a:spAutoFit/>
          </a:bodyPr>
          <a:lstStyle/>
          <a:p>
            <a:pPr algn="l"/>
            <a:r>
              <a:rPr sz="1100" b="0" i="0">
                <a:solidFill>
                  <a:srgbClr val="FFFFFF"/>
                </a:solidFill>
                <a:latin typeface="Calibri"/>
              </a:rPr>
              <a:t>• Developer familiarity</a:t>
            </a:r>
          </a:p>
        </p:txBody>
      </p:sp>
      <p:sp>
        <p:nvSpPr>
          <p:cNvPr id="57" name="TextBox 56"/>
          <p:cNvSpPr txBox="1"/>
          <p:nvPr/>
        </p:nvSpPr>
        <p:spPr>
          <a:xfrm>
            <a:off x="8348470" y="4023360"/>
            <a:ext cx="3474719" cy="246888"/>
          </a:xfrm>
          <a:prstGeom prst="rect">
            <a:avLst/>
          </a:prstGeom>
          <a:noFill/>
        </p:spPr>
        <p:txBody>
          <a:bodyPr wrap="square">
            <a:spAutoFit/>
          </a:bodyPr>
          <a:lstStyle/>
          <a:p>
            <a:pPr algn="l"/>
            <a:r>
              <a:rPr sz="1100" b="0" i="0">
                <a:solidFill>
                  <a:srgbClr val="FFFFFF"/>
                </a:solidFill>
                <a:latin typeface="Calibri"/>
              </a:rPr>
              <a:t>• Integration with existing APIs</a:t>
            </a:r>
          </a:p>
        </p:txBody>
      </p:sp>
      <p:sp>
        <p:nvSpPr>
          <p:cNvPr id="58" name="TextBox 57"/>
          <p:cNvSpPr txBox="1"/>
          <p:nvPr/>
        </p:nvSpPr>
        <p:spPr>
          <a:xfrm>
            <a:off x="8348470" y="4279392"/>
            <a:ext cx="3474719" cy="246888"/>
          </a:xfrm>
          <a:prstGeom prst="rect">
            <a:avLst/>
          </a:prstGeom>
          <a:noFill/>
        </p:spPr>
        <p:txBody>
          <a:bodyPr wrap="square">
            <a:spAutoFit/>
          </a:bodyPr>
          <a:lstStyle/>
          <a:p>
            <a:pPr algn="l"/>
            <a:r>
              <a:rPr sz="1100" b="0" i="0">
                <a:solidFill>
                  <a:srgbClr val="FFFFFF"/>
                </a:solidFill>
                <a:latin typeface="Calibri"/>
              </a:rPr>
              <a:t>• Simple client implementations</a:t>
            </a:r>
          </a:p>
        </p:txBody>
      </p:sp>
      <p:sp>
        <p:nvSpPr>
          <p:cNvPr id="59" name="TextBox 58"/>
          <p:cNvSpPr txBox="1"/>
          <p:nvPr/>
        </p:nvSpPr>
        <p:spPr>
          <a:xfrm>
            <a:off x="8348470" y="4535424"/>
            <a:ext cx="3474719" cy="246888"/>
          </a:xfrm>
          <a:prstGeom prst="rect">
            <a:avLst/>
          </a:prstGeom>
          <a:noFill/>
        </p:spPr>
        <p:txBody>
          <a:bodyPr wrap="square">
            <a:spAutoFit/>
          </a:bodyPr>
          <a:lstStyle/>
          <a:p>
            <a:pPr algn="l"/>
            <a:r>
              <a:rPr sz="1100" b="0" i="0">
                <a:solidFill>
                  <a:srgbClr val="FFFFFF"/>
                </a:solidFill>
                <a:latin typeface="Calibri"/>
              </a:rPr>
              <a:t>• API gateway compatibility</a:t>
            </a:r>
          </a:p>
        </p:txBody>
      </p:sp>
      <p:sp>
        <p:nvSpPr>
          <p:cNvPr id="60" name="Rectangle 59"/>
          <p:cNvSpPr/>
          <p:nvPr/>
        </p:nvSpPr>
        <p:spPr>
          <a:xfrm>
            <a:off x="8275318" y="4937760"/>
            <a:ext cx="3566159" cy="14630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348470" y="5001768"/>
            <a:ext cx="3428999" cy="246888"/>
          </a:xfrm>
          <a:prstGeom prst="rect">
            <a:avLst/>
          </a:prstGeom>
          <a:noFill/>
        </p:spPr>
        <p:txBody>
          <a:bodyPr wrap="square">
            <a:spAutoFit/>
          </a:bodyPr>
          <a:lstStyle/>
          <a:p>
            <a:pPr algn="l"/>
            <a:r>
              <a:rPr sz="950" b="0" i="0">
                <a:solidFill>
                  <a:srgbClr val="D4D4D4"/>
                </a:solidFill>
                <a:latin typeface="Courier New"/>
              </a:rPr>
              <a:t>POST /tasks/send</a:t>
            </a:r>
          </a:p>
        </p:txBody>
      </p:sp>
      <p:sp>
        <p:nvSpPr>
          <p:cNvPr id="62" name="TextBox 61"/>
          <p:cNvSpPr txBox="1"/>
          <p:nvPr/>
        </p:nvSpPr>
        <p:spPr>
          <a:xfrm>
            <a:off x="8348470" y="5239512"/>
            <a:ext cx="3428999" cy="246888"/>
          </a:xfrm>
          <a:prstGeom prst="rect">
            <a:avLst/>
          </a:prstGeom>
          <a:noFill/>
        </p:spPr>
        <p:txBody>
          <a:bodyPr wrap="square">
            <a:spAutoFit/>
          </a:bodyPr>
          <a:lstStyle/>
          <a:p>
            <a:pPr algn="l"/>
            <a:r>
              <a:rPr sz="950" b="0" i="0">
                <a:solidFill>
                  <a:srgbClr val="D4D4D4"/>
                </a:solidFill>
                <a:latin typeface="Courier New"/>
              </a:rPr>
              <a:t>Content-Type: application/json</a:t>
            </a:r>
          </a:p>
        </p:txBody>
      </p:sp>
      <p:sp>
        <p:nvSpPr>
          <p:cNvPr id="63" name="TextBox 62"/>
          <p:cNvSpPr txBox="1"/>
          <p:nvPr/>
        </p:nvSpPr>
        <p:spPr>
          <a:xfrm>
            <a:off x="8348470" y="5477256"/>
            <a:ext cx="3428999" cy="246888"/>
          </a:xfrm>
          <a:prstGeom prst="rect">
            <a:avLst/>
          </a:prstGeom>
          <a:noFill/>
        </p:spPr>
        <p:txBody>
          <a:bodyPr wrap="square">
            <a:spAutoFit/>
          </a:bodyPr>
          <a:lstStyle/>
          <a:p>
            <a:pPr algn="l"/>
            <a:r>
              <a:rPr sz="950" b="0" i="0">
                <a:solidFill>
                  <a:srgbClr val="D4D4D4"/>
                </a:solidFill>
                <a:latin typeface="Courier New"/>
              </a:rPr>
              <a:t/>
            </a:r>
          </a:p>
        </p:txBody>
      </p:sp>
      <p:sp>
        <p:nvSpPr>
          <p:cNvPr id="64" name="TextBox 63"/>
          <p:cNvSpPr txBox="1"/>
          <p:nvPr/>
        </p:nvSpPr>
        <p:spPr>
          <a:xfrm>
            <a:off x="8348470" y="5715000"/>
            <a:ext cx="3428999" cy="246888"/>
          </a:xfrm>
          <a:prstGeom prst="rect">
            <a:avLst/>
          </a:prstGeom>
          <a:noFill/>
        </p:spPr>
        <p:txBody>
          <a:bodyPr wrap="square">
            <a:spAutoFit/>
          </a:bodyPr>
          <a:lstStyle/>
          <a:p>
            <a:pPr algn="l"/>
            <a:r>
              <a:rPr sz="950" b="0" i="0">
                <a:solidFill>
                  <a:srgbClr val="D4D4D4"/>
                </a:solidFill>
                <a:latin typeface="Courier New"/>
              </a:rPr>
              <a:t>{ "message": {</a:t>
            </a:r>
          </a:p>
        </p:txBody>
      </p:sp>
      <p:sp>
        <p:nvSpPr>
          <p:cNvPr id="65" name="TextBox 64"/>
          <p:cNvSpPr txBox="1"/>
          <p:nvPr/>
        </p:nvSpPr>
        <p:spPr>
          <a:xfrm>
            <a:off x="8348470" y="5952744"/>
            <a:ext cx="3428999" cy="246888"/>
          </a:xfrm>
          <a:prstGeom prst="rect">
            <a:avLst/>
          </a:prstGeom>
          <a:noFill/>
        </p:spPr>
        <p:txBody>
          <a:bodyPr wrap="square">
            <a:spAutoFit/>
          </a:bodyPr>
          <a:lstStyle/>
          <a:p>
            <a:pPr algn="l"/>
            <a:r>
              <a:rPr sz="950" b="0" i="0">
                <a:solidFill>
                  <a:srgbClr val="D4D4D4"/>
                </a:solidFill>
                <a:latin typeface="Courier New"/>
              </a:rPr>
              <a:t>    "role": "user",</a:t>
            </a:r>
          </a:p>
        </p:txBody>
      </p:sp>
      <p:sp>
        <p:nvSpPr>
          <p:cNvPr id="66" name="TextBox 65"/>
          <p:cNvSpPr txBox="1"/>
          <p:nvPr/>
        </p:nvSpPr>
        <p:spPr>
          <a:xfrm>
            <a:off x="8348470" y="6190488"/>
            <a:ext cx="3428999" cy="246888"/>
          </a:xfrm>
          <a:prstGeom prst="rect">
            <a:avLst/>
          </a:prstGeom>
          <a:noFill/>
        </p:spPr>
        <p:txBody>
          <a:bodyPr wrap="square">
            <a:spAutoFit/>
          </a:bodyPr>
          <a:lstStyle/>
          <a:p>
            <a:pPr algn="l"/>
            <a:r>
              <a:rPr sz="950" b="0" i="0">
                <a:solidFill>
                  <a:srgbClr val="D4D4D4"/>
                </a:solidFill>
                <a:latin typeface="Courier New"/>
              </a:rPr>
              <a:t>    "parts": [...] }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Authentication &amp; Security</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Enterprise-grade security built into the protocol</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2212848" cy="38404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234440"/>
            <a:ext cx="2029968" cy="502920"/>
          </a:xfrm>
          <a:prstGeom prst="rect">
            <a:avLst/>
          </a:prstGeom>
          <a:noFill/>
        </p:spPr>
        <p:txBody>
          <a:bodyPr wrap="square">
            <a:spAutoFit/>
          </a:bodyPr>
          <a:lstStyle/>
          <a:p>
            <a:pPr algn="l"/>
            <a:r>
              <a:rPr sz="1350" b="1" i="0">
                <a:solidFill>
                  <a:srgbClr val="FFB300"/>
                </a:solidFill>
                <a:latin typeface="Calibri"/>
              </a:rPr>
              <a:t>API Key</a:t>
            </a:r>
          </a:p>
        </p:txBody>
      </p:sp>
      <p:sp>
        <p:nvSpPr>
          <p:cNvPr id="9" name="Rectangle 8"/>
          <p:cNvSpPr/>
          <p:nvPr/>
        </p:nvSpPr>
        <p:spPr>
          <a:xfrm>
            <a:off x="320040" y="1783080"/>
            <a:ext cx="2212848"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856232"/>
            <a:ext cx="2029968" cy="502920"/>
          </a:xfrm>
          <a:prstGeom prst="rect">
            <a:avLst/>
          </a:prstGeom>
          <a:noFill/>
        </p:spPr>
        <p:txBody>
          <a:bodyPr wrap="square">
            <a:spAutoFit/>
          </a:bodyPr>
          <a:lstStyle/>
          <a:p>
            <a:pPr algn="l"/>
            <a:r>
              <a:rPr sz="1050" b="0" i="1">
                <a:solidFill>
                  <a:srgbClr val="B0C4DE"/>
                </a:solidFill>
                <a:latin typeface="Calibri"/>
              </a:rPr>
              <a:t>Simple secret key passed in HTTP headers</a:t>
            </a:r>
          </a:p>
        </p:txBody>
      </p:sp>
      <p:sp>
        <p:nvSpPr>
          <p:cNvPr id="11" name="TextBox 10"/>
          <p:cNvSpPr txBox="1"/>
          <p:nvPr/>
        </p:nvSpPr>
        <p:spPr>
          <a:xfrm>
            <a:off x="429768" y="2441448"/>
            <a:ext cx="1993392" cy="274320"/>
          </a:xfrm>
          <a:prstGeom prst="rect">
            <a:avLst/>
          </a:prstGeom>
          <a:noFill/>
        </p:spPr>
        <p:txBody>
          <a:bodyPr wrap="square">
            <a:spAutoFit/>
          </a:bodyPr>
          <a:lstStyle/>
          <a:p>
            <a:pPr algn="l"/>
            <a:r>
              <a:rPr sz="1050" b="0" i="0">
                <a:solidFill>
                  <a:srgbClr val="FFFFFF"/>
                </a:solidFill>
                <a:latin typeface="Calibri"/>
              </a:rPr>
              <a:t>• X-API-Key: &lt;key&gt; header</a:t>
            </a:r>
          </a:p>
        </p:txBody>
      </p:sp>
      <p:sp>
        <p:nvSpPr>
          <p:cNvPr id="12" name="TextBox 11"/>
          <p:cNvSpPr txBox="1"/>
          <p:nvPr/>
        </p:nvSpPr>
        <p:spPr>
          <a:xfrm>
            <a:off x="429768" y="2743200"/>
            <a:ext cx="1993392" cy="274320"/>
          </a:xfrm>
          <a:prstGeom prst="rect">
            <a:avLst/>
          </a:prstGeom>
          <a:noFill/>
        </p:spPr>
        <p:txBody>
          <a:bodyPr wrap="square">
            <a:spAutoFit/>
          </a:bodyPr>
          <a:lstStyle/>
          <a:p>
            <a:pPr algn="l"/>
            <a:r>
              <a:rPr sz="1050" b="0" i="0">
                <a:solidFill>
                  <a:srgbClr val="FFFFFF"/>
                </a:solidFill>
                <a:latin typeface="Calibri"/>
              </a:rPr>
              <a:t>• Fast to implement</a:t>
            </a:r>
          </a:p>
        </p:txBody>
      </p:sp>
      <p:sp>
        <p:nvSpPr>
          <p:cNvPr id="13" name="TextBox 12"/>
          <p:cNvSpPr txBox="1"/>
          <p:nvPr/>
        </p:nvSpPr>
        <p:spPr>
          <a:xfrm>
            <a:off x="429768" y="3044952"/>
            <a:ext cx="1993392" cy="274320"/>
          </a:xfrm>
          <a:prstGeom prst="rect">
            <a:avLst/>
          </a:prstGeom>
          <a:noFill/>
        </p:spPr>
        <p:txBody>
          <a:bodyPr wrap="square">
            <a:spAutoFit/>
          </a:bodyPr>
          <a:lstStyle/>
          <a:p>
            <a:pPr algn="l"/>
            <a:r>
              <a:rPr sz="1050" b="0" i="0">
                <a:solidFill>
                  <a:srgbClr val="FFFFFF"/>
                </a:solidFill>
                <a:latin typeface="Calibri"/>
              </a:rPr>
              <a:t>• Best for server-to-server</a:t>
            </a:r>
          </a:p>
        </p:txBody>
      </p:sp>
      <p:sp>
        <p:nvSpPr>
          <p:cNvPr id="14" name="TextBox 13"/>
          <p:cNvSpPr txBox="1"/>
          <p:nvPr/>
        </p:nvSpPr>
        <p:spPr>
          <a:xfrm>
            <a:off x="429768" y="3346704"/>
            <a:ext cx="1993392" cy="274320"/>
          </a:xfrm>
          <a:prstGeom prst="rect">
            <a:avLst/>
          </a:prstGeom>
          <a:noFill/>
        </p:spPr>
        <p:txBody>
          <a:bodyPr wrap="square">
            <a:spAutoFit/>
          </a:bodyPr>
          <a:lstStyle/>
          <a:p>
            <a:pPr algn="l"/>
            <a:r>
              <a:rPr sz="1050" b="0" i="0">
                <a:solidFill>
                  <a:srgbClr val="FFFFFF"/>
                </a:solidFill>
                <a:latin typeface="Calibri"/>
              </a:rPr>
              <a:t>• Rotate regularly</a:t>
            </a:r>
          </a:p>
        </p:txBody>
      </p:sp>
      <p:sp>
        <p:nvSpPr>
          <p:cNvPr id="15" name="Rectangle 14"/>
          <p:cNvSpPr/>
          <p:nvPr/>
        </p:nvSpPr>
        <p:spPr>
          <a:xfrm>
            <a:off x="2615184" y="1143000"/>
            <a:ext cx="2212848" cy="384048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06624" y="1234440"/>
            <a:ext cx="2029968" cy="502920"/>
          </a:xfrm>
          <a:prstGeom prst="rect">
            <a:avLst/>
          </a:prstGeom>
          <a:noFill/>
        </p:spPr>
        <p:txBody>
          <a:bodyPr wrap="square">
            <a:spAutoFit/>
          </a:bodyPr>
          <a:lstStyle/>
          <a:p>
            <a:pPr algn="l"/>
            <a:r>
              <a:rPr sz="1350" b="1" i="0">
                <a:solidFill>
                  <a:srgbClr val="FFB300"/>
                </a:solidFill>
                <a:latin typeface="Calibri"/>
              </a:rPr>
              <a:t>HTTP Basic /
Bearer Token</a:t>
            </a:r>
          </a:p>
        </p:txBody>
      </p:sp>
      <p:sp>
        <p:nvSpPr>
          <p:cNvPr id="17" name="Rectangle 16"/>
          <p:cNvSpPr/>
          <p:nvPr/>
        </p:nvSpPr>
        <p:spPr>
          <a:xfrm>
            <a:off x="2615184" y="1783080"/>
            <a:ext cx="2212848"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06624" y="1856232"/>
            <a:ext cx="2029968" cy="502920"/>
          </a:xfrm>
          <a:prstGeom prst="rect">
            <a:avLst/>
          </a:prstGeom>
          <a:noFill/>
        </p:spPr>
        <p:txBody>
          <a:bodyPr wrap="square">
            <a:spAutoFit/>
          </a:bodyPr>
          <a:lstStyle/>
          <a:p>
            <a:pPr algn="l"/>
            <a:r>
              <a:rPr sz="1050" b="0" i="1">
                <a:solidFill>
                  <a:srgbClr val="B0C4DE"/>
                </a:solidFill>
                <a:latin typeface="Calibri"/>
              </a:rPr>
              <a:t>Standard HTTP authentication schemes</a:t>
            </a:r>
          </a:p>
        </p:txBody>
      </p:sp>
      <p:sp>
        <p:nvSpPr>
          <p:cNvPr id="19" name="TextBox 18"/>
          <p:cNvSpPr txBox="1"/>
          <p:nvPr/>
        </p:nvSpPr>
        <p:spPr>
          <a:xfrm>
            <a:off x="2724912" y="2441448"/>
            <a:ext cx="1993392" cy="274320"/>
          </a:xfrm>
          <a:prstGeom prst="rect">
            <a:avLst/>
          </a:prstGeom>
          <a:noFill/>
        </p:spPr>
        <p:txBody>
          <a:bodyPr wrap="square">
            <a:spAutoFit/>
          </a:bodyPr>
          <a:lstStyle/>
          <a:p>
            <a:pPr algn="l"/>
            <a:r>
              <a:rPr sz="1050" b="0" i="0">
                <a:solidFill>
                  <a:srgbClr val="FFFFFF"/>
                </a:solidFill>
                <a:latin typeface="Calibri"/>
              </a:rPr>
              <a:t>• Authorization: Bearer &lt;token&gt;</a:t>
            </a:r>
          </a:p>
        </p:txBody>
      </p:sp>
      <p:sp>
        <p:nvSpPr>
          <p:cNvPr id="20" name="TextBox 19"/>
          <p:cNvSpPr txBox="1"/>
          <p:nvPr/>
        </p:nvSpPr>
        <p:spPr>
          <a:xfrm>
            <a:off x="2724912" y="2743200"/>
            <a:ext cx="1993392" cy="274320"/>
          </a:xfrm>
          <a:prstGeom prst="rect">
            <a:avLst/>
          </a:prstGeom>
          <a:noFill/>
        </p:spPr>
        <p:txBody>
          <a:bodyPr wrap="square">
            <a:spAutoFit/>
          </a:bodyPr>
          <a:lstStyle/>
          <a:p>
            <a:pPr algn="l"/>
            <a:r>
              <a:rPr sz="1050" b="0" i="0">
                <a:solidFill>
                  <a:srgbClr val="FFFFFF"/>
                </a:solidFill>
                <a:latin typeface="Calibri"/>
              </a:rPr>
              <a:t>• JWT or opaque tokens</a:t>
            </a:r>
          </a:p>
        </p:txBody>
      </p:sp>
      <p:sp>
        <p:nvSpPr>
          <p:cNvPr id="21" name="TextBox 20"/>
          <p:cNvSpPr txBox="1"/>
          <p:nvPr/>
        </p:nvSpPr>
        <p:spPr>
          <a:xfrm>
            <a:off x="2724912" y="3044952"/>
            <a:ext cx="1993392" cy="274320"/>
          </a:xfrm>
          <a:prstGeom prst="rect">
            <a:avLst/>
          </a:prstGeom>
          <a:noFill/>
        </p:spPr>
        <p:txBody>
          <a:bodyPr wrap="square">
            <a:spAutoFit/>
          </a:bodyPr>
          <a:lstStyle/>
          <a:p>
            <a:pPr algn="l"/>
            <a:r>
              <a:rPr sz="1050" b="0" i="0">
                <a:solidFill>
                  <a:srgbClr val="FFFFFF"/>
                </a:solidFill>
                <a:latin typeface="Calibri"/>
              </a:rPr>
              <a:t>• Widely supported</a:t>
            </a:r>
          </a:p>
        </p:txBody>
      </p:sp>
      <p:sp>
        <p:nvSpPr>
          <p:cNvPr id="22" name="TextBox 21"/>
          <p:cNvSpPr txBox="1"/>
          <p:nvPr/>
        </p:nvSpPr>
        <p:spPr>
          <a:xfrm>
            <a:off x="2724912" y="3346704"/>
            <a:ext cx="1993392" cy="274320"/>
          </a:xfrm>
          <a:prstGeom prst="rect">
            <a:avLst/>
          </a:prstGeom>
          <a:noFill/>
        </p:spPr>
        <p:txBody>
          <a:bodyPr wrap="square">
            <a:spAutoFit/>
          </a:bodyPr>
          <a:lstStyle/>
          <a:p>
            <a:pPr algn="l"/>
            <a:r>
              <a:rPr sz="1050" b="0" i="0">
                <a:solidFill>
                  <a:srgbClr val="FFFFFF"/>
                </a:solidFill>
                <a:latin typeface="Calibri"/>
              </a:rPr>
              <a:t>• Use with TLS always</a:t>
            </a:r>
          </a:p>
        </p:txBody>
      </p:sp>
      <p:sp>
        <p:nvSpPr>
          <p:cNvPr id="23" name="Rectangle 22"/>
          <p:cNvSpPr/>
          <p:nvPr/>
        </p:nvSpPr>
        <p:spPr>
          <a:xfrm>
            <a:off x="4910328" y="1143000"/>
            <a:ext cx="2212848" cy="384048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1768" y="1234440"/>
            <a:ext cx="2029968" cy="502920"/>
          </a:xfrm>
          <a:prstGeom prst="rect">
            <a:avLst/>
          </a:prstGeom>
          <a:noFill/>
        </p:spPr>
        <p:txBody>
          <a:bodyPr wrap="square">
            <a:spAutoFit/>
          </a:bodyPr>
          <a:lstStyle/>
          <a:p>
            <a:pPr algn="l"/>
            <a:r>
              <a:rPr sz="1350" b="1" i="0">
                <a:solidFill>
                  <a:srgbClr val="FFB300"/>
                </a:solidFill>
                <a:latin typeface="Calibri"/>
              </a:rPr>
              <a:t>OAuth 2.0</a:t>
            </a:r>
          </a:p>
        </p:txBody>
      </p:sp>
      <p:sp>
        <p:nvSpPr>
          <p:cNvPr id="25" name="Rectangle 24"/>
          <p:cNvSpPr/>
          <p:nvPr/>
        </p:nvSpPr>
        <p:spPr>
          <a:xfrm>
            <a:off x="4910328" y="1783080"/>
            <a:ext cx="2212848"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01768" y="1856232"/>
            <a:ext cx="2029968" cy="502920"/>
          </a:xfrm>
          <a:prstGeom prst="rect">
            <a:avLst/>
          </a:prstGeom>
          <a:noFill/>
        </p:spPr>
        <p:txBody>
          <a:bodyPr wrap="square">
            <a:spAutoFit/>
          </a:bodyPr>
          <a:lstStyle/>
          <a:p>
            <a:pPr algn="l"/>
            <a:r>
              <a:rPr sz="1050" b="0" i="1">
                <a:solidFill>
                  <a:srgbClr val="B0C4DE"/>
                </a:solidFill>
                <a:latin typeface="Calibri"/>
              </a:rPr>
              <a:t>Full OAuth 2.0 with multiple grant types</a:t>
            </a:r>
          </a:p>
        </p:txBody>
      </p:sp>
      <p:sp>
        <p:nvSpPr>
          <p:cNvPr id="27" name="TextBox 26"/>
          <p:cNvSpPr txBox="1"/>
          <p:nvPr/>
        </p:nvSpPr>
        <p:spPr>
          <a:xfrm>
            <a:off x="5020056" y="2441448"/>
            <a:ext cx="1993392" cy="274320"/>
          </a:xfrm>
          <a:prstGeom prst="rect">
            <a:avLst/>
          </a:prstGeom>
          <a:noFill/>
        </p:spPr>
        <p:txBody>
          <a:bodyPr wrap="square">
            <a:spAutoFit/>
          </a:bodyPr>
          <a:lstStyle/>
          <a:p>
            <a:pPr algn="l"/>
            <a:r>
              <a:rPr sz="1050" b="0" i="0">
                <a:solidFill>
                  <a:srgbClr val="FFFFFF"/>
                </a:solidFill>
                <a:latin typeface="Calibri"/>
              </a:rPr>
              <a:t>• Authorization Code flow</a:t>
            </a:r>
          </a:p>
        </p:txBody>
      </p:sp>
      <p:sp>
        <p:nvSpPr>
          <p:cNvPr id="28" name="TextBox 27"/>
          <p:cNvSpPr txBox="1"/>
          <p:nvPr/>
        </p:nvSpPr>
        <p:spPr>
          <a:xfrm>
            <a:off x="5020056" y="2743200"/>
            <a:ext cx="1993392" cy="274320"/>
          </a:xfrm>
          <a:prstGeom prst="rect">
            <a:avLst/>
          </a:prstGeom>
          <a:noFill/>
        </p:spPr>
        <p:txBody>
          <a:bodyPr wrap="square">
            <a:spAutoFit/>
          </a:bodyPr>
          <a:lstStyle/>
          <a:p>
            <a:pPr algn="l"/>
            <a:r>
              <a:rPr sz="1050" b="0" i="0">
                <a:solidFill>
                  <a:srgbClr val="FFFFFF"/>
                </a:solidFill>
                <a:latin typeface="Calibri"/>
              </a:rPr>
              <a:t>• Client Credentials flow</a:t>
            </a:r>
          </a:p>
        </p:txBody>
      </p:sp>
      <p:sp>
        <p:nvSpPr>
          <p:cNvPr id="29" name="TextBox 28"/>
          <p:cNvSpPr txBox="1"/>
          <p:nvPr/>
        </p:nvSpPr>
        <p:spPr>
          <a:xfrm>
            <a:off x="5020056" y="3044952"/>
            <a:ext cx="1993392" cy="274320"/>
          </a:xfrm>
          <a:prstGeom prst="rect">
            <a:avLst/>
          </a:prstGeom>
          <a:noFill/>
        </p:spPr>
        <p:txBody>
          <a:bodyPr wrap="square">
            <a:spAutoFit/>
          </a:bodyPr>
          <a:lstStyle/>
          <a:p>
            <a:pPr algn="l"/>
            <a:r>
              <a:rPr sz="1050" b="0" i="0">
                <a:solidFill>
                  <a:srgbClr val="FFFFFF"/>
                </a:solidFill>
                <a:latin typeface="Calibri"/>
              </a:rPr>
              <a:t>• Device Code flow</a:t>
            </a:r>
          </a:p>
        </p:txBody>
      </p:sp>
      <p:sp>
        <p:nvSpPr>
          <p:cNvPr id="30" name="TextBox 29"/>
          <p:cNvSpPr txBox="1"/>
          <p:nvPr/>
        </p:nvSpPr>
        <p:spPr>
          <a:xfrm>
            <a:off x="5020056" y="3346704"/>
            <a:ext cx="1993392" cy="274320"/>
          </a:xfrm>
          <a:prstGeom prst="rect">
            <a:avLst/>
          </a:prstGeom>
          <a:noFill/>
        </p:spPr>
        <p:txBody>
          <a:bodyPr wrap="square">
            <a:spAutoFit/>
          </a:bodyPr>
          <a:lstStyle/>
          <a:p>
            <a:pPr algn="l"/>
            <a:r>
              <a:rPr sz="1050" b="0" i="0">
                <a:solidFill>
                  <a:srgbClr val="FFFFFF"/>
                </a:solidFill>
                <a:latin typeface="Calibri"/>
              </a:rPr>
              <a:t>• Short-lived access tokens</a:t>
            </a:r>
          </a:p>
        </p:txBody>
      </p:sp>
      <p:sp>
        <p:nvSpPr>
          <p:cNvPr id="31" name="Rectangle 30"/>
          <p:cNvSpPr/>
          <p:nvPr/>
        </p:nvSpPr>
        <p:spPr>
          <a:xfrm>
            <a:off x="7205472" y="1143000"/>
            <a:ext cx="2212848" cy="38404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296912" y="1234440"/>
            <a:ext cx="2029968" cy="502920"/>
          </a:xfrm>
          <a:prstGeom prst="rect">
            <a:avLst/>
          </a:prstGeom>
          <a:noFill/>
        </p:spPr>
        <p:txBody>
          <a:bodyPr wrap="square">
            <a:spAutoFit/>
          </a:bodyPr>
          <a:lstStyle/>
          <a:p>
            <a:pPr algn="l"/>
            <a:r>
              <a:rPr sz="1350" b="1" i="0">
                <a:solidFill>
                  <a:srgbClr val="FFB300"/>
                </a:solidFill>
                <a:latin typeface="Calibri"/>
              </a:rPr>
              <a:t>OpenID Connect</a:t>
            </a:r>
          </a:p>
        </p:txBody>
      </p:sp>
      <p:sp>
        <p:nvSpPr>
          <p:cNvPr id="33" name="Rectangle 32"/>
          <p:cNvSpPr/>
          <p:nvPr/>
        </p:nvSpPr>
        <p:spPr>
          <a:xfrm>
            <a:off x="7205472" y="1783080"/>
            <a:ext cx="2212848"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96912" y="1856232"/>
            <a:ext cx="2029968" cy="502920"/>
          </a:xfrm>
          <a:prstGeom prst="rect">
            <a:avLst/>
          </a:prstGeom>
          <a:noFill/>
        </p:spPr>
        <p:txBody>
          <a:bodyPr wrap="square">
            <a:spAutoFit/>
          </a:bodyPr>
          <a:lstStyle/>
          <a:p>
            <a:pPr algn="l"/>
            <a:r>
              <a:rPr sz="1050" b="0" i="1">
                <a:solidFill>
                  <a:srgbClr val="B0C4DE"/>
                </a:solidFill>
                <a:latin typeface="Calibri"/>
              </a:rPr>
              <a:t>OAuth 2.0 + identity layer (JWT)</a:t>
            </a:r>
          </a:p>
        </p:txBody>
      </p:sp>
      <p:sp>
        <p:nvSpPr>
          <p:cNvPr id="35" name="TextBox 34"/>
          <p:cNvSpPr txBox="1"/>
          <p:nvPr/>
        </p:nvSpPr>
        <p:spPr>
          <a:xfrm>
            <a:off x="7315200" y="2441448"/>
            <a:ext cx="1993392" cy="274320"/>
          </a:xfrm>
          <a:prstGeom prst="rect">
            <a:avLst/>
          </a:prstGeom>
          <a:noFill/>
        </p:spPr>
        <p:txBody>
          <a:bodyPr wrap="square">
            <a:spAutoFit/>
          </a:bodyPr>
          <a:lstStyle/>
          <a:p>
            <a:pPr algn="l"/>
            <a:r>
              <a:rPr sz="1050" b="0" i="0">
                <a:solidFill>
                  <a:srgbClr val="FFFFFF"/>
                </a:solidFill>
                <a:latin typeface="Calibri"/>
              </a:rPr>
              <a:t>• ID token with user claims</a:t>
            </a:r>
          </a:p>
        </p:txBody>
      </p:sp>
      <p:sp>
        <p:nvSpPr>
          <p:cNvPr id="36" name="TextBox 35"/>
          <p:cNvSpPr txBox="1"/>
          <p:nvPr/>
        </p:nvSpPr>
        <p:spPr>
          <a:xfrm>
            <a:off x="7315200" y="2743200"/>
            <a:ext cx="1993392" cy="274320"/>
          </a:xfrm>
          <a:prstGeom prst="rect">
            <a:avLst/>
          </a:prstGeom>
          <a:noFill/>
        </p:spPr>
        <p:txBody>
          <a:bodyPr wrap="square">
            <a:spAutoFit/>
          </a:bodyPr>
          <a:lstStyle/>
          <a:p>
            <a:pPr algn="l"/>
            <a:r>
              <a:rPr sz="1050" b="0" i="0">
                <a:solidFill>
                  <a:srgbClr val="FFFFFF"/>
                </a:solidFill>
                <a:latin typeface="Calibri"/>
              </a:rPr>
              <a:t>• Discovery via .well-known</a:t>
            </a:r>
          </a:p>
        </p:txBody>
      </p:sp>
      <p:sp>
        <p:nvSpPr>
          <p:cNvPr id="37" name="TextBox 36"/>
          <p:cNvSpPr txBox="1"/>
          <p:nvPr/>
        </p:nvSpPr>
        <p:spPr>
          <a:xfrm>
            <a:off x="7315200" y="3044952"/>
            <a:ext cx="1993392" cy="274320"/>
          </a:xfrm>
          <a:prstGeom prst="rect">
            <a:avLst/>
          </a:prstGeom>
          <a:noFill/>
        </p:spPr>
        <p:txBody>
          <a:bodyPr wrap="square">
            <a:spAutoFit/>
          </a:bodyPr>
          <a:lstStyle/>
          <a:p>
            <a:pPr algn="l"/>
            <a:r>
              <a:rPr sz="1050" b="0" i="0">
                <a:solidFill>
                  <a:srgbClr val="FFFFFF"/>
                </a:solidFill>
                <a:latin typeface="Calibri"/>
              </a:rPr>
              <a:t>• Used in A2A request lifecycle</a:t>
            </a:r>
          </a:p>
        </p:txBody>
      </p:sp>
      <p:sp>
        <p:nvSpPr>
          <p:cNvPr id="38" name="TextBox 37"/>
          <p:cNvSpPr txBox="1"/>
          <p:nvPr/>
        </p:nvSpPr>
        <p:spPr>
          <a:xfrm>
            <a:off x="7315200" y="3346704"/>
            <a:ext cx="1993392" cy="274320"/>
          </a:xfrm>
          <a:prstGeom prst="rect">
            <a:avLst/>
          </a:prstGeom>
          <a:noFill/>
        </p:spPr>
        <p:txBody>
          <a:bodyPr wrap="square">
            <a:spAutoFit/>
          </a:bodyPr>
          <a:lstStyle/>
          <a:p>
            <a:pPr algn="l"/>
            <a:r>
              <a:rPr sz="1050" b="0" i="0">
                <a:solidFill>
                  <a:srgbClr val="FFFFFF"/>
                </a:solidFill>
                <a:latin typeface="Calibri"/>
              </a:rPr>
              <a:t>• Standard JWT verification</a:t>
            </a:r>
          </a:p>
        </p:txBody>
      </p:sp>
      <p:sp>
        <p:nvSpPr>
          <p:cNvPr id="39" name="Rectangle 38"/>
          <p:cNvSpPr/>
          <p:nvPr/>
        </p:nvSpPr>
        <p:spPr>
          <a:xfrm>
            <a:off x="9500616" y="1143000"/>
            <a:ext cx="2212848" cy="384048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592056" y="1234440"/>
            <a:ext cx="2029968" cy="502920"/>
          </a:xfrm>
          <a:prstGeom prst="rect">
            <a:avLst/>
          </a:prstGeom>
          <a:noFill/>
        </p:spPr>
        <p:txBody>
          <a:bodyPr wrap="square">
            <a:spAutoFit/>
          </a:bodyPr>
          <a:lstStyle/>
          <a:p>
            <a:pPr algn="l"/>
            <a:r>
              <a:rPr sz="1350" b="1" i="0">
                <a:solidFill>
                  <a:srgbClr val="FFB300"/>
                </a:solidFill>
                <a:latin typeface="Calibri"/>
              </a:rPr>
              <a:t>Mutual TLS
(mTLS)</a:t>
            </a:r>
          </a:p>
        </p:txBody>
      </p:sp>
      <p:sp>
        <p:nvSpPr>
          <p:cNvPr id="41" name="Rectangle 40"/>
          <p:cNvSpPr/>
          <p:nvPr/>
        </p:nvSpPr>
        <p:spPr>
          <a:xfrm>
            <a:off x="9500616" y="1783080"/>
            <a:ext cx="2212848"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592056" y="1856232"/>
            <a:ext cx="2029968" cy="502920"/>
          </a:xfrm>
          <a:prstGeom prst="rect">
            <a:avLst/>
          </a:prstGeom>
          <a:noFill/>
        </p:spPr>
        <p:txBody>
          <a:bodyPr wrap="square">
            <a:spAutoFit/>
          </a:bodyPr>
          <a:lstStyle/>
          <a:p>
            <a:pPr algn="l"/>
            <a:r>
              <a:rPr sz="1050" b="0" i="1">
                <a:solidFill>
                  <a:srgbClr val="B0C4DE"/>
                </a:solidFill>
                <a:latin typeface="Calibri"/>
              </a:rPr>
              <a:t>Certificate-based bidirectional auth</a:t>
            </a:r>
          </a:p>
        </p:txBody>
      </p:sp>
      <p:sp>
        <p:nvSpPr>
          <p:cNvPr id="43" name="TextBox 42"/>
          <p:cNvSpPr txBox="1"/>
          <p:nvPr/>
        </p:nvSpPr>
        <p:spPr>
          <a:xfrm>
            <a:off x="9610344" y="2441448"/>
            <a:ext cx="1993392" cy="274320"/>
          </a:xfrm>
          <a:prstGeom prst="rect">
            <a:avLst/>
          </a:prstGeom>
          <a:noFill/>
        </p:spPr>
        <p:txBody>
          <a:bodyPr wrap="square">
            <a:spAutoFit/>
          </a:bodyPr>
          <a:lstStyle/>
          <a:p>
            <a:pPr algn="l"/>
            <a:r>
              <a:rPr sz="1050" b="0" i="0">
                <a:solidFill>
                  <a:srgbClr val="FFFFFF"/>
                </a:solidFill>
                <a:latin typeface="Calibri"/>
              </a:rPr>
              <a:t>• Both client &amp; server present certs</a:t>
            </a:r>
          </a:p>
        </p:txBody>
      </p:sp>
      <p:sp>
        <p:nvSpPr>
          <p:cNvPr id="44" name="TextBox 43"/>
          <p:cNvSpPr txBox="1"/>
          <p:nvPr/>
        </p:nvSpPr>
        <p:spPr>
          <a:xfrm>
            <a:off x="9610344" y="2743200"/>
            <a:ext cx="1993392" cy="274320"/>
          </a:xfrm>
          <a:prstGeom prst="rect">
            <a:avLst/>
          </a:prstGeom>
          <a:noFill/>
        </p:spPr>
        <p:txBody>
          <a:bodyPr wrap="square">
            <a:spAutoFit/>
          </a:bodyPr>
          <a:lstStyle/>
          <a:p>
            <a:pPr algn="l"/>
            <a:r>
              <a:rPr sz="1050" b="0" i="0">
                <a:solidFill>
                  <a:srgbClr val="FFFFFF"/>
                </a:solidFill>
                <a:latin typeface="Calibri"/>
              </a:rPr>
              <a:t>• Strongest auth guarantee</a:t>
            </a:r>
          </a:p>
        </p:txBody>
      </p:sp>
      <p:sp>
        <p:nvSpPr>
          <p:cNvPr id="45" name="TextBox 44"/>
          <p:cNvSpPr txBox="1"/>
          <p:nvPr/>
        </p:nvSpPr>
        <p:spPr>
          <a:xfrm>
            <a:off x="9610344" y="3044952"/>
            <a:ext cx="1993392" cy="274320"/>
          </a:xfrm>
          <a:prstGeom prst="rect">
            <a:avLst/>
          </a:prstGeom>
          <a:noFill/>
        </p:spPr>
        <p:txBody>
          <a:bodyPr wrap="square">
            <a:spAutoFit/>
          </a:bodyPr>
          <a:lstStyle/>
          <a:p>
            <a:pPr algn="l"/>
            <a:r>
              <a:rPr sz="1050" b="0" i="0">
                <a:solidFill>
                  <a:srgbClr val="FFFFFF"/>
                </a:solidFill>
                <a:latin typeface="Calibri"/>
              </a:rPr>
              <a:t>• Zero-trust network model</a:t>
            </a:r>
          </a:p>
        </p:txBody>
      </p:sp>
      <p:sp>
        <p:nvSpPr>
          <p:cNvPr id="46" name="TextBox 45"/>
          <p:cNvSpPr txBox="1"/>
          <p:nvPr/>
        </p:nvSpPr>
        <p:spPr>
          <a:xfrm>
            <a:off x="9610344" y="3346704"/>
            <a:ext cx="1993392" cy="274320"/>
          </a:xfrm>
          <a:prstGeom prst="rect">
            <a:avLst/>
          </a:prstGeom>
          <a:noFill/>
        </p:spPr>
        <p:txBody>
          <a:bodyPr wrap="square">
            <a:spAutoFit/>
          </a:bodyPr>
          <a:lstStyle/>
          <a:p>
            <a:pPr algn="l"/>
            <a:r>
              <a:rPr sz="1050" b="0" i="0">
                <a:solidFill>
                  <a:srgbClr val="FFFFFF"/>
                </a:solidFill>
                <a:latin typeface="Calibri"/>
              </a:rPr>
              <a:t>• Enterprise &amp; regulated industries</a:t>
            </a:r>
          </a:p>
        </p:txBody>
      </p:sp>
      <p:sp>
        <p:nvSpPr>
          <p:cNvPr id="47" name="Rectangle 46"/>
          <p:cNvSpPr/>
          <p:nvPr/>
        </p:nvSpPr>
        <p:spPr>
          <a:xfrm>
            <a:off x="320040" y="5074920"/>
            <a:ext cx="11521440" cy="1417320"/>
          </a:xfrm>
          <a:prstGeom prst="rect">
            <a:avLst/>
          </a:prstGeom>
          <a:solidFill>
            <a:srgbClr val="FFFFFF"/>
          </a:solidFill>
          <a:ln w="1905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57200" y="5148072"/>
            <a:ext cx="4572000" cy="320040"/>
          </a:xfrm>
          <a:prstGeom prst="rect">
            <a:avLst/>
          </a:prstGeom>
          <a:noFill/>
        </p:spPr>
        <p:txBody>
          <a:bodyPr wrap="square">
            <a:spAutoFit/>
          </a:bodyPr>
          <a:lstStyle/>
          <a:p>
            <a:pPr algn="l"/>
            <a:r>
              <a:rPr sz="1300" b="1" i="0">
                <a:solidFill>
                  <a:srgbClr val="003087"/>
                </a:solidFill>
                <a:latin typeface="Calibri"/>
              </a:rPr>
              <a:t>How Authentication Works in A2A</a:t>
            </a:r>
          </a:p>
        </p:txBody>
      </p:sp>
      <p:sp>
        <p:nvSpPr>
          <p:cNvPr id="49" name="TextBox 48"/>
          <p:cNvSpPr txBox="1"/>
          <p:nvPr/>
        </p:nvSpPr>
        <p:spPr>
          <a:xfrm>
            <a:off x="457200" y="5486400"/>
            <a:ext cx="685800" cy="256032"/>
          </a:xfrm>
          <a:prstGeom prst="rect">
            <a:avLst/>
          </a:prstGeom>
          <a:noFill/>
        </p:spPr>
        <p:txBody>
          <a:bodyPr wrap="square">
            <a:spAutoFit/>
          </a:bodyPr>
          <a:lstStyle/>
          <a:p>
            <a:pPr algn="l"/>
            <a:r>
              <a:rPr sz="1050" b="1" i="0">
                <a:solidFill>
                  <a:srgbClr val="003087"/>
                </a:solidFill>
                <a:latin typeface="Calibri"/>
              </a:rPr>
              <a:t>Step 1:</a:t>
            </a:r>
          </a:p>
        </p:txBody>
      </p:sp>
      <p:sp>
        <p:nvSpPr>
          <p:cNvPr id="50" name="TextBox 49"/>
          <p:cNvSpPr txBox="1"/>
          <p:nvPr/>
        </p:nvSpPr>
        <p:spPr>
          <a:xfrm>
            <a:off x="1097280" y="5486400"/>
            <a:ext cx="2286000" cy="256032"/>
          </a:xfrm>
          <a:prstGeom prst="rect">
            <a:avLst/>
          </a:prstGeom>
          <a:noFill/>
        </p:spPr>
        <p:txBody>
          <a:bodyPr wrap="square">
            <a:spAutoFit/>
          </a:bodyPr>
          <a:lstStyle/>
          <a:p>
            <a:pPr algn="l"/>
            <a:r>
              <a:rPr sz="1050" b="0" i="0">
                <a:solidFill>
                  <a:srgbClr val="000000"/>
                </a:solidFill>
                <a:latin typeface="Calibri"/>
              </a:rPr>
              <a:t>Client fetches Agent Card — auth schemes declared in card</a:t>
            </a:r>
          </a:p>
        </p:txBody>
      </p:sp>
      <p:sp>
        <p:nvSpPr>
          <p:cNvPr id="51" name="TextBox 50"/>
          <p:cNvSpPr txBox="1"/>
          <p:nvPr/>
        </p:nvSpPr>
        <p:spPr>
          <a:xfrm>
            <a:off x="3401568" y="5486400"/>
            <a:ext cx="685800" cy="256032"/>
          </a:xfrm>
          <a:prstGeom prst="rect">
            <a:avLst/>
          </a:prstGeom>
          <a:noFill/>
        </p:spPr>
        <p:txBody>
          <a:bodyPr wrap="square">
            <a:spAutoFit/>
          </a:bodyPr>
          <a:lstStyle/>
          <a:p>
            <a:pPr algn="l"/>
            <a:r>
              <a:rPr sz="1050" b="1" i="0">
                <a:solidFill>
                  <a:srgbClr val="003087"/>
                </a:solidFill>
                <a:latin typeface="Calibri"/>
              </a:rPr>
              <a:t>Step 2:</a:t>
            </a:r>
          </a:p>
        </p:txBody>
      </p:sp>
      <p:sp>
        <p:nvSpPr>
          <p:cNvPr id="52" name="TextBox 51"/>
          <p:cNvSpPr txBox="1"/>
          <p:nvPr/>
        </p:nvSpPr>
        <p:spPr>
          <a:xfrm>
            <a:off x="4041648" y="5486400"/>
            <a:ext cx="2286000" cy="256032"/>
          </a:xfrm>
          <a:prstGeom prst="rect">
            <a:avLst/>
          </a:prstGeom>
          <a:noFill/>
        </p:spPr>
        <p:txBody>
          <a:bodyPr wrap="square">
            <a:spAutoFit/>
          </a:bodyPr>
          <a:lstStyle/>
          <a:p>
            <a:pPr algn="l"/>
            <a:r>
              <a:rPr sz="1050" b="0" i="0">
                <a:solidFill>
                  <a:srgbClr val="000000"/>
                </a:solidFill>
                <a:latin typeface="Calibri"/>
              </a:rPr>
              <a:t>Client obtains credentials (e.g., JWT via OpenID Connect)</a:t>
            </a:r>
          </a:p>
        </p:txBody>
      </p:sp>
      <p:sp>
        <p:nvSpPr>
          <p:cNvPr id="53" name="TextBox 52"/>
          <p:cNvSpPr txBox="1"/>
          <p:nvPr/>
        </p:nvSpPr>
        <p:spPr>
          <a:xfrm>
            <a:off x="6345936" y="5486400"/>
            <a:ext cx="685800" cy="256032"/>
          </a:xfrm>
          <a:prstGeom prst="rect">
            <a:avLst/>
          </a:prstGeom>
          <a:noFill/>
        </p:spPr>
        <p:txBody>
          <a:bodyPr wrap="square">
            <a:spAutoFit/>
          </a:bodyPr>
          <a:lstStyle/>
          <a:p>
            <a:pPr algn="l"/>
            <a:r>
              <a:rPr sz="1050" b="1" i="0">
                <a:solidFill>
                  <a:srgbClr val="003087"/>
                </a:solidFill>
                <a:latin typeface="Calibri"/>
              </a:rPr>
              <a:t>Step 3:</a:t>
            </a:r>
          </a:p>
        </p:txBody>
      </p:sp>
      <p:sp>
        <p:nvSpPr>
          <p:cNvPr id="54" name="TextBox 53"/>
          <p:cNvSpPr txBox="1"/>
          <p:nvPr/>
        </p:nvSpPr>
        <p:spPr>
          <a:xfrm>
            <a:off x="6986016" y="5486400"/>
            <a:ext cx="2286000" cy="256032"/>
          </a:xfrm>
          <a:prstGeom prst="rect">
            <a:avLst/>
          </a:prstGeom>
          <a:noFill/>
        </p:spPr>
        <p:txBody>
          <a:bodyPr wrap="square">
            <a:spAutoFit/>
          </a:bodyPr>
          <a:lstStyle/>
          <a:p>
            <a:pPr algn="l"/>
            <a:r>
              <a:rPr sz="1050" b="0" i="0">
                <a:solidFill>
                  <a:srgbClr val="000000"/>
                </a:solidFill>
                <a:latin typeface="Calibri"/>
              </a:rPr>
              <a:t>Credentials passed via HTTP headers on every request</a:t>
            </a:r>
          </a:p>
        </p:txBody>
      </p:sp>
      <p:sp>
        <p:nvSpPr>
          <p:cNvPr id="55" name="TextBox 54"/>
          <p:cNvSpPr txBox="1"/>
          <p:nvPr/>
        </p:nvSpPr>
        <p:spPr>
          <a:xfrm>
            <a:off x="9290304" y="5486400"/>
            <a:ext cx="685800" cy="256032"/>
          </a:xfrm>
          <a:prstGeom prst="rect">
            <a:avLst/>
          </a:prstGeom>
          <a:noFill/>
        </p:spPr>
        <p:txBody>
          <a:bodyPr wrap="square">
            <a:spAutoFit/>
          </a:bodyPr>
          <a:lstStyle/>
          <a:p>
            <a:pPr algn="l"/>
            <a:r>
              <a:rPr sz="1050" b="1" i="0">
                <a:solidFill>
                  <a:srgbClr val="003087"/>
                </a:solidFill>
                <a:latin typeface="Calibri"/>
              </a:rPr>
              <a:t>Step 4:</a:t>
            </a:r>
          </a:p>
        </p:txBody>
      </p:sp>
      <p:sp>
        <p:nvSpPr>
          <p:cNvPr id="56" name="TextBox 55"/>
          <p:cNvSpPr txBox="1"/>
          <p:nvPr/>
        </p:nvSpPr>
        <p:spPr>
          <a:xfrm>
            <a:off x="9930384" y="5486400"/>
            <a:ext cx="2286000" cy="256032"/>
          </a:xfrm>
          <a:prstGeom prst="rect">
            <a:avLst/>
          </a:prstGeom>
          <a:noFill/>
        </p:spPr>
        <p:txBody>
          <a:bodyPr wrap="square">
            <a:spAutoFit/>
          </a:bodyPr>
          <a:lstStyle/>
          <a:p>
            <a:pPr algn="l"/>
            <a:r>
              <a:rPr sz="1050" b="0" i="0">
                <a:solidFill>
                  <a:srgbClr val="000000"/>
                </a:solidFill>
                <a:latin typeface="Calibri"/>
              </a:rPr>
              <a:t>Server validates credentials before processing the task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Multi-Turn Interactions</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Maintaining context across a conversation</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97280"/>
            <a:ext cx="5303520" cy="5394960"/>
          </a:xfrm>
          <a:prstGeom prst="rect">
            <a:avLst/>
          </a:prstGeom>
          <a:solidFill>
            <a:srgbClr val="FFFFFF"/>
          </a:solidFill>
          <a:ln w="1905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88720"/>
            <a:ext cx="5029200" cy="301752"/>
          </a:xfrm>
          <a:prstGeom prst="rect">
            <a:avLst/>
          </a:prstGeom>
          <a:noFill/>
        </p:spPr>
        <p:txBody>
          <a:bodyPr wrap="square">
            <a:spAutoFit/>
          </a:bodyPr>
          <a:lstStyle/>
          <a:p>
            <a:pPr algn="l"/>
            <a:r>
              <a:rPr sz="1400" b="1" i="0">
                <a:solidFill>
                  <a:srgbClr val="003087"/>
                </a:solidFill>
                <a:latin typeface="Courier New"/>
              </a:rPr>
              <a:t>contextId</a:t>
            </a:r>
          </a:p>
        </p:txBody>
      </p:sp>
      <p:sp>
        <p:nvSpPr>
          <p:cNvPr id="9" name="TextBox 8"/>
          <p:cNvSpPr txBox="1"/>
          <p:nvPr/>
        </p:nvSpPr>
        <p:spPr>
          <a:xfrm>
            <a:off x="457200" y="1508760"/>
            <a:ext cx="5029200" cy="640080"/>
          </a:xfrm>
          <a:prstGeom prst="rect">
            <a:avLst/>
          </a:prstGeom>
          <a:noFill/>
        </p:spPr>
        <p:txBody>
          <a:bodyPr wrap="square">
            <a:spAutoFit/>
          </a:bodyPr>
          <a:lstStyle/>
          <a:p>
            <a:pPr algn="l"/>
            <a:r>
              <a:rPr sz="1150" b="0" i="0">
                <a:solidFill>
                  <a:srgbClr val="000000"/>
                </a:solidFill>
                <a:latin typeface="Calibri"/>
              </a:rPr>
              <a:t>Server-generated ID grouping related Tasks and Messages logically. Enables the agent to maintain conversation state across multiple task turns.</a:t>
            </a:r>
          </a:p>
        </p:txBody>
      </p:sp>
      <p:sp>
        <p:nvSpPr>
          <p:cNvPr id="10" name="TextBox 9"/>
          <p:cNvSpPr txBox="1"/>
          <p:nvPr/>
        </p:nvSpPr>
        <p:spPr>
          <a:xfrm>
            <a:off x="457200" y="2377440"/>
            <a:ext cx="5029200" cy="301752"/>
          </a:xfrm>
          <a:prstGeom prst="rect">
            <a:avLst/>
          </a:prstGeom>
          <a:noFill/>
        </p:spPr>
        <p:txBody>
          <a:bodyPr wrap="square">
            <a:spAutoFit/>
          </a:bodyPr>
          <a:lstStyle/>
          <a:p>
            <a:pPr algn="l"/>
            <a:r>
              <a:rPr sz="1400" b="1" i="0">
                <a:solidFill>
                  <a:srgbClr val="1565C0"/>
                </a:solidFill>
                <a:latin typeface="Courier New"/>
              </a:rPr>
              <a:t>taskId</a:t>
            </a:r>
          </a:p>
        </p:txBody>
      </p:sp>
      <p:sp>
        <p:nvSpPr>
          <p:cNvPr id="11" name="TextBox 10"/>
          <p:cNvSpPr txBox="1"/>
          <p:nvPr/>
        </p:nvSpPr>
        <p:spPr>
          <a:xfrm>
            <a:off x="457200" y="2697480"/>
            <a:ext cx="5029200" cy="640080"/>
          </a:xfrm>
          <a:prstGeom prst="rect">
            <a:avLst/>
          </a:prstGeom>
          <a:noFill/>
        </p:spPr>
        <p:txBody>
          <a:bodyPr wrap="square">
            <a:spAutoFit/>
          </a:bodyPr>
          <a:lstStyle/>
          <a:p>
            <a:pPr algn="l"/>
            <a:r>
              <a:rPr sz="1150" b="0" i="0">
                <a:solidFill>
                  <a:srgbClr val="000000"/>
                </a:solidFill>
                <a:latin typeface="Calibri"/>
              </a:rPr>
              <a:t>Unique identifier for each stateful unit of work. Allows polling, streaming subscriptions, and cancellations.</a:t>
            </a:r>
          </a:p>
        </p:txBody>
      </p:sp>
      <p:sp>
        <p:nvSpPr>
          <p:cNvPr id="12" name="TextBox 11"/>
          <p:cNvSpPr txBox="1"/>
          <p:nvPr/>
        </p:nvSpPr>
        <p:spPr>
          <a:xfrm>
            <a:off x="457200" y="3566160"/>
            <a:ext cx="5029200" cy="301752"/>
          </a:xfrm>
          <a:prstGeom prst="rect">
            <a:avLst/>
          </a:prstGeom>
          <a:noFill/>
        </p:spPr>
        <p:txBody>
          <a:bodyPr wrap="square">
            <a:spAutoFit/>
          </a:bodyPr>
          <a:lstStyle/>
          <a:p>
            <a:pPr algn="l"/>
            <a:r>
              <a:rPr sz="1400" b="1" i="0">
                <a:solidFill>
                  <a:srgbClr val="00696E"/>
                </a:solidFill>
                <a:latin typeface="Courier New"/>
              </a:rPr>
              <a:t>referenceTaskIds</a:t>
            </a:r>
          </a:p>
        </p:txBody>
      </p:sp>
      <p:sp>
        <p:nvSpPr>
          <p:cNvPr id="13" name="TextBox 12"/>
          <p:cNvSpPr txBox="1"/>
          <p:nvPr/>
        </p:nvSpPr>
        <p:spPr>
          <a:xfrm>
            <a:off x="457200" y="3886200"/>
            <a:ext cx="5029200" cy="640080"/>
          </a:xfrm>
          <a:prstGeom prst="rect">
            <a:avLst/>
          </a:prstGeom>
          <a:noFill/>
        </p:spPr>
        <p:txBody>
          <a:bodyPr wrap="square">
            <a:spAutoFit/>
          </a:bodyPr>
          <a:lstStyle/>
          <a:p>
            <a:pPr algn="l"/>
            <a:r>
              <a:rPr sz="1150" b="0" i="0">
                <a:solidFill>
                  <a:srgbClr val="000000"/>
                </a:solidFill>
                <a:latin typeface="Calibri"/>
              </a:rPr>
              <a:t>Messages can reference related tasks by ID. Enables chaining and dependency tracking between agent tasks.</a:t>
            </a:r>
          </a:p>
        </p:txBody>
      </p:sp>
      <p:sp>
        <p:nvSpPr>
          <p:cNvPr id="14" name="TextBox 13"/>
          <p:cNvSpPr txBox="1"/>
          <p:nvPr/>
        </p:nvSpPr>
        <p:spPr>
          <a:xfrm>
            <a:off x="457200" y="4754880"/>
            <a:ext cx="5029200" cy="301752"/>
          </a:xfrm>
          <a:prstGeom prst="rect">
            <a:avLst/>
          </a:prstGeom>
          <a:noFill/>
        </p:spPr>
        <p:txBody>
          <a:bodyPr wrap="square">
            <a:spAutoFit/>
          </a:bodyPr>
          <a:lstStyle/>
          <a:p>
            <a:pPr algn="l"/>
            <a:r>
              <a:rPr sz="1400" b="1" i="0">
                <a:solidFill>
                  <a:srgbClr val="2E7D32"/>
                </a:solidFill>
                <a:latin typeface="Courier New"/>
              </a:rPr>
              <a:t>input-required</a:t>
            </a:r>
          </a:p>
        </p:txBody>
      </p:sp>
      <p:sp>
        <p:nvSpPr>
          <p:cNvPr id="15" name="TextBox 14"/>
          <p:cNvSpPr txBox="1"/>
          <p:nvPr/>
        </p:nvSpPr>
        <p:spPr>
          <a:xfrm>
            <a:off x="457200" y="5074920"/>
            <a:ext cx="5029200" cy="640080"/>
          </a:xfrm>
          <a:prstGeom prst="rect">
            <a:avLst/>
          </a:prstGeom>
          <a:noFill/>
        </p:spPr>
        <p:txBody>
          <a:bodyPr wrap="square">
            <a:spAutoFit/>
          </a:bodyPr>
          <a:lstStyle/>
          <a:p>
            <a:pPr algn="l"/>
            <a:r>
              <a:rPr sz="1150" b="0" i="0">
                <a:solidFill>
                  <a:srgbClr val="000000"/>
                </a:solidFill>
                <a:latin typeface="Calibri"/>
              </a:rPr>
              <a:t>Special task state where the agent pauses and requests additional input. Client sends a follow-up message to resume the task.</a:t>
            </a:r>
          </a:p>
        </p:txBody>
      </p:sp>
      <p:sp>
        <p:nvSpPr>
          <p:cNvPr id="16" name="Rectangle 15"/>
          <p:cNvSpPr/>
          <p:nvPr/>
        </p:nvSpPr>
        <p:spPr>
          <a:xfrm>
            <a:off x="5852160" y="1097280"/>
            <a:ext cx="6035040" cy="5394960"/>
          </a:xfrm>
          <a:prstGeom prst="rect">
            <a:avLst/>
          </a:prstGeom>
          <a:solidFill>
            <a:srgbClr val="F4F6F9"/>
          </a:solidFill>
          <a:ln w="1905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35040" y="1188720"/>
            <a:ext cx="5669280" cy="320040"/>
          </a:xfrm>
          <a:prstGeom prst="rect">
            <a:avLst/>
          </a:prstGeom>
          <a:noFill/>
        </p:spPr>
        <p:txBody>
          <a:bodyPr wrap="square">
            <a:spAutoFit/>
          </a:bodyPr>
          <a:lstStyle/>
          <a:p>
            <a:pPr algn="l"/>
            <a:r>
              <a:rPr sz="1300" b="1" i="0">
                <a:solidFill>
                  <a:srgbClr val="003087"/>
                </a:solidFill>
                <a:latin typeface="Calibri"/>
              </a:rPr>
              <a:t>Multi-Turn Conversation Flow</a:t>
            </a:r>
          </a:p>
        </p:txBody>
      </p:sp>
      <p:sp>
        <p:nvSpPr>
          <p:cNvPr id="18" name="Rectangle 17"/>
          <p:cNvSpPr/>
          <p:nvPr/>
        </p:nvSpPr>
        <p:spPr>
          <a:xfrm>
            <a:off x="5989320" y="1645920"/>
            <a:ext cx="1188720" cy="34747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16752" y="1691640"/>
            <a:ext cx="1143000" cy="256032"/>
          </a:xfrm>
          <a:prstGeom prst="rect">
            <a:avLst/>
          </a:prstGeom>
          <a:noFill/>
        </p:spPr>
        <p:txBody>
          <a:bodyPr wrap="square">
            <a:spAutoFit/>
          </a:bodyPr>
          <a:lstStyle/>
          <a:p>
            <a:pPr algn="ctr"/>
            <a:r>
              <a:rPr sz="1100" b="1" i="0">
                <a:solidFill>
                  <a:srgbClr val="FFFFFF"/>
                </a:solidFill>
                <a:latin typeface="Calibri"/>
              </a:rPr>
              <a:t>Client</a:t>
            </a:r>
          </a:p>
        </p:txBody>
      </p:sp>
      <p:sp>
        <p:nvSpPr>
          <p:cNvPr id="20" name="TextBox 19"/>
          <p:cNvSpPr txBox="1"/>
          <p:nvPr/>
        </p:nvSpPr>
        <p:spPr>
          <a:xfrm>
            <a:off x="7223760" y="1691640"/>
            <a:ext cx="457200" cy="256032"/>
          </a:xfrm>
          <a:prstGeom prst="rect">
            <a:avLst/>
          </a:prstGeom>
          <a:noFill/>
        </p:spPr>
        <p:txBody>
          <a:bodyPr wrap="square">
            <a:spAutoFit/>
          </a:bodyPr>
          <a:lstStyle/>
          <a:p>
            <a:pPr algn="ctr"/>
            <a:r>
              <a:rPr sz="1600" b="1" i="0">
                <a:solidFill>
                  <a:srgbClr val="003087"/>
                </a:solidFill>
                <a:latin typeface="Calibri"/>
              </a:rPr>
              <a:t>→</a:t>
            </a:r>
          </a:p>
        </p:txBody>
      </p:sp>
      <p:sp>
        <p:nvSpPr>
          <p:cNvPr id="21" name="Rectangle 20"/>
          <p:cNvSpPr/>
          <p:nvPr/>
        </p:nvSpPr>
        <p:spPr>
          <a:xfrm>
            <a:off x="7726679" y="1645920"/>
            <a:ext cx="118872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54112" y="1691640"/>
            <a:ext cx="1143000" cy="256032"/>
          </a:xfrm>
          <a:prstGeom prst="rect">
            <a:avLst/>
          </a:prstGeom>
          <a:noFill/>
        </p:spPr>
        <p:txBody>
          <a:bodyPr wrap="square">
            <a:spAutoFit/>
          </a:bodyPr>
          <a:lstStyle/>
          <a:p>
            <a:pPr algn="ctr"/>
            <a:r>
              <a:rPr sz="1100" b="1" i="0">
                <a:solidFill>
                  <a:srgbClr val="FFFFFF"/>
                </a:solidFill>
                <a:latin typeface="Calibri"/>
              </a:rPr>
              <a:t>Server</a:t>
            </a:r>
          </a:p>
        </p:txBody>
      </p:sp>
      <p:sp>
        <p:nvSpPr>
          <p:cNvPr id="23" name="TextBox 22"/>
          <p:cNvSpPr txBox="1"/>
          <p:nvPr/>
        </p:nvSpPr>
        <p:spPr>
          <a:xfrm>
            <a:off x="5989320" y="2029968"/>
            <a:ext cx="5715000" cy="256032"/>
          </a:xfrm>
          <a:prstGeom prst="rect">
            <a:avLst/>
          </a:prstGeom>
          <a:noFill/>
        </p:spPr>
        <p:txBody>
          <a:bodyPr wrap="square">
            <a:spAutoFit/>
          </a:bodyPr>
          <a:lstStyle/>
          <a:p>
            <a:pPr algn="l"/>
            <a:r>
              <a:rPr sz="1050" b="0" i="1">
                <a:solidFill>
                  <a:srgbClr val="003087"/>
                </a:solidFill>
                <a:latin typeface="Calibri"/>
              </a:rPr>
              <a:t>sendMessage(message='Plan a Paris trip')</a:t>
            </a:r>
          </a:p>
        </p:txBody>
      </p:sp>
      <p:sp>
        <p:nvSpPr>
          <p:cNvPr id="24" name="TextBox 23"/>
          <p:cNvSpPr txBox="1"/>
          <p:nvPr/>
        </p:nvSpPr>
        <p:spPr>
          <a:xfrm>
            <a:off x="5989320" y="2286000"/>
            <a:ext cx="5715000" cy="256032"/>
          </a:xfrm>
          <a:prstGeom prst="rect">
            <a:avLst/>
          </a:prstGeom>
          <a:noFill/>
        </p:spPr>
        <p:txBody>
          <a:bodyPr wrap="square">
            <a:spAutoFit/>
          </a:bodyPr>
          <a:lstStyle/>
          <a:p>
            <a:pPr algn="l"/>
            <a:r>
              <a:rPr sz="1000" b="0" i="0">
                <a:solidFill>
                  <a:srgbClr val="606060"/>
                </a:solidFill>
                <a:latin typeface="Calibri"/>
              </a:rPr>
              <a:t>Task created: working</a:t>
            </a:r>
          </a:p>
        </p:txBody>
      </p:sp>
      <p:sp>
        <p:nvSpPr>
          <p:cNvPr id="25" name="Rectangle 24"/>
          <p:cNvSpPr/>
          <p:nvPr/>
        </p:nvSpPr>
        <p:spPr>
          <a:xfrm>
            <a:off x="5989320" y="2606040"/>
            <a:ext cx="118872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16752" y="2651760"/>
            <a:ext cx="1143000" cy="256032"/>
          </a:xfrm>
          <a:prstGeom prst="rect">
            <a:avLst/>
          </a:prstGeom>
          <a:noFill/>
        </p:spPr>
        <p:txBody>
          <a:bodyPr wrap="square">
            <a:spAutoFit/>
          </a:bodyPr>
          <a:lstStyle/>
          <a:p>
            <a:pPr algn="ctr"/>
            <a:r>
              <a:rPr sz="1100" b="1" i="0">
                <a:solidFill>
                  <a:srgbClr val="FFFFFF"/>
                </a:solidFill>
                <a:latin typeface="Calibri"/>
              </a:rPr>
              <a:t>Server</a:t>
            </a:r>
          </a:p>
        </p:txBody>
      </p:sp>
      <p:sp>
        <p:nvSpPr>
          <p:cNvPr id="27" name="TextBox 26"/>
          <p:cNvSpPr txBox="1"/>
          <p:nvPr/>
        </p:nvSpPr>
        <p:spPr>
          <a:xfrm>
            <a:off x="7223760" y="2651760"/>
            <a:ext cx="457200" cy="256032"/>
          </a:xfrm>
          <a:prstGeom prst="rect">
            <a:avLst/>
          </a:prstGeom>
          <a:noFill/>
        </p:spPr>
        <p:txBody>
          <a:bodyPr wrap="square">
            <a:spAutoFit/>
          </a:bodyPr>
          <a:lstStyle/>
          <a:p>
            <a:pPr algn="ctr"/>
            <a:r>
              <a:rPr sz="1600" b="1" i="0">
                <a:solidFill>
                  <a:srgbClr val="003087"/>
                </a:solidFill>
                <a:latin typeface="Calibri"/>
              </a:rPr>
              <a:t>→</a:t>
            </a:r>
          </a:p>
        </p:txBody>
      </p:sp>
      <p:sp>
        <p:nvSpPr>
          <p:cNvPr id="28" name="Rectangle 27"/>
          <p:cNvSpPr/>
          <p:nvPr/>
        </p:nvSpPr>
        <p:spPr>
          <a:xfrm>
            <a:off x="7726679" y="2606040"/>
            <a:ext cx="1188720" cy="34747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54112" y="2651760"/>
            <a:ext cx="1143000" cy="256032"/>
          </a:xfrm>
          <a:prstGeom prst="rect">
            <a:avLst/>
          </a:prstGeom>
          <a:noFill/>
        </p:spPr>
        <p:txBody>
          <a:bodyPr wrap="square">
            <a:spAutoFit/>
          </a:bodyPr>
          <a:lstStyle/>
          <a:p>
            <a:pPr algn="ctr"/>
            <a:r>
              <a:rPr sz="1100" b="1" i="0">
                <a:solidFill>
                  <a:srgbClr val="FFFFFF"/>
                </a:solidFill>
                <a:latin typeface="Calibri"/>
              </a:rPr>
              <a:t>Client</a:t>
            </a:r>
          </a:p>
        </p:txBody>
      </p:sp>
      <p:sp>
        <p:nvSpPr>
          <p:cNvPr id="30" name="TextBox 29"/>
          <p:cNvSpPr txBox="1"/>
          <p:nvPr/>
        </p:nvSpPr>
        <p:spPr>
          <a:xfrm>
            <a:off x="5989320" y="2990088"/>
            <a:ext cx="5715000" cy="256032"/>
          </a:xfrm>
          <a:prstGeom prst="rect">
            <a:avLst/>
          </a:prstGeom>
          <a:noFill/>
        </p:spPr>
        <p:txBody>
          <a:bodyPr wrap="square">
            <a:spAutoFit/>
          </a:bodyPr>
          <a:lstStyle/>
          <a:p>
            <a:pPr algn="l"/>
            <a:r>
              <a:rPr sz="1050" b="0" i="1">
                <a:solidFill>
                  <a:srgbClr val="003087"/>
                </a:solidFill>
                <a:latin typeface="Calibri"/>
              </a:rPr>
              <a:t>TaskUpdate: input-required</a:t>
            </a:r>
          </a:p>
        </p:txBody>
      </p:sp>
      <p:sp>
        <p:nvSpPr>
          <p:cNvPr id="31" name="TextBox 30"/>
          <p:cNvSpPr txBox="1"/>
          <p:nvPr/>
        </p:nvSpPr>
        <p:spPr>
          <a:xfrm>
            <a:off x="5989320" y="3246120"/>
            <a:ext cx="5715000" cy="256032"/>
          </a:xfrm>
          <a:prstGeom prst="rect">
            <a:avLst/>
          </a:prstGeom>
          <a:noFill/>
        </p:spPr>
        <p:txBody>
          <a:bodyPr wrap="square">
            <a:spAutoFit/>
          </a:bodyPr>
          <a:lstStyle/>
          <a:p>
            <a:pPr algn="l"/>
            <a:r>
              <a:rPr sz="1000" b="0" i="0">
                <a:solidFill>
                  <a:srgbClr val="606060"/>
                </a:solidFill>
                <a:latin typeface="Calibri"/>
              </a:rPr>
              <a:t>'What dates? Budget?'</a:t>
            </a:r>
          </a:p>
        </p:txBody>
      </p:sp>
      <p:sp>
        <p:nvSpPr>
          <p:cNvPr id="32" name="Rectangle 31"/>
          <p:cNvSpPr/>
          <p:nvPr/>
        </p:nvSpPr>
        <p:spPr>
          <a:xfrm>
            <a:off x="5989320" y="3566160"/>
            <a:ext cx="1188720" cy="34747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16752" y="3611880"/>
            <a:ext cx="1143000" cy="256032"/>
          </a:xfrm>
          <a:prstGeom prst="rect">
            <a:avLst/>
          </a:prstGeom>
          <a:noFill/>
        </p:spPr>
        <p:txBody>
          <a:bodyPr wrap="square">
            <a:spAutoFit/>
          </a:bodyPr>
          <a:lstStyle/>
          <a:p>
            <a:pPr algn="ctr"/>
            <a:r>
              <a:rPr sz="1100" b="1" i="0">
                <a:solidFill>
                  <a:srgbClr val="FFFFFF"/>
                </a:solidFill>
                <a:latin typeface="Calibri"/>
              </a:rPr>
              <a:t>Client</a:t>
            </a:r>
          </a:p>
        </p:txBody>
      </p:sp>
      <p:sp>
        <p:nvSpPr>
          <p:cNvPr id="34" name="TextBox 33"/>
          <p:cNvSpPr txBox="1"/>
          <p:nvPr/>
        </p:nvSpPr>
        <p:spPr>
          <a:xfrm>
            <a:off x="7223760" y="3611880"/>
            <a:ext cx="457200" cy="256032"/>
          </a:xfrm>
          <a:prstGeom prst="rect">
            <a:avLst/>
          </a:prstGeom>
          <a:noFill/>
        </p:spPr>
        <p:txBody>
          <a:bodyPr wrap="square">
            <a:spAutoFit/>
          </a:bodyPr>
          <a:lstStyle/>
          <a:p>
            <a:pPr algn="ctr"/>
            <a:r>
              <a:rPr sz="1600" b="1" i="0">
                <a:solidFill>
                  <a:srgbClr val="003087"/>
                </a:solidFill>
                <a:latin typeface="Calibri"/>
              </a:rPr>
              <a:t>→</a:t>
            </a:r>
          </a:p>
        </p:txBody>
      </p:sp>
      <p:sp>
        <p:nvSpPr>
          <p:cNvPr id="35" name="Rectangle 34"/>
          <p:cNvSpPr/>
          <p:nvPr/>
        </p:nvSpPr>
        <p:spPr>
          <a:xfrm>
            <a:off x="7726679" y="3566160"/>
            <a:ext cx="118872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54112" y="3611880"/>
            <a:ext cx="1143000" cy="256032"/>
          </a:xfrm>
          <a:prstGeom prst="rect">
            <a:avLst/>
          </a:prstGeom>
          <a:noFill/>
        </p:spPr>
        <p:txBody>
          <a:bodyPr wrap="square">
            <a:spAutoFit/>
          </a:bodyPr>
          <a:lstStyle/>
          <a:p>
            <a:pPr algn="ctr"/>
            <a:r>
              <a:rPr sz="1100" b="1" i="0">
                <a:solidFill>
                  <a:srgbClr val="FFFFFF"/>
                </a:solidFill>
                <a:latin typeface="Calibri"/>
              </a:rPr>
              <a:t>Server</a:t>
            </a:r>
          </a:p>
        </p:txBody>
      </p:sp>
      <p:sp>
        <p:nvSpPr>
          <p:cNvPr id="37" name="TextBox 36"/>
          <p:cNvSpPr txBox="1"/>
          <p:nvPr/>
        </p:nvSpPr>
        <p:spPr>
          <a:xfrm>
            <a:off x="5989320" y="3950208"/>
            <a:ext cx="5715000" cy="256032"/>
          </a:xfrm>
          <a:prstGeom prst="rect">
            <a:avLst/>
          </a:prstGeom>
          <a:noFill/>
        </p:spPr>
        <p:txBody>
          <a:bodyPr wrap="square">
            <a:spAutoFit/>
          </a:bodyPr>
          <a:lstStyle/>
          <a:p>
            <a:pPr algn="l"/>
            <a:r>
              <a:rPr sz="1050" b="0" i="1">
                <a:solidFill>
                  <a:srgbClr val="003087"/>
                </a:solidFill>
                <a:latin typeface="Calibri"/>
              </a:rPr>
              <a:t>sendMessage(message='July 10-17, $2000')</a:t>
            </a:r>
          </a:p>
        </p:txBody>
      </p:sp>
      <p:sp>
        <p:nvSpPr>
          <p:cNvPr id="38" name="TextBox 37"/>
          <p:cNvSpPr txBox="1"/>
          <p:nvPr/>
        </p:nvSpPr>
        <p:spPr>
          <a:xfrm>
            <a:off x="5989320" y="4206240"/>
            <a:ext cx="5715000" cy="256032"/>
          </a:xfrm>
          <a:prstGeom prst="rect">
            <a:avLst/>
          </a:prstGeom>
          <a:noFill/>
        </p:spPr>
        <p:txBody>
          <a:bodyPr wrap="square">
            <a:spAutoFit/>
          </a:bodyPr>
          <a:lstStyle/>
          <a:p>
            <a:pPr algn="l"/>
            <a:r>
              <a:rPr sz="1000" b="0" i="0">
                <a:solidFill>
                  <a:srgbClr val="606060"/>
                </a:solidFill>
                <a:latin typeface="Calibri"/>
              </a:rPr>
              <a:t>Same contextId</a:t>
            </a:r>
          </a:p>
        </p:txBody>
      </p:sp>
      <p:sp>
        <p:nvSpPr>
          <p:cNvPr id="39" name="Rectangle 38"/>
          <p:cNvSpPr/>
          <p:nvPr/>
        </p:nvSpPr>
        <p:spPr>
          <a:xfrm>
            <a:off x="5989320" y="4526280"/>
            <a:ext cx="1188720" cy="347472"/>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16752" y="4572000"/>
            <a:ext cx="1143000" cy="256032"/>
          </a:xfrm>
          <a:prstGeom prst="rect">
            <a:avLst/>
          </a:prstGeom>
          <a:noFill/>
        </p:spPr>
        <p:txBody>
          <a:bodyPr wrap="square">
            <a:spAutoFit/>
          </a:bodyPr>
          <a:lstStyle/>
          <a:p>
            <a:pPr algn="ctr"/>
            <a:r>
              <a:rPr sz="1100" b="1" i="0">
                <a:solidFill>
                  <a:srgbClr val="FFFFFF"/>
                </a:solidFill>
                <a:latin typeface="Calibri"/>
              </a:rPr>
              <a:t>Server</a:t>
            </a:r>
          </a:p>
        </p:txBody>
      </p:sp>
      <p:sp>
        <p:nvSpPr>
          <p:cNvPr id="41" name="TextBox 40"/>
          <p:cNvSpPr txBox="1"/>
          <p:nvPr/>
        </p:nvSpPr>
        <p:spPr>
          <a:xfrm>
            <a:off x="7223760" y="4572000"/>
            <a:ext cx="457200" cy="256032"/>
          </a:xfrm>
          <a:prstGeom prst="rect">
            <a:avLst/>
          </a:prstGeom>
          <a:noFill/>
        </p:spPr>
        <p:txBody>
          <a:bodyPr wrap="square">
            <a:spAutoFit/>
          </a:bodyPr>
          <a:lstStyle/>
          <a:p>
            <a:pPr algn="ctr"/>
            <a:r>
              <a:rPr sz="1600" b="1" i="0">
                <a:solidFill>
                  <a:srgbClr val="003087"/>
                </a:solidFill>
                <a:latin typeface="Calibri"/>
              </a:rPr>
              <a:t>→</a:t>
            </a:r>
          </a:p>
        </p:txBody>
      </p:sp>
      <p:sp>
        <p:nvSpPr>
          <p:cNvPr id="42" name="Rectangle 41"/>
          <p:cNvSpPr/>
          <p:nvPr/>
        </p:nvSpPr>
        <p:spPr>
          <a:xfrm>
            <a:off x="7726679" y="4526280"/>
            <a:ext cx="1188720" cy="34747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54112" y="4572000"/>
            <a:ext cx="1143000" cy="256032"/>
          </a:xfrm>
          <a:prstGeom prst="rect">
            <a:avLst/>
          </a:prstGeom>
          <a:noFill/>
        </p:spPr>
        <p:txBody>
          <a:bodyPr wrap="square">
            <a:spAutoFit/>
          </a:bodyPr>
          <a:lstStyle/>
          <a:p>
            <a:pPr algn="ctr"/>
            <a:r>
              <a:rPr sz="1100" b="1" i="0">
                <a:solidFill>
                  <a:srgbClr val="FFFFFF"/>
                </a:solidFill>
                <a:latin typeface="Calibri"/>
              </a:rPr>
              <a:t>Client</a:t>
            </a:r>
          </a:p>
        </p:txBody>
      </p:sp>
      <p:sp>
        <p:nvSpPr>
          <p:cNvPr id="44" name="TextBox 43"/>
          <p:cNvSpPr txBox="1"/>
          <p:nvPr/>
        </p:nvSpPr>
        <p:spPr>
          <a:xfrm>
            <a:off x="5989320" y="4910328"/>
            <a:ext cx="5715000" cy="256032"/>
          </a:xfrm>
          <a:prstGeom prst="rect">
            <a:avLst/>
          </a:prstGeom>
          <a:noFill/>
        </p:spPr>
        <p:txBody>
          <a:bodyPr wrap="square">
            <a:spAutoFit/>
          </a:bodyPr>
          <a:lstStyle/>
          <a:p>
            <a:pPr algn="l"/>
            <a:r>
              <a:rPr sz="1050" b="0" i="1">
                <a:solidFill>
                  <a:srgbClr val="003087"/>
                </a:solidFill>
                <a:latin typeface="Calibri"/>
              </a:rPr>
              <a:t>TaskUpdate: working → completed</a:t>
            </a:r>
          </a:p>
        </p:txBody>
      </p:sp>
      <p:sp>
        <p:nvSpPr>
          <p:cNvPr id="45" name="TextBox 44"/>
          <p:cNvSpPr txBox="1"/>
          <p:nvPr/>
        </p:nvSpPr>
        <p:spPr>
          <a:xfrm>
            <a:off x="5989320" y="5166360"/>
            <a:ext cx="5715000" cy="256032"/>
          </a:xfrm>
          <a:prstGeom prst="rect">
            <a:avLst/>
          </a:prstGeom>
          <a:noFill/>
        </p:spPr>
        <p:txBody>
          <a:bodyPr wrap="square">
            <a:spAutoFit/>
          </a:bodyPr>
          <a:lstStyle/>
          <a:p>
            <a:pPr algn="l"/>
            <a:r>
              <a:rPr sz="1000" b="0" i="0">
                <a:solidFill>
                  <a:srgbClr val="606060"/>
                </a:solidFill>
                <a:latin typeface="Calibri"/>
              </a:rPr>
              <a:t>Artifact: full itinerary</a:t>
            </a:r>
          </a:p>
        </p:txBody>
      </p:sp>
      <p:sp>
        <p:nvSpPr>
          <p:cNvPr id="46" name="Rectangle 45"/>
          <p:cNvSpPr/>
          <p:nvPr/>
        </p:nvSpPr>
        <p:spPr>
          <a:xfrm>
            <a:off x="11247120" y="1645920"/>
            <a:ext cx="457200" cy="384048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265408" y="3017520"/>
            <a:ext cx="411480" cy="1097280"/>
          </a:xfrm>
          <a:prstGeom prst="rect">
            <a:avLst/>
          </a:prstGeom>
          <a:noFill/>
        </p:spPr>
        <p:txBody>
          <a:bodyPr wrap="square">
            <a:spAutoFit/>
          </a:bodyPr>
          <a:lstStyle/>
          <a:p>
            <a:pPr algn="l"/>
            <a:r>
              <a:rPr sz="800" b="1" i="0">
                <a:solidFill>
                  <a:srgbClr val="003087"/>
                </a:solidFill>
                <a:latin typeface="Calibri"/>
              </a:rPr>
              <a:t>same contextId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Request Lifecycle</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Four stages from discovery to streaming results</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2788920" cy="539496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 y="1252728"/>
            <a:ext cx="411480" cy="41148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252728"/>
            <a:ext cx="411480" cy="411480"/>
          </a:xfrm>
          <a:prstGeom prst="rect">
            <a:avLst/>
          </a:prstGeom>
          <a:noFill/>
        </p:spPr>
        <p:txBody>
          <a:bodyPr wrap="square">
            <a:spAutoFit/>
          </a:bodyPr>
          <a:lstStyle/>
          <a:p>
            <a:pPr algn="ctr"/>
            <a:r>
              <a:rPr sz="1800" b="1" i="0">
                <a:solidFill>
                  <a:srgbClr val="003087"/>
                </a:solidFill>
                <a:latin typeface="Calibri"/>
              </a:rPr>
              <a:t>1</a:t>
            </a:r>
          </a:p>
        </p:txBody>
      </p:sp>
      <p:sp>
        <p:nvSpPr>
          <p:cNvPr id="10" name="TextBox 9"/>
          <p:cNvSpPr txBox="1"/>
          <p:nvPr/>
        </p:nvSpPr>
        <p:spPr>
          <a:xfrm>
            <a:off x="914400" y="1280160"/>
            <a:ext cx="2057400" cy="475488"/>
          </a:xfrm>
          <a:prstGeom prst="rect">
            <a:avLst/>
          </a:prstGeom>
          <a:noFill/>
        </p:spPr>
        <p:txBody>
          <a:bodyPr wrap="square">
            <a:spAutoFit/>
          </a:bodyPr>
          <a:lstStyle/>
          <a:p>
            <a:pPr algn="l"/>
            <a:r>
              <a:rPr sz="1500" b="1" i="0">
                <a:solidFill>
                  <a:srgbClr val="FFB300"/>
                </a:solidFill>
                <a:latin typeface="Calibri"/>
              </a:rPr>
              <a:t>Agent
Discovery</a:t>
            </a:r>
          </a:p>
        </p:txBody>
      </p:sp>
      <p:sp>
        <p:nvSpPr>
          <p:cNvPr id="11" name="Rectangle 10"/>
          <p:cNvSpPr/>
          <p:nvPr/>
        </p:nvSpPr>
        <p:spPr>
          <a:xfrm>
            <a:off x="320040" y="1828800"/>
            <a:ext cx="2788920"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920240"/>
            <a:ext cx="2514600" cy="301752"/>
          </a:xfrm>
          <a:prstGeom prst="rect">
            <a:avLst/>
          </a:prstGeom>
          <a:noFill/>
        </p:spPr>
        <p:txBody>
          <a:bodyPr wrap="square">
            <a:spAutoFit/>
          </a:bodyPr>
          <a:lstStyle/>
          <a:p>
            <a:pPr algn="l"/>
            <a:r>
              <a:rPr sz="1200" b="0" i="0">
                <a:solidFill>
                  <a:srgbClr val="FFFFFF"/>
                </a:solidFill>
                <a:latin typeface="Calibri"/>
              </a:rPr>
              <a:t>Client fetches Agent Card</a:t>
            </a:r>
          </a:p>
        </p:txBody>
      </p:sp>
      <p:sp>
        <p:nvSpPr>
          <p:cNvPr id="13" name="TextBox 12"/>
          <p:cNvSpPr txBox="1"/>
          <p:nvPr/>
        </p:nvSpPr>
        <p:spPr>
          <a:xfrm>
            <a:off x="457200" y="2221992"/>
            <a:ext cx="2514600" cy="301752"/>
          </a:xfrm>
          <a:prstGeom prst="rect">
            <a:avLst/>
          </a:prstGeom>
          <a:noFill/>
        </p:spPr>
        <p:txBody>
          <a:bodyPr wrap="square">
            <a:spAutoFit/>
          </a:bodyPr>
          <a:lstStyle/>
          <a:p>
            <a:pPr algn="l"/>
            <a:r>
              <a:rPr sz="1200" b="0" i="0">
                <a:solidFill>
                  <a:srgbClr val="FFFFFF"/>
                </a:solidFill>
                <a:latin typeface="Calibri"/>
              </a:rPr>
              <a:t>from /.well-known/agent.json</a:t>
            </a:r>
          </a:p>
        </p:txBody>
      </p:sp>
      <p:sp>
        <p:nvSpPr>
          <p:cNvPr id="14" name="TextBox 13"/>
          <p:cNvSpPr txBox="1"/>
          <p:nvPr/>
        </p:nvSpPr>
        <p:spPr>
          <a:xfrm>
            <a:off x="457200" y="2523744"/>
            <a:ext cx="2514600" cy="301752"/>
          </a:xfrm>
          <a:prstGeom prst="rect">
            <a:avLst/>
          </a:prstGeom>
          <a:noFill/>
        </p:spPr>
        <p:txBody>
          <a:bodyPr wrap="square">
            <a:spAutoFit/>
          </a:bodyPr>
          <a:lstStyle/>
          <a:p>
            <a:pPr algn="l"/>
            <a:r>
              <a:rPr sz="1200" b="0" i="0">
                <a:solidFill>
                  <a:srgbClr val="FFFFFF"/>
                </a:solidFill>
                <a:latin typeface="Calibri"/>
              </a:rPr>
              <a:t/>
            </a:r>
          </a:p>
        </p:txBody>
      </p:sp>
      <p:sp>
        <p:nvSpPr>
          <p:cNvPr id="15" name="TextBox 14"/>
          <p:cNvSpPr txBox="1"/>
          <p:nvPr/>
        </p:nvSpPr>
        <p:spPr>
          <a:xfrm>
            <a:off x="457200" y="2825496"/>
            <a:ext cx="2514600" cy="301752"/>
          </a:xfrm>
          <a:prstGeom prst="rect">
            <a:avLst/>
          </a:prstGeom>
          <a:noFill/>
        </p:spPr>
        <p:txBody>
          <a:bodyPr wrap="square">
            <a:spAutoFit/>
          </a:bodyPr>
          <a:lstStyle/>
          <a:p>
            <a:pPr algn="l"/>
            <a:r>
              <a:rPr sz="1200" b="0" i="0">
                <a:solidFill>
                  <a:srgbClr val="FFFFFF"/>
                </a:solidFill>
                <a:latin typeface="Calibri"/>
              </a:rPr>
              <a:t>Learns: capabilities,</a:t>
            </a:r>
          </a:p>
        </p:txBody>
      </p:sp>
      <p:sp>
        <p:nvSpPr>
          <p:cNvPr id="16" name="TextBox 15"/>
          <p:cNvSpPr txBox="1"/>
          <p:nvPr/>
        </p:nvSpPr>
        <p:spPr>
          <a:xfrm>
            <a:off x="457200" y="3127248"/>
            <a:ext cx="2514600" cy="301752"/>
          </a:xfrm>
          <a:prstGeom prst="rect">
            <a:avLst/>
          </a:prstGeom>
          <a:noFill/>
        </p:spPr>
        <p:txBody>
          <a:bodyPr wrap="square">
            <a:spAutoFit/>
          </a:bodyPr>
          <a:lstStyle/>
          <a:p>
            <a:pPr algn="l"/>
            <a:r>
              <a:rPr sz="1200" b="0" i="0">
                <a:solidFill>
                  <a:srgbClr val="FFFFFF"/>
                </a:solidFill>
                <a:latin typeface="Calibri"/>
              </a:rPr>
              <a:t>endpoint URL, auth schemes,</a:t>
            </a:r>
          </a:p>
        </p:txBody>
      </p:sp>
      <p:sp>
        <p:nvSpPr>
          <p:cNvPr id="17" name="TextBox 16"/>
          <p:cNvSpPr txBox="1"/>
          <p:nvPr/>
        </p:nvSpPr>
        <p:spPr>
          <a:xfrm>
            <a:off x="457200" y="3429000"/>
            <a:ext cx="2514600" cy="301752"/>
          </a:xfrm>
          <a:prstGeom prst="rect">
            <a:avLst/>
          </a:prstGeom>
          <a:noFill/>
        </p:spPr>
        <p:txBody>
          <a:bodyPr wrap="square">
            <a:spAutoFit/>
          </a:bodyPr>
          <a:lstStyle/>
          <a:p>
            <a:pPr algn="l"/>
            <a:r>
              <a:rPr sz="1200" b="0" i="0">
                <a:solidFill>
                  <a:srgbClr val="FFFFFF"/>
                </a:solidFill>
                <a:latin typeface="Calibri"/>
              </a:rPr>
              <a:t>supported skills</a:t>
            </a:r>
          </a:p>
        </p:txBody>
      </p:sp>
      <p:sp>
        <p:nvSpPr>
          <p:cNvPr id="18" name="Rectangle 17"/>
          <p:cNvSpPr/>
          <p:nvPr/>
        </p:nvSpPr>
        <p:spPr>
          <a:xfrm>
            <a:off x="411480" y="5440680"/>
            <a:ext cx="2606040" cy="10058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5486400"/>
            <a:ext cx="2468880" cy="256032"/>
          </a:xfrm>
          <a:prstGeom prst="rect">
            <a:avLst/>
          </a:prstGeom>
          <a:noFill/>
        </p:spPr>
        <p:txBody>
          <a:bodyPr wrap="square">
            <a:spAutoFit/>
          </a:bodyPr>
          <a:lstStyle/>
          <a:p>
            <a:pPr algn="l"/>
            <a:r>
              <a:rPr sz="950" b="0" i="0">
                <a:solidFill>
                  <a:srgbClr val="D4D4D4"/>
                </a:solidFill>
                <a:latin typeface="Courier New"/>
              </a:rPr>
              <a:t>GET /.well-known/agent.json</a:t>
            </a:r>
          </a:p>
        </p:txBody>
      </p:sp>
      <p:sp>
        <p:nvSpPr>
          <p:cNvPr id="20" name="TextBox 19"/>
          <p:cNvSpPr txBox="1"/>
          <p:nvPr/>
        </p:nvSpPr>
        <p:spPr>
          <a:xfrm>
            <a:off x="484632" y="5733288"/>
            <a:ext cx="2468880" cy="256032"/>
          </a:xfrm>
          <a:prstGeom prst="rect">
            <a:avLst/>
          </a:prstGeom>
          <a:noFill/>
        </p:spPr>
        <p:txBody>
          <a:bodyPr wrap="square">
            <a:spAutoFit/>
          </a:bodyPr>
          <a:lstStyle/>
          <a:p>
            <a:pPr algn="l"/>
            <a:r>
              <a:rPr sz="950" b="0" i="0">
                <a:solidFill>
                  <a:srgbClr val="D4D4D4"/>
                </a:solidFill>
                <a:latin typeface="Courier New"/>
              </a:rPr>
              <a:t>→ Returns: AgentCard JSON</a:t>
            </a:r>
          </a:p>
        </p:txBody>
      </p:sp>
      <p:sp>
        <p:nvSpPr>
          <p:cNvPr id="21" name="Rectangle 20"/>
          <p:cNvSpPr/>
          <p:nvPr/>
        </p:nvSpPr>
        <p:spPr>
          <a:xfrm>
            <a:off x="3218688" y="1143000"/>
            <a:ext cx="2788920" cy="53949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28416" y="1252728"/>
            <a:ext cx="411480" cy="41148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28416" y="1252728"/>
            <a:ext cx="411480" cy="411480"/>
          </a:xfrm>
          <a:prstGeom prst="rect">
            <a:avLst/>
          </a:prstGeom>
          <a:noFill/>
        </p:spPr>
        <p:txBody>
          <a:bodyPr wrap="square">
            <a:spAutoFit/>
          </a:bodyPr>
          <a:lstStyle/>
          <a:p>
            <a:pPr algn="ctr"/>
            <a:r>
              <a:rPr sz="1800" b="1" i="0">
                <a:solidFill>
                  <a:srgbClr val="003087"/>
                </a:solidFill>
                <a:latin typeface="Calibri"/>
              </a:rPr>
              <a:t>2</a:t>
            </a:r>
          </a:p>
        </p:txBody>
      </p:sp>
      <p:sp>
        <p:nvSpPr>
          <p:cNvPr id="24" name="TextBox 23"/>
          <p:cNvSpPr txBox="1"/>
          <p:nvPr/>
        </p:nvSpPr>
        <p:spPr>
          <a:xfrm>
            <a:off x="3813048" y="1280160"/>
            <a:ext cx="2057400" cy="475488"/>
          </a:xfrm>
          <a:prstGeom prst="rect">
            <a:avLst/>
          </a:prstGeom>
          <a:noFill/>
        </p:spPr>
        <p:txBody>
          <a:bodyPr wrap="square">
            <a:spAutoFit/>
          </a:bodyPr>
          <a:lstStyle/>
          <a:p>
            <a:pPr algn="l"/>
            <a:r>
              <a:rPr sz="1500" b="1" i="0">
                <a:solidFill>
                  <a:srgbClr val="FFB300"/>
                </a:solidFill>
                <a:latin typeface="Calibri"/>
              </a:rPr>
              <a:t>Authentication</a:t>
            </a:r>
          </a:p>
        </p:txBody>
      </p:sp>
      <p:sp>
        <p:nvSpPr>
          <p:cNvPr id="25" name="Rectangle 24"/>
          <p:cNvSpPr/>
          <p:nvPr/>
        </p:nvSpPr>
        <p:spPr>
          <a:xfrm>
            <a:off x="3218688" y="1828800"/>
            <a:ext cx="2788920"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55848" y="1920240"/>
            <a:ext cx="2514600" cy="301752"/>
          </a:xfrm>
          <a:prstGeom prst="rect">
            <a:avLst/>
          </a:prstGeom>
          <a:noFill/>
        </p:spPr>
        <p:txBody>
          <a:bodyPr wrap="square">
            <a:spAutoFit/>
          </a:bodyPr>
          <a:lstStyle/>
          <a:p>
            <a:pPr algn="l"/>
            <a:r>
              <a:rPr sz="1200" b="0" i="0">
                <a:solidFill>
                  <a:srgbClr val="FFFFFF"/>
                </a:solidFill>
                <a:latin typeface="Calibri"/>
              </a:rPr>
              <a:t>Client inspects auth schemes</a:t>
            </a:r>
          </a:p>
        </p:txBody>
      </p:sp>
      <p:sp>
        <p:nvSpPr>
          <p:cNvPr id="27" name="TextBox 26"/>
          <p:cNvSpPr txBox="1"/>
          <p:nvPr/>
        </p:nvSpPr>
        <p:spPr>
          <a:xfrm>
            <a:off x="3355848" y="2221992"/>
            <a:ext cx="2514600" cy="301752"/>
          </a:xfrm>
          <a:prstGeom prst="rect">
            <a:avLst/>
          </a:prstGeom>
          <a:noFill/>
        </p:spPr>
        <p:txBody>
          <a:bodyPr wrap="square">
            <a:spAutoFit/>
          </a:bodyPr>
          <a:lstStyle/>
          <a:p>
            <a:pPr algn="l"/>
            <a:r>
              <a:rPr sz="1200" b="0" i="0">
                <a:solidFill>
                  <a:srgbClr val="FFFFFF"/>
                </a:solidFill>
                <a:latin typeface="Calibri"/>
              </a:rPr>
              <a:t>declared in Agent Card</a:t>
            </a:r>
          </a:p>
        </p:txBody>
      </p:sp>
      <p:sp>
        <p:nvSpPr>
          <p:cNvPr id="28" name="TextBox 27"/>
          <p:cNvSpPr txBox="1"/>
          <p:nvPr/>
        </p:nvSpPr>
        <p:spPr>
          <a:xfrm>
            <a:off x="3355848" y="2523744"/>
            <a:ext cx="2514600" cy="301752"/>
          </a:xfrm>
          <a:prstGeom prst="rect">
            <a:avLst/>
          </a:prstGeom>
          <a:noFill/>
        </p:spPr>
        <p:txBody>
          <a:bodyPr wrap="square">
            <a:spAutoFit/>
          </a:bodyPr>
          <a:lstStyle/>
          <a:p>
            <a:pPr algn="l"/>
            <a:r>
              <a:rPr sz="1200" b="0" i="0">
                <a:solidFill>
                  <a:srgbClr val="FFFFFF"/>
                </a:solidFill>
                <a:latin typeface="Calibri"/>
              </a:rPr>
              <a:t/>
            </a:r>
          </a:p>
        </p:txBody>
      </p:sp>
      <p:sp>
        <p:nvSpPr>
          <p:cNvPr id="29" name="TextBox 28"/>
          <p:cNvSpPr txBox="1"/>
          <p:nvPr/>
        </p:nvSpPr>
        <p:spPr>
          <a:xfrm>
            <a:off x="3355848" y="2825496"/>
            <a:ext cx="2514600" cy="301752"/>
          </a:xfrm>
          <a:prstGeom prst="rect">
            <a:avLst/>
          </a:prstGeom>
          <a:noFill/>
        </p:spPr>
        <p:txBody>
          <a:bodyPr wrap="square">
            <a:spAutoFit/>
          </a:bodyPr>
          <a:lstStyle/>
          <a:p>
            <a:pPr algn="l"/>
            <a:r>
              <a:rPr sz="1200" b="0" i="0">
                <a:solidFill>
                  <a:srgbClr val="FFFFFF"/>
                </a:solidFill>
                <a:latin typeface="Calibri"/>
              </a:rPr>
              <a:t>Obtains JWT token via</a:t>
            </a:r>
          </a:p>
        </p:txBody>
      </p:sp>
      <p:sp>
        <p:nvSpPr>
          <p:cNvPr id="30" name="TextBox 29"/>
          <p:cNvSpPr txBox="1"/>
          <p:nvPr/>
        </p:nvSpPr>
        <p:spPr>
          <a:xfrm>
            <a:off x="3355848" y="3127248"/>
            <a:ext cx="2514600" cy="301752"/>
          </a:xfrm>
          <a:prstGeom prst="rect">
            <a:avLst/>
          </a:prstGeom>
          <a:noFill/>
        </p:spPr>
        <p:txBody>
          <a:bodyPr wrap="square">
            <a:spAutoFit/>
          </a:bodyPr>
          <a:lstStyle/>
          <a:p>
            <a:pPr algn="l"/>
            <a:r>
              <a:rPr sz="1200" b="0" i="0">
                <a:solidFill>
                  <a:srgbClr val="FFFFFF"/>
                </a:solidFill>
                <a:latin typeface="Calibri"/>
              </a:rPr>
              <a:t>OpenID Connect (if required)</a:t>
            </a:r>
          </a:p>
        </p:txBody>
      </p:sp>
      <p:sp>
        <p:nvSpPr>
          <p:cNvPr id="31" name="TextBox 30"/>
          <p:cNvSpPr txBox="1"/>
          <p:nvPr/>
        </p:nvSpPr>
        <p:spPr>
          <a:xfrm>
            <a:off x="3355848" y="3429000"/>
            <a:ext cx="2514600" cy="301752"/>
          </a:xfrm>
          <a:prstGeom prst="rect">
            <a:avLst/>
          </a:prstGeom>
          <a:noFill/>
        </p:spPr>
        <p:txBody>
          <a:bodyPr wrap="square">
            <a:spAutoFit/>
          </a:bodyPr>
          <a:lstStyle/>
          <a:p>
            <a:pPr algn="l"/>
            <a:r>
              <a:rPr sz="1200" b="0" i="0">
                <a:solidFill>
                  <a:srgbClr val="FFFFFF"/>
                </a:solidFill>
                <a:latin typeface="Calibri"/>
              </a:rPr>
              <a:t>or uses API Key / Bearer</a:t>
            </a:r>
          </a:p>
        </p:txBody>
      </p:sp>
      <p:sp>
        <p:nvSpPr>
          <p:cNvPr id="32" name="Rectangle 31"/>
          <p:cNvSpPr/>
          <p:nvPr/>
        </p:nvSpPr>
        <p:spPr>
          <a:xfrm>
            <a:off x="3310128" y="5440680"/>
            <a:ext cx="2606040" cy="10058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383280" y="5486400"/>
            <a:ext cx="2468880" cy="256032"/>
          </a:xfrm>
          <a:prstGeom prst="rect">
            <a:avLst/>
          </a:prstGeom>
          <a:noFill/>
        </p:spPr>
        <p:txBody>
          <a:bodyPr wrap="square">
            <a:spAutoFit/>
          </a:bodyPr>
          <a:lstStyle/>
          <a:p>
            <a:pPr algn="l"/>
            <a:r>
              <a:rPr sz="950" b="0" i="0">
                <a:solidFill>
                  <a:srgbClr val="D4D4D4"/>
                </a:solidFill>
                <a:latin typeface="Courier New"/>
              </a:rPr>
              <a:t>POST /token</a:t>
            </a:r>
          </a:p>
        </p:txBody>
      </p:sp>
      <p:sp>
        <p:nvSpPr>
          <p:cNvPr id="34" name="TextBox 33"/>
          <p:cNvSpPr txBox="1"/>
          <p:nvPr/>
        </p:nvSpPr>
        <p:spPr>
          <a:xfrm>
            <a:off x="3383280" y="5733288"/>
            <a:ext cx="2468880" cy="256032"/>
          </a:xfrm>
          <a:prstGeom prst="rect">
            <a:avLst/>
          </a:prstGeom>
          <a:noFill/>
        </p:spPr>
        <p:txBody>
          <a:bodyPr wrap="square">
            <a:spAutoFit/>
          </a:bodyPr>
          <a:lstStyle/>
          <a:p>
            <a:pPr algn="l"/>
            <a:r>
              <a:rPr sz="950" b="0" i="0">
                <a:solidFill>
                  <a:srgbClr val="D4D4D4"/>
                </a:solidFill>
                <a:latin typeface="Courier New"/>
              </a:rPr>
              <a:t>→ Returns: JWT access_token</a:t>
            </a:r>
          </a:p>
        </p:txBody>
      </p:sp>
      <p:sp>
        <p:nvSpPr>
          <p:cNvPr id="35" name="Rectangle 34"/>
          <p:cNvSpPr/>
          <p:nvPr/>
        </p:nvSpPr>
        <p:spPr>
          <a:xfrm>
            <a:off x="6117336" y="1143000"/>
            <a:ext cx="2788920" cy="539496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27064" y="1252728"/>
            <a:ext cx="411480" cy="41148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27064" y="1252728"/>
            <a:ext cx="411480" cy="411480"/>
          </a:xfrm>
          <a:prstGeom prst="rect">
            <a:avLst/>
          </a:prstGeom>
          <a:noFill/>
        </p:spPr>
        <p:txBody>
          <a:bodyPr wrap="square">
            <a:spAutoFit/>
          </a:bodyPr>
          <a:lstStyle/>
          <a:p>
            <a:pPr algn="ctr"/>
            <a:r>
              <a:rPr sz="1800" b="1" i="0">
                <a:solidFill>
                  <a:srgbClr val="003087"/>
                </a:solidFill>
                <a:latin typeface="Calibri"/>
              </a:rPr>
              <a:t>3</a:t>
            </a:r>
          </a:p>
        </p:txBody>
      </p:sp>
      <p:sp>
        <p:nvSpPr>
          <p:cNvPr id="38" name="TextBox 37"/>
          <p:cNvSpPr txBox="1"/>
          <p:nvPr/>
        </p:nvSpPr>
        <p:spPr>
          <a:xfrm>
            <a:off x="6711696" y="1280160"/>
            <a:ext cx="2057400" cy="475488"/>
          </a:xfrm>
          <a:prstGeom prst="rect">
            <a:avLst/>
          </a:prstGeom>
          <a:noFill/>
        </p:spPr>
        <p:txBody>
          <a:bodyPr wrap="square">
            <a:spAutoFit/>
          </a:bodyPr>
          <a:lstStyle/>
          <a:p>
            <a:pPr algn="l"/>
            <a:r>
              <a:rPr sz="1500" b="1" i="0">
                <a:solidFill>
                  <a:srgbClr val="FFB300"/>
                </a:solidFill>
                <a:latin typeface="Calibri"/>
              </a:rPr>
              <a:t>sendMessage
API</a:t>
            </a:r>
          </a:p>
        </p:txBody>
      </p:sp>
      <p:sp>
        <p:nvSpPr>
          <p:cNvPr id="39" name="Rectangle 38"/>
          <p:cNvSpPr/>
          <p:nvPr/>
        </p:nvSpPr>
        <p:spPr>
          <a:xfrm>
            <a:off x="6117336" y="1828800"/>
            <a:ext cx="2788920"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54496" y="1920240"/>
            <a:ext cx="2514600" cy="301752"/>
          </a:xfrm>
          <a:prstGeom prst="rect">
            <a:avLst/>
          </a:prstGeom>
          <a:noFill/>
        </p:spPr>
        <p:txBody>
          <a:bodyPr wrap="square">
            <a:spAutoFit/>
          </a:bodyPr>
          <a:lstStyle/>
          <a:p>
            <a:pPr algn="l"/>
            <a:r>
              <a:rPr sz="1200" b="0" i="0">
                <a:solidFill>
                  <a:srgbClr val="FFFFFF"/>
                </a:solidFill>
                <a:latin typeface="Calibri"/>
              </a:rPr>
              <a:t>Client sends synchronous</a:t>
            </a:r>
          </a:p>
        </p:txBody>
      </p:sp>
      <p:sp>
        <p:nvSpPr>
          <p:cNvPr id="41" name="TextBox 40"/>
          <p:cNvSpPr txBox="1"/>
          <p:nvPr/>
        </p:nvSpPr>
        <p:spPr>
          <a:xfrm>
            <a:off x="6254496" y="2221992"/>
            <a:ext cx="2514600" cy="301752"/>
          </a:xfrm>
          <a:prstGeom prst="rect">
            <a:avLst/>
          </a:prstGeom>
          <a:noFill/>
        </p:spPr>
        <p:txBody>
          <a:bodyPr wrap="square">
            <a:spAutoFit/>
          </a:bodyPr>
          <a:lstStyle/>
          <a:p>
            <a:pPr algn="l"/>
            <a:r>
              <a:rPr sz="1200" b="0" i="0">
                <a:solidFill>
                  <a:srgbClr val="FFFFFF"/>
                </a:solidFill>
                <a:latin typeface="Calibri"/>
              </a:rPr>
              <a:t>request with Task payload</a:t>
            </a:r>
          </a:p>
        </p:txBody>
      </p:sp>
      <p:sp>
        <p:nvSpPr>
          <p:cNvPr id="42" name="TextBox 41"/>
          <p:cNvSpPr txBox="1"/>
          <p:nvPr/>
        </p:nvSpPr>
        <p:spPr>
          <a:xfrm>
            <a:off x="6254496" y="2523744"/>
            <a:ext cx="2514600" cy="301752"/>
          </a:xfrm>
          <a:prstGeom prst="rect">
            <a:avLst/>
          </a:prstGeom>
          <a:noFill/>
        </p:spPr>
        <p:txBody>
          <a:bodyPr wrap="square">
            <a:spAutoFit/>
          </a:bodyPr>
          <a:lstStyle/>
          <a:p>
            <a:pPr algn="l"/>
            <a:r>
              <a:rPr sz="1200" b="0" i="0">
                <a:solidFill>
                  <a:srgbClr val="FFFFFF"/>
                </a:solidFill>
                <a:latin typeface="Calibri"/>
              </a:rPr>
              <a:t/>
            </a:r>
          </a:p>
        </p:txBody>
      </p:sp>
      <p:sp>
        <p:nvSpPr>
          <p:cNvPr id="43" name="TextBox 42"/>
          <p:cNvSpPr txBox="1"/>
          <p:nvPr/>
        </p:nvSpPr>
        <p:spPr>
          <a:xfrm>
            <a:off x="6254496" y="2825496"/>
            <a:ext cx="2514600" cy="301752"/>
          </a:xfrm>
          <a:prstGeom prst="rect">
            <a:avLst/>
          </a:prstGeom>
          <a:noFill/>
        </p:spPr>
        <p:txBody>
          <a:bodyPr wrap="square">
            <a:spAutoFit/>
          </a:bodyPr>
          <a:lstStyle/>
          <a:p>
            <a:pPr algn="l"/>
            <a:r>
              <a:rPr sz="1200" b="0" i="0">
                <a:solidFill>
                  <a:srgbClr val="FFFFFF"/>
                </a:solidFill>
                <a:latin typeface="Calibri"/>
              </a:rPr>
              <a:t>Server returns Task object</a:t>
            </a:r>
          </a:p>
        </p:txBody>
      </p:sp>
      <p:sp>
        <p:nvSpPr>
          <p:cNvPr id="44" name="TextBox 43"/>
          <p:cNvSpPr txBox="1"/>
          <p:nvPr/>
        </p:nvSpPr>
        <p:spPr>
          <a:xfrm>
            <a:off x="6254496" y="3127248"/>
            <a:ext cx="2514600" cy="301752"/>
          </a:xfrm>
          <a:prstGeom prst="rect">
            <a:avLst/>
          </a:prstGeom>
          <a:noFill/>
        </p:spPr>
        <p:txBody>
          <a:bodyPr wrap="square">
            <a:spAutoFit/>
          </a:bodyPr>
          <a:lstStyle/>
          <a:p>
            <a:pPr algn="l"/>
            <a:r>
              <a:rPr sz="1200" b="0" i="0">
                <a:solidFill>
                  <a:srgbClr val="FFFFFF"/>
                </a:solidFill>
                <a:latin typeface="Calibri"/>
              </a:rPr>
              <a:t>with current state</a:t>
            </a:r>
          </a:p>
        </p:txBody>
      </p:sp>
      <p:sp>
        <p:nvSpPr>
          <p:cNvPr id="45" name="TextBox 44"/>
          <p:cNvSpPr txBox="1"/>
          <p:nvPr/>
        </p:nvSpPr>
        <p:spPr>
          <a:xfrm>
            <a:off x="6254496" y="3429000"/>
            <a:ext cx="2514600" cy="301752"/>
          </a:xfrm>
          <a:prstGeom prst="rect">
            <a:avLst/>
          </a:prstGeom>
          <a:noFill/>
        </p:spPr>
        <p:txBody>
          <a:bodyPr wrap="square">
            <a:spAutoFit/>
          </a:bodyPr>
          <a:lstStyle/>
          <a:p>
            <a:pPr algn="l"/>
            <a:r>
              <a:rPr sz="1200" b="0" i="0">
                <a:solidFill>
                  <a:srgbClr val="FFFFFF"/>
                </a:solidFill>
                <a:latin typeface="Calibri"/>
              </a:rPr>
              <a:t>(working, completed, etc.)</a:t>
            </a:r>
          </a:p>
        </p:txBody>
      </p:sp>
      <p:sp>
        <p:nvSpPr>
          <p:cNvPr id="46" name="Rectangle 45"/>
          <p:cNvSpPr/>
          <p:nvPr/>
        </p:nvSpPr>
        <p:spPr>
          <a:xfrm>
            <a:off x="6208776" y="5440680"/>
            <a:ext cx="2606040" cy="10058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81928" y="5486400"/>
            <a:ext cx="2468880" cy="256032"/>
          </a:xfrm>
          <a:prstGeom prst="rect">
            <a:avLst/>
          </a:prstGeom>
          <a:noFill/>
        </p:spPr>
        <p:txBody>
          <a:bodyPr wrap="square">
            <a:spAutoFit/>
          </a:bodyPr>
          <a:lstStyle/>
          <a:p>
            <a:pPr algn="l"/>
            <a:r>
              <a:rPr sz="950" b="0" i="0">
                <a:solidFill>
                  <a:srgbClr val="D4D4D4"/>
                </a:solidFill>
                <a:latin typeface="Courier New"/>
              </a:rPr>
              <a:t>POST /a2a</a:t>
            </a:r>
          </a:p>
        </p:txBody>
      </p:sp>
      <p:sp>
        <p:nvSpPr>
          <p:cNvPr id="48" name="TextBox 47"/>
          <p:cNvSpPr txBox="1"/>
          <p:nvPr/>
        </p:nvSpPr>
        <p:spPr>
          <a:xfrm>
            <a:off x="6281928" y="5733288"/>
            <a:ext cx="2468880" cy="256032"/>
          </a:xfrm>
          <a:prstGeom prst="rect">
            <a:avLst/>
          </a:prstGeom>
          <a:noFill/>
        </p:spPr>
        <p:txBody>
          <a:bodyPr wrap="square">
            <a:spAutoFit/>
          </a:bodyPr>
          <a:lstStyle/>
          <a:p>
            <a:pPr algn="l"/>
            <a:r>
              <a:rPr sz="950" b="0" i="0">
                <a:solidFill>
                  <a:srgbClr val="D4D4D4"/>
                </a:solidFill>
                <a:latin typeface="Courier New"/>
              </a:rPr>
              <a:t>{"method":"tasks/send"}</a:t>
            </a:r>
          </a:p>
        </p:txBody>
      </p:sp>
      <p:sp>
        <p:nvSpPr>
          <p:cNvPr id="49" name="TextBox 48"/>
          <p:cNvSpPr txBox="1"/>
          <p:nvPr/>
        </p:nvSpPr>
        <p:spPr>
          <a:xfrm>
            <a:off x="6281928" y="5980176"/>
            <a:ext cx="2468880" cy="256032"/>
          </a:xfrm>
          <a:prstGeom prst="rect">
            <a:avLst/>
          </a:prstGeom>
          <a:noFill/>
        </p:spPr>
        <p:txBody>
          <a:bodyPr wrap="square">
            <a:spAutoFit/>
          </a:bodyPr>
          <a:lstStyle/>
          <a:p>
            <a:pPr algn="l"/>
            <a:r>
              <a:rPr sz="950" b="0" i="0">
                <a:solidFill>
                  <a:srgbClr val="D4D4D4"/>
                </a:solidFill>
                <a:latin typeface="Courier New"/>
              </a:rPr>
              <a:t>→ Returns: Task</a:t>
            </a:r>
          </a:p>
        </p:txBody>
      </p:sp>
      <p:sp>
        <p:nvSpPr>
          <p:cNvPr id="50" name="Rectangle 49"/>
          <p:cNvSpPr/>
          <p:nvPr/>
        </p:nvSpPr>
        <p:spPr>
          <a:xfrm>
            <a:off x="9015984" y="1143000"/>
            <a:ext cx="2788920" cy="539496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125712" y="1252728"/>
            <a:ext cx="411480" cy="41148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25712" y="1252728"/>
            <a:ext cx="411480" cy="411480"/>
          </a:xfrm>
          <a:prstGeom prst="rect">
            <a:avLst/>
          </a:prstGeom>
          <a:noFill/>
        </p:spPr>
        <p:txBody>
          <a:bodyPr wrap="square">
            <a:spAutoFit/>
          </a:bodyPr>
          <a:lstStyle/>
          <a:p>
            <a:pPr algn="ctr"/>
            <a:r>
              <a:rPr sz="1800" b="1" i="0">
                <a:solidFill>
                  <a:srgbClr val="003087"/>
                </a:solidFill>
                <a:latin typeface="Calibri"/>
              </a:rPr>
              <a:t>4</a:t>
            </a:r>
          </a:p>
        </p:txBody>
      </p:sp>
      <p:sp>
        <p:nvSpPr>
          <p:cNvPr id="53" name="TextBox 52"/>
          <p:cNvSpPr txBox="1"/>
          <p:nvPr/>
        </p:nvSpPr>
        <p:spPr>
          <a:xfrm>
            <a:off x="9610344" y="1280160"/>
            <a:ext cx="2057400" cy="475488"/>
          </a:xfrm>
          <a:prstGeom prst="rect">
            <a:avLst/>
          </a:prstGeom>
          <a:noFill/>
        </p:spPr>
        <p:txBody>
          <a:bodyPr wrap="square">
            <a:spAutoFit/>
          </a:bodyPr>
          <a:lstStyle/>
          <a:p>
            <a:pPr algn="l"/>
            <a:r>
              <a:rPr sz="1500" b="1" i="0">
                <a:solidFill>
                  <a:srgbClr val="FFB300"/>
                </a:solidFill>
                <a:latin typeface="Calibri"/>
              </a:rPr>
              <a:t>sendMessage
Stream API</a:t>
            </a:r>
          </a:p>
        </p:txBody>
      </p:sp>
      <p:sp>
        <p:nvSpPr>
          <p:cNvPr id="54" name="Rectangle 53"/>
          <p:cNvSpPr/>
          <p:nvPr/>
        </p:nvSpPr>
        <p:spPr>
          <a:xfrm>
            <a:off x="9015984" y="1828800"/>
            <a:ext cx="2788920"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153144" y="1920240"/>
            <a:ext cx="2514600" cy="301752"/>
          </a:xfrm>
          <a:prstGeom prst="rect">
            <a:avLst/>
          </a:prstGeom>
          <a:noFill/>
        </p:spPr>
        <p:txBody>
          <a:bodyPr wrap="square">
            <a:spAutoFit/>
          </a:bodyPr>
          <a:lstStyle/>
          <a:p>
            <a:pPr algn="l"/>
            <a:r>
              <a:rPr sz="1200" b="0" i="0">
                <a:solidFill>
                  <a:srgbClr val="FFFFFF"/>
                </a:solidFill>
                <a:latin typeface="Calibri"/>
              </a:rPr>
              <a:t>Client opens streaming</a:t>
            </a:r>
          </a:p>
        </p:txBody>
      </p:sp>
      <p:sp>
        <p:nvSpPr>
          <p:cNvPr id="56" name="TextBox 55"/>
          <p:cNvSpPr txBox="1"/>
          <p:nvPr/>
        </p:nvSpPr>
        <p:spPr>
          <a:xfrm>
            <a:off x="9153144" y="2221992"/>
            <a:ext cx="2514600" cy="301752"/>
          </a:xfrm>
          <a:prstGeom prst="rect">
            <a:avLst/>
          </a:prstGeom>
          <a:noFill/>
        </p:spPr>
        <p:txBody>
          <a:bodyPr wrap="square">
            <a:spAutoFit/>
          </a:bodyPr>
          <a:lstStyle/>
          <a:p>
            <a:pPr algn="l"/>
            <a:r>
              <a:rPr sz="1200" b="0" i="0">
                <a:solidFill>
                  <a:srgbClr val="FFFFFF"/>
                </a:solidFill>
                <a:latin typeface="Calibri"/>
              </a:rPr>
              <a:t>connection for real-time</a:t>
            </a:r>
          </a:p>
        </p:txBody>
      </p:sp>
      <p:sp>
        <p:nvSpPr>
          <p:cNvPr id="57" name="TextBox 56"/>
          <p:cNvSpPr txBox="1"/>
          <p:nvPr/>
        </p:nvSpPr>
        <p:spPr>
          <a:xfrm>
            <a:off x="9153144" y="2523744"/>
            <a:ext cx="2514600" cy="301752"/>
          </a:xfrm>
          <a:prstGeom prst="rect">
            <a:avLst/>
          </a:prstGeom>
          <a:noFill/>
        </p:spPr>
        <p:txBody>
          <a:bodyPr wrap="square">
            <a:spAutoFit/>
          </a:bodyPr>
          <a:lstStyle/>
          <a:p>
            <a:pPr algn="l"/>
            <a:r>
              <a:rPr sz="1200" b="0" i="0">
                <a:solidFill>
                  <a:srgbClr val="FFFFFF"/>
                </a:solidFill>
                <a:latin typeface="Calibri"/>
              </a:rPr>
              <a:t>updates via SSE</a:t>
            </a:r>
          </a:p>
        </p:txBody>
      </p:sp>
      <p:sp>
        <p:nvSpPr>
          <p:cNvPr id="58" name="TextBox 57"/>
          <p:cNvSpPr txBox="1"/>
          <p:nvPr/>
        </p:nvSpPr>
        <p:spPr>
          <a:xfrm>
            <a:off x="9153144" y="2825496"/>
            <a:ext cx="2514600" cy="301752"/>
          </a:xfrm>
          <a:prstGeom prst="rect">
            <a:avLst/>
          </a:prstGeom>
          <a:noFill/>
        </p:spPr>
        <p:txBody>
          <a:bodyPr wrap="square">
            <a:spAutoFit/>
          </a:bodyPr>
          <a:lstStyle/>
          <a:p>
            <a:pPr algn="l"/>
            <a:r>
              <a:rPr sz="1200" b="0" i="0">
                <a:solidFill>
                  <a:srgbClr val="FFFFFF"/>
                </a:solidFill>
                <a:latin typeface="Calibri"/>
              </a:rPr>
              <a:t/>
            </a:r>
          </a:p>
        </p:txBody>
      </p:sp>
      <p:sp>
        <p:nvSpPr>
          <p:cNvPr id="59" name="TextBox 58"/>
          <p:cNvSpPr txBox="1"/>
          <p:nvPr/>
        </p:nvSpPr>
        <p:spPr>
          <a:xfrm>
            <a:off x="9153144" y="3127248"/>
            <a:ext cx="2514600" cy="301752"/>
          </a:xfrm>
          <a:prstGeom prst="rect">
            <a:avLst/>
          </a:prstGeom>
          <a:noFill/>
        </p:spPr>
        <p:txBody>
          <a:bodyPr wrap="square">
            <a:spAutoFit/>
          </a:bodyPr>
          <a:lstStyle/>
          <a:p>
            <a:pPr algn="l"/>
            <a:r>
              <a:rPr sz="1200" b="0" i="0">
                <a:solidFill>
                  <a:srgbClr val="FFFFFF"/>
                </a:solidFill>
                <a:latin typeface="Calibri"/>
              </a:rPr>
              <a:t>Server pushes TaskUpdate</a:t>
            </a:r>
          </a:p>
        </p:txBody>
      </p:sp>
      <p:sp>
        <p:nvSpPr>
          <p:cNvPr id="60" name="TextBox 59"/>
          <p:cNvSpPr txBox="1"/>
          <p:nvPr/>
        </p:nvSpPr>
        <p:spPr>
          <a:xfrm>
            <a:off x="9153144" y="3429000"/>
            <a:ext cx="2514600" cy="301752"/>
          </a:xfrm>
          <a:prstGeom prst="rect">
            <a:avLst/>
          </a:prstGeom>
          <a:noFill/>
        </p:spPr>
        <p:txBody>
          <a:bodyPr wrap="square">
            <a:spAutoFit/>
          </a:bodyPr>
          <a:lstStyle/>
          <a:p>
            <a:pPr algn="l"/>
            <a:r>
              <a:rPr sz="1200" b="0" i="0">
                <a:solidFill>
                  <a:srgbClr val="FFFFFF"/>
                </a:solidFill>
                <a:latin typeface="Calibri"/>
              </a:rPr>
              <a:t>events until completion</a:t>
            </a:r>
          </a:p>
        </p:txBody>
      </p:sp>
      <p:sp>
        <p:nvSpPr>
          <p:cNvPr id="61" name="Rectangle 60"/>
          <p:cNvSpPr/>
          <p:nvPr/>
        </p:nvSpPr>
        <p:spPr>
          <a:xfrm>
            <a:off x="9107424" y="5440680"/>
            <a:ext cx="2606040" cy="100584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80576" y="5486400"/>
            <a:ext cx="2468880" cy="256032"/>
          </a:xfrm>
          <a:prstGeom prst="rect">
            <a:avLst/>
          </a:prstGeom>
          <a:noFill/>
        </p:spPr>
        <p:txBody>
          <a:bodyPr wrap="square">
            <a:spAutoFit/>
          </a:bodyPr>
          <a:lstStyle/>
          <a:p>
            <a:pPr algn="l"/>
            <a:r>
              <a:rPr sz="950" b="0" i="0">
                <a:solidFill>
                  <a:srgbClr val="D4D4D4"/>
                </a:solidFill>
                <a:latin typeface="Courier New"/>
              </a:rPr>
              <a:t>POST /a2a</a:t>
            </a:r>
          </a:p>
        </p:txBody>
      </p:sp>
      <p:sp>
        <p:nvSpPr>
          <p:cNvPr id="63" name="TextBox 62"/>
          <p:cNvSpPr txBox="1"/>
          <p:nvPr/>
        </p:nvSpPr>
        <p:spPr>
          <a:xfrm>
            <a:off x="9180576" y="5733288"/>
            <a:ext cx="2468880" cy="256032"/>
          </a:xfrm>
          <a:prstGeom prst="rect">
            <a:avLst/>
          </a:prstGeom>
          <a:noFill/>
        </p:spPr>
        <p:txBody>
          <a:bodyPr wrap="square">
            <a:spAutoFit/>
          </a:bodyPr>
          <a:lstStyle/>
          <a:p>
            <a:pPr algn="l"/>
            <a:r>
              <a:rPr sz="950" b="0" i="0">
                <a:solidFill>
                  <a:srgbClr val="D4D4D4"/>
                </a:solidFill>
                <a:latin typeface="Courier New"/>
              </a:rPr>
              <a:t>{"method":"tasks/sendSubscribe"}</a:t>
            </a:r>
          </a:p>
        </p:txBody>
      </p:sp>
      <p:sp>
        <p:nvSpPr>
          <p:cNvPr id="64" name="TextBox 63"/>
          <p:cNvSpPr txBox="1"/>
          <p:nvPr/>
        </p:nvSpPr>
        <p:spPr>
          <a:xfrm>
            <a:off x="9180576" y="5980176"/>
            <a:ext cx="2468880" cy="256032"/>
          </a:xfrm>
          <a:prstGeom prst="rect">
            <a:avLst/>
          </a:prstGeom>
          <a:noFill/>
        </p:spPr>
        <p:txBody>
          <a:bodyPr wrap="square">
            <a:spAutoFit/>
          </a:bodyPr>
          <a:lstStyle/>
          <a:p>
            <a:pPr algn="l"/>
            <a:r>
              <a:rPr sz="950" b="0" i="0">
                <a:solidFill>
                  <a:srgbClr val="D4D4D4"/>
                </a:solidFill>
                <a:latin typeface="Courier New"/>
              </a:rPr>
              <a:t>→ SSE stream of events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SDK &amp; Framework Support</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Official SDKs and compatible agent frameworks</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097280"/>
            <a:ext cx="11521440" cy="38404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161288"/>
            <a:ext cx="10972800" cy="256032"/>
          </a:xfrm>
          <a:prstGeom prst="rect">
            <a:avLst/>
          </a:prstGeom>
          <a:noFill/>
        </p:spPr>
        <p:txBody>
          <a:bodyPr wrap="square">
            <a:spAutoFit/>
          </a:bodyPr>
          <a:lstStyle/>
          <a:p>
            <a:pPr algn="l"/>
            <a:r>
              <a:rPr sz="1300" b="1" i="0">
                <a:solidFill>
                  <a:srgbClr val="FFFFFF"/>
                </a:solidFill>
                <a:latin typeface="Calibri"/>
              </a:rPr>
              <a:t>Official SDKs  (open source — github.com/google-a2a)</a:t>
            </a:r>
          </a:p>
        </p:txBody>
      </p:sp>
      <p:sp>
        <p:nvSpPr>
          <p:cNvPr id="9" name="Rectangle 8"/>
          <p:cNvSpPr/>
          <p:nvPr/>
        </p:nvSpPr>
        <p:spPr>
          <a:xfrm>
            <a:off x="320040" y="1508760"/>
            <a:ext cx="2212848" cy="109728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1618488"/>
            <a:ext cx="1993392" cy="384048"/>
          </a:xfrm>
          <a:prstGeom prst="rect">
            <a:avLst/>
          </a:prstGeom>
          <a:noFill/>
        </p:spPr>
        <p:txBody>
          <a:bodyPr wrap="square">
            <a:spAutoFit/>
          </a:bodyPr>
          <a:lstStyle/>
          <a:p>
            <a:pPr algn="ctr"/>
            <a:r>
              <a:rPr sz="1600" b="1" i="0">
                <a:solidFill>
                  <a:srgbClr val="FFFFFF"/>
                </a:solidFill>
                <a:latin typeface="Calibri"/>
              </a:rPr>
              <a:t>Python</a:t>
            </a:r>
          </a:p>
        </p:txBody>
      </p:sp>
      <p:sp>
        <p:nvSpPr>
          <p:cNvPr id="11" name="TextBox 10"/>
          <p:cNvSpPr txBox="1"/>
          <p:nvPr/>
        </p:nvSpPr>
        <p:spPr>
          <a:xfrm>
            <a:off x="393192" y="2039112"/>
            <a:ext cx="2066544" cy="457200"/>
          </a:xfrm>
          <a:prstGeom prst="rect">
            <a:avLst/>
          </a:prstGeom>
          <a:noFill/>
        </p:spPr>
        <p:txBody>
          <a:bodyPr wrap="square">
            <a:spAutoFit/>
          </a:bodyPr>
          <a:lstStyle/>
          <a:p>
            <a:pPr algn="ctr"/>
            <a:r>
              <a:rPr sz="850" b="0" i="0">
                <a:solidFill>
                  <a:srgbClr val="D4D4D4"/>
                </a:solidFill>
                <a:latin typeface="Courier New"/>
              </a:rPr>
              <a:t>github.com/google-a2a/a2a-python</a:t>
            </a:r>
          </a:p>
        </p:txBody>
      </p:sp>
      <p:sp>
        <p:nvSpPr>
          <p:cNvPr id="12" name="Rectangle 11"/>
          <p:cNvSpPr/>
          <p:nvPr/>
        </p:nvSpPr>
        <p:spPr>
          <a:xfrm>
            <a:off x="2606040" y="1508760"/>
            <a:ext cx="2212848" cy="109728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15768" y="1618488"/>
            <a:ext cx="1993392" cy="384048"/>
          </a:xfrm>
          <a:prstGeom prst="rect">
            <a:avLst/>
          </a:prstGeom>
          <a:noFill/>
        </p:spPr>
        <p:txBody>
          <a:bodyPr wrap="square">
            <a:spAutoFit/>
          </a:bodyPr>
          <a:lstStyle/>
          <a:p>
            <a:pPr algn="ctr"/>
            <a:r>
              <a:rPr sz="1600" b="1" i="0">
                <a:solidFill>
                  <a:srgbClr val="FFFFFF"/>
                </a:solidFill>
                <a:latin typeface="Calibri"/>
              </a:rPr>
              <a:t>JavaScript</a:t>
            </a:r>
          </a:p>
        </p:txBody>
      </p:sp>
      <p:sp>
        <p:nvSpPr>
          <p:cNvPr id="14" name="TextBox 13"/>
          <p:cNvSpPr txBox="1"/>
          <p:nvPr/>
        </p:nvSpPr>
        <p:spPr>
          <a:xfrm>
            <a:off x="2679192" y="2039112"/>
            <a:ext cx="2066544" cy="457200"/>
          </a:xfrm>
          <a:prstGeom prst="rect">
            <a:avLst/>
          </a:prstGeom>
          <a:noFill/>
        </p:spPr>
        <p:txBody>
          <a:bodyPr wrap="square">
            <a:spAutoFit/>
          </a:bodyPr>
          <a:lstStyle/>
          <a:p>
            <a:pPr algn="ctr"/>
            <a:r>
              <a:rPr sz="850" b="0" i="0">
                <a:solidFill>
                  <a:srgbClr val="D4D4D4"/>
                </a:solidFill>
                <a:latin typeface="Courier New"/>
              </a:rPr>
              <a:t>github.com/google-a2a/a2a-js</a:t>
            </a:r>
          </a:p>
        </p:txBody>
      </p:sp>
      <p:sp>
        <p:nvSpPr>
          <p:cNvPr id="15" name="Rectangle 14"/>
          <p:cNvSpPr/>
          <p:nvPr/>
        </p:nvSpPr>
        <p:spPr>
          <a:xfrm>
            <a:off x="4892040" y="1508760"/>
            <a:ext cx="2212848" cy="109728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1768" y="1618488"/>
            <a:ext cx="1993392" cy="384048"/>
          </a:xfrm>
          <a:prstGeom prst="rect">
            <a:avLst/>
          </a:prstGeom>
          <a:noFill/>
        </p:spPr>
        <p:txBody>
          <a:bodyPr wrap="square">
            <a:spAutoFit/>
          </a:bodyPr>
          <a:lstStyle/>
          <a:p>
            <a:pPr algn="ctr"/>
            <a:r>
              <a:rPr sz="1600" b="1" i="0">
                <a:solidFill>
                  <a:srgbClr val="FFFFFF"/>
                </a:solidFill>
                <a:latin typeface="Calibri"/>
              </a:rPr>
              <a:t>Java</a:t>
            </a:r>
          </a:p>
        </p:txBody>
      </p:sp>
      <p:sp>
        <p:nvSpPr>
          <p:cNvPr id="17" name="TextBox 16"/>
          <p:cNvSpPr txBox="1"/>
          <p:nvPr/>
        </p:nvSpPr>
        <p:spPr>
          <a:xfrm>
            <a:off x="4965192" y="2039112"/>
            <a:ext cx="2066544" cy="457200"/>
          </a:xfrm>
          <a:prstGeom prst="rect">
            <a:avLst/>
          </a:prstGeom>
          <a:noFill/>
        </p:spPr>
        <p:txBody>
          <a:bodyPr wrap="square">
            <a:spAutoFit/>
          </a:bodyPr>
          <a:lstStyle/>
          <a:p>
            <a:pPr algn="ctr"/>
            <a:r>
              <a:rPr sz="850" b="0" i="0">
                <a:solidFill>
                  <a:srgbClr val="D4D4D4"/>
                </a:solidFill>
                <a:latin typeface="Courier New"/>
              </a:rPr>
              <a:t>github.com/google-a2a/a2a-java</a:t>
            </a:r>
          </a:p>
        </p:txBody>
      </p:sp>
      <p:sp>
        <p:nvSpPr>
          <p:cNvPr id="18" name="Rectangle 17"/>
          <p:cNvSpPr/>
          <p:nvPr/>
        </p:nvSpPr>
        <p:spPr>
          <a:xfrm>
            <a:off x="7178040" y="1508760"/>
            <a:ext cx="2212848" cy="1097280"/>
          </a:xfrm>
          <a:prstGeom prst="rect">
            <a:avLst/>
          </a:prstGeom>
          <a:solidFill>
            <a:srgbClr val="512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87768" y="1618488"/>
            <a:ext cx="1993392" cy="384048"/>
          </a:xfrm>
          <a:prstGeom prst="rect">
            <a:avLst/>
          </a:prstGeom>
          <a:noFill/>
        </p:spPr>
        <p:txBody>
          <a:bodyPr wrap="square">
            <a:spAutoFit/>
          </a:bodyPr>
          <a:lstStyle/>
          <a:p>
            <a:pPr algn="ctr"/>
            <a:r>
              <a:rPr sz="1600" b="1" i="0">
                <a:solidFill>
                  <a:srgbClr val="FFFFFF"/>
                </a:solidFill>
                <a:latin typeface="Calibri"/>
              </a:rPr>
              <a:t>C# / .NET</a:t>
            </a:r>
          </a:p>
        </p:txBody>
      </p:sp>
      <p:sp>
        <p:nvSpPr>
          <p:cNvPr id="20" name="TextBox 19"/>
          <p:cNvSpPr txBox="1"/>
          <p:nvPr/>
        </p:nvSpPr>
        <p:spPr>
          <a:xfrm>
            <a:off x="7251192" y="2039112"/>
            <a:ext cx="2066544" cy="457200"/>
          </a:xfrm>
          <a:prstGeom prst="rect">
            <a:avLst/>
          </a:prstGeom>
          <a:noFill/>
        </p:spPr>
        <p:txBody>
          <a:bodyPr wrap="square">
            <a:spAutoFit/>
          </a:bodyPr>
          <a:lstStyle/>
          <a:p>
            <a:pPr algn="ctr"/>
            <a:r>
              <a:rPr sz="850" b="0" i="0">
                <a:solidFill>
                  <a:srgbClr val="D4D4D4"/>
                </a:solidFill>
                <a:latin typeface="Courier New"/>
              </a:rPr>
              <a:t>github.com/google-a2a/a2a-dotnet</a:t>
            </a:r>
          </a:p>
        </p:txBody>
      </p:sp>
      <p:sp>
        <p:nvSpPr>
          <p:cNvPr id="21" name="Rectangle 20"/>
          <p:cNvSpPr/>
          <p:nvPr/>
        </p:nvSpPr>
        <p:spPr>
          <a:xfrm>
            <a:off x="9464040" y="1508760"/>
            <a:ext cx="2212848" cy="109728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73768" y="1618488"/>
            <a:ext cx="1993392" cy="384048"/>
          </a:xfrm>
          <a:prstGeom prst="rect">
            <a:avLst/>
          </a:prstGeom>
          <a:noFill/>
        </p:spPr>
        <p:txBody>
          <a:bodyPr wrap="square">
            <a:spAutoFit/>
          </a:bodyPr>
          <a:lstStyle/>
          <a:p>
            <a:pPr algn="ctr"/>
            <a:r>
              <a:rPr sz="1600" b="1" i="0">
                <a:solidFill>
                  <a:srgbClr val="FFFFFF"/>
                </a:solidFill>
                <a:latin typeface="Calibri"/>
              </a:rPr>
              <a:t>Golang</a:t>
            </a:r>
          </a:p>
        </p:txBody>
      </p:sp>
      <p:sp>
        <p:nvSpPr>
          <p:cNvPr id="23" name="TextBox 22"/>
          <p:cNvSpPr txBox="1"/>
          <p:nvPr/>
        </p:nvSpPr>
        <p:spPr>
          <a:xfrm>
            <a:off x="9537192" y="2039112"/>
            <a:ext cx="2066544" cy="457200"/>
          </a:xfrm>
          <a:prstGeom prst="rect">
            <a:avLst/>
          </a:prstGeom>
          <a:noFill/>
        </p:spPr>
        <p:txBody>
          <a:bodyPr wrap="square">
            <a:spAutoFit/>
          </a:bodyPr>
          <a:lstStyle/>
          <a:p>
            <a:pPr algn="ctr"/>
            <a:r>
              <a:rPr sz="850" b="0" i="0">
                <a:solidFill>
                  <a:srgbClr val="D4D4D4"/>
                </a:solidFill>
                <a:latin typeface="Courier New"/>
              </a:rPr>
              <a:t>github.com/google-a2a/a2a-go</a:t>
            </a:r>
          </a:p>
        </p:txBody>
      </p:sp>
      <p:sp>
        <p:nvSpPr>
          <p:cNvPr id="24" name="Rectangle 23"/>
          <p:cNvSpPr/>
          <p:nvPr/>
        </p:nvSpPr>
        <p:spPr>
          <a:xfrm>
            <a:off x="320040" y="2697480"/>
            <a:ext cx="11521440" cy="384048"/>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2761488"/>
            <a:ext cx="10972800" cy="256032"/>
          </a:xfrm>
          <a:prstGeom prst="rect">
            <a:avLst/>
          </a:prstGeom>
          <a:noFill/>
        </p:spPr>
        <p:txBody>
          <a:bodyPr wrap="square">
            <a:spAutoFit/>
          </a:bodyPr>
          <a:lstStyle/>
          <a:p>
            <a:pPr algn="l"/>
            <a:r>
              <a:rPr sz="1300" b="1" i="0">
                <a:solidFill>
                  <a:srgbClr val="FFFFFF"/>
                </a:solidFill>
                <a:latin typeface="Calibri"/>
              </a:rPr>
              <a:t>Compatible Agent Frameworks</a:t>
            </a:r>
          </a:p>
        </p:txBody>
      </p:sp>
      <p:sp>
        <p:nvSpPr>
          <p:cNvPr id="26" name="Rectangle 25"/>
          <p:cNvSpPr/>
          <p:nvPr/>
        </p:nvSpPr>
        <p:spPr>
          <a:xfrm>
            <a:off x="320040" y="3108960"/>
            <a:ext cx="1874519" cy="33832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3200400"/>
            <a:ext cx="1691639" cy="502920"/>
          </a:xfrm>
          <a:prstGeom prst="rect">
            <a:avLst/>
          </a:prstGeom>
          <a:noFill/>
        </p:spPr>
        <p:txBody>
          <a:bodyPr wrap="square">
            <a:spAutoFit/>
          </a:bodyPr>
          <a:lstStyle/>
          <a:p>
            <a:pPr algn="ctr"/>
            <a:r>
              <a:rPr sz="1400" b="1" i="0">
                <a:solidFill>
                  <a:srgbClr val="FFFFFF"/>
                </a:solidFill>
                <a:latin typeface="Calibri"/>
              </a:rPr>
              <a:t>Google ADK</a:t>
            </a:r>
          </a:p>
        </p:txBody>
      </p:sp>
      <p:sp>
        <p:nvSpPr>
          <p:cNvPr id="28" name="TextBox 27"/>
          <p:cNvSpPr txBox="1"/>
          <p:nvPr/>
        </p:nvSpPr>
        <p:spPr>
          <a:xfrm>
            <a:off x="411480" y="3767328"/>
            <a:ext cx="1691639" cy="274320"/>
          </a:xfrm>
          <a:prstGeom prst="rect">
            <a:avLst/>
          </a:prstGeom>
          <a:noFill/>
        </p:spPr>
        <p:txBody>
          <a:bodyPr wrap="square">
            <a:spAutoFit/>
          </a:bodyPr>
          <a:lstStyle/>
          <a:p>
            <a:pPr algn="ctr"/>
            <a:r>
              <a:rPr sz="1000" b="0" i="1">
                <a:solidFill>
                  <a:srgbClr val="B0C4DE"/>
                </a:solidFill>
                <a:latin typeface="Calibri"/>
              </a:rPr>
              <a:t>Agent Development Kit</a:t>
            </a:r>
          </a:p>
        </p:txBody>
      </p:sp>
      <p:sp>
        <p:nvSpPr>
          <p:cNvPr id="29" name="Rectangle 28"/>
          <p:cNvSpPr/>
          <p:nvPr/>
        </p:nvSpPr>
        <p:spPr>
          <a:xfrm>
            <a:off x="320040" y="4096512"/>
            <a:ext cx="187451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9768" y="4187952"/>
            <a:ext cx="1655063" cy="274320"/>
          </a:xfrm>
          <a:prstGeom prst="rect">
            <a:avLst/>
          </a:prstGeom>
          <a:noFill/>
        </p:spPr>
        <p:txBody>
          <a:bodyPr wrap="square">
            <a:spAutoFit/>
          </a:bodyPr>
          <a:lstStyle/>
          <a:p>
            <a:pPr algn="l"/>
            <a:r>
              <a:rPr sz="1050" b="0" i="0">
                <a:solidFill>
                  <a:srgbClr val="FFFFFF"/>
                </a:solidFill>
                <a:latin typeface="Calibri"/>
              </a:rPr>
              <a:t>• First-class A2A support</a:t>
            </a:r>
          </a:p>
        </p:txBody>
      </p:sp>
      <p:sp>
        <p:nvSpPr>
          <p:cNvPr id="31" name="TextBox 30"/>
          <p:cNvSpPr txBox="1"/>
          <p:nvPr/>
        </p:nvSpPr>
        <p:spPr>
          <a:xfrm>
            <a:off x="429768" y="4517136"/>
            <a:ext cx="1655063" cy="274320"/>
          </a:xfrm>
          <a:prstGeom prst="rect">
            <a:avLst/>
          </a:prstGeom>
          <a:noFill/>
        </p:spPr>
        <p:txBody>
          <a:bodyPr wrap="square">
            <a:spAutoFit/>
          </a:bodyPr>
          <a:lstStyle/>
          <a:p>
            <a:pPr algn="l"/>
            <a:r>
              <a:rPr sz="1050" b="0" i="0">
                <a:solidFill>
                  <a:srgbClr val="FFFFFF"/>
                </a:solidFill>
                <a:latin typeface="Calibri"/>
              </a:rPr>
              <a:t>• Built-in A2A server/client</a:t>
            </a:r>
          </a:p>
        </p:txBody>
      </p:sp>
      <p:sp>
        <p:nvSpPr>
          <p:cNvPr id="32" name="TextBox 31"/>
          <p:cNvSpPr txBox="1"/>
          <p:nvPr/>
        </p:nvSpPr>
        <p:spPr>
          <a:xfrm>
            <a:off x="429768" y="4846320"/>
            <a:ext cx="1655063" cy="274320"/>
          </a:xfrm>
          <a:prstGeom prst="rect">
            <a:avLst/>
          </a:prstGeom>
          <a:noFill/>
        </p:spPr>
        <p:txBody>
          <a:bodyPr wrap="square">
            <a:spAutoFit/>
          </a:bodyPr>
          <a:lstStyle/>
          <a:p>
            <a:pPr algn="l"/>
            <a:r>
              <a:rPr sz="1050" b="0" i="0">
                <a:solidFill>
                  <a:srgbClr val="FFFFFF"/>
                </a:solidFill>
                <a:latin typeface="Calibri"/>
              </a:rPr>
              <a:t>• Works with Gemini models</a:t>
            </a:r>
          </a:p>
        </p:txBody>
      </p:sp>
      <p:sp>
        <p:nvSpPr>
          <p:cNvPr id="33" name="Rectangle 32"/>
          <p:cNvSpPr/>
          <p:nvPr/>
        </p:nvSpPr>
        <p:spPr>
          <a:xfrm>
            <a:off x="2267711" y="3108960"/>
            <a:ext cx="1874519" cy="338328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359151" y="3200400"/>
            <a:ext cx="1691639" cy="502920"/>
          </a:xfrm>
          <a:prstGeom prst="rect">
            <a:avLst/>
          </a:prstGeom>
          <a:noFill/>
        </p:spPr>
        <p:txBody>
          <a:bodyPr wrap="square">
            <a:spAutoFit/>
          </a:bodyPr>
          <a:lstStyle/>
          <a:p>
            <a:pPr algn="ctr"/>
            <a:r>
              <a:rPr sz="1400" b="1" i="0">
                <a:solidFill>
                  <a:srgbClr val="FFFFFF"/>
                </a:solidFill>
                <a:latin typeface="Calibri"/>
              </a:rPr>
              <a:t>LangChain</a:t>
            </a:r>
          </a:p>
        </p:txBody>
      </p:sp>
      <p:sp>
        <p:nvSpPr>
          <p:cNvPr id="35" name="TextBox 34"/>
          <p:cNvSpPr txBox="1"/>
          <p:nvPr/>
        </p:nvSpPr>
        <p:spPr>
          <a:xfrm>
            <a:off x="2359151" y="3767328"/>
            <a:ext cx="1691639" cy="274320"/>
          </a:xfrm>
          <a:prstGeom prst="rect">
            <a:avLst/>
          </a:prstGeom>
          <a:noFill/>
        </p:spPr>
        <p:txBody>
          <a:bodyPr wrap="square">
            <a:spAutoFit/>
          </a:bodyPr>
          <a:lstStyle/>
          <a:p>
            <a:pPr algn="ctr"/>
            <a:r>
              <a:rPr sz="1000" b="0" i="1">
                <a:solidFill>
                  <a:srgbClr val="B0C4DE"/>
                </a:solidFill>
                <a:latin typeface="Calibri"/>
              </a:rPr>
              <a:t>Popular LLM framework</a:t>
            </a:r>
          </a:p>
        </p:txBody>
      </p:sp>
      <p:sp>
        <p:nvSpPr>
          <p:cNvPr id="36" name="Rectangle 35"/>
          <p:cNvSpPr/>
          <p:nvPr/>
        </p:nvSpPr>
        <p:spPr>
          <a:xfrm>
            <a:off x="2267711" y="4096512"/>
            <a:ext cx="187451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77439" y="4187952"/>
            <a:ext cx="1655063" cy="274320"/>
          </a:xfrm>
          <a:prstGeom prst="rect">
            <a:avLst/>
          </a:prstGeom>
          <a:noFill/>
        </p:spPr>
        <p:txBody>
          <a:bodyPr wrap="square">
            <a:spAutoFit/>
          </a:bodyPr>
          <a:lstStyle/>
          <a:p>
            <a:pPr algn="l"/>
            <a:r>
              <a:rPr sz="1050" b="0" i="0">
                <a:solidFill>
                  <a:srgbClr val="FFFFFF"/>
                </a:solidFill>
                <a:latin typeface="Calibri"/>
              </a:rPr>
              <a:t>• A2A agent integration</a:t>
            </a:r>
          </a:p>
        </p:txBody>
      </p:sp>
      <p:sp>
        <p:nvSpPr>
          <p:cNvPr id="38" name="TextBox 37"/>
          <p:cNvSpPr txBox="1"/>
          <p:nvPr/>
        </p:nvSpPr>
        <p:spPr>
          <a:xfrm>
            <a:off x="2377439" y="4517136"/>
            <a:ext cx="1655063" cy="274320"/>
          </a:xfrm>
          <a:prstGeom prst="rect">
            <a:avLst/>
          </a:prstGeom>
          <a:noFill/>
        </p:spPr>
        <p:txBody>
          <a:bodyPr wrap="square">
            <a:spAutoFit/>
          </a:bodyPr>
          <a:lstStyle/>
          <a:p>
            <a:pPr algn="l"/>
            <a:r>
              <a:rPr sz="1050" b="0" i="0">
                <a:solidFill>
                  <a:srgbClr val="FFFFFF"/>
                </a:solidFill>
                <a:latin typeface="Calibri"/>
              </a:rPr>
              <a:t>• Tool and chain support</a:t>
            </a:r>
          </a:p>
        </p:txBody>
      </p:sp>
      <p:sp>
        <p:nvSpPr>
          <p:cNvPr id="39" name="TextBox 38"/>
          <p:cNvSpPr txBox="1"/>
          <p:nvPr/>
        </p:nvSpPr>
        <p:spPr>
          <a:xfrm>
            <a:off x="2377439" y="4846320"/>
            <a:ext cx="1655063" cy="274320"/>
          </a:xfrm>
          <a:prstGeom prst="rect">
            <a:avLst/>
          </a:prstGeom>
          <a:noFill/>
        </p:spPr>
        <p:txBody>
          <a:bodyPr wrap="square">
            <a:spAutoFit/>
          </a:bodyPr>
          <a:lstStyle/>
          <a:p>
            <a:pPr algn="l"/>
            <a:r>
              <a:rPr sz="1050" b="0" i="0">
                <a:solidFill>
                  <a:srgbClr val="FFFFFF"/>
                </a:solidFill>
                <a:latin typeface="Calibri"/>
              </a:rPr>
              <a:t>• Python and TypeScript</a:t>
            </a:r>
          </a:p>
        </p:txBody>
      </p:sp>
      <p:sp>
        <p:nvSpPr>
          <p:cNvPr id="40" name="Rectangle 39"/>
          <p:cNvSpPr/>
          <p:nvPr/>
        </p:nvSpPr>
        <p:spPr>
          <a:xfrm>
            <a:off x="4215382" y="3108960"/>
            <a:ext cx="1874519" cy="338328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06822" y="3200400"/>
            <a:ext cx="1691639" cy="502920"/>
          </a:xfrm>
          <a:prstGeom prst="rect">
            <a:avLst/>
          </a:prstGeom>
          <a:noFill/>
        </p:spPr>
        <p:txBody>
          <a:bodyPr wrap="square">
            <a:spAutoFit/>
          </a:bodyPr>
          <a:lstStyle/>
          <a:p>
            <a:pPr algn="ctr"/>
            <a:r>
              <a:rPr sz="1400" b="1" i="0">
                <a:solidFill>
                  <a:srgbClr val="FFFFFF"/>
                </a:solidFill>
                <a:latin typeface="Calibri"/>
              </a:rPr>
              <a:t>CrewAI</a:t>
            </a:r>
          </a:p>
        </p:txBody>
      </p:sp>
      <p:sp>
        <p:nvSpPr>
          <p:cNvPr id="42" name="TextBox 41"/>
          <p:cNvSpPr txBox="1"/>
          <p:nvPr/>
        </p:nvSpPr>
        <p:spPr>
          <a:xfrm>
            <a:off x="4306822" y="3767328"/>
            <a:ext cx="1691639" cy="274320"/>
          </a:xfrm>
          <a:prstGeom prst="rect">
            <a:avLst/>
          </a:prstGeom>
          <a:noFill/>
        </p:spPr>
        <p:txBody>
          <a:bodyPr wrap="square">
            <a:spAutoFit/>
          </a:bodyPr>
          <a:lstStyle/>
          <a:p>
            <a:pPr algn="ctr"/>
            <a:r>
              <a:rPr sz="1000" b="0" i="1">
                <a:solidFill>
                  <a:srgbClr val="B0C4DE"/>
                </a:solidFill>
                <a:latin typeface="Calibri"/>
              </a:rPr>
              <a:t>Multi-agent orchestration</a:t>
            </a:r>
          </a:p>
        </p:txBody>
      </p:sp>
      <p:sp>
        <p:nvSpPr>
          <p:cNvPr id="43" name="Rectangle 42"/>
          <p:cNvSpPr/>
          <p:nvPr/>
        </p:nvSpPr>
        <p:spPr>
          <a:xfrm>
            <a:off x="4215382" y="4096512"/>
            <a:ext cx="187451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25110" y="4187952"/>
            <a:ext cx="1655063" cy="274320"/>
          </a:xfrm>
          <a:prstGeom prst="rect">
            <a:avLst/>
          </a:prstGeom>
          <a:noFill/>
        </p:spPr>
        <p:txBody>
          <a:bodyPr wrap="square">
            <a:spAutoFit/>
          </a:bodyPr>
          <a:lstStyle/>
          <a:p>
            <a:pPr algn="l"/>
            <a:r>
              <a:rPr sz="1050" b="0" i="0">
                <a:solidFill>
                  <a:srgbClr val="FFFFFF"/>
                </a:solidFill>
                <a:latin typeface="Calibri"/>
              </a:rPr>
              <a:t>• Role-based agents</a:t>
            </a:r>
          </a:p>
        </p:txBody>
      </p:sp>
      <p:sp>
        <p:nvSpPr>
          <p:cNvPr id="45" name="TextBox 44"/>
          <p:cNvSpPr txBox="1"/>
          <p:nvPr/>
        </p:nvSpPr>
        <p:spPr>
          <a:xfrm>
            <a:off x="4325110" y="4517136"/>
            <a:ext cx="1655063" cy="274320"/>
          </a:xfrm>
          <a:prstGeom prst="rect">
            <a:avLst/>
          </a:prstGeom>
          <a:noFill/>
        </p:spPr>
        <p:txBody>
          <a:bodyPr wrap="square">
            <a:spAutoFit/>
          </a:bodyPr>
          <a:lstStyle/>
          <a:p>
            <a:pPr algn="l"/>
            <a:r>
              <a:rPr sz="1050" b="0" i="0">
                <a:solidFill>
                  <a:srgbClr val="FFFFFF"/>
                </a:solidFill>
                <a:latin typeface="Calibri"/>
              </a:rPr>
              <a:t>• Crew collaboration</a:t>
            </a:r>
          </a:p>
        </p:txBody>
      </p:sp>
      <p:sp>
        <p:nvSpPr>
          <p:cNvPr id="46" name="TextBox 45"/>
          <p:cNvSpPr txBox="1"/>
          <p:nvPr/>
        </p:nvSpPr>
        <p:spPr>
          <a:xfrm>
            <a:off x="4325110" y="4846320"/>
            <a:ext cx="1655063" cy="274320"/>
          </a:xfrm>
          <a:prstGeom prst="rect">
            <a:avLst/>
          </a:prstGeom>
          <a:noFill/>
        </p:spPr>
        <p:txBody>
          <a:bodyPr wrap="square">
            <a:spAutoFit/>
          </a:bodyPr>
          <a:lstStyle/>
          <a:p>
            <a:pPr algn="l"/>
            <a:r>
              <a:rPr sz="1050" b="0" i="0">
                <a:solidFill>
                  <a:srgbClr val="FFFFFF"/>
                </a:solidFill>
                <a:latin typeface="Calibri"/>
              </a:rPr>
              <a:t>• Task management</a:t>
            </a:r>
          </a:p>
        </p:txBody>
      </p:sp>
      <p:sp>
        <p:nvSpPr>
          <p:cNvPr id="47" name="Rectangle 46"/>
          <p:cNvSpPr/>
          <p:nvPr/>
        </p:nvSpPr>
        <p:spPr>
          <a:xfrm>
            <a:off x="6163053" y="3108960"/>
            <a:ext cx="1874519" cy="3383280"/>
          </a:xfrm>
          <a:prstGeom prst="rect">
            <a:avLst/>
          </a:prstGeom>
          <a:solidFill>
            <a:srgbClr val="512B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54493" y="3200400"/>
            <a:ext cx="1691639" cy="502920"/>
          </a:xfrm>
          <a:prstGeom prst="rect">
            <a:avLst/>
          </a:prstGeom>
          <a:noFill/>
        </p:spPr>
        <p:txBody>
          <a:bodyPr wrap="square">
            <a:spAutoFit/>
          </a:bodyPr>
          <a:lstStyle/>
          <a:p>
            <a:pPr algn="ctr"/>
            <a:r>
              <a:rPr sz="1400" b="1" i="0">
                <a:solidFill>
                  <a:srgbClr val="FFFFFF"/>
                </a:solidFill>
                <a:latin typeface="Calibri"/>
              </a:rPr>
              <a:t>Semantic
Kernel</a:t>
            </a:r>
          </a:p>
        </p:txBody>
      </p:sp>
      <p:sp>
        <p:nvSpPr>
          <p:cNvPr id="49" name="TextBox 48"/>
          <p:cNvSpPr txBox="1"/>
          <p:nvPr/>
        </p:nvSpPr>
        <p:spPr>
          <a:xfrm>
            <a:off x="6254493" y="3767328"/>
            <a:ext cx="1691639" cy="274320"/>
          </a:xfrm>
          <a:prstGeom prst="rect">
            <a:avLst/>
          </a:prstGeom>
          <a:noFill/>
        </p:spPr>
        <p:txBody>
          <a:bodyPr wrap="square">
            <a:spAutoFit/>
          </a:bodyPr>
          <a:lstStyle/>
          <a:p>
            <a:pPr algn="ctr"/>
            <a:r>
              <a:rPr sz="1000" b="0" i="1">
                <a:solidFill>
                  <a:srgbClr val="B0C4DE"/>
                </a:solidFill>
                <a:latin typeface="Calibri"/>
              </a:rPr>
              <a:t>Microsoft AI SDK</a:t>
            </a:r>
          </a:p>
        </p:txBody>
      </p:sp>
      <p:sp>
        <p:nvSpPr>
          <p:cNvPr id="50" name="Rectangle 49"/>
          <p:cNvSpPr/>
          <p:nvPr/>
        </p:nvSpPr>
        <p:spPr>
          <a:xfrm>
            <a:off x="6163053" y="4096512"/>
            <a:ext cx="187451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72781" y="4187952"/>
            <a:ext cx="1655063" cy="274320"/>
          </a:xfrm>
          <a:prstGeom prst="rect">
            <a:avLst/>
          </a:prstGeom>
          <a:noFill/>
        </p:spPr>
        <p:txBody>
          <a:bodyPr wrap="square">
            <a:spAutoFit/>
          </a:bodyPr>
          <a:lstStyle/>
          <a:p>
            <a:pPr algn="l"/>
            <a:r>
              <a:rPr sz="1050" b="0" i="0">
                <a:solidFill>
                  <a:srgbClr val="FFFFFF"/>
                </a:solidFill>
                <a:latin typeface="Calibri"/>
              </a:rPr>
              <a:t>• .NET and Python</a:t>
            </a:r>
          </a:p>
        </p:txBody>
      </p:sp>
      <p:sp>
        <p:nvSpPr>
          <p:cNvPr id="52" name="TextBox 51"/>
          <p:cNvSpPr txBox="1"/>
          <p:nvPr/>
        </p:nvSpPr>
        <p:spPr>
          <a:xfrm>
            <a:off x="6272781" y="4517136"/>
            <a:ext cx="1655063" cy="274320"/>
          </a:xfrm>
          <a:prstGeom prst="rect">
            <a:avLst/>
          </a:prstGeom>
          <a:noFill/>
        </p:spPr>
        <p:txBody>
          <a:bodyPr wrap="square">
            <a:spAutoFit/>
          </a:bodyPr>
          <a:lstStyle/>
          <a:p>
            <a:pPr algn="l"/>
            <a:r>
              <a:rPr sz="1050" b="0" i="0">
                <a:solidFill>
                  <a:srgbClr val="FFFFFF"/>
                </a:solidFill>
                <a:latin typeface="Calibri"/>
              </a:rPr>
              <a:t>• Plugin architecture</a:t>
            </a:r>
          </a:p>
        </p:txBody>
      </p:sp>
      <p:sp>
        <p:nvSpPr>
          <p:cNvPr id="53" name="TextBox 52"/>
          <p:cNvSpPr txBox="1"/>
          <p:nvPr/>
        </p:nvSpPr>
        <p:spPr>
          <a:xfrm>
            <a:off x="6272781" y="4846320"/>
            <a:ext cx="1655063" cy="274320"/>
          </a:xfrm>
          <a:prstGeom prst="rect">
            <a:avLst/>
          </a:prstGeom>
          <a:noFill/>
        </p:spPr>
        <p:txBody>
          <a:bodyPr wrap="square">
            <a:spAutoFit/>
          </a:bodyPr>
          <a:lstStyle/>
          <a:p>
            <a:pPr algn="l"/>
            <a:r>
              <a:rPr sz="1050" b="0" i="0">
                <a:solidFill>
                  <a:srgbClr val="FFFFFF"/>
                </a:solidFill>
                <a:latin typeface="Calibri"/>
              </a:rPr>
              <a:t>• Enterprise focus</a:t>
            </a:r>
          </a:p>
        </p:txBody>
      </p:sp>
      <p:sp>
        <p:nvSpPr>
          <p:cNvPr id="54" name="Rectangle 53"/>
          <p:cNvSpPr/>
          <p:nvPr/>
        </p:nvSpPr>
        <p:spPr>
          <a:xfrm>
            <a:off x="8110724" y="3108960"/>
            <a:ext cx="1874519" cy="338328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02164" y="3200400"/>
            <a:ext cx="1691639" cy="502920"/>
          </a:xfrm>
          <a:prstGeom prst="rect">
            <a:avLst/>
          </a:prstGeom>
          <a:noFill/>
        </p:spPr>
        <p:txBody>
          <a:bodyPr wrap="square">
            <a:spAutoFit/>
          </a:bodyPr>
          <a:lstStyle/>
          <a:p>
            <a:pPr algn="ctr"/>
            <a:r>
              <a:rPr sz="1400" b="1" i="0">
                <a:solidFill>
                  <a:srgbClr val="FFFFFF"/>
                </a:solidFill>
                <a:latin typeface="Calibri"/>
              </a:rPr>
              <a:t>AutoGen</a:t>
            </a:r>
          </a:p>
        </p:txBody>
      </p:sp>
      <p:sp>
        <p:nvSpPr>
          <p:cNvPr id="56" name="TextBox 55"/>
          <p:cNvSpPr txBox="1"/>
          <p:nvPr/>
        </p:nvSpPr>
        <p:spPr>
          <a:xfrm>
            <a:off x="8202164" y="3767328"/>
            <a:ext cx="1691639" cy="274320"/>
          </a:xfrm>
          <a:prstGeom prst="rect">
            <a:avLst/>
          </a:prstGeom>
          <a:noFill/>
        </p:spPr>
        <p:txBody>
          <a:bodyPr wrap="square">
            <a:spAutoFit/>
          </a:bodyPr>
          <a:lstStyle/>
          <a:p>
            <a:pPr algn="ctr"/>
            <a:r>
              <a:rPr sz="1000" b="0" i="1">
                <a:solidFill>
                  <a:srgbClr val="B0C4DE"/>
                </a:solidFill>
                <a:latin typeface="Calibri"/>
              </a:rPr>
              <a:t>Multi-agent conversations</a:t>
            </a:r>
          </a:p>
        </p:txBody>
      </p:sp>
      <p:sp>
        <p:nvSpPr>
          <p:cNvPr id="57" name="Rectangle 56"/>
          <p:cNvSpPr/>
          <p:nvPr/>
        </p:nvSpPr>
        <p:spPr>
          <a:xfrm>
            <a:off x="8110724" y="4096512"/>
            <a:ext cx="187451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20452" y="4187952"/>
            <a:ext cx="1655063" cy="274320"/>
          </a:xfrm>
          <a:prstGeom prst="rect">
            <a:avLst/>
          </a:prstGeom>
          <a:noFill/>
        </p:spPr>
        <p:txBody>
          <a:bodyPr wrap="square">
            <a:spAutoFit/>
          </a:bodyPr>
          <a:lstStyle/>
          <a:p>
            <a:pPr algn="l"/>
            <a:r>
              <a:rPr sz="1050" b="0" i="0">
                <a:solidFill>
                  <a:srgbClr val="FFFFFF"/>
                </a:solidFill>
                <a:latin typeface="Calibri"/>
              </a:rPr>
              <a:t>• Conversational agents</a:t>
            </a:r>
          </a:p>
        </p:txBody>
      </p:sp>
      <p:sp>
        <p:nvSpPr>
          <p:cNvPr id="59" name="TextBox 58"/>
          <p:cNvSpPr txBox="1"/>
          <p:nvPr/>
        </p:nvSpPr>
        <p:spPr>
          <a:xfrm>
            <a:off x="8220452" y="4517136"/>
            <a:ext cx="1655063" cy="274320"/>
          </a:xfrm>
          <a:prstGeom prst="rect">
            <a:avLst/>
          </a:prstGeom>
          <a:noFill/>
        </p:spPr>
        <p:txBody>
          <a:bodyPr wrap="square">
            <a:spAutoFit/>
          </a:bodyPr>
          <a:lstStyle/>
          <a:p>
            <a:pPr algn="l"/>
            <a:r>
              <a:rPr sz="1050" b="0" i="0">
                <a:solidFill>
                  <a:srgbClr val="FFFFFF"/>
                </a:solidFill>
                <a:latin typeface="Calibri"/>
              </a:rPr>
              <a:t>• Code execution</a:t>
            </a:r>
          </a:p>
        </p:txBody>
      </p:sp>
      <p:sp>
        <p:nvSpPr>
          <p:cNvPr id="60" name="TextBox 59"/>
          <p:cNvSpPr txBox="1"/>
          <p:nvPr/>
        </p:nvSpPr>
        <p:spPr>
          <a:xfrm>
            <a:off x="8220452" y="4846320"/>
            <a:ext cx="1655063" cy="274320"/>
          </a:xfrm>
          <a:prstGeom prst="rect">
            <a:avLst/>
          </a:prstGeom>
          <a:noFill/>
        </p:spPr>
        <p:txBody>
          <a:bodyPr wrap="square">
            <a:spAutoFit/>
          </a:bodyPr>
          <a:lstStyle/>
          <a:p>
            <a:pPr algn="l"/>
            <a:r>
              <a:rPr sz="1050" b="0" i="0">
                <a:solidFill>
                  <a:srgbClr val="FFFFFF"/>
                </a:solidFill>
                <a:latin typeface="Calibri"/>
              </a:rPr>
              <a:t>• Group chat support</a:t>
            </a:r>
          </a:p>
        </p:txBody>
      </p:sp>
      <p:sp>
        <p:nvSpPr>
          <p:cNvPr id="61" name="Rectangle 60"/>
          <p:cNvSpPr/>
          <p:nvPr/>
        </p:nvSpPr>
        <p:spPr>
          <a:xfrm>
            <a:off x="10058395" y="3108960"/>
            <a:ext cx="1874519" cy="3383280"/>
          </a:xfrm>
          <a:prstGeom prst="rect">
            <a:avLst/>
          </a:prstGeom>
          <a:solidFill>
            <a:srgbClr val="6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149835" y="3200400"/>
            <a:ext cx="1691639" cy="502920"/>
          </a:xfrm>
          <a:prstGeom prst="rect">
            <a:avLst/>
          </a:prstGeom>
          <a:noFill/>
        </p:spPr>
        <p:txBody>
          <a:bodyPr wrap="square">
            <a:spAutoFit/>
          </a:bodyPr>
          <a:lstStyle/>
          <a:p>
            <a:pPr algn="ctr"/>
            <a:r>
              <a:rPr sz="1400" b="1" i="0">
                <a:solidFill>
                  <a:srgbClr val="FFFFFF"/>
                </a:solidFill>
                <a:latin typeface="Calibri"/>
              </a:rPr>
              <a:t>Custom
Platforms</a:t>
            </a:r>
          </a:p>
        </p:txBody>
      </p:sp>
      <p:sp>
        <p:nvSpPr>
          <p:cNvPr id="63" name="TextBox 62"/>
          <p:cNvSpPr txBox="1"/>
          <p:nvPr/>
        </p:nvSpPr>
        <p:spPr>
          <a:xfrm>
            <a:off x="10149835" y="3767328"/>
            <a:ext cx="1691639" cy="274320"/>
          </a:xfrm>
          <a:prstGeom prst="rect">
            <a:avLst/>
          </a:prstGeom>
          <a:noFill/>
        </p:spPr>
        <p:txBody>
          <a:bodyPr wrap="square">
            <a:spAutoFit/>
          </a:bodyPr>
          <a:lstStyle/>
          <a:p>
            <a:pPr algn="ctr"/>
            <a:r>
              <a:rPr sz="1000" b="0" i="1">
                <a:solidFill>
                  <a:srgbClr val="B0C4DE"/>
                </a:solidFill>
                <a:latin typeface="Calibri"/>
              </a:rPr>
              <a:t>Build your own</a:t>
            </a:r>
          </a:p>
        </p:txBody>
      </p:sp>
      <p:sp>
        <p:nvSpPr>
          <p:cNvPr id="64" name="Rectangle 63"/>
          <p:cNvSpPr/>
          <p:nvPr/>
        </p:nvSpPr>
        <p:spPr>
          <a:xfrm>
            <a:off x="10058395" y="4096512"/>
            <a:ext cx="1874519"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168123" y="4187952"/>
            <a:ext cx="1655063" cy="274320"/>
          </a:xfrm>
          <a:prstGeom prst="rect">
            <a:avLst/>
          </a:prstGeom>
          <a:noFill/>
        </p:spPr>
        <p:txBody>
          <a:bodyPr wrap="square">
            <a:spAutoFit/>
          </a:bodyPr>
          <a:lstStyle/>
          <a:p>
            <a:pPr algn="l"/>
            <a:r>
              <a:rPr sz="1050" b="0" i="0">
                <a:solidFill>
                  <a:srgbClr val="FFFFFF"/>
                </a:solidFill>
                <a:latin typeface="Calibri"/>
              </a:rPr>
              <a:t>• Any HTTP server</a:t>
            </a:r>
          </a:p>
        </p:txBody>
      </p:sp>
      <p:sp>
        <p:nvSpPr>
          <p:cNvPr id="66" name="TextBox 65"/>
          <p:cNvSpPr txBox="1"/>
          <p:nvPr/>
        </p:nvSpPr>
        <p:spPr>
          <a:xfrm>
            <a:off x="10168123" y="4517136"/>
            <a:ext cx="1655063" cy="274320"/>
          </a:xfrm>
          <a:prstGeom prst="rect">
            <a:avLst/>
          </a:prstGeom>
          <a:noFill/>
        </p:spPr>
        <p:txBody>
          <a:bodyPr wrap="square">
            <a:spAutoFit/>
          </a:bodyPr>
          <a:lstStyle/>
          <a:p>
            <a:pPr algn="l"/>
            <a:r>
              <a:rPr sz="1050" b="0" i="0">
                <a:solidFill>
                  <a:srgbClr val="FFFFFF"/>
                </a:solidFill>
                <a:latin typeface="Calibri"/>
              </a:rPr>
              <a:t>• Any language/framework</a:t>
            </a:r>
          </a:p>
        </p:txBody>
      </p:sp>
      <p:sp>
        <p:nvSpPr>
          <p:cNvPr id="67" name="TextBox 66"/>
          <p:cNvSpPr txBox="1"/>
          <p:nvPr/>
        </p:nvSpPr>
        <p:spPr>
          <a:xfrm>
            <a:off x="10168123" y="4846320"/>
            <a:ext cx="1655063" cy="274320"/>
          </a:xfrm>
          <a:prstGeom prst="rect">
            <a:avLst/>
          </a:prstGeom>
          <a:noFill/>
        </p:spPr>
        <p:txBody>
          <a:bodyPr wrap="square">
            <a:spAutoFit/>
          </a:bodyPr>
          <a:lstStyle/>
          <a:p>
            <a:pPr algn="l"/>
            <a:r>
              <a:rPr sz="1050" b="0" i="0">
                <a:solidFill>
                  <a:srgbClr val="FFFFFF"/>
                </a:solidFill>
                <a:latin typeface="Calibri"/>
              </a:rPr>
              <a:t>• Just implement the spec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Key Takeaways</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Why A2A matters for the future of AI agents</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5577840" cy="14173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 y="1280160"/>
            <a:ext cx="384048" cy="38404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9768" y="1280160"/>
            <a:ext cx="384048" cy="384048"/>
          </a:xfrm>
          <a:prstGeom prst="rect">
            <a:avLst/>
          </a:prstGeom>
          <a:noFill/>
        </p:spPr>
        <p:txBody>
          <a:bodyPr wrap="square">
            <a:spAutoFit/>
          </a:bodyPr>
          <a:lstStyle/>
          <a:p>
            <a:pPr algn="ctr"/>
            <a:r>
              <a:rPr sz="1600" b="1" i="0">
                <a:solidFill>
                  <a:srgbClr val="003087"/>
                </a:solidFill>
                <a:latin typeface="Calibri"/>
              </a:rPr>
              <a:t>1</a:t>
            </a:r>
          </a:p>
        </p:txBody>
      </p:sp>
      <p:sp>
        <p:nvSpPr>
          <p:cNvPr id="10" name="TextBox 9"/>
          <p:cNvSpPr txBox="1"/>
          <p:nvPr/>
        </p:nvSpPr>
        <p:spPr>
          <a:xfrm>
            <a:off x="914400" y="1280160"/>
            <a:ext cx="4846320" cy="347472"/>
          </a:xfrm>
          <a:prstGeom prst="rect">
            <a:avLst/>
          </a:prstGeom>
          <a:noFill/>
        </p:spPr>
        <p:txBody>
          <a:bodyPr wrap="square">
            <a:spAutoFit/>
          </a:bodyPr>
          <a:lstStyle/>
          <a:p>
            <a:pPr algn="l"/>
            <a:r>
              <a:rPr sz="1350" b="1" i="0">
                <a:solidFill>
                  <a:srgbClr val="FFB300"/>
                </a:solidFill>
                <a:latin typeface="Calibri"/>
              </a:rPr>
              <a:t>Open Standard, Not Proprietary</a:t>
            </a:r>
          </a:p>
        </p:txBody>
      </p:sp>
      <p:sp>
        <p:nvSpPr>
          <p:cNvPr id="11" name="TextBox 10"/>
          <p:cNvSpPr txBox="1"/>
          <p:nvPr/>
        </p:nvSpPr>
        <p:spPr>
          <a:xfrm>
            <a:off x="457200" y="1691640"/>
            <a:ext cx="5303520" cy="777240"/>
          </a:xfrm>
          <a:prstGeom prst="rect">
            <a:avLst/>
          </a:prstGeom>
          <a:noFill/>
        </p:spPr>
        <p:txBody>
          <a:bodyPr wrap="square">
            <a:spAutoFit/>
          </a:bodyPr>
          <a:lstStyle/>
          <a:p>
            <a:pPr algn="l"/>
            <a:r>
              <a:rPr sz="1150" b="0" i="0">
                <a:solidFill>
                  <a:srgbClr val="FFFFFF"/>
                </a:solidFill>
                <a:latin typeface="Calibri"/>
              </a:rPr>
              <a:t>A2A is governed by the Linux Foundation, ensuring vendor-neutral evolution. No single company controls the future of agent interoperability.</a:t>
            </a:r>
          </a:p>
        </p:txBody>
      </p:sp>
      <p:sp>
        <p:nvSpPr>
          <p:cNvPr id="12" name="Rectangle 11"/>
          <p:cNvSpPr/>
          <p:nvPr/>
        </p:nvSpPr>
        <p:spPr>
          <a:xfrm>
            <a:off x="6419088" y="1143000"/>
            <a:ext cx="5577840" cy="1417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28816" y="1280160"/>
            <a:ext cx="384048" cy="38404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28816" y="1280160"/>
            <a:ext cx="384048" cy="384048"/>
          </a:xfrm>
          <a:prstGeom prst="rect">
            <a:avLst/>
          </a:prstGeom>
          <a:noFill/>
        </p:spPr>
        <p:txBody>
          <a:bodyPr wrap="square">
            <a:spAutoFit/>
          </a:bodyPr>
          <a:lstStyle/>
          <a:p>
            <a:pPr algn="ctr"/>
            <a:r>
              <a:rPr sz="1600" b="1" i="0">
                <a:solidFill>
                  <a:srgbClr val="003087"/>
                </a:solidFill>
                <a:latin typeface="Calibri"/>
              </a:rPr>
              <a:t>2</a:t>
            </a:r>
          </a:p>
        </p:txBody>
      </p:sp>
      <p:sp>
        <p:nvSpPr>
          <p:cNvPr id="15" name="TextBox 14"/>
          <p:cNvSpPr txBox="1"/>
          <p:nvPr/>
        </p:nvSpPr>
        <p:spPr>
          <a:xfrm>
            <a:off x="7013448" y="1280160"/>
            <a:ext cx="4846320" cy="347472"/>
          </a:xfrm>
          <a:prstGeom prst="rect">
            <a:avLst/>
          </a:prstGeom>
          <a:noFill/>
        </p:spPr>
        <p:txBody>
          <a:bodyPr wrap="square">
            <a:spAutoFit/>
          </a:bodyPr>
          <a:lstStyle/>
          <a:p>
            <a:pPr algn="l"/>
            <a:r>
              <a:rPr sz="1350" b="1" i="0">
                <a:solidFill>
                  <a:srgbClr val="FFB300"/>
                </a:solidFill>
                <a:latin typeface="Calibri"/>
              </a:rPr>
              <a:t>Agents as First-Class Citizens</a:t>
            </a:r>
          </a:p>
        </p:txBody>
      </p:sp>
      <p:sp>
        <p:nvSpPr>
          <p:cNvPr id="16" name="TextBox 15"/>
          <p:cNvSpPr txBox="1"/>
          <p:nvPr/>
        </p:nvSpPr>
        <p:spPr>
          <a:xfrm>
            <a:off x="6556248" y="1691640"/>
            <a:ext cx="5303520" cy="777240"/>
          </a:xfrm>
          <a:prstGeom prst="rect">
            <a:avLst/>
          </a:prstGeom>
          <a:noFill/>
        </p:spPr>
        <p:txBody>
          <a:bodyPr wrap="square">
            <a:spAutoFit/>
          </a:bodyPr>
          <a:lstStyle/>
          <a:p>
            <a:pPr algn="l"/>
            <a:r>
              <a:rPr sz="1150" b="0" i="0">
                <a:solidFill>
                  <a:srgbClr val="FFFFFF"/>
                </a:solidFill>
                <a:latin typeface="Calibri"/>
              </a:rPr>
              <a:t>Unlike tool-wrapping, A2A treats agents as autonomous entities capable of multi-turn reasoning, negotiation, and long-running task management.</a:t>
            </a:r>
          </a:p>
        </p:txBody>
      </p:sp>
      <p:sp>
        <p:nvSpPr>
          <p:cNvPr id="17" name="Rectangle 16"/>
          <p:cNvSpPr/>
          <p:nvPr/>
        </p:nvSpPr>
        <p:spPr>
          <a:xfrm>
            <a:off x="320040" y="2670048"/>
            <a:ext cx="5577840" cy="141732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 y="2807208"/>
            <a:ext cx="384048" cy="38404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9768" y="2807208"/>
            <a:ext cx="384048" cy="384048"/>
          </a:xfrm>
          <a:prstGeom prst="rect">
            <a:avLst/>
          </a:prstGeom>
          <a:noFill/>
        </p:spPr>
        <p:txBody>
          <a:bodyPr wrap="square">
            <a:spAutoFit/>
          </a:bodyPr>
          <a:lstStyle/>
          <a:p>
            <a:pPr algn="ctr"/>
            <a:r>
              <a:rPr sz="1600" b="1" i="0">
                <a:solidFill>
                  <a:srgbClr val="003087"/>
                </a:solidFill>
                <a:latin typeface="Calibri"/>
              </a:rPr>
              <a:t>3</a:t>
            </a:r>
          </a:p>
        </p:txBody>
      </p:sp>
      <p:sp>
        <p:nvSpPr>
          <p:cNvPr id="20" name="TextBox 19"/>
          <p:cNvSpPr txBox="1"/>
          <p:nvPr/>
        </p:nvSpPr>
        <p:spPr>
          <a:xfrm>
            <a:off x="914400" y="2807208"/>
            <a:ext cx="4846320" cy="347472"/>
          </a:xfrm>
          <a:prstGeom prst="rect">
            <a:avLst/>
          </a:prstGeom>
          <a:noFill/>
        </p:spPr>
        <p:txBody>
          <a:bodyPr wrap="square">
            <a:spAutoFit/>
          </a:bodyPr>
          <a:lstStyle/>
          <a:p>
            <a:pPr algn="l"/>
            <a:r>
              <a:rPr sz="1350" b="1" i="0">
                <a:solidFill>
                  <a:srgbClr val="FFB300"/>
                </a:solidFill>
                <a:latin typeface="Calibri"/>
              </a:rPr>
              <a:t>Enterprise Ready from Day One</a:t>
            </a:r>
          </a:p>
        </p:txBody>
      </p:sp>
      <p:sp>
        <p:nvSpPr>
          <p:cNvPr id="21" name="TextBox 20"/>
          <p:cNvSpPr txBox="1"/>
          <p:nvPr/>
        </p:nvSpPr>
        <p:spPr>
          <a:xfrm>
            <a:off x="457200" y="3218688"/>
            <a:ext cx="5303520" cy="777240"/>
          </a:xfrm>
          <a:prstGeom prst="rect">
            <a:avLst/>
          </a:prstGeom>
          <a:noFill/>
        </p:spPr>
        <p:txBody>
          <a:bodyPr wrap="square">
            <a:spAutoFit/>
          </a:bodyPr>
          <a:lstStyle/>
          <a:p>
            <a:pPr algn="l"/>
            <a:r>
              <a:rPr sz="1150" b="0" i="0">
                <a:solidFill>
                  <a:srgbClr val="FFFFFF"/>
                </a:solidFill>
                <a:latin typeface="Calibri"/>
              </a:rPr>
              <a:t>OAuth 2.0, mTLS, OpenID Connect, distributed tracing, and monitoring are built in — not bolted on. Production deployments are well-supported.</a:t>
            </a:r>
          </a:p>
        </p:txBody>
      </p:sp>
      <p:sp>
        <p:nvSpPr>
          <p:cNvPr id="22" name="Rectangle 21"/>
          <p:cNvSpPr/>
          <p:nvPr/>
        </p:nvSpPr>
        <p:spPr>
          <a:xfrm>
            <a:off x="6419088" y="2670048"/>
            <a:ext cx="5577840" cy="14173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28816" y="2807208"/>
            <a:ext cx="384048" cy="38404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28816" y="2807208"/>
            <a:ext cx="384048" cy="384048"/>
          </a:xfrm>
          <a:prstGeom prst="rect">
            <a:avLst/>
          </a:prstGeom>
          <a:noFill/>
        </p:spPr>
        <p:txBody>
          <a:bodyPr wrap="square">
            <a:spAutoFit/>
          </a:bodyPr>
          <a:lstStyle/>
          <a:p>
            <a:pPr algn="ctr"/>
            <a:r>
              <a:rPr sz="1600" b="1" i="0">
                <a:solidFill>
                  <a:srgbClr val="003087"/>
                </a:solidFill>
                <a:latin typeface="Calibri"/>
              </a:rPr>
              <a:t>4</a:t>
            </a:r>
          </a:p>
        </p:txBody>
      </p:sp>
      <p:sp>
        <p:nvSpPr>
          <p:cNvPr id="25" name="TextBox 24"/>
          <p:cNvSpPr txBox="1"/>
          <p:nvPr/>
        </p:nvSpPr>
        <p:spPr>
          <a:xfrm>
            <a:off x="7013448" y="2807208"/>
            <a:ext cx="4846320" cy="347472"/>
          </a:xfrm>
          <a:prstGeom prst="rect">
            <a:avLst/>
          </a:prstGeom>
          <a:noFill/>
        </p:spPr>
        <p:txBody>
          <a:bodyPr wrap="square">
            <a:spAutoFit/>
          </a:bodyPr>
          <a:lstStyle/>
          <a:p>
            <a:pPr algn="l"/>
            <a:r>
              <a:rPr sz="1350" b="1" i="0">
                <a:solidFill>
                  <a:srgbClr val="FFB300"/>
                </a:solidFill>
                <a:latin typeface="Calibri"/>
              </a:rPr>
              <a:t>Complements MCP, Doesn't Replace It</a:t>
            </a:r>
          </a:p>
        </p:txBody>
      </p:sp>
      <p:sp>
        <p:nvSpPr>
          <p:cNvPr id="26" name="TextBox 25"/>
          <p:cNvSpPr txBox="1"/>
          <p:nvPr/>
        </p:nvSpPr>
        <p:spPr>
          <a:xfrm>
            <a:off x="6556248" y="3218688"/>
            <a:ext cx="5303520" cy="777240"/>
          </a:xfrm>
          <a:prstGeom prst="rect">
            <a:avLst/>
          </a:prstGeom>
          <a:noFill/>
        </p:spPr>
        <p:txBody>
          <a:bodyPr wrap="square">
            <a:spAutoFit/>
          </a:bodyPr>
          <a:lstStyle/>
          <a:p>
            <a:pPr algn="l"/>
            <a:r>
              <a:rPr sz="1150" b="0" i="0">
                <a:solidFill>
                  <a:srgbClr val="FFFFFF"/>
                </a:solidFill>
                <a:latin typeface="Calibri"/>
              </a:rPr>
              <a:t>MCP connects models to tools and data. A2A connects agents to agents. Together they form a complete AI integration stack.</a:t>
            </a:r>
          </a:p>
        </p:txBody>
      </p:sp>
      <p:sp>
        <p:nvSpPr>
          <p:cNvPr id="27" name="Rectangle 26"/>
          <p:cNvSpPr/>
          <p:nvPr/>
        </p:nvSpPr>
        <p:spPr>
          <a:xfrm>
            <a:off x="320040" y="4197096"/>
            <a:ext cx="5577840" cy="141732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 y="4334256"/>
            <a:ext cx="384048" cy="38404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8" y="4334256"/>
            <a:ext cx="384048" cy="384048"/>
          </a:xfrm>
          <a:prstGeom prst="rect">
            <a:avLst/>
          </a:prstGeom>
          <a:noFill/>
        </p:spPr>
        <p:txBody>
          <a:bodyPr wrap="square">
            <a:spAutoFit/>
          </a:bodyPr>
          <a:lstStyle/>
          <a:p>
            <a:pPr algn="ctr"/>
            <a:r>
              <a:rPr sz="1600" b="1" i="0">
                <a:solidFill>
                  <a:srgbClr val="003087"/>
                </a:solidFill>
                <a:latin typeface="Calibri"/>
              </a:rPr>
              <a:t>5</a:t>
            </a:r>
          </a:p>
        </p:txBody>
      </p:sp>
      <p:sp>
        <p:nvSpPr>
          <p:cNvPr id="30" name="TextBox 29"/>
          <p:cNvSpPr txBox="1"/>
          <p:nvPr/>
        </p:nvSpPr>
        <p:spPr>
          <a:xfrm>
            <a:off x="914400" y="4334256"/>
            <a:ext cx="4846320" cy="347472"/>
          </a:xfrm>
          <a:prstGeom prst="rect">
            <a:avLst/>
          </a:prstGeom>
          <a:noFill/>
        </p:spPr>
        <p:txBody>
          <a:bodyPr wrap="square">
            <a:spAutoFit/>
          </a:bodyPr>
          <a:lstStyle/>
          <a:p>
            <a:pPr algn="l"/>
            <a:r>
              <a:rPr sz="1350" b="1" i="0">
                <a:solidFill>
                  <a:srgbClr val="FFB300"/>
                </a:solidFill>
                <a:latin typeface="Calibri"/>
              </a:rPr>
              <a:t>Minimal New Concepts</a:t>
            </a:r>
          </a:p>
        </p:txBody>
      </p:sp>
      <p:sp>
        <p:nvSpPr>
          <p:cNvPr id="31" name="TextBox 30"/>
          <p:cNvSpPr txBox="1"/>
          <p:nvPr/>
        </p:nvSpPr>
        <p:spPr>
          <a:xfrm>
            <a:off x="457200" y="4745736"/>
            <a:ext cx="5303520" cy="777240"/>
          </a:xfrm>
          <a:prstGeom prst="rect">
            <a:avLst/>
          </a:prstGeom>
          <a:noFill/>
        </p:spPr>
        <p:txBody>
          <a:bodyPr wrap="square">
            <a:spAutoFit/>
          </a:bodyPr>
          <a:lstStyle/>
          <a:p>
            <a:pPr algn="l"/>
            <a:r>
              <a:rPr sz="1150" b="0" i="0">
                <a:solidFill>
                  <a:srgbClr val="FFFFFF"/>
                </a:solidFill>
                <a:latin typeface="Calibri"/>
              </a:rPr>
              <a:t>Built on HTTP, JSON-RPC, and SSE — technologies every developer knows. Low adoption cost with high interoperability payoff.</a:t>
            </a:r>
          </a:p>
        </p:txBody>
      </p:sp>
      <p:sp>
        <p:nvSpPr>
          <p:cNvPr id="32" name="Rectangle 31"/>
          <p:cNvSpPr/>
          <p:nvPr/>
        </p:nvSpPr>
        <p:spPr>
          <a:xfrm>
            <a:off x="6419088" y="4197096"/>
            <a:ext cx="5577840" cy="141732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28816" y="4334256"/>
            <a:ext cx="384048" cy="384048"/>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28816" y="4334256"/>
            <a:ext cx="384048" cy="384048"/>
          </a:xfrm>
          <a:prstGeom prst="rect">
            <a:avLst/>
          </a:prstGeom>
          <a:noFill/>
        </p:spPr>
        <p:txBody>
          <a:bodyPr wrap="square">
            <a:spAutoFit/>
          </a:bodyPr>
          <a:lstStyle/>
          <a:p>
            <a:pPr algn="ctr"/>
            <a:r>
              <a:rPr sz="1600" b="1" i="0">
                <a:solidFill>
                  <a:srgbClr val="003087"/>
                </a:solidFill>
                <a:latin typeface="Calibri"/>
              </a:rPr>
              <a:t>6</a:t>
            </a:r>
          </a:p>
        </p:txBody>
      </p:sp>
      <p:sp>
        <p:nvSpPr>
          <p:cNvPr id="35" name="TextBox 34"/>
          <p:cNvSpPr txBox="1"/>
          <p:nvPr/>
        </p:nvSpPr>
        <p:spPr>
          <a:xfrm>
            <a:off x="7013448" y="4334256"/>
            <a:ext cx="4846320" cy="347472"/>
          </a:xfrm>
          <a:prstGeom prst="rect">
            <a:avLst/>
          </a:prstGeom>
          <a:noFill/>
        </p:spPr>
        <p:txBody>
          <a:bodyPr wrap="square">
            <a:spAutoFit/>
          </a:bodyPr>
          <a:lstStyle/>
          <a:p>
            <a:pPr algn="l"/>
            <a:r>
              <a:rPr sz="1350" b="1" i="0">
                <a:solidFill>
                  <a:srgbClr val="FFB300"/>
                </a:solidFill>
                <a:latin typeface="Calibri"/>
              </a:rPr>
              <a:t>The Foundation for Multi-Agent AI</a:t>
            </a:r>
          </a:p>
        </p:txBody>
      </p:sp>
      <p:sp>
        <p:nvSpPr>
          <p:cNvPr id="36" name="TextBox 35"/>
          <p:cNvSpPr txBox="1"/>
          <p:nvPr/>
        </p:nvSpPr>
        <p:spPr>
          <a:xfrm>
            <a:off x="6556248" y="4745736"/>
            <a:ext cx="5303520" cy="777240"/>
          </a:xfrm>
          <a:prstGeom prst="rect">
            <a:avLst/>
          </a:prstGeom>
          <a:noFill/>
        </p:spPr>
        <p:txBody>
          <a:bodyPr wrap="square">
            <a:spAutoFit/>
          </a:bodyPr>
          <a:lstStyle/>
          <a:p>
            <a:pPr algn="l"/>
            <a:r>
              <a:rPr sz="1150" b="0" i="0">
                <a:solidFill>
                  <a:srgbClr val="FFFFFF"/>
                </a:solidFill>
                <a:latin typeface="Calibri"/>
              </a:rPr>
              <a:t>As AI systems grow more complex, standardized agent communication is essential. A2A is the protocol that makes collaborative AI systems possible.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9728" y="0"/>
            <a:ext cx="12079224" cy="100584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20040" y="91440"/>
            <a:ext cx="11430000" cy="594360"/>
          </a:xfrm>
          <a:prstGeom prst="rect">
            <a:avLst/>
          </a:prstGeom>
          <a:noFill/>
        </p:spPr>
        <p:txBody>
          <a:bodyPr wrap="square">
            <a:spAutoFit/>
          </a:bodyPr>
          <a:lstStyle/>
          <a:p>
            <a:pPr algn="l"/>
            <a:r>
              <a:rPr sz="2600" b="1" i="0">
                <a:solidFill>
                  <a:srgbClr val="FFFFFF"/>
                </a:solidFill>
                <a:latin typeface="Calibri"/>
              </a:rPr>
              <a:t>Resources</a:t>
            </a:r>
          </a:p>
        </p:txBody>
      </p:sp>
      <p:sp>
        <p:nvSpPr>
          <p:cNvPr id="5" name="TextBox 4"/>
          <p:cNvSpPr txBox="1"/>
          <p:nvPr/>
        </p:nvSpPr>
        <p:spPr>
          <a:xfrm>
            <a:off x="320040" y="658368"/>
            <a:ext cx="11430000" cy="292608"/>
          </a:xfrm>
          <a:prstGeom prst="rect">
            <a:avLst/>
          </a:prstGeom>
          <a:noFill/>
        </p:spPr>
        <p:txBody>
          <a:bodyPr wrap="square">
            <a:spAutoFit/>
          </a:bodyPr>
          <a:lstStyle/>
          <a:p>
            <a:pPr algn="l"/>
            <a:r>
              <a:rPr sz="1300" b="0" i="0">
                <a:solidFill>
                  <a:srgbClr val="FFB300"/>
                </a:solidFill>
                <a:latin typeface="Calibri"/>
              </a:rPr>
              <a:t>Where to learn more and get started</a:t>
            </a:r>
          </a:p>
        </p:txBody>
      </p:sp>
      <p:sp>
        <p:nvSpPr>
          <p:cNvPr id="6" name="Rectangle 5"/>
          <p:cNvSpPr/>
          <p:nvPr/>
        </p:nvSpPr>
        <p:spPr>
          <a:xfrm>
            <a:off x="109728" y="1005840"/>
            <a:ext cx="12079224" cy="58521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 y="1143000"/>
            <a:ext cx="2788920" cy="347472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9768" y="1252728"/>
            <a:ext cx="2569464" cy="411480"/>
          </a:xfrm>
          <a:prstGeom prst="rect">
            <a:avLst/>
          </a:prstGeom>
          <a:noFill/>
        </p:spPr>
        <p:txBody>
          <a:bodyPr wrap="square">
            <a:spAutoFit/>
          </a:bodyPr>
          <a:lstStyle/>
          <a:p>
            <a:pPr algn="l"/>
            <a:r>
              <a:rPr sz="1500" b="1" i="0">
                <a:solidFill>
                  <a:srgbClr val="FFB300"/>
                </a:solidFill>
                <a:latin typeface="Calibri"/>
              </a:rPr>
              <a:t>Official Protocol Site</a:t>
            </a:r>
          </a:p>
        </p:txBody>
      </p:sp>
      <p:sp>
        <p:nvSpPr>
          <p:cNvPr id="9" name="Rectangle 8"/>
          <p:cNvSpPr/>
          <p:nvPr/>
        </p:nvSpPr>
        <p:spPr>
          <a:xfrm>
            <a:off x="320040" y="1709928"/>
            <a:ext cx="2788920"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 y="1801368"/>
            <a:ext cx="2569464" cy="320040"/>
          </a:xfrm>
          <a:prstGeom prst="rect">
            <a:avLst/>
          </a:prstGeom>
          <a:noFill/>
        </p:spPr>
        <p:txBody>
          <a:bodyPr wrap="square">
            <a:spAutoFit/>
          </a:bodyPr>
          <a:lstStyle/>
          <a:p>
            <a:pPr algn="l"/>
            <a:r>
              <a:rPr sz="1200" b="0" i="1">
                <a:solidFill>
                  <a:srgbClr val="B0C4DE"/>
                </a:solidFill>
                <a:latin typeface="Courier New"/>
              </a:rPr>
              <a:t>a2a-protocol.org</a:t>
            </a:r>
          </a:p>
        </p:txBody>
      </p:sp>
      <p:sp>
        <p:nvSpPr>
          <p:cNvPr id="11" name="TextBox 10"/>
          <p:cNvSpPr txBox="1"/>
          <p:nvPr/>
        </p:nvSpPr>
        <p:spPr>
          <a:xfrm>
            <a:off x="484632" y="2221992"/>
            <a:ext cx="2514600" cy="292608"/>
          </a:xfrm>
          <a:prstGeom prst="rect">
            <a:avLst/>
          </a:prstGeom>
          <a:noFill/>
        </p:spPr>
        <p:txBody>
          <a:bodyPr wrap="square">
            <a:spAutoFit/>
          </a:bodyPr>
          <a:lstStyle/>
          <a:p>
            <a:pPr algn="l"/>
            <a:r>
              <a:rPr sz="1200" b="0" i="0">
                <a:solidFill>
                  <a:srgbClr val="FFFFFF"/>
                </a:solidFill>
                <a:latin typeface="Calibri"/>
              </a:rPr>
              <a:t>• Full specification</a:t>
            </a:r>
          </a:p>
        </p:txBody>
      </p:sp>
      <p:sp>
        <p:nvSpPr>
          <p:cNvPr id="12" name="TextBox 11"/>
          <p:cNvSpPr txBox="1"/>
          <p:nvPr/>
        </p:nvSpPr>
        <p:spPr>
          <a:xfrm>
            <a:off x="484632" y="2569464"/>
            <a:ext cx="2514600" cy="292608"/>
          </a:xfrm>
          <a:prstGeom prst="rect">
            <a:avLst/>
          </a:prstGeom>
          <a:noFill/>
        </p:spPr>
        <p:txBody>
          <a:bodyPr wrap="square">
            <a:spAutoFit/>
          </a:bodyPr>
          <a:lstStyle/>
          <a:p>
            <a:pPr algn="l"/>
            <a:r>
              <a:rPr sz="1200" b="0" i="0">
                <a:solidFill>
                  <a:srgbClr val="FFFFFF"/>
                </a:solidFill>
                <a:latin typeface="Calibri"/>
              </a:rPr>
              <a:t>• Topics &amp; tutorials</a:t>
            </a:r>
          </a:p>
        </p:txBody>
      </p:sp>
      <p:sp>
        <p:nvSpPr>
          <p:cNvPr id="13" name="TextBox 12"/>
          <p:cNvSpPr txBox="1"/>
          <p:nvPr/>
        </p:nvSpPr>
        <p:spPr>
          <a:xfrm>
            <a:off x="484632" y="2916936"/>
            <a:ext cx="2514600" cy="292608"/>
          </a:xfrm>
          <a:prstGeom prst="rect">
            <a:avLst/>
          </a:prstGeom>
          <a:noFill/>
        </p:spPr>
        <p:txBody>
          <a:bodyPr wrap="square">
            <a:spAutoFit/>
          </a:bodyPr>
          <a:lstStyle/>
          <a:p>
            <a:pPr algn="l"/>
            <a:r>
              <a:rPr sz="1200" b="0" i="0">
                <a:solidFill>
                  <a:srgbClr val="FFFFFF"/>
                </a:solidFill>
                <a:latin typeface="Calibri"/>
              </a:rPr>
              <a:t>• Reference implementations</a:t>
            </a:r>
          </a:p>
        </p:txBody>
      </p:sp>
      <p:sp>
        <p:nvSpPr>
          <p:cNvPr id="14" name="Rectangle 13"/>
          <p:cNvSpPr/>
          <p:nvPr/>
        </p:nvSpPr>
        <p:spPr>
          <a:xfrm>
            <a:off x="3218688" y="1143000"/>
            <a:ext cx="2788920" cy="34747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28416" y="1252728"/>
            <a:ext cx="2569464" cy="411480"/>
          </a:xfrm>
          <a:prstGeom prst="rect">
            <a:avLst/>
          </a:prstGeom>
          <a:noFill/>
        </p:spPr>
        <p:txBody>
          <a:bodyPr wrap="square">
            <a:spAutoFit/>
          </a:bodyPr>
          <a:lstStyle/>
          <a:p>
            <a:pPr algn="l"/>
            <a:r>
              <a:rPr sz="1500" b="1" i="0">
                <a:solidFill>
                  <a:srgbClr val="FFB300"/>
                </a:solidFill>
                <a:latin typeface="Calibri"/>
              </a:rPr>
              <a:t>Linux Foundation</a:t>
            </a:r>
          </a:p>
        </p:txBody>
      </p:sp>
      <p:sp>
        <p:nvSpPr>
          <p:cNvPr id="16" name="Rectangle 15"/>
          <p:cNvSpPr/>
          <p:nvPr/>
        </p:nvSpPr>
        <p:spPr>
          <a:xfrm>
            <a:off x="3218688" y="1709928"/>
            <a:ext cx="2788920"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28416" y="1801368"/>
            <a:ext cx="2569464" cy="320040"/>
          </a:xfrm>
          <a:prstGeom prst="rect">
            <a:avLst/>
          </a:prstGeom>
          <a:noFill/>
        </p:spPr>
        <p:txBody>
          <a:bodyPr wrap="square">
            <a:spAutoFit/>
          </a:bodyPr>
          <a:lstStyle/>
          <a:p>
            <a:pPr algn="l"/>
            <a:r>
              <a:rPr sz="1200" b="0" i="1">
                <a:solidFill>
                  <a:srgbClr val="B0C4DE"/>
                </a:solidFill>
                <a:latin typeface="Courier New"/>
              </a:rPr>
              <a:t>linuxfoundation.org</a:t>
            </a:r>
          </a:p>
        </p:txBody>
      </p:sp>
      <p:sp>
        <p:nvSpPr>
          <p:cNvPr id="18" name="TextBox 17"/>
          <p:cNvSpPr txBox="1"/>
          <p:nvPr/>
        </p:nvSpPr>
        <p:spPr>
          <a:xfrm>
            <a:off x="3383280" y="2221992"/>
            <a:ext cx="2514600" cy="292608"/>
          </a:xfrm>
          <a:prstGeom prst="rect">
            <a:avLst/>
          </a:prstGeom>
          <a:noFill/>
        </p:spPr>
        <p:txBody>
          <a:bodyPr wrap="square">
            <a:spAutoFit/>
          </a:bodyPr>
          <a:lstStyle/>
          <a:p>
            <a:pPr algn="l"/>
            <a:r>
              <a:rPr sz="1200" b="0" i="0">
                <a:solidFill>
                  <a:srgbClr val="FFFFFF"/>
                </a:solidFill>
                <a:latin typeface="Calibri"/>
              </a:rPr>
              <a:t>• Governance &amp; roadmap</a:t>
            </a:r>
          </a:p>
        </p:txBody>
      </p:sp>
      <p:sp>
        <p:nvSpPr>
          <p:cNvPr id="19" name="TextBox 18"/>
          <p:cNvSpPr txBox="1"/>
          <p:nvPr/>
        </p:nvSpPr>
        <p:spPr>
          <a:xfrm>
            <a:off x="3383280" y="2569464"/>
            <a:ext cx="2514600" cy="292608"/>
          </a:xfrm>
          <a:prstGeom prst="rect">
            <a:avLst/>
          </a:prstGeom>
          <a:noFill/>
        </p:spPr>
        <p:txBody>
          <a:bodyPr wrap="square">
            <a:spAutoFit/>
          </a:bodyPr>
          <a:lstStyle/>
          <a:p>
            <a:pPr algn="l"/>
            <a:r>
              <a:rPr sz="1200" b="0" i="0">
                <a:solidFill>
                  <a:srgbClr val="FFFFFF"/>
                </a:solidFill>
                <a:latin typeface="Calibri"/>
              </a:rPr>
              <a:t>• Community contribution</a:t>
            </a:r>
          </a:p>
        </p:txBody>
      </p:sp>
      <p:sp>
        <p:nvSpPr>
          <p:cNvPr id="20" name="TextBox 19"/>
          <p:cNvSpPr txBox="1"/>
          <p:nvPr/>
        </p:nvSpPr>
        <p:spPr>
          <a:xfrm>
            <a:off x="3383280" y="2916936"/>
            <a:ext cx="2514600" cy="292608"/>
          </a:xfrm>
          <a:prstGeom prst="rect">
            <a:avLst/>
          </a:prstGeom>
          <a:noFill/>
        </p:spPr>
        <p:txBody>
          <a:bodyPr wrap="square">
            <a:spAutoFit/>
          </a:bodyPr>
          <a:lstStyle/>
          <a:p>
            <a:pPr algn="l"/>
            <a:r>
              <a:rPr sz="1200" b="0" i="0">
                <a:solidFill>
                  <a:srgbClr val="FFFFFF"/>
                </a:solidFill>
                <a:latin typeface="Calibri"/>
              </a:rPr>
              <a:t>• Working group info</a:t>
            </a:r>
          </a:p>
        </p:txBody>
      </p:sp>
      <p:sp>
        <p:nvSpPr>
          <p:cNvPr id="21" name="Rectangle 20"/>
          <p:cNvSpPr/>
          <p:nvPr/>
        </p:nvSpPr>
        <p:spPr>
          <a:xfrm>
            <a:off x="6117336" y="1143000"/>
            <a:ext cx="2788920" cy="3474720"/>
          </a:xfrm>
          <a:prstGeom prst="rect">
            <a:avLst/>
          </a:prstGeom>
          <a:solidFill>
            <a:srgbClr val="0069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7064" y="1252728"/>
            <a:ext cx="2569464" cy="411480"/>
          </a:xfrm>
          <a:prstGeom prst="rect">
            <a:avLst/>
          </a:prstGeom>
          <a:noFill/>
        </p:spPr>
        <p:txBody>
          <a:bodyPr wrap="square">
            <a:spAutoFit/>
          </a:bodyPr>
          <a:lstStyle/>
          <a:p>
            <a:pPr algn="l"/>
            <a:r>
              <a:rPr sz="1500" b="1" i="0">
                <a:solidFill>
                  <a:srgbClr val="FFB300"/>
                </a:solidFill>
                <a:latin typeface="Calibri"/>
              </a:rPr>
              <a:t>Official SDKs</a:t>
            </a:r>
          </a:p>
        </p:txBody>
      </p:sp>
      <p:sp>
        <p:nvSpPr>
          <p:cNvPr id="23" name="Rectangle 22"/>
          <p:cNvSpPr/>
          <p:nvPr/>
        </p:nvSpPr>
        <p:spPr>
          <a:xfrm>
            <a:off x="6117336" y="1709928"/>
            <a:ext cx="2788920"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27064" y="1801368"/>
            <a:ext cx="2569464" cy="320040"/>
          </a:xfrm>
          <a:prstGeom prst="rect">
            <a:avLst/>
          </a:prstGeom>
          <a:noFill/>
        </p:spPr>
        <p:txBody>
          <a:bodyPr wrap="square">
            <a:spAutoFit/>
          </a:bodyPr>
          <a:lstStyle/>
          <a:p>
            <a:pPr algn="l"/>
            <a:r>
              <a:rPr sz="1200" b="0" i="1">
                <a:solidFill>
                  <a:srgbClr val="B0C4DE"/>
                </a:solidFill>
                <a:latin typeface="Courier New"/>
              </a:rPr>
              <a:t>github.com/google-a2a</a:t>
            </a:r>
          </a:p>
        </p:txBody>
      </p:sp>
      <p:sp>
        <p:nvSpPr>
          <p:cNvPr id="25" name="TextBox 24"/>
          <p:cNvSpPr txBox="1"/>
          <p:nvPr/>
        </p:nvSpPr>
        <p:spPr>
          <a:xfrm>
            <a:off x="6281928" y="2221992"/>
            <a:ext cx="2514600" cy="292608"/>
          </a:xfrm>
          <a:prstGeom prst="rect">
            <a:avLst/>
          </a:prstGeom>
          <a:noFill/>
        </p:spPr>
        <p:txBody>
          <a:bodyPr wrap="square">
            <a:spAutoFit/>
          </a:bodyPr>
          <a:lstStyle/>
          <a:p>
            <a:pPr algn="l"/>
            <a:r>
              <a:rPr sz="1200" b="0" i="0">
                <a:solidFill>
                  <a:srgbClr val="FFFFFF"/>
                </a:solidFill>
                <a:latin typeface="Calibri"/>
              </a:rPr>
              <a:t>• Python, JS, Java, C#, Go</a:t>
            </a:r>
          </a:p>
        </p:txBody>
      </p:sp>
      <p:sp>
        <p:nvSpPr>
          <p:cNvPr id="26" name="TextBox 25"/>
          <p:cNvSpPr txBox="1"/>
          <p:nvPr/>
        </p:nvSpPr>
        <p:spPr>
          <a:xfrm>
            <a:off x="6281928" y="2569464"/>
            <a:ext cx="2514600" cy="292608"/>
          </a:xfrm>
          <a:prstGeom prst="rect">
            <a:avLst/>
          </a:prstGeom>
          <a:noFill/>
        </p:spPr>
        <p:txBody>
          <a:bodyPr wrap="square">
            <a:spAutoFit/>
          </a:bodyPr>
          <a:lstStyle/>
          <a:p>
            <a:pPr algn="l"/>
            <a:r>
              <a:rPr sz="1200" b="0" i="0">
                <a:solidFill>
                  <a:srgbClr val="FFFFFF"/>
                </a:solidFill>
                <a:latin typeface="Calibri"/>
              </a:rPr>
              <a:t>• Open source (Apache 2.0)</a:t>
            </a:r>
          </a:p>
        </p:txBody>
      </p:sp>
      <p:sp>
        <p:nvSpPr>
          <p:cNvPr id="27" name="TextBox 26"/>
          <p:cNvSpPr txBox="1"/>
          <p:nvPr/>
        </p:nvSpPr>
        <p:spPr>
          <a:xfrm>
            <a:off x="6281928" y="2916936"/>
            <a:ext cx="2514600" cy="292608"/>
          </a:xfrm>
          <a:prstGeom prst="rect">
            <a:avLst/>
          </a:prstGeom>
          <a:noFill/>
        </p:spPr>
        <p:txBody>
          <a:bodyPr wrap="square">
            <a:spAutoFit/>
          </a:bodyPr>
          <a:lstStyle/>
          <a:p>
            <a:pPr algn="l"/>
            <a:r>
              <a:rPr sz="1200" b="0" i="0">
                <a:solidFill>
                  <a:srgbClr val="FFFFFF"/>
                </a:solidFill>
                <a:latin typeface="Calibri"/>
              </a:rPr>
              <a:t>• Examples &amp; quickstarts</a:t>
            </a:r>
          </a:p>
        </p:txBody>
      </p:sp>
      <p:sp>
        <p:nvSpPr>
          <p:cNvPr id="28" name="Rectangle 27"/>
          <p:cNvSpPr/>
          <p:nvPr/>
        </p:nvSpPr>
        <p:spPr>
          <a:xfrm>
            <a:off x="9015984" y="1143000"/>
            <a:ext cx="2788920" cy="347472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25712" y="1252728"/>
            <a:ext cx="2569464" cy="411480"/>
          </a:xfrm>
          <a:prstGeom prst="rect">
            <a:avLst/>
          </a:prstGeom>
          <a:noFill/>
        </p:spPr>
        <p:txBody>
          <a:bodyPr wrap="square">
            <a:spAutoFit/>
          </a:bodyPr>
          <a:lstStyle/>
          <a:p>
            <a:pPr algn="l"/>
            <a:r>
              <a:rPr sz="1500" b="1" i="0">
                <a:solidFill>
                  <a:srgbClr val="FFB300"/>
                </a:solidFill>
                <a:latin typeface="Calibri"/>
              </a:rPr>
              <a:t>DeepLearning.AI Course</a:t>
            </a:r>
          </a:p>
        </p:txBody>
      </p:sp>
      <p:sp>
        <p:nvSpPr>
          <p:cNvPr id="30" name="Rectangle 29"/>
          <p:cNvSpPr/>
          <p:nvPr/>
        </p:nvSpPr>
        <p:spPr>
          <a:xfrm>
            <a:off x="9015984" y="1709928"/>
            <a:ext cx="2788920" cy="22860"/>
          </a:xfrm>
          <a:prstGeom prst="rect">
            <a:avLst/>
          </a:prstGeom>
          <a:solidFill>
            <a:srgbClr val="FFB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25712" y="1801368"/>
            <a:ext cx="2569464" cy="320040"/>
          </a:xfrm>
          <a:prstGeom prst="rect">
            <a:avLst/>
          </a:prstGeom>
          <a:noFill/>
        </p:spPr>
        <p:txBody>
          <a:bodyPr wrap="square">
            <a:spAutoFit/>
          </a:bodyPr>
          <a:lstStyle/>
          <a:p>
            <a:pPr algn="l"/>
            <a:r>
              <a:rPr sz="1200" b="0" i="1">
                <a:solidFill>
                  <a:srgbClr val="B0C4DE"/>
                </a:solidFill>
                <a:latin typeface="Courier New"/>
              </a:rPr>
              <a:t>deeplearning.ai</a:t>
            </a:r>
          </a:p>
        </p:txBody>
      </p:sp>
      <p:sp>
        <p:nvSpPr>
          <p:cNvPr id="32" name="TextBox 31"/>
          <p:cNvSpPr txBox="1"/>
          <p:nvPr/>
        </p:nvSpPr>
        <p:spPr>
          <a:xfrm>
            <a:off x="9180576" y="2221992"/>
            <a:ext cx="2514600" cy="292608"/>
          </a:xfrm>
          <a:prstGeom prst="rect">
            <a:avLst/>
          </a:prstGeom>
          <a:noFill/>
        </p:spPr>
        <p:txBody>
          <a:bodyPr wrap="square">
            <a:spAutoFit/>
          </a:bodyPr>
          <a:lstStyle/>
          <a:p>
            <a:pPr algn="l"/>
            <a:r>
              <a:rPr sz="1200" b="0" i="0">
                <a:solidFill>
                  <a:srgbClr val="FFFFFF"/>
                </a:solidFill>
                <a:latin typeface="Calibri"/>
              </a:rPr>
              <a:t>• A2A + ADK tutorial</a:t>
            </a:r>
          </a:p>
        </p:txBody>
      </p:sp>
      <p:sp>
        <p:nvSpPr>
          <p:cNvPr id="33" name="TextBox 32"/>
          <p:cNvSpPr txBox="1"/>
          <p:nvPr/>
        </p:nvSpPr>
        <p:spPr>
          <a:xfrm>
            <a:off x="9180576" y="2569464"/>
            <a:ext cx="2514600" cy="292608"/>
          </a:xfrm>
          <a:prstGeom prst="rect">
            <a:avLst/>
          </a:prstGeom>
          <a:noFill/>
        </p:spPr>
        <p:txBody>
          <a:bodyPr wrap="square">
            <a:spAutoFit/>
          </a:bodyPr>
          <a:lstStyle/>
          <a:p>
            <a:pPr algn="l"/>
            <a:r>
              <a:rPr sz="1200" b="0" i="0">
                <a:solidFill>
                  <a:srgbClr val="FFFFFF"/>
                </a:solidFill>
                <a:latin typeface="Calibri"/>
              </a:rPr>
              <a:t>• Hands-on coding labs</a:t>
            </a:r>
          </a:p>
        </p:txBody>
      </p:sp>
      <p:sp>
        <p:nvSpPr>
          <p:cNvPr id="34" name="TextBox 33"/>
          <p:cNvSpPr txBox="1"/>
          <p:nvPr/>
        </p:nvSpPr>
        <p:spPr>
          <a:xfrm>
            <a:off x="9180576" y="2916936"/>
            <a:ext cx="2514600" cy="292608"/>
          </a:xfrm>
          <a:prstGeom prst="rect">
            <a:avLst/>
          </a:prstGeom>
          <a:noFill/>
        </p:spPr>
        <p:txBody>
          <a:bodyPr wrap="square">
            <a:spAutoFit/>
          </a:bodyPr>
          <a:lstStyle/>
          <a:p>
            <a:pPr algn="l"/>
            <a:r>
              <a:rPr sz="1200" b="0" i="0">
                <a:solidFill>
                  <a:srgbClr val="FFFFFF"/>
                </a:solidFill>
                <a:latin typeface="Calibri"/>
              </a:rPr>
              <a:t>• Free short course</a:t>
            </a:r>
          </a:p>
        </p:txBody>
      </p:sp>
      <p:sp>
        <p:nvSpPr>
          <p:cNvPr id="35" name="Rectangle 34"/>
          <p:cNvSpPr/>
          <p:nvPr/>
        </p:nvSpPr>
        <p:spPr>
          <a:xfrm>
            <a:off x="320040" y="4754880"/>
            <a:ext cx="11521440" cy="1783080"/>
          </a:xfrm>
          <a:prstGeom prst="rect">
            <a:avLst/>
          </a:prstGeom>
          <a:solidFill>
            <a:srgbClr val="F4F6F9"/>
          </a:solidFill>
          <a:ln w="1905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4846320"/>
            <a:ext cx="4572000" cy="320040"/>
          </a:xfrm>
          <a:prstGeom prst="rect">
            <a:avLst/>
          </a:prstGeom>
          <a:noFill/>
        </p:spPr>
        <p:txBody>
          <a:bodyPr wrap="square">
            <a:spAutoFit/>
          </a:bodyPr>
          <a:lstStyle/>
          <a:p>
            <a:pPr algn="l"/>
            <a:r>
              <a:rPr sz="1300" b="1" i="0">
                <a:solidFill>
                  <a:srgbClr val="003087"/>
                </a:solidFill>
                <a:latin typeface="Calibri"/>
              </a:rPr>
              <a:t>Quick Start (Python)</a:t>
            </a:r>
          </a:p>
        </p:txBody>
      </p:sp>
      <p:sp>
        <p:nvSpPr>
          <p:cNvPr id="37" name="TextBox 36"/>
          <p:cNvSpPr txBox="1"/>
          <p:nvPr/>
        </p:nvSpPr>
        <p:spPr>
          <a:xfrm>
            <a:off x="502920" y="5212080"/>
            <a:ext cx="5303520" cy="256032"/>
          </a:xfrm>
          <a:prstGeom prst="rect">
            <a:avLst/>
          </a:prstGeom>
          <a:noFill/>
        </p:spPr>
        <p:txBody>
          <a:bodyPr wrap="square">
            <a:spAutoFit/>
          </a:bodyPr>
          <a:lstStyle/>
          <a:p>
            <a:pPr algn="l"/>
            <a:r>
              <a:rPr sz="1100" b="0" i="0">
                <a:solidFill>
                  <a:srgbClr val="4A148C"/>
                </a:solidFill>
                <a:latin typeface="Courier New"/>
              </a:rPr>
              <a:t>pip install a2a-sdk</a:t>
            </a:r>
          </a:p>
        </p:txBody>
      </p:sp>
      <p:sp>
        <p:nvSpPr>
          <p:cNvPr id="38" name="TextBox 37"/>
          <p:cNvSpPr txBox="1"/>
          <p:nvPr/>
        </p:nvSpPr>
        <p:spPr>
          <a:xfrm>
            <a:off x="502920" y="5458968"/>
            <a:ext cx="5303520" cy="256032"/>
          </a:xfrm>
          <a:prstGeom prst="rect">
            <a:avLst/>
          </a:prstGeom>
          <a:noFill/>
        </p:spPr>
        <p:txBody>
          <a:bodyPr wrap="square">
            <a:spAutoFit/>
          </a:bodyPr>
          <a:lstStyle/>
          <a:p>
            <a:pPr algn="l"/>
            <a:r>
              <a:rPr sz="1100" b="0" i="0">
                <a:solidFill>
                  <a:srgbClr val="2E7D32"/>
                </a:solidFill>
                <a:latin typeface="Courier New"/>
              </a:rPr>
              <a:t># Build your first A2A agent:</a:t>
            </a:r>
          </a:p>
        </p:txBody>
      </p:sp>
      <p:sp>
        <p:nvSpPr>
          <p:cNvPr id="39" name="TextBox 38"/>
          <p:cNvSpPr txBox="1"/>
          <p:nvPr/>
        </p:nvSpPr>
        <p:spPr>
          <a:xfrm>
            <a:off x="502920" y="5705856"/>
            <a:ext cx="5303520" cy="256032"/>
          </a:xfrm>
          <a:prstGeom prst="rect">
            <a:avLst/>
          </a:prstGeom>
          <a:noFill/>
        </p:spPr>
        <p:txBody>
          <a:bodyPr wrap="square">
            <a:spAutoFit/>
          </a:bodyPr>
          <a:lstStyle/>
          <a:p>
            <a:pPr algn="l"/>
            <a:r>
              <a:rPr sz="1100" b="0" i="0">
                <a:solidFill>
                  <a:srgbClr val="003087"/>
                </a:solidFill>
                <a:latin typeface="Courier New"/>
              </a:rPr>
              <a:t>from a2a.server import A2AServer</a:t>
            </a:r>
          </a:p>
        </p:txBody>
      </p:sp>
      <p:sp>
        <p:nvSpPr>
          <p:cNvPr id="40" name="TextBox 39"/>
          <p:cNvSpPr txBox="1"/>
          <p:nvPr/>
        </p:nvSpPr>
        <p:spPr>
          <a:xfrm>
            <a:off x="502920" y="5952744"/>
            <a:ext cx="5303520" cy="256032"/>
          </a:xfrm>
          <a:prstGeom prst="rect">
            <a:avLst/>
          </a:prstGeom>
          <a:noFill/>
        </p:spPr>
        <p:txBody>
          <a:bodyPr wrap="square">
            <a:spAutoFit/>
          </a:bodyPr>
          <a:lstStyle/>
          <a:p>
            <a:pPr algn="l"/>
            <a:r>
              <a:rPr sz="1100" b="0" i="0">
                <a:solidFill>
                  <a:srgbClr val="003087"/>
                </a:solidFill>
                <a:latin typeface="Courier New"/>
              </a:rPr>
              <a:t>from a2a.types import AgentCard, AgentCapabilities</a:t>
            </a:r>
          </a:p>
        </p:txBody>
      </p:sp>
      <p:sp>
        <p:nvSpPr>
          <p:cNvPr id="41" name="Rectangle 40"/>
          <p:cNvSpPr/>
          <p:nvPr/>
        </p:nvSpPr>
        <p:spPr>
          <a:xfrm>
            <a:off x="9601200" y="4754880"/>
            <a:ext cx="2194560" cy="1783080"/>
          </a:xfrm>
          <a:prstGeom prst="rect">
            <a:avLst/>
          </a:prstGeom>
          <a:solidFill>
            <a:srgbClr val="FFFFFF"/>
          </a:solidFill>
          <a:ln w="19050">
            <a:solidFill>
              <a:srgbClr val="0030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692640" y="4892040"/>
            <a:ext cx="2011680" cy="320040"/>
          </a:xfrm>
          <a:prstGeom prst="rect">
            <a:avLst/>
          </a:prstGeom>
          <a:noFill/>
        </p:spPr>
        <p:txBody>
          <a:bodyPr wrap="square">
            <a:spAutoFit/>
          </a:bodyPr>
          <a:lstStyle/>
          <a:p>
            <a:pPr algn="ctr"/>
            <a:r>
              <a:rPr sz="1100" b="1" i="0">
                <a:solidFill>
                  <a:srgbClr val="003087"/>
                </a:solidFill>
                <a:latin typeface="Calibri"/>
              </a:rPr>
              <a:t>a2a-protocol.org</a:t>
            </a:r>
          </a:p>
        </p:txBody>
      </p:sp>
      <p:sp>
        <p:nvSpPr>
          <p:cNvPr id="43" name="TextBox 42"/>
          <p:cNvSpPr txBox="1"/>
          <p:nvPr/>
        </p:nvSpPr>
        <p:spPr>
          <a:xfrm>
            <a:off x="9692640" y="5257800"/>
            <a:ext cx="2011680" cy="914400"/>
          </a:xfrm>
          <a:prstGeom prst="rect">
            <a:avLst/>
          </a:prstGeom>
          <a:noFill/>
        </p:spPr>
        <p:txBody>
          <a:bodyPr wrap="square">
            <a:spAutoFit/>
          </a:bodyPr>
          <a:lstStyle/>
          <a:p>
            <a:pPr algn="ctr"/>
            <a:r>
              <a:rPr sz="1050" b="0" i="0">
                <a:solidFill>
                  <a:srgbClr val="606060"/>
                </a:solidFill>
                <a:latin typeface="Calibri"/>
              </a:rPr>
              <a:t>[ Scan or visit for
  full documentation
  and specification ]</a:t>
            </a:r>
          </a:p>
        </p:txBody>
      </p:sp>
      <p:sp>
        <p:nvSpPr>
          <p:cNvPr id="44" name="Rectangle 43"/>
          <p:cNvSpPr/>
          <p:nvPr/>
        </p:nvSpPr>
        <p:spPr>
          <a:xfrm>
            <a:off x="320040" y="6492240"/>
            <a:ext cx="11521440" cy="292608"/>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57200" y="6510528"/>
            <a:ext cx="11155680" cy="228600"/>
          </a:xfrm>
          <a:prstGeom prst="rect">
            <a:avLst/>
          </a:prstGeom>
          <a:noFill/>
        </p:spPr>
        <p:txBody>
          <a:bodyPr wrap="square">
            <a:spAutoFit/>
          </a:bodyPr>
          <a:lstStyle/>
          <a:p>
            <a:pPr algn="ctr"/>
            <a:r>
              <a:rPr sz="1200" b="1" i="1">
                <a:solidFill>
                  <a:srgbClr val="FFB300"/>
                </a:solidFill>
                <a:latin typeface="Calibri"/>
              </a:rPr>
              <a:t>The A2A Protocol — empowering AI agents to collaborate across every boundary.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